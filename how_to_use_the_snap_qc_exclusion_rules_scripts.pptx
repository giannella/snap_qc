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4" roundtripDataSignature="AMtx7miQRICf23Bzy3Bs41KrA83+2K6/D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5048AC8-0E75-455B-AB4F-AEF2A2D202BD}">
  <a:tblStyle styleId="{B5048AC8-0E75-455B-AB4F-AEF2A2D202B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64" d="100"/>
          <a:sy n="164" d="100"/>
        </p:scale>
        <p:origin x="9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 name="Google Shape;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 name="Google Shape;1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 name="Google Shape;19;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0" name="Google Shape;20;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
        <p:cNvGrpSpPr/>
        <p:nvPr/>
      </p:nvGrpSpPr>
      <p:grpSpPr>
        <a:xfrm>
          <a:off x="0" y="0"/>
          <a:ext cx="0" cy="0"/>
          <a:chOff x="0" y="0"/>
          <a:chExt cx="0" cy="0"/>
        </a:xfrm>
      </p:grpSpPr>
      <p:sp>
        <p:nvSpPr>
          <p:cNvPr id="27" name="Google Shape;27;p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 name="Google Shape;28;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9" name="Google Shape;29;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Google Shape;36;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 name="Google Shape;37;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8" name="Google Shape;38;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4</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 name="Google Shape;63;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4" name="Google Shape;64;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5</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 name="Google Shape;75;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6" name="Google Shape;76;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6</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 name="Google Shape;83;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84" name="Google Shape;84;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7</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eae636d67f_0_57:notes"/>
          <p:cNvSpPr>
            <a:spLocks noGrp="1" noRot="1" noChangeAspect="1"/>
          </p:cNvSpPr>
          <p:nvPr>
            <p:ph type="sldImg" idx="2"/>
          </p:nvPr>
        </p:nvSpPr>
        <p:spPr>
          <a:xfrm>
            <a:off x="857400" y="685800"/>
            <a:ext cx="3429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eae636d67f_0_57:notes"/>
          <p:cNvSpPr txBox="1">
            <a:spLocks noGrp="1"/>
          </p:cNvSpPr>
          <p:nvPr>
            <p:ph type="body" idx="1"/>
          </p:nvPr>
        </p:nvSpPr>
        <p:spPr>
          <a:xfrm>
            <a:off x="514350" y="4343400"/>
            <a:ext cx="41148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giannella/snap_qc"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
        <p:cNvGrpSpPr/>
        <p:nvPr/>
      </p:nvGrpSpPr>
      <p:grpSpPr>
        <a:xfrm>
          <a:off x="0" y="0"/>
          <a:ext cx="0" cy="0"/>
          <a:chOff x="0" y="0"/>
          <a:chExt cx="0" cy="0"/>
        </a:xfrm>
      </p:grpSpPr>
      <p:sp>
        <p:nvSpPr>
          <p:cNvPr id="12" name="Google Shape;12;p1"/>
          <p:cNvSpPr/>
          <p:nvPr/>
        </p:nvSpPr>
        <p:spPr>
          <a:xfrm>
            <a:off x="457200" y="1371600"/>
            <a:ext cx="8229600" cy="10058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4000"/>
              <a:buFont typeface="Cambria"/>
              <a:buNone/>
            </a:pPr>
            <a:r>
              <a:rPr lang="en-US" sz="4000" b="1" i="0" u="none" strike="noStrike" cap="none">
                <a:solidFill>
                  <a:srgbClr val="000000"/>
                </a:solidFill>
                <a:latin typeface="Cambria"/>
                <a:ea typeface="Cambria"/>
                <a:cs typeface="Cambria"/>
                <a:sym typeface="Cambria"/>
              </a:rPr>
              <a:t>Finding Exclusion Rules</a:t>
            </a:r>
            <a:endParaRPr sz="4000" b="0" i="0" u="none" strike="noStrike" cap="none">
              <a:solidFill>
                <a:schemeClr val="dk1"/>
              </a:solidFill>
              <a:latin typeface="Calibri"/>
              <a:ea typeface="Calibri"/>
              <a:cs typeface="Calibri"/>
              <a:sym typeface="Calibri"/>
            </a:endParaRPr>
          </a:p>
        </p:txBody>
      </p:sp>
      <p:sp>
        <p:nvSpPr>
          <p:cNvPr id="13" name="Google Shape;13;p1"/>
          <p:cNvSpPr/>
          <p:nvPr/>
        </p:nvSpPr>
        <p:spPr>
          <a:xfrm>
            <a:off x="457200" y="2468870"/>
            <a:ext cx="8229600" cy="913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Trimming a SNAP QC review pile — EXCL_ scripts</a:t>
            </a:r>
            <a:endParaRPr sz="1800" b="0" i="0" u="none" strike="noStrike" cap="none">
              <a:solidFill>
                <a:srgbClr val="000000"/>
              </a:solidFill>
              <a:latin typeface="Arial"/>
              <a:ea typeface="Arial"/>
              <a:cs typeface="Arial"/>
              <a:sym typeface="Arial"/>
            </a:endParaRPr>
          </a:p>
          <a:p>
            <a:pPr marL="0" marR="0" lvl="0" indent="0" algn="l" rtl="0">
              <a:spcBef>
                <a:spcPts val="0"/>
              </a:spcBef>
              <a:spcAft>
                <a:spcPts val="0"/>
              </a:spcAft>
              <a:buClr>
                <a:srgbClr val="000000"/>
              </a:buClr>
              <a:buSzPts val="1800"/>
              <a:buFont typeface="Arial"/>
              <a:buNone/>
            </a:pPr>
            <a:endParaRPr sz="1800"/>
          </a:p>
          <a:p>
            <a:pPr marL="0" marR="0" lvl="0" indent="0" algn="l" rtl="0">
              <a:spcBef>
                <a:spcPts val="0"/>
              </a:spcBef>
              <a:spcAft>
                <a:spcPts val="0"/>
              </a:spcAft>
              <a:buClr>
                <a:srgbClr val="000000"/>
              </a:buClr>
              <a:buSzPts val="1800"/>
              <a:buFont typeface="Arial"/>
              <a:buNone/>
            </a:pPr>
            <a:r>
              <a:rPr lang="en-US" sz="1800" u="sng">
                <a:solidFill>
                  <a:schemeClr val="hlink"/>
                </a:solidFill>
                <a:hlinkClick r:id="rId3"/>
              </a:rPr>
              <a:t>https://github.com/giannella/snap_qc</a:t>
            </a:r>
            <a:endParaRPr sz="1800"/>
          </a:p>
        </p:txBody>
      </p:sp>
      <p:sp>
        <p:nvSpPr>
          <p:cNvPr id="14" name="Google Shape;14;p1"/>
          <p:cNvSpPr/>
          <p:nvPr/>
        </p:nvSpPr>
        <p:spPr>
          <a:xfrm>
            <a:off x="457200" y="3473805"/>
            <a:ext cx="82296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1300"/>
              <a:buFont typeface="Arial"/>
              <a:buNone/>
            </a:pPr>
            <a:r>
              <a:rPr lang="en-US" sz="1300" b="0" i="1" u="none" strike="noStrike" cap="none">
                <a:solidFill>
                  <a:srgbClr val="5A5A5A"/>
                </a:solidFill>
                <a:latin typeface="Arial"/>
                <a:ea typeface="Arial"/>
                <a:cs typeface="Arial"/>
                <a:sym typeface="Arial"/>
              </a:rPr>
              <a:t>RuleFit rule mining, threshold tuning, and state optimization, by household size</a:t>
            </a:r>
            <a:endParaRPr sz="1300" b="0" i="0" u="none" strike="noStrike" cap="none">
              <a:solidFill>
                <a:schemeClr val="dk1"/>
              </a:solidFill>
              <a:latin typeface="Calibri"/>
              <a:ea typeface="Calibri"/>
              <a:cs typeface="Calibri"/>
              <a:sym typeface="Calibri"/>
            </a:endParaRPr>
          </a:p>
        </p:txBody>
      </p:sp>
      <p:sp>
        <p:nvSpPr>
          <p:cNvPr id="15" name="Google Shape;15;p1"/>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b="0" i="0" u="none" strike="noStrike" cap="none">
                <a:solidFill>
                  <a:srgbClr val="5A5A5A"/>
                </a:solidFill>
                <a:latin typeface="Arial"/>
                <a:ea typeface="Arial"/>
                <a:cs typeface="Arial"/>
                <a:sym typeface="Arial"/>
              </a:rPr>
              <a:t>Exclusion rules · EXCL_ scripts</a:t>
            </a:r>
            <a:endParaRPr sz="900" b="0" i="0" u="none" strike="noStrike" cap="none">
              <a:solidFill>
                <a:schemeClr val="dk1"/>
              </a:solidFill>
              <a:latin typeface="Calibri"/>
              <a:ea typeface="Calibri"/>
              <a:cs typeface="Calibri"/>
              <a:sym typeface="Calibri"/>
            </a:endParaRPr>
          </a:p>
        </p:txBody>
      </p:sp>
      <p:sp>
        <p:nvSpPr>
          <p:cNvPr id="16" name="Google Shape;16;p1"/>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b="0" i="0" u="none" strike="noStrike" cap="none">
                <a:solidFill>
                  <a:srgbClr val="5A5A5A"/>
                </a:solidFill>
                <a:latin typeface="Arial"/>
                <a:ea typeface="Arial"/>
                <a:cs typeface="Arial"/>
                <a:sym typeface="Arial"/>
              </a:rPr>
              <a:t>1</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
        <p:cNvGrpSpPr/>
        <p:nvPr/>
      </p:nvGrpSpPr>
      <p:grpSpPr>
        <a:xfrm>
          <a:off x="0" y="0"/>
          <a:ext cx="0" cy="0"/>
          <a:chOff x="0" y="0"/>
          <a:chExt cx="0" cy="0"/>
        </a:xfrm>
      </p:grpSpPr>
      <p:sp>
        <p:nvSpPr>
          <p:cNvPr id="22" name="Google Shape;22;p2"/>
          <p:cNvSpPr/>
          <p:nvPr/>
        </p:nvSpPr>
        <p:spPr>
          <a:xfrm>
            <a:off x="457200" y="310896"/>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2800" b="1">
                <a:solidFill>
                  <a:srgbClr val="000000"/>
                </a:solidFill>
                <a:latin typeface="Cambria"/>
                <a:ea typeface="Cambria"/>
                <a:cs typeface="Cambria"/>
                <a:sym typeface="Cambria"/>
              </a:rPr>
              <a:t>The problem</a:t>
            </a:r>
            <a:endParaRPr sz="2800">
              <a:solidFill>
                <a:schemeClr val="dk1"/>
              </a:solidFill>
              <a:latin typeface="Calibri"/>
              <a:ea typeface="Calibri"/>
              <a:cs typeface="Calibri"/>
              <a:sym typeface="Calibri"/>
            </a:endParaRPr>
          </a:p>
        </p:txBody>
      </p:sp>
      <p:sp>
        <p:nvSpPr>
          <p:cNvPr id="23" name="Google Shape;23;p2"/>
          <p:cNvSpPr/>
          <p:nvPr/>
        </p:nvSpPr>
        <p:spPr>
          <a:xfrm>
            <a:off x="457200" y="1234450"/>
            <a:ext cx="7835400" cy="3291900"/>
          </a:xfrm>
          <a:prstGeom prst="rect">
            <a:avLst/>
          </a:prstGeom>
          <a:noFill/>
          <a:ln>
            <a:noFill/>
          </a:ln>
        </p:spPr>
        <p:txBody>
          <a:bodyPr spcFirstLastPara="1" wrap="square" lIns="91425" tIns="45700" rIns="91425" bIns="45700" anchor="t" anchorCtr="0">
            <a:noAutofit/>
          </a:bodyPr>
          <a:lstStyle/>
          <a:p>
            <a:pPr marL="177800" marR="0" lvl="0" indent="-177800" algn="l" rtl="0">
              <a:spcBef>
                <a:spcPts val="0"/>
              </a:spcBef>
              <a:spcAft>
                <a:spcPts val="0"/>
              </a:spcAft>
              <a:buClr>
                <a:srgbClr val="000000"/>
              </a:buClr>
              <a:buSzPts val="1500"/>
              <a:buFont typeface="Arial"/>
              <a:buChar char="•"/>
            </a:pPr>
            <a:r>
              <a:rPr lang="en-US" sz="1500">
                <a:solidFill>
                  <a:srgbClr val="000000"/>
                </a:solidFill>
                <a:latin typeface="Arial"/>
                <a:ea typeface="Arial"/>
                <a:cs typeface="Arial"/>
                <a:sym typeface="Arial"/>
              </a:rPr>
              <a:t>Review capacity is limited; only a small fraction of cases can be examined.</a:t>
            </a:r>
            <a:endParaRPr sz="1500">
              <a:solidFill>
                <a:schemeClr val="dk1"/>
              </a:solidFill>
              <a:latin typeface="Calibri"/>
              <a:ea typeface="Calibri"/>
              <a:cs typeface="Calibri"/>
              <a:sym typeface="Calibri"/>
            </a:endParaRPr>
          </a:p>
          <a:p>
            <a:pPr marL="177800" marR="0" lvl="0" indent="-177800" algn="l" rtl="0">
              <a:spcBef>
                <a:spcPts val="1000"/>
              </a:spcBef>
              <a:spcAft>
                <a:spcPts val="0"/>
              </a:spcAft>
              <a:buClr>
                <a:srgbClr val="000000"/>
              </a:buClr>
              <a:buSzPts val="1500"/>
              <a:buFont typeface="Arial"/>
              <a:buChar char="•"/>
            </a:pPr>
            <a:r>
              <a:rPr lang="en-US" sz="1500">
                <a:solidFill>
                  <a:srgbClr val="000000"/>
                </a:solidFill>
                <a:latin typeface="Arial"/>
                <a:ea typeface="Arial"/>
                <a:cs typeface="Arial"/>
                <a:sym typeface="Arial"/>
              </a:rPr>
              <a:t>We already have a pile of flagged cases, but it is too large to work through efficiently.</a:t>
            </a:r>
            <a:endParaRPr sz="1500">
              <a:solidFill>
                <a:schemeClr val="dk1"/>
              </a:solidFill>
              <a:latin typeface="Calibri"/>
              <a:ea typeface="Calibri"/>
              <a:cs typeface="Calibri"/>
              <a:sym typeface="Calibri"/>
            </a:endParaRPr>
          </a:p>
          <a:p>
            <a:pPr marL="177800" marR="0" lvl="0" indent="-177800" algn="l" rtl="0">
              <a:spcBef>
                <a:spcPts val="1000"/>
              </a:spcBef>
              <a:spcAft>
                <a:spcPts val="0"/>
              </a:spcAft>
              <a:buClr>
                <a:srgbClr val="000000"/>
              </a:buClr>
              <a:buSzPts val="1500"/>
              <a:buFont typeface="Arial"/>
              <a:buChar char="•"/>
            </a:pPr>
            <a:r>
              <a:rPr lang="en-US" sz="1500">
                <a:solidFill>
                  <a:srgbClr val="000000"/>
                </a:solidFill>
                <a:latin typeface="Arial"/>
                <a:ea typeface="Arial"/>
                <a:cs typeface="Arial"/>
                <a:sym typeface="Arial"/>
              </a:rPr>
              <a:t>An “exclusion” rule marks a case as low-risk — unlikely to have a significant error.</a:t>
            </a:r>
            <a:endParaRPr sz="1500">
              <a:solidFill>
                <a:schemeClr val="dk1"/>
              </a:solidFill>
              <a:latin typeface="Calibri"/>
              <a:ea typeface="Calibri"/>
              <a:cs typeface="Calibri"/>
              <a:sym typeface="Calibri"/>
            </a:endParaRPr>
          </a:p>
          <a:p>
            <a:pPr marL="177800" marR="0" lvl="0" indent="-177800" algn="l" rtl="0">
              <a:spcBef>
                <a:spcPts val="1000"/>
              </a:spcBef>
              <a:spcAft>
                <a:spcPts val="0"/>
              </a:spcAft>
              <a:buClr>
                <a:srgbClr val="000000"/>
              </a:buClr>
              <a:buSzPts val="1500"/>
              <a:buFont typeface="Arial"/>
              <a:buChar char="•"/>
            </a:pPr>
            <a:r>
              <a:rPr lang="en-US" sz="1500"/>
              <a:t>Designed to maximize workload cut (share of cases excluded) while retaining a floor of error dollars in the pile.</a:t>
            </a:r>
            <a:endParaRPr sz="1500">
              <a:solidFill>
                <a:schemeClr val="dk1"/>
              </a:solidFill>
              <a:latin typeface="Calibri"/>
              <a:ea typeface="Calibri"/>
              <a:cs typeface="Calibri"/>
              <a:sym typeface="Calibri"/>
            </a:endParaRPr>
          </a:p>
        </p:txBody>
      </p:sp>
      <p:sp>
        <p:nvSpPr>
          <p:cNvPr id="24" name="Google Shape;24;p2"/>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Exclusion rules · EXCL_ scripts</a:t>
            </a:r>
            <a:endParaRPr sz="900">
              <a:solidFill>
                <a:schemeClr val="dk1"/>
              </a:solidFill>
              <a:latin typeface="Calibri"/>
              <a:ea typeface="Calibri"/>
              <a:cs typeface="Calibri"/>
              <a:sym typeface="Calibri"/>
            </a:endParaRPr>
          </a:p>
        </p:txBody>
      </p:sp>
      <p:sp>
        <p:nvSpPr>
          <p:cNvPr id="25" name="Google Shape;25;p2"/>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2</a:t>
            </a:r>
            <a:endParaRPr sz="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
        <p:cNvGrpSpPr/>
        <p:nvPr/>
      </p:nvGrpSpPr>
      <p:grpSpPr>
        <a:xfrm>
          <a:off x="0" y="0"/>
          <a:ext cx="0" cy="0"/>
          <a:chOff x="0" y="0"/>
          <a:chExt cx="0" cy="0"/>
        </a:xfrm>
      </p:grpSpPr>
      <p:sp>
        <p:nvSpPr>
          <p:cNvPr id="31" name="Google Shape;31;p3"/>
          <p:cNvSpPr/>
          <p:nvPr/>
        </p:nvSpPr>
        <p:spPr>
          <a:xfrm>
            <a:off x="457200" y="310896"/>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2800" b="1">
                <a:solidFill>
                  <a:srgbClr val="000000"/>
                </a:solidFill>
                <a:latin typeface="Cambria"/>
                <a:ea typeface="Cambria"/>
                <a:cs typeface="Cambria"/>
                <a:sym typeface="Cambria"/>
              </a:rPr>
              <a:t>Key ideas</a:t>
            </a:r>
            <a:endParaRPr sz="2800">
              <a:solidFill>
                <a:schemeClr val="dk1"/>
              </a:solidFill>
              <a:latin typeface="Calibri"/>
              <a:ea typeface="Calibri"/>
              <a:cs typeface="Calibri"/>
              <a:sym typeface="Calibri"/>
            </a:endParaRPr>
          </a:p>
        </p:txBody>
      </p:sp>
      <p:sp>
        <p:nvSpPr>
          <p:cNvPr id="32" name="Google Shape;32;p3"/>
          <p:cNvSpPr/>
          <p:nvPr/>
        </p:nvSpPr>
        <p:spPr>
          <a:xfrm>
            <a:off x="457200" y="1234440"/>
            <a:ext cx="8229600" cy="33832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1450"/>
              <a:buFont typeface="Arial"/>
              <a:buNone/>
            </a:pPr>
            <a:r>
              <a:rPr lang="en-US" sz="1450" b="1">
                <a:solidFill>
                  <a:srgbClr val="000000"/>
                </a:solidFill>
                <a:latin typeface="Arial"/>
                <a:ea typeface="Arial"/>
                <a:cs typeface="Arial"/>
                <a:sym typeface="Arial"/>
              </a:rPr>
              <a:t>Workload cut — </a:t>
            </a:r>
            <a:r>
              <a:rPr lang="en-US" sz="1450">
                <a:solidFill>
                  <a:srgbClr val="000000"/>
                </a:solidFill>
                <a:latin typeface="Arial"/>
                <a:ea typeface="Arial"/>
                <a:cs typeface="Arial"/>
                <a:sym typeface="Arial"/>
              </a:rPr>
              <a:t>share of the review pile that gets excluded.</a:t>
            </a:r>
            <a:endParaRPr sz="1450">
              <a:solidFill>
                <a:schemeClr val="dk1"/>
              </a:solidFill>
              <a:latin typeface="Calibri"/>
              <a:ea typeface="Calibri"/>
              <a:cs typeface="Calibri"/>
              <a:sym typeface="Calibri"/>
            </a:endParaRPr>
          </a:p>
          <a:p>
            <a:pPr marL="0" marR="0" lvl="0" indent="0" algn="l" rtl="0">
              <a:spcBef>
                <a:spcPts val="0"/>
              </a:spcBef>
              <a:spcAft>
                <a:spcPts val="0"/>
              </a:spcAft>
              <a:buClr>
                <a:srgbClr val="000000"/>
              </a:buClr>
              <a:buSzPts val="1450"/>
              <a:buFont typeface="Arial"/>
              <a:buNone/>
            </a:pPr>
            <a:r>
              <a:rPr lang="en-US" sz="1450" b="1">
                <a:solidFill>
                  <a:srgbClr val="000000"/>
                </a:solidFill>
                <a:latin typeface="Arial"/>
                <a:ea typeface="Arial"/>
                <a:cs typeface="Arial"/>
                <a:sym typeface="Arial"/>
              </a:rPr>
              <a:t>Dollar retention — </a:t>
            </a:r>
            <a:r>
              <a:rPr lang="en-US" sz="1450">
                <a:solidFill>
                  <a:srgbClr val="000000"/>
                </a:solidFill>
                <a:latin typeface="Arial"/>
                <a:ea typeface="Arial"/>
                <a:cs typeface="Arial"/>
                <a:sym typeface="Arial"/>
              </a:rPr>
              <a:t>share of error dollars remaining in the pile after exclusions (the safety constraint).</a:t>
            </a:r>
            <a:endParaRPr sz="1450">
              <a:solidFill>
                <a:schemeClr val="dk1"/>
              </a:solidFill>
              <a:latin typeface="Calibri"/>
              <a:ea typeface="Calibri"/>
              <a:cs typeface="Calibri"/>
              <a:sym typeface="Calibri"/>
            </a:endParaRPr>
          </a:p>
          <a:p>
            <a:pPr marL="0" marR="0" lvl="0" indent="0" algn="l" rtl="0">
              <a:spcBef>
                <a:spcPts val="0"/>
              </a:spcBef>
              <a:spcAft>
                <a:spcPts val="0"/>
              </a:spcAft>
              <a:buClr>
                <a:srgbClr val="000000"/>
              </a:buClr>
              <a:buSzPts val="1450"/>
              <a:buFont typeface="Arial"/>
              <a:buNone/>
            </a:pPr>
            <a:r>
              <a:rPr lang="en-US" sz="1450" b="1">
                <a:solidFill>
                  <a:srgbClr val="000000"/>
                </a:solidFill>
                <a:latin typeface="Arial"/>
                <a:ea typeface="Arial"/>
                <a:cs typeface="Arial"/>
                <a:sym typeface="Arial"/>
              </a:rPr>
              <a:t>RuleFit — </a:t>
            </a:r>
            <a:r>
              <a:rPr lang="en-US" sz="1450">
                <a:solidFill>
                  <a:srgbClr val="000000"/>
                </a:solidFill>
                <a:latin typeface="Arial"/>
                <a:ea typeface="Arial"/>
                <a:cs typeface="Arial"/>
                <a:sym typeface="Arial"/>
              </a:rPr>
              <a:t>fits many shallow trees, turns their branches into simple if-then rules, then uses a lasso to keep the few that matter. Avoids many of the </a:t>
            </a:r>
            <a:r>
              <a:rPr lang="en-US" sz="1450"/>
              <a:t>over-fitting issues with traditional decision trees. </a:t>
            </a:r>
            <a:endParaRPr sz="1450">
              <a:solidFill>
                <a:schemeClr val="dk1"/>
              </a:solidFill>
              <a:latin typeface="Calibri"/>
              <a:ea typeface="Calibri"/>
              <a:cs typeface="Calibri"/>
              <a:sym typeface="Calibri"/>
            </a:endParaRPr>
          </a:p>
          <a:p>
            <a:pPr marL="0" marR="0" lvl="0" indent="0" algn="l" rtl="0">
              <a:spcBef>
                <a:spcPts val="0"/>
              </a:spcBef>
              <a:spcAft>
                <a:spcPts val="0"/>
              </a:spcAft>
              <a:buClr>
                <a:srgbClr val="000000"/>
              </a:buClr>
              <a:buSzPts val="1450"/>
              <a:buFont typeface="Arial"/>
              <a:buNone/>
            </a:pPr>
            <a:r>
              <a:rPr lang="en-US" sz="1450" b="1">
                <a:solidFill>
                  <a:srgbClr val="000000"/>
                </a:solidFill>
                <a:latin typeface="Arial"/>
                <a:ea typeface="Arial"/>
                <a:cs typeface="Arial"/>
                <a:sym typeface="Arial"/>
              </a:rPr>
              <a:t>Net — </a:t>
            </a:r>
            <a:r>
              <a:rPr lang="en-US" sz="1450">
                <a:solidFill>
                  <a:srgbClr val="000000"/>
                </a:solidFill>
                <a:latin typeface="Arial"/>
                <a:ea typeface="Arial"/>
                <a:cs typeface="Arial"/>
                <a:sym typeface="Arial"/>
              </a:rPr>
              <a:t>several rules combined with OR to maximize workload cut at each dollar retention floor.</a:t>
            </a:r>
            <a:endParaRPr sz="1450">
              <a:solidFill>
                <a:schemeClr val="dk1"/>
              </a:solidFill>
              <a:latin typeface="Calibri"/>
              <a:ea typeface="Calibri"/>
              <a:cs typeface="Calibri"/>
              <a:sym typeface="Calibri"/>
            </a:endParaRPr>
          </a:p>
          <a:p>
            <a:pPr marL="0" marR="0" lvl="0" indent="0" algn="l" rtl="0">
              <a:spcBef>
                <a:spcPts val="0"/>
              </a:spcBef>
              <a:spcAft>
                <a:spcPts val="0"/>
              </a:spcAft>
              <a:buClr>
                <a:srgbClr val="000000"/>
              </a:buClr>
              <a:buSzPts val="1450"/>
              <a:buFont typeface="Arial"/>
              <a:buNone/>
            </a:pPr>
            <a:r>
              <a:rPr lang="en-US" sz="1450" b="1">
                <a:solidFill>
                  <a:srgbClr val="000000"/>
                </a:solidFill>
                <a:latin typeface="Arial"/>
                <a:ea typeface="Arial"/>
                <a:cs typeface="Arial"/>
                <a:sym typeface="Arial"/>
              </a:rPr>
              <a:t>By household size — </a:t>
            </a:r>
            <a:r>
              <a:rPr lang="en-US" sz="1450">
                <a:solidFill>
                  <a:srgbClr val="000000"/>
                </a:solidFill>
                <a:latin typeface="Arial"/>
                <a:ea typeface="Arial"/>
                <a:cs typeface="Arial"/>
                <a:sym typeface="Arial"/>
              </a:rPr>
              <a:t>cases split into 1, 2, 3, 4, 5+ and modeled separately, since benefit and error size scale with size.</a:t>
            </a:r>
            <a:endParaRPr sz="1450">
              <a:solidFill>
                <a:schemeClr val="dk1"/>
              </a:solidFill>
              <a:latin typeface="Calibri"/>
              <a:ea typeface="Calibri"/>
              <a:cs typeface="Calibri"/>
              <a:sym typeface="Calibri"/>
            </a:endParaRPr>
          </a:p>
          <a:p>
            <a:pPr marL="0" marR="0" lvl="0" indent="0" algn="l" rtl="0">
              <a:spcBef>
                <a:spcPts val="0"/>
              </a:spcBef>
              <a:spcAft>
                <a:spcPts val="0"/>
              </a:spcAft>
              <a:buClr>
                <a:srgbClr val="000000"/>
              </a:buClr>
              <a:buSzPts val="1450"/>
              <a:buFont typeface="Arial"/>
              <a:buNone/>
            </a:pPr>
            <a:r>
              <a:rPr lang="en-US" sz="1450" b="1">
                <a:solidFill>
                  <a:srgbClr val="000000"/>
                </a:solidFill>
                <a:latin typeface="Arial"/>
                <a:ea typeface="Arial"/>
                <a:cs typeface="Arial"/>
                <a:sym typeface="Arial"/>
              </a:rPr>
              <a:t>Retention floor — </a:t>
            </a:r>
            <a:r>
              <a:rPr lang="en-US" sz="1450">
                <a:solidFill>
                  <a:srgbClr val="000000"/>
                </a:solidFill>
                <a:latin typeface="Arial"/>
                <a:ea typeface="Arial"/>
                <a:cs typeface="Arial"/>
                <a:sym typeface="Arial"/>
              </a:rPr>
              <a:t>EXCL_optimize_set_ drops any rule that cannot retain at least the required share of error dollars at its best workload cut (e.g., 97%).</a:t>
            </a:r>
            <a:endParaRPr sz="1450">
              <a:solidFill>
                <a:schemeClr val="dk1"/>
              </a:solidFill>
              <a:latin typeface="Calibri"/>
              <a:ea typeface="Calibri"/>
              <a:cs typeface="Calibri"/>
              <a:sym typeface="Calibri"/>
            </a:endParaRPr>
          </a:p>
        </p:txBody>
      </p:sp>
      <p:sp>
        <p:nvSpPr>
          <p:cNvPr id="33" name="Google Shape;33;p3"/>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Exclusion rules · EXCL_ scripts</a:t>
            </a:r>
            <a:endParaRPr sz="900">
              <a:solidFill>
                <a:schemeClr val="dk1"/>
              </a:solidFill>
              <a:latin typeface="Calibri"/>
              <a:ea typeface="Calibri"/>
              <a:cs typeface="Calibri"/>
              <a:sym typeface="Calibri"/>
            </a:endParaRPr>
          </a:p>
        </p:txBody>
      </p:sp>
      <p:sp>
        <p:nvSpPr>
          <p:cNvPr id="34" name="Google Shape;34;p3"/>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3</a:t>
            </a:r>
            <a:endParaRPr sz="9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
        <p:cNvGrpSpPr/>
        <p:nvPr/>
      </p:nvGrpSpPr>
      <p:grpSpPr>
        <a:xfrm>
          <a:off x="0" y="0"/>
          <a:ext cx="0" cy="0"/>
          <a:chOff x="0" y="0"/>
          <a:chExt cx="0" cy="0"/>
        </a:xfrm>
      </p:grpSpPr>
      <p:sp>
        <p:nvSpPr>
          <p:cNvPr id="40" name="Google Shape;40;p4"/>
          <p:cNvSpPr/>
          <p:nvPr/>
        </p:nvSpPr>
        <p:spPr>
          <a:xfrm>
            <a:off x="457200" y="310896"/>
            <a:ext cx="8229600" cy="64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2800" b="1">
                <a:latin typeface="Cambria"/>
                <a:ea typeface="Cambria"/>
                <a:cs typeface="Cambria"/>
                <a:sym typeface="Cambria"/>
              </a:rPr>
              <a:t>How to use the scripts</a:t>
            </a:r>
            <a:endParaRPr sz="2800">
              <a:solidFill>
                <a:schemeClr val="dk1"/>
              </a:solidFill>
              <a:latin typeface="Calibri"/>
              <a:ea typeface="Calibri"/>
              <a:cs typeface="Calibri"/>
              <a:sym typeface="Calibri"/>
            </a:endParaRPr>
          </a:p>
        </p:txBody>
      </p:sp>
      <p:sp>
        <p:nvSpPr>
          <p:cNvPr id="41" name="Google Shape;41;p4"/>
          <p:cNvSpPr/>
          <p:nvPr/>
        </p:nvSpPr>
        <p:spPr>
          <a:xfrm>
            <a:off x="133194" y="2286000"/>
            <a:ext cx="1689572" cy="1428900"/>
          </a:xfrm>
          <a:prstGeom prst="roundRect">
            <a:avLst>
              <a:gd name="adj" fmla="val 4053"/>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 name="Google Shape;42;p4"/>
          <p:cNvSpPr/>
          <p:nvPr/>
        </p:nvSpPr>
        <p:spPr>
          <a:xfrm>
            <a:off x="240352" y="2381250"/>
            <a:ext cx="1461100" cy="1238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dirty="0">
                <a:solidFill>
                  <a:srgbClr val="5A5A5A"/>
                </a:solidFill>
                <a:latin typeface="Arial"/>
                <a:ea typeface="Arial"/>
                <a:cs typeface="Arial"/>
                <a:sym typeface="Arial"/>
              </a:rPr>
              <a:t>INPUT</a:t>
            </a:r>
            <a:endParaRPr sz="1000" b="1" dirty="0">
              <a:solidFill>
                <a:srgbClr val="5A5A5A"/>
              </a:solidFill>
              <a:latin typeface="Arial"/>
              <a:ea typeface="Arial"/>
              <a:cs typeface="Arial"/>
              <a:sym typeface="Arial"/>
            </a:endParaRPr>
          </a:p>
          <a:p>
            <a:pPr marL="0" lvl="0" indent="0" algn="ctr" rtl="0">
              <a:spcBef>
                <a:spcPts val="375"/>
              </a:spcBef>
              <a:spcAft>
                <a:spcPts val="0"/>
              </a:spcAft>
              <a:buNone/>
            </a:pPr>
            <a:r>
              <a:rPr lang="en-US" sz="1100" b="1" dirty="0">
                <a:solidFill>
                  <a:srgbClr val="000000"/>
                </a:solidFill>
                <a:latin typeface="Arial"/>
                <a:ea typeface="Arial"/>
                <a:cs typeface="Arial"/>
                <a:sym typeface="Arial"/>
              </a:rPr>
              <a:t>Flagged review pile (errors + false positives)</a:t>
            </a:r>
            <a:endParaRPr sz="1000" b="1" dirty="0">
              <a:solidFill>
                <a:srgbClr val="5A5A5A"/>
              </a:solidFill>
              <a:latin typeface="Arial"/>
              <a:ea typeface="Arial"/>
              <a:cs typeface="Arial"/>
              <a:sym typeface="Arial"/>
            </a:endParaRPr>
          </a:p>
        </p:txBody>
      </p:sp>
      <p:cxnSp>
        <p:nvCxnSpPr>
          <p:cNvPr id="43" name="Google Shape;43;p4"/>
          <p:cNvCxnSpPr>
            <a:cxnSpLocks/>
            <a:stCxn id="41" idx="3"/>
            <a:endCxn id="44" idx="1"/>
          </p:cNvCxnSpPr>
          <p:nvPr/>
        </p:nvCxnSpPr>
        <p:spPr>
          <a:xfrm>
            <a:off x="1822766" y="3000450"/>
            <a:ext cx="345757" cy="0"/>
          </a:xfrm>
          <a:prstGeom prst="straightConnector1">
            <a:avLst/>
          </a:prstGeom>
          <a:solidFill>
            <a:srgbClr val="FFFFFF"/>
          </a:solidFill>
          <a:ln w="22225" cap="flat" cmpd="sng">
            <a:solidFill>
              <a:srgbClr val="000000"/>
            </a:solidFill>
            <a:prstDash val="solid"/>
            <a:round/>
            <a:headEnd type="none" w="sm" len="sm"/>
            <a:tailEnd type="triangle" w="med" len="med"/>
          </a:ln>
        </p:spPr>
      </p:cxnSp>
      <p:sp>
        <p:nvSpPr>
          <p:cNvPr id="44" name="Google Shape;44;p4"/>
          <p:cNvSpPr/>
          <p:nvPr/>
        </p:nvSpPr>
        <p:spPr>
          <a:xfrm>
            <a:off x="2168523" y="2286000"/>
            <a:ext cx="1689572" cy="1428900"/>
          </a:xfrm>
          <a:prstGeom prst="roundRect">
            <a:avLst>
              <a:gd name="adj" fmla="val 4053"/>
            </a:avLst>
          </a:prstGeom>
          <a:solidFill>
            <a:srgbClr val="F2F2F2"/>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 name="Google Shape;45;p4"/>
          <p:cNvSpPr/>
          <p:nvPr/>
        </p:nvSpPr>
        <p:spPr>
          <a:xfrm>
            <a:off x="2275681" y="2381250"/>
            <a:ext cx="1461100" cy="1238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5A5A5A"/>
                </a:solidFill>
                <a:latin typeface="Arial"/>
                <a:ea typeface="Arial"/>
                <a:cs typeface="Arial"/>
                <a:sym typeface="Arial"/>
              </a:rPr>
              <a:t>EXCL_find_</a:t>
            </a:r>
            <a:endParaRPr sz="1000" b="1">
              <a:solidFill>
                <a:srgbClr val="5A5A5A"/>
              </a:solidFill>
              <a:latin typeface="Arial"/>
              <a:ea typeface="Arial"/>
              <a:cs typeface="Arial"/>
              <a:sym typeface="Arial"/>
            </a:endParaRPr>
          </a:p>
          <a:p>
            <a:pPr marL="0" lvl="0" indent="0" algn="ctr" rtl="0">
              <a:spcBef>
                <a:spcPts val="375"/>
              </a:spcBef>
              <a:spcAft>
                <a:spcPts val="0"/>
              </a:spcAft>
              <a:buNone/>
            </a:pPr>
            <a:r>
              <a:rPr lang="en-US" sz="1100" b="1">
                <a:solidFill>
                  <a:srgbClr val="000000"/>
                </a:solidFill>
                <a:latin typeface="Arial"/>
                <a:ea typeface="Arial"/>
                <a:cs typeface="Arial"/>
                <a:sym typeface="Arial"/>
              </a:rPr>
              <a:t>Create rules, score &amp; combine rules into a “net”</a:t>
            </a:r>
            <a:endParaRPr sz="1000" b="1">
              <a:solidFill>
                <a:srgbClr val="5A5A5A"/>
              </a:solidFill>
              <a:latin typeface="Arial"/>
              <a:ea typeface="Arial"/>
              <a:cs typeface="Arial"/>
              <a:sym typeface="Arial"/>
            </a:endParaRPr>
          </a:p>
        </p:txBody>
      </p:sp>
      <p:cxnSp>
        <p:nvCxnSpPr>
          <p:cNvPr id="46" name="Google Shape;46;p4"/>
          <p:cNvCxnSpPr>
            <a:stCxn id="44" idx="3"/>
            <a:endCxn id="47" idx="1"/>
          </p:cNvCxnSpPr>
          <p:nvPr/>
        </p:nvCxnSpPr>
        <p:spPr>
          <a:xfrm flipV="1">
            <a:off x="3858095" y="2143188"/>
            <a:ext cx="673239" cy="857262"/>
          </a:xfrm>
          <a:prstGeom prst="bentConnector3">
            <a:avLst>
              <a:gd name="adj1" fmla="val 50000"/>
            </a:avLst>
          </a:prstGeom>
          <a:solidFill>
            <a:srgbClr val="FFFFFF"/>
          </a:solidFill>
          <a:ln w="22225" cap="flat" cmpd="sng">
            <a:solidFill>
              <a:srgbClr val="000000"/>
            </a:solidFill>
            <a:prstDash val="solid"/>
            <a:round/>
            <a:headEnd type="none" w="sm" len="sm"/>
            <a:tailEnd type="triangle" w="med" len="med"/>
          </a:ln>
        </p:spPr>
      </p:cxnSp>
      <p:sp>
        <p:nvSpPr>
          <p:cNvPr id="47" name="Google Shape;47;p4"/>
          <p:cNvSpPr/>
          <p:nvPr/>
        </p:nvSpPr>
        <p:spPr>
          <a:xfrm>
            <a:off x="4531334" y="1428738"/>
            <a:ext cx="1689572" cy="1428900"/>
          </a:xfrm>
          <a:prstGeom prst="roundRect">
            <a:avLst>
              <a:gd name="adj" fmla="val 4053"/>
            </a:avLst>
          </a:prstGeom>
          <a:solidFill>
            <a:srgbClr val="EFEFE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 name="Google Shape;48;p4"/>
          <p:cNvSpPr/>
          <p:nvPr/>
        </p:nvSpPr>
        <p:spPr>
          <a:xfrm>
            <a:off x="4638492" y="1523988"/>
            <a:ext cx="1461100" cy="1238400"/>
          </a:xfrm>
          <a:prstGeom prst="rect">
            <a:avLst/>
          </a:prstGeom>
          <a:solidFill>
            <a:srgbClr val="EFEFEF"/>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5A5A5A"/>
                </a:solidFill>
                <a:latin typeface="Arial"/>
                <a:ea typeface="Arial"/>
                <a:cs typeface="Arial"/>
                <a:sym typeface="Arial"/>
              </a:rPr>
              <a:t>EXCL_optimize_single_</a:t>
            </a:r>
            <a:endParaRPr sz="1000" b="1">
              <a:solidFill>
                <a:srgbClr val="5A5A5A"/>
              </a:solidFill>
              <a:latin typeface="Arial"/>
              <a:ea typeface="Arial"/>
              <a:cs typeface="Arial"/>
              <a:sym typeface="Arial"/>
            </a:endParaRPr>
          </a:p>
          <a:p>
            <a:pPr marL="0" lvl="0" indent="0" algn="ctr" rtl="0">
              <a:spcBef>
                <a:spcPts val="375"/>
              </a:spcBef>
              <a:spcAft>
                <a:spcPts val="0"/>
              </a:spcAft>
              <a:buNone/>
            </a:pPr>
            <a:r>
              <a:rPr lang="en-US" sz="1100" b="1">
                <a:solidFill>
                  <a:srgbClr val="000000"/>
                </a:solidFill>
                <a:latin typeface="Arial"/>
                <a:ea typeface="Arial"/>
                <a:cs typeface="Arial"/>
                <a:sym typeface="Arial"/>
              </a:rPr>
              <a:t>Tune one rule’s thresholds</a:t>
            </a:r>
            <a:endParaRPr sz="1000" b="1">
              <a:solidFill>
                <a:srgbClr val="5A5A5A"/>
              </a:solidFill>
              <a:latin typeface="Arial"/>
              <a:ea typeface="Arial"/>
              <a:cs typeface="Arial"/>
              <a:sym typeface="Arial"/>
            </a:endParaRPr>
          </a:p>
        </p:txBody>
      </p:sp>
      <p:cxnSp>
        <p:nvCxnSpPr>
          <p:cNvPr id="49" name="Google Shape;49;p4"/>
          <p:cNvCxnSpPr>
            <a:stCxn id="44" idx="3"/>
            <a:endCxn id="50" idx="1"/>
          </p:cNvCxnSpPr>
          <p:nvPr/>
        </p:nvCxnSpPr>
        <p:spPr>
          <a:xfrm>
            <a:off x="3858095" y="3000450"/>
            <a:ext cx="691514" cy="835526"/>
          </a:xfrm>
          <a:prstGeom prst="bentConnector3">
            <a:avLst>
              <a:gd name="adj1" fmla="val 48319"/>
            </a:avLst>
          </a:prstGeom>
          <a:solidFill>
            <a:srgbClr val="FFFFFF"/>
          </a:solidFill>
          <a:ln w="22225" cap="flat" cmpd="sng">
            <a:solidFill>
              <a:srgbClr val="000000"/>
            </a:solidFill>
            <a:prstDash val="solid"/>
            <a:round/>
            <a:headEnd type="none" w="sm" len="sm"/>
            <a:tailEnd type="triangle" w="med" len="med"/>
          </a:ln>
        </p:spPr>
      </p:cxnSp>
      <p:sp>
        <p:nvSpPr>
          <p:cNvPr id="50" name="Google Shape;50;p4"/>
          <p:cNvSpPr/>
          <p:nvPr/>
        </p:nvSpPr>
        <p:spPr>
          <a:xfrm>
            <a:off x="4549609" y="3121526"/>
            <a:ext cx="1689572" cy="1428900"/>
          </a:xfrm>
          <a:prstGeom prst="roundRect">
            <a:avLst>
              <a:gd name="adj" fmla="val 4053"/>
            </a:avLst>
          </a:prstGeom>
          <a:solidFill>
            <a:srgbClr val="F2F2F2"/>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1" name="Google Shape;51;p4"/>
          <p:cNvSpPr/>
          <p:nvPr/>
        </p:nvSpPr>
        <p:spPr>
          <a:xfrm>
            <a:off x="4638492" y="3238488"/>
            <a:ext cx="1461100" cy="1238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5A5A5A"/>
                </a:solidFill>
                <a:latin typeface="Arial"/>
                <a:ea typeface="Arial"/>
                <a:cs typeface="Arial"/>
                <a:sym typeface="Arial"/>
              </a:rPr>
              <a:t>EXCL_optimize_set_</a:t>
            </a:r>
            <a:endParaRPr sz="1000" b="1">
              <a:solidFill>
                <a:srgbClr val="5A5A5A"/>
              </a:solidFill>
              <a:latin typeface="Arial"/>
              <a:ea typeface="Arial"/>
              <a:cs typeface="Arial"/>
              <a:sym typeface="Arial"/>
            </a:endParaRPr>
          </a:p>
          <a:p>
            <a:pPr marL="0" lvl="0" indent="0" algn="ctr" rtl="0">
              <a:spcBef>
                <a:spcPts val="375"/>
              </a:spcBef>
              <a:spcAft>
                <a:spcPts val="0"/>
              </a:spcAft>
              <a:buNone/>
            </a:pPr>
            <a:r>
              <a:rPr lang="en-US" sz="1100" b="1">
                <a:solidFill>
                  <a:srgbClr val="000000"/>
                </a:solidFill>
                <a:latin typeface="Arial"/>
                <a:ea typeface="Arial"/>
                <a:cs typeface="Arial"/>
                <a:sym typeface="Arial"/>
              </a:rPr>
              <a:t>Optimize all rules for a state</a:t>
            </a:r>
            <a:endParaRPr sz="1000" b="1">
              <a:solidFill>
                <a:srgbClr val="5A5A5A"/>
              </a:solidFill>
              <a:latin typeface="Arial"/>
              <a:ea typeface="Arial"/>
              <a:cs typeface="Arial"/>
              <a:sym typeface="Arial"/>
            </a:endParaRPr>
          </a:p>
        </p:txBody>
      </p:sp>
      <p:cxnSp>
        <p:nvCxnSpPr>
          <p:cNvPr id="52" name="Google Shape;52;p4"/>
          <p:cNvCxnSpPr>
            <a:stCxn id="50" idx="3"/>
            <a:endCxn id="53" idx="1"/>
          </p:cNvCxnSpPr>
          <p:nvPr/>
        </p:nvCxnSpPr>
        <p:spPr>
          <a:xfrm>
            <a:off x="6239181" y="3835976"/>
            <a:ext cx="448031" cy="12"/>
          </a:xfrm>
          <a:prstGeom prst="straightConnector1">
            <a:avLst/>
          </a:prstGeom>
          <a:solidFill>
            <a:srgbClr val="FFFFFF"/>
          </a:solidFill>
          <a:ln w="22225" cap="flat" cmpd="sng">
            <a:solidFill>
              <a:srgbClr val="000000"/>
            </a:solidFill>
            <a:prstDash val="solid"/>
            <a:round/>
            <a:headEnd type="none" w="sm" len="sm"/>
            <a:tailEnd type="triangle" w="med" len="med"/>
          </a:ln>
        </p:spPr>
      </p:cxnSp>
      <p:sp>
        <p:nvSpPr>
          <p:cNvPr id="53" name="Google Shape;53;p4"/>
          <p:cNvSpPr/>
          <p:nvPr/>
        </p:nvSpPr>
        <p:spPr>
          <a:xfrm>
            <a:off x="6687212" y="3121538"/>
            <a:ext cx="1689572" cy="1428900"/>
          </a:xfrm>
          <a:prstGeom prst="roundRect">
            <a:avLst>
              <a:gd name="adj" fmla="val 4053"/>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4" name="Google Shape;54;p4"/>
          <p:cNvSpPr/>
          <p:nvPr/>
        </p:nvSpPr>
        <p:spPr>
          <a:xfrm>
            <a:off x="6794420" y="3238488"/>
            <a:ext cx="1461100" cy="1238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5A5A5A"/>
                </a:solidFill>
                <a:latin typeface="Arial"/>
                <a:ea typeface="Arial"/>
                <a:cs typeface="Arial"/>
                <a:sym typeface="Arial"/>
              </a:rPr>
              <a:t>OUTPUT</a:t>
            </a:r>
            <a:endParaRPr sz="1000" b="1">
              <a:solidFill>
                <a:srgbClr val="5A5A5A"/>
              </a:solidFill>
              <a:latin typeface="Arial"/>
              <a:ea typeface="Arial"/>
              <a:cs typeface="Arial"/>
              <a:sym typeface="Arial"/>
            </a:endParaRPr>
          </a:p>
          <a:p>
            <a:pPr marL="0" lvl="0" indent="0" algn="ctr" rtl="0">
              <a:spcBef>
                <a:spcPts val="375"/>
              </a:spcBef>
              <a:spcAft>
                <a:spcPts val="0"/>
              </a:spcAft>
              <a:buNone/>
            </a:pPr>
            <a:r>
              <a:rPr lang="en-US" sz="1100" b="1">
                <a:solidFill>
                  <a:srgbClr val="000000"/>
                </a:solidFill>
                <a:latin typeface="Arial"/>
                <a:ea typeface="Arial"/>
                <a:cs typeface="Arial"/>
                <a:sym typeface="Arial"/>
              </a:rPr>
              <a:t>State rule set for testing on FY2025 and FY2026 data</a:t>
            </a:r>
            <a:endParaRPr sz="1100" b="1">
              <a:solidFill>
                <a:srgbClr val="000000"/>
              </a:solidFill>
              <a:latin typeface="Arial"/>
              <a:ea typeface="Arial"/>
              <a:cs typeface="Arial"/>
              <a:sym typeface="Arial"/>
            </a:endParaRPr>
          </a:p>
        </p:txBody>
      </p:sp>
      <p:sp>
        <p:nvSpPr>
          <p:cNvPr id="55" name="Google Shape;55;p4"/>
          <p:cNvSpPr/>
          <p:nvPr/>
        </p:nvSpPr>
        <p:spPr>
          <a:xfrm>
            <a:off x="259535" y="881604"/>
            <a:ext cx="3944317" cy="1238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1300"/>
              <a:buFont typeface="Arial"/>
              <a:buNone/>
            </a:pPr>
            <a:r>
              <a:rPr lang="en-US" sz="1100" i="1" dirty="0" err="1">
                <a:solidFill>
                  <a:srgbClr val="5A5A5A"/>
                </a:solidFill>
                <a:latin typeface="Arial"/>
                <a:ea typeface="Arial"/>
                <a:cs typeface="Arial"/>
                <a:sym typeface="Arial"/>
              </a:rPr>
              <a:t>EXCL_find</a:t>
            </a:r>
            <a:r>
              <a:rPr lang="en-US" sz="1100" i="1" dirty="0">
                <a:solidFill>
                  <a:srgbClr val="5A5A5A"/>
                </a:solidFill>
                <a:latin typeface="Arial"/>
                <a:ea typeface="Arial"/>
                <a:cs typeface="Arial"/>
                <a:sym typeface="Arial"/>
              </a:rPr>
              <a:t>_ creates the rule list</a:t>
            </a:r>
            <a:r>
              <a:rPr lang="en-US" sz="1100" i="1" dirty="0">
                <a:solidFill>
                  <a:srgbClr val="5A5A5A"/>
                </a:solidFill>
              </a:rPr>
              <a:t> using public or internal data;</a:t>
            </a:r>
            <a:endParaRPr sz="1100" i="1" dirty="0">
              <a:solidFill>
                <a:srgbClr val="5A5A5A"/>
              </a:solidFill>
              <a:latin typeface="Arial"/>
              <a:ea typeface="Arial"/>
              <a:cs typeface="Arial"/>
              <a:sym typeface="Arial"/>
            </a:endParaRPr>
          </a:p>
          <a:p>
            <a:pPr marL="0" marR="0" lvl="0" indent="0" algn="l" rtl="0">
              <a:spcBef>
                <a:spcPts val="0"/>
              </a:spcBef>
              <a:spcAft>
                <a:spcPts val="0"/>
              </a:spcAft>
              <a:buClr>
                <a:srgbClr val="5A5A5A"/>
              </a:buClr>
              <a:buSzPts val="1300"/>
              <a:buFont typeface="Arial"/>
              <a:buNone/>
            </a:pPr>
            <a:r>
              <a:rPr lang="en-US" sz="1100" i="1" dirty="0" err="1">
                <a:solidFill>
                  <a:srgbClr val="5A5A5A"/>
                </a:solidFill>
                <a:latin typeface="Arial"/>
                <a:ea typeface="Arial"/>
                <a:cs typeface="Arial"/>
                <a:sym typeface="Arial"/>
              </a:rPr>
              <a:t>EXCL_optimize_single</a:t>
            </a:r>
            <a:r>
              <a:rPr lang="en-US" sz="1100" i="1" dirty="0">
                <a:solidFill>
                  <a:srgbClr val="5A5A5A"/>
                </a:solidFill>
                <a:latin typeface="Arial"/>
                <a:ea typeface="Arial"/>
                <a:cs typeface="Arial"/>
                <a:sym typeface="Arial"/>
              </a:rPr>
              <a:t>_ tunes a single rule; </a:t>
            </a:r>
            <a:endParaRPr sz="1100" i="1" dirty="0">
              <a:solidFill>
                <a:srgbClr val="5A5A5A"/>
              </a:solidFill>
              <a:latin typeface="Arial"/>
              <a:ea typeface="Arial"/>
              <a:cs typeface="Arial"/>
              <a:sym typeface="Arial"/>
            </a:endParaRPr>
          </a:p>
          <a:p>
            <a:pPr marL="0" marR="0" lvl="0" indent="0" algn="l" rtl="0">
              <a:spcBef>
                <a:spcPts val="0"/>
              </a:spcBef>
              <a:spcAft>
                <a:spcPts val="0"/>
              </a:spcAft>
              <a:buClr>
                <a:srgbClr val="5A5A5A"/>
              </a:buClr>
              <a:buSzPts val="1300"/>
              <a:buFont typeface="Arial"/>
              <a:buNone/>
            </a:pPr>
            <a:r>
              <a:rPr lang="en-US" sz="1100" i="1" dirty="0" err="1">
                <a:solidFill>
                  <a:srgbClr val="5A5A5A"/>
                </a:solidFill>
                <a:latin typeface="Arial"/>
                <a:ea typeface="Arial"/>
                <a:cs typeface="Arial"/>
                <a:sym typeface="Arial"/>
              </a:rPr>
              <a:t>EXCL_optimize_set</a:t>
            </a:r>
            <a:r>
              <a:rPr lang="en-US" sz="1100" i="1" dirty="0">
                <a:solidFill>
                  <a:srgbClr val="5A5A5A"/>
                </a:solidFill>
                <a:latin typeface="Arial"/>
                <a:ea typeface="Arial"/>
                <a:cs typeface="Arial"/>
                <a:sym typeface="Arial"/>
              </a:rPr>
              <a:t>_ optimizes a list of rules (e.g., all the results from </a:t>
            </a:r>
            <a:r>
              <a:rPr lang="en-US" sz="1100" i="1" dirty="0" err="1">
                <a:solidFill>
                  <a:srgbClr val="5A5A5A"/>
                </a:solidFill>
                <a:latin typeface="Arial"/>
                <a:ea typeface="Arial"/>
                <a:cs typeface="Arial"/>
                <a:sym typeface="Arial"/>
              </a:rPr>
              <a:t>EXCL_find</a:t>
            </a:r>
            <a:r>
              <a:rPr lang="en-US" sz="1100" i="1" dirty="0">
                <a:solidFill>
                  <a:srgbClr val="5A5A5A"/>
                </a:solidFill>
                <a:latin typeface="Arial"/>
                <a:ea typeface="Arial"/>
                <a:cs typeface="Arial"/>
                <a:sym typeface="Arial"/>
              </a:rPr>
              <a:t>) </a:t>
            </a:r>
            <a:r>
              <a:rPr lang="en-US" sz="1100" i="1" dirty="0">
                <a:solidFill>
                  <a:srgbClr val="5A5A5A"/>
                </a:solidFill>
              </a:rPr>
              <a:t>using public or internal data</a:t>
            </a:r>
            <a:endParaRPr sz="1100" dirty="0">
              <a:solidFill>
                <a:schemeClr val="dk1"/>
              </a:solidFill>
              <a:latin typeface="Calibri"/>
              <a:ea typeface="Calibri"/>
              <a:cs typeface="Calibri"/>
              <a:sym typeface="Calibri"/>
            </a:endParaRPr>
          </a:p>
        </p:txBody>
      </p:sp>
      <p:sp>
        <p:nvSpPr>
          <p:cNvPr id="56" name="Google Shape;56;p4"/>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Exclusion rules · EXCL_ scripts</a:t>
            </a:r>
            <a:endParaRPr sz="900">
              <a:solidFill>
                <a:schemeClr val="dk1"/>
              </a:solidFill>
              <a:latin typeface="Calibri"/>
              <a:ea typeface="Calibri"/>
              <a:cs typeface="Calibri"/>
              <a:sym typeface="Calibri"/>
            </a:endParaRPr>
          </a:p>
        </p:txBody>
      </p:sp>
      <p:sp>
        <p:nvSpPr>
          <p:cNvPr id="57" name="Google Shape;57;p4"/>
          <p:cNvSpPr/>
          <p:nvPr/>
        </p:nvSpPr>
        <p:spPr>
          <a:xfrm>
            <a:off x="8138160" y="4814316"/>
            <a:ext cx="54870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4</a:t>
            </a:r>
            <a:endParaRPr sz="900">
              <a:solidFill>
                <a:schemeClr val="dk1"/>
              </a:solidFill>
              <a:latin typeface="Calibri"/>
              <a:ea typeface="Calibri"/>
              <a:cs typeface="Calibri"/>
              <a:sym typeface="Calibri"/>
            </a:endParaRPr>
          </a:p>
        </p:txBody>
      </p:sp>
      <p:sp>
        <p:nvSpPr>
          <p:cNvPr id="58" name="Google Shape;58;p4"/>
          <p:cNvSpPr/>
          <p:nvPr/>
        </p:nvSpPr>
        <p:spPr>
          <a:xfrm>
            <a:off x="6687262" y="1428738"/>
            <a:ext cx="1689572" cy="1428900"/>
          </a:xfrm>
          <a:prstGeom prst="roundRect">
            <a:avLst>
              <a:gd name="adj" fmla="val 4053"/>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 name="Google Shape;59;p4"/>
          <p:cNvSpPr/>
          <p:nvPr/>
        </p:nvSpPr>
        <p:spPr>
          <a:xfrm>
            <a:off x="6794420" y="1523988"/>
            <a:ext cx="1461100" cy="1238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5A5A5A"/>
                </a:solidFill>
                <a:latin typeface="Arial"/>
                <a:ea typeface="Arial"/>
                <a:cs typeface="Arial"/>
                <a:sym typeface="Arial"/>
              </a:rPr>
              <a:t>Add to existing curated rule set</a:t>
            </a:r>
            <a:endParaRPr sz="1000" b="1">
              <a:solidFill>
                <a:srgbClr val="5A5A5A"/>
              </a:solidFill>
              <a:latin typeface="Arial"/>
              <a:ea typeface="Arial"/>
              <a:cs typeface="Arial"/>
              <a:sym typeface="Arial"/>
            </a:endParaRPr>
          </a:p>
          <a:p>
            <a:pPr marL="0" lvl="0" indent="0" algn="ctr" rtl="0">
              <a:spcBef>
                <a:spcPts val="375"/>
              </a:spcBef>
              <a:spcAft>
                <a:spcPts val="0"/>
              </a:spcAft>
              <a:buNone/>
            </a:pPr>
            <a:r>
              <a:rPr lang="en-US" sz="1100" b="1">
                <a:solidFill>
                  <a:srgbClr val="000000"/>
                </a:solidFill>
                <a:latin typeface="Arial"/>
                <a:ea typeface="Arial"/>
                <a:cs typeface="Arial"/>
                <a:sym typeface="Arial"/>
              </a:rPr>
              <a:t>Test on FY2025 and FY2026 data</a:t>
            </a:r>
            <a:endParaRPr sz="1100" b="1">
              <a:solidFill>
                <a:srgbClr val="000000"/>
              </a:solidFill>
              <a:latin typeface="Arial"/>
              <a:ea typeface="Arial"/>
              <a:cs typeface="Arial"/>
              <a:sym typeface="Arial"/>
            </a:endParaRPr>
          </a:p>
          <a:p>
            <a:pPr marL="0" lvl="0" indent="0" algn="ctr" rtl="0">
              <a:spcBef>
                <a:spcPts val="150"/>
              </a:spcBef>
              <a:spcAft>
                <a:spcPts val="0"/>
              </a:spcAft>
              <a:buNone/>
            </a:pPr>
            <a:r>
              <a:rPr lang="en-US" sz="1100" b="1">
                <a:solidFill>
                  <a:srgbClr val="000000"/>
                </a:solidFill>
                <a:latin typeface="Arial"/>
                <a:ea typeface="Arial"/>
                <a:cs typeface="Arial"/>
                <a:sym typeface="Arial"/>
              </a:rPr>
              <a:t>(not yet public)</a:t>
            </a:r>
            <a:endParaRPr sz="1000" b="1">
              <a:solidFill>
                <a:srgbClr val="5A5A5A"/>
              </a:solidFill>
              <a:latin typeface="Arial"/>
              <a:ea typeface="Arial"/>
              <a:cs typeface="Arial"/>
              <a:sym typeface="Arial"/>
            </a:endParaRPr>
          </a:p>
        </p:txBody>
      </p:sp>
      <p:cxnSp>
        <p:nvCxnSpPr>
          <p:cNvPr id="60" name="Google Shape;60;p4"/>
          <p:cNvCxnSpPr>
            <a:cxnSpLocks/>
            <a:stCxn id="47" idx="3"/>
            <a:endCxn id="58" idx="1"/>
          </p:cNvCxnSpPr>
          <p:nvPr/>
        </p:nvCxnSpPr>
        <p:spPr>
          <a:xfrm>
            <a:off x="6220906" y="2143188"/>
            <a:ext cx="466356" cy="0"/>
          </a:xfrm>
          <a:prstGeom prst="straightConnector1">
            <a:avLst/>
          </a:prstGeom>
          <a:solidFill>
            <a:srgbClr val="FFFFFF"/>
          </a:solidFill>
          <a:ln w="22225" cap="flat" cmpd="sng">
            <a:solidFill>
              <a:srgbClr val="000000"/>
            </a:solidFill>
            <a:prstDash val="solid"/>
            <a:round/>
            <a:headEnd type="none" w="sm" len="sm"/>
            <a:tailEnd type="triangl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5"/>
        <p:cNvGrpSpPr/>
        <p:nvPr/>
      </p:nvGrpSpPr>
      <p:grpSpPr>
        <a:xfrm>
          <a:off x="0" y="0"/>
          <a:ext cx="0" cy="0"/>
          <a:chOff x="0" y="0"/>
          <a:chExt cx="0" cy="0"/>
        </a:xfrm>
      </p:grpSpPr>
      <p:sp>
        <p:nvSpPr>
          <p:cNvPr id="66" name="Google Shape;66;p5"/>
          <p:cNvSpPr/>
          <p:nvPr/>
        </p:nvSpPr>
        <p:spPr>
          <a:xfrm>
            <a:off x="457200" y="310896"/>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2800" b="1">
                <a:solidFill>
                  <a:srgbClr val="000000"/>
                </a:solidFill>
                <a:latin typeface="Cambria"/>
                <a:ea typeface="Cambria"/>
                <a:cs typeface="Cambria"/>
                <a:sym typeface="Cambria"/>
              </a:rPr>
              <a:t>EXCL_find_exclusion_rules_by_hh_size.R — mine and combine exclusion rules</a:t>
            </a:r>
            <a:endParaRPr sz="2800">
              <a:solidFill>
                <a:schemeClr val="dk1"/>
              </a:solidFill>
              <a:latin typeface="Calibri"/>
              <a:ea typeface="Calibri"/>
              <a:cs typeface="Calibri"/>
              <a:sym typeface="Calibri"/>
            </a:endParaRPr>
          </a:p>
        </p:txBody>
      </p:sp>
      <p:sp>
        <p:nvSpPr>
          <p:cNvPr id="67" name="Google Shape;67;p5"/>
          <p:cNvSpPr/>
          <p:nvPr/>
        </p:nvSpPr>
        <p:spPr>
          <a:xfrm>
            <a:off x="457200" y="1234440"/>
            <a:ext cx="5212080" cy="3291840"/>
          </a:xfrm>
          <a:prstGeom prst="rect">
            <a:avLst/>
          </a:prstGeom>
          <a:noFill/>
          <a:ln>
            <a:noFill/>
          </a:ln>
        </p:spPr>
        <p:txBody>
          <a:bodyPr spcFirstLastPara="1" wrap="square" lIns="91425" tIns="45700" rIns="91425" bIns="45700" anchor="t" anchorCtr="0">
            <a:noAutofit/>
          </a:bodyPr>
          <a:lstStyle/>
          <a:p>
            <a:pPr marL="177800" marR="0" lvl="0" indent="-177800" algn="l" rtl="0">
              <a:spcBef>
                <a:spcPts val="0"/>
              </a:spcBef>
              <a:spcAft>
                <a:spcPts val="0"/>
              </a:spcAft>
              <a:buClr>
                <a:srgbClr val="000000"/>
              </a:buClr>
              <a:buSzPts val="1500"/>
              <a:buFont typeface="Arial"/>
              <a:buChar char="•"/>
            </a:pPr>
            <a:r>
              <a:rPr lang="en-US" sz="1500">
                <a:solidFill>
                  <a:srgbClr val="000000"/>
                </a:solidFill>
                <a:latin typeface="Arial"/>
                <a:ea typeface="Arial"/>
                <a:cs typeface="Arial"/>
                <a:sym typeface="Arial"/>
              </a:rPr>
              <a:t>For each household size, use RuleFit to find criteria that combine 1-4 variables to safely exclude low-risk cases.</a:t>
            </a:r>
            <a:endParaRPr sz="1500">
              <a:solidFill>
                <a:schemeClr val="dk1"/>
              </a:solidFill>
              <a:latin typeface="Calibri"/>
              <a:ea typeface="Calibri"/>
              <a:cs typeface="Calibri"/>
              <a:sym typeface="Calibri"/>
            </a:endParaRPr>
          </a:p>
          <a:p>
            <a:pPr marL="177800" marR="0" lvl="0" indent="-177800" algn="l" rtl="0">
              <a:spcBef>
                <a:spcPts val="1000"/>
              </a:spcBef>
              <a:spcAft>
                <a:spcPts val="0"/>
              </a:spcAft>
              <a:buClr>
                <a:srgbClr val="000000"/>
              </a:buClr>
              <a:buSzPts val="1500"/>
              <a:buFont typeface="Arial"/>
              <a:buChar char="•"/>
            </a:pPr>
            <a:r>
              <a:rPr lang="en-US" sz="1500">
                <a:solidFill>
                  <a:srgbClr val="000000"/>
                </a:solidFill>
                <a:latin typeface="Arial"/>
                <a:ea typeface="Arial"/>
                <a:cs typeface="Arial"/>
                <a:sym typeface="Arial"/>
              </a:rPr>
              <a:t>Score every rule: workload cut, dollar retention, purity (share of excluded cases that are not errors).</a:t>
            </a:r>
            <a:endParaRPr sz="1500">
              <a:solidFill>
                <a:schemeClr val="dk1"/>
              </a:solidFill>
              <a:latin typeface="Calibri"/>
              <a:ea typeface="Calibri"/>
              <a:cs typeface="Calibri"/>
              <a:sym typeface="Calibri"/>
            </a:endParaRPr>
          </a:p>
          <a:p>
            <a:pPr marL="177800" marR="0" lvl="0" indent="-177800" algn="l" rtl="0">
              <a:spcBef>
                <a:spcPts val="1000"/>
              </a:spcBef>
              <a:spcAft>
                <a:spcPts val="0"/>
              </a:spcAft>
              <a:buClr>
                <a:srgbClr val="000000"/>
              </a:buClr>
              <a:buSzPts val="1500"/>
              <a:buFont typeface="Arial"/>
              <a:buChar char="•"/>
            </a:pPr>
            <a:r>
              <a:rPr lang="en-US" sz="1500">
                <a:solidFill>
                  <a:srgbClr val="000000"/>
                </a:solidFill>
                <a:latin typeface="Arial"/>
                <a:ea typeface="Arial"/>
                <a:cs typeface="Arial"/>
                <a:sym typeface="Arial"/>
              </a:rPr>
              <a:t>Keep EXCLUDE-direction rules (default saves rules with dollar retention ≥ 0.95, but can modify).</a:t>
            </a:r>
            <a:endParaRPr sz="1500">
              <a:solidFill>
                <a:schemeClr val="dk1"/>
              </a:solidFill>
              <a:latin typeface="Calibri"/>
              <a:ea typeface="Calibri"/>
              <a:cs typeface="Calibri"/>
              <a:sym typeface="Calibri"/>
            </a:endParaRPr>
          </a:p>
          <a:p>
            <a:pPr marL="177800" marR="0" lvl="0" indent="-177800" algn="l" rtl="0">
              <a:spcBef>
                <a:spcPts val="1000"/>
              </a:spcBef>
              <a:spcAft>
                <a:spcPts val="0"/>
              </a:spcAft>
              <a:buClr>
                <a:srgbClr val="000000"/>
              </a:buClr>
              <a:buSzPts val="1500"/>
              <a:buFont typeface="Arial"/>
              <a:buChar char="•"/>
            </a:pPr>
            <a:r>
              <a:rPr lang="en-US" sz="1500"/>
              <a:t>Starting with the highest workload-cut rules, combine them using </a:t>
            </a:r>
            <a:r>
              <a:rPr lang="en-US" sz="1500">
                <a:solidFill>
                  <a:srgbClr val="000000"/>
                </a:solidFill>
                <a:latin typeface="Arial"/>
                <a:ea typeface="Arial"/>
                <a:cs typeface="Arial"/>
                <a:sym typeface="Arial"/>
              </a:rPr>
              <a:t>OR statements into a </a:t>
            </a:r>
            <a:r>
              <a:rPr lang="en-US" sz="1500"/>
              <a:t>“</a:t>
            </a:r>
            <a:r>
              <a:rPr lang="en-US" sz="1500">
                <a:solidFill>
                  <a:srgbClr val="000000"/>
                </a:solidFill>
                <a:latin typeface="Arial"/>
                <a:ea typeface="Arial"/>
                <a:cs typeface="Arial"/>
                <a:sym typeface="Arial"/>
              </a:rPr>
              <a:t>net</a:t>
            </a:r>
            <a:r>
              <a:rPr lang="en-US" sz="1500"/>
              <a:t>”</a:t>
            </a:r>
            <a:r>
              <a:rPr lang="en-US" sz="1500">
                <a:solidFill>
                  <a:srgbClr val="000000"/>
                </a:solidFill>
                <a:latin typeface="Arial"/>
                <a:ea typeface="Arial"/>
                <a:cs typeface="Arial"/>
                <a:sym typeface="Arial"/>
              </a:rPr>
              <a:t> that reaches each recall floor </a:t>
            </a:r>
            <a:r>
              <a:rPr lang="en-US" sz="1500"/>
              <a:t>(such as 30%, 40%, or 50% of error dollars due to the modeled type of error). </a:t>
            </a:r>
            <a:endParaRPr sz="1500"/>
          </a:p>
          <a:p>
            <a:pPr marL="0" marR="0" lvl="0" indent="0" algn="l" rtl="0">
              <a:spcBef>
                <a:spcPts val="1000"/>
              </a:spcBef>
              <a:spcAft>
                <a:spcPts val="0"/>
              </a:spcAft>
              <a:buNone/>
            </a:pPr>
            <a:endParaRPr sz="1500"/>
          </a:p>
        </p:txBody>
      </p:sp>
      <p:sp>
        <p:nvSpPr>
          <p:cNvPr id="68" name="Google Shape;68;p5"/>
          <p:cNvSpPr/>
          <p:nvPr/>
        </p:nvSpPr>
        <p:spPr>
          <a:xfrm>
            <a:off x="5989320" y="1280160"/>
            <a:ext cx="2697480" cy="3108960"/>
          </a:xfrm>
          <a:prstGeom prst="roundRect">
            <a:avLst>
              <a:gd name="adj" fmla="val 2034"/>
            </a:avLst>
          </a:prstGeom>
          <a:solidFill>
            <a:srgbClr val="F2F2F2"/>
          </a:solidFill>
          <a:ln w="12700" cap="flat" cmpd="sng">
            <a:solidFill>
              <a:srgbClr val="80808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6172200" y="1463040"/>
            <a:ext cx="23317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1300"/>
              <a:buFont typeface="Arial"/>
              <a:buNone/>
            </a:pPr>
            <a:r>
              <a:rPr lang="en-US" sz="1300" b="1">
                <a:solidFill>
                  <a:srgbClr val="000000"/>
                </a:solidFill>
                <a:latin typeface="Arial"/>
                <a:ea typeface="Arial"/>
                <a:cs typeface="Arial"/>
                <a:sym typeface="Arial"/>
              </a:rPr>
              <a:t>Outputs (CSV)</a:t>
            </a:r>
            <a:endParaRPr sz="1300">
              <a:solidFill>
                <a:schemeClr val="dk1"/>
              </a:solidFill>
              <a:latin typeface="Calibri"/>
              <a:ea typeface="Calibri"/>
              <a:cs typeface="Calibri"/>
              <a:sym typeface="Calibri"/>
            </a:endParaRPr>
          </a:p>
        </p:txBody>
      </p:sp>
      <p:sp>
        <p:nvSpPr>
          <p:cNvPr id="70" name="Google Shape;70;p5"/>
          <p:cNvSpPr/>
          <p:nvPr/>
        </p:nvSpPr>
        <p:spPr>
          <a:xfrm>
            <a:off x="6172200" y="1874520"/>
            <a:ext cx="2331720" cy="2423160"/>
          </a:xfrm>
          <a:prstGeom prst="rect">
            <a:avLst/>
          </a:prstGeom>
          <a:noFill/>
          <a:ln>
            <a:noFill/>
          </a:ln>
        </p:spPr>
        <p:txBody>
          <a:bodyPr spcFirstLastPara="1" wrap="square" lIns="91425" tIns="45700" rIns="91425" bIns="45700" anchor="t" anchorCtr="0">
            <a:noAutofit/>
          </a:bodyPr>
          <a:lstStyle/>
          <a:p>
            <a:pPr marL="152400" marR="0" lvl="0" indent="-152400" algn="l" rtl="0">
              <a:spcBef>
                <a:spcPts val="0"/>
              </a:spcBef>
              <a:spcAft>
                <a:spcPts val="0"/>
              </a:spcAft>
              <a:buClr>
                <a:srgbClr val="000000"/>
              </a:buClr>
              <a:buSzPts val="1200"/>
              <a:buFont typeface="Arial"/>
              <a:buChar char="•"/>
            </a:pPr>
            <a:r>
              <a:rPr lang="en-US" sz="1200">
                <a:solidFill>
                  <a:srgbClr val="000000"/>
                </a:solidFill>
                <a:latin typeface="Arial"/>
                <a:ea typeface="Arial"/>
                <a:cs typeface="Arial"/>
                <a:sym typeface="Arial"/>
              </a:rPr>
              <a:t>Full rule table</a:t>
            </a:r>
            <a:endParaRPr sz="1200">
              <a:solidFill>
                <a:schemeClr val="dk1"/>
              </a:solidFill>
              <a:latin typeface="Calibri"/>
              <a:ea typeface="Calibri"/>
              <a:cs typeface="Calibri"/>
              <a:sym typeface="Calibri"/>
            </a:endParaRPr>
          </a:p>
          <a:p>
            <a:pPr marL="152400" marR="0" lvl="0" indent="-152400" algn="l" rtl="0">
              <a:spcBef>
                <a:spcPts val="700"/>
              </a:spcBef>
              <a:spcAft>
                <a:spcPts val="0"/>
              </a:spcAft>
              <a:buClr>
                <a:srgbClr val="000000"/>
              </a:buClr>
              <a:buSzPts val="1200"/>
              <a:buFont typeface="Arial"/>
              <a:buChar char="•"/>
            </a:pPr>
            <a:r>
              <a:rPr lang="en-US" sz="1200">
                <a:solidFill>
                  <a:srgbClr val="000000"/>
                </a:solidFill>
                <a:latin typeface="Arial"/>
                <a:ea typeface="Arial"/>
                <a:cs typeface="Arial"/>
                <a:sym typeface="Arial"/>
              </a:rPr>
              <a:t>High-workload-cut shortlist (above threshold)</a:t>
            </a:r>
            <a:endParaRPr sz="1200">
              <a:solidFill>
                <a:schemeClr val="dk1"/>
              </a:solidFill>
              <a:latin typeface="Calibri"/>
              <a:ea typeface="Calibri"/>
              <a:cs typeface="Calibri"/>
              <a:sym typeface="Calibri"/>
            </a:endParaRPr>
          </a:p>
          <a:p>
            <a:pPr marL="152400" marR="0" lvl="0" indent="-152400" algn="l" rtl="0">
              <a:spcBef>
                <a:spcPts val="700"/>
              </a:spcBef>
              <a:spcAft>
                <a:spcPts val="0"/>
              </a:spcAft>
              <a:buClr>
                <a:srgbClr val="000000"/>
              </a:buClr>
              <a:buSzPts val="1200"/>
              <a:buFont typeface="Arial"/>
              <a:buChar char="•"/>
            </a:pPr>
            <a:r>
              <a:rPr lang="en-US" sz="1200">
                <a:solidFill>
                  <a:srgbClr val="000000"/>
                </a:solidFill>
                <a:latin typeface="Arial"/>
                <a:ea typeface="Arial"/>
                <a:cs typeface="Arial"/>
                <a:sym typeface="Arial"/>
              </a:rPr>
              <a:t>Net operating points (retention floors with maximum workload cut at each level)</a:t>
            </a:r>
            <a:endParaRPr sz="1200">
              <a:solidFill>
                <a:schemeClr val="dk1"/>
              </a:solidFill>
              <a:latin typeface="Calibri"/>
              <a:ea typeface="Calibri"/>
              <a:cs typeface="Calibri"/>
              <a:sym typeface="Calibri"/>
            </a:endParaRPr>
          </a:p>
        </p:txBody>
      </p:sp>
      <p:sp>
        <p:nvSpPr>
          <p:cNvPr id="71" name="Google Shape;71;p5"/>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Exclusion rules · EXCL_ scripts</a:t>
            </a:r>
            <a:endParaRPr sz="900">
              <a:solidFill>
                <a:schemeClr val="dk1"/>
              </a:solidFill>
              <a:latin typeface="Calibri"/>
              <a:ea typeface="Calibri"/>
              <a:cs typeface="Calibri"/>
              <a:sym typeface="Calibri"/>
            </a:endParaRPr>
          </a:p>
        </p:txBody>
      </p:sp>
      <p:sp>
        <p:nvSpPr>
          <p:cNvPr id="72" name="Google Shape;72;p5"/>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5</a:t>
            </a:r>
            <a:endParaRPr sz="9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7"/>
        <p:cNvGrpSpPr/>
        <p:nvPr/>
      </p:nvGrpSpPr>
      <p:grpSpPr>
        <a:xfrm>
          <a:off x="0" y="0"/>
          <a:ext cx="0" cy="0"/>
          <a:chOff x="0" y="0"/>
          <a:chExt cx="0" cy="0"/>
        </a:xfrm>
      </p:grpSpPr>
      <p:sp>
        <p:nvSpPr>
          <p:cNvPr id="78" name="Google Shape;78;p6"/>
          <p:cNvSpPr/>
          <p:nvPr/>
        </p:nvSpPr>
        <p:spPr>
          <a:xfrm>
            <a:off x="457200" y="310896"/>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2800" b="1">
                <a:solidFill>
                  <a:srgbClr val="000000"/>
                </a:solidFill>
                <a:latin typeface="Cambria"/>
                <a:ea typeface="Cambria"/>
                <a:cs typeface="Cambria"/>
                <a:sym typeface="Cambria"/>
              </a:rPr>
              <a:t>EXCL_find_ output — candidate exclusion rules by household size</a:t>
            </a:r>
            <a:endParaRPr sz="2800">
              <a:solidFill>
                <a:schemeClr val="dk1"/>
              </a:solidFill>
              <a:latin typeface="Calibri"/>
              <a:ea typeface="Calibri"/>
              <a:cs typeface="Calibri"/>
              <a:sym typeface="Calibri"/>
            </a:endParaRPr>
          </a:p>
        </p:txBody>
      </p:sp>
      <p:graphicFrame>
        <p:nvGraphicFramePr>
          <p:cNvPr id="79" name="Google Shape;79;p6"/>
          <p:cNvGraphicFramePr/>
          <p:nvPr/>
        </p:nvGraphicFramePr>
        <p:xfrm>
          <a:off x="457200" y="1105595"/>
          <a:ext cx="8229600" cy="3887340"/>
        </p:xfrm>
        <a:graphic>
          <a:graphicData uri="http://schemas.openxmlformats.org/drawingml/2006/table">
            <a:tbl>
              <a:tblPr>
                <a:noFill/>
                <a:tableStyleId>{B5048AC8-0E75-455B-AB4F-AEF2A2D202BD}</a:tableStyleId>
              </a:tblPr>
              <a:tblGrid>
                <a:gridCol w="823725">
                  <a:extLst>
                    <a:ext uri="{9D8B030D-6E8A-4147-A177-3AD203B41FA5}">
                      <a16:colId xmlns:a16="http://schemas.microsoft.com/office/drawing/2014/main" val="20000"/>
                    </a:ext>
                  </a:extLst>
                </a:gridCol>
                <a:gridCol w="3210450">
                  <a:extLst>
                    <a:ext uri="{9D8B030D-6E8A-4147-A177-3AD203B41FA5}">
                      <a16:colId xmlns:a16="http://schemas.microsoft.com/office/drawing/2014/main" val="20001"/>
                    </a:ext>
                  </a:extLst>
                </a:gridCol>
                <a:gridCol w="704075">
                  <a:extLst>
                    <a:ext uri="{9D8B030D-6E8A-4147-A177-3AD203B41FA5}">
                      <a16:colId xmlns:a16="http://schemas.microsoft.com/office/drawing/2014/main" val="20002"/>
                    </a:ext>
                  </a:extLst>
                </a:gridCol>
                <a:gridCol w="74815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457200">
                <a:tc>
                  <a:txBody>
                    <a:bodyPr/>
                    <a:lstStyle/>
                    <a:p>
                      <a:pPr marL="0" marR="0" lvl="0" indent="0" algn="l" rtl="0">
                        <a:spcBef>
                          <a:spcPts val="0"/>
                        </a:spcBef>
                        <a:spcAft>
                          <a:spcPts val="0"/>
                        </a:spcAft>
                        <a:buClr>
                          <a:srgbClr val="000000"/>
                        </a:buClr>
                        <a:buSzPts val="1200"/>
                        <a:buFont typeface="Arial"/>
                        <a:buNone/>
                      </a:pPr>
                      <a:r>
                        <a:rPr lang="en-US" sz="1100" b="1" u="none" strike="noStrike" cap="none">
                          <a:solidFill>
                            <a:schemeClr val="dk1"/>
                          </a:solidFill>
                          <a:latin typeface="Arial"/>
                          <a:ea typeface="Arial"/>
                          <a:cs typeface="Arial"/>
                          <a:sym typeface="Arial"/>
                        </a:rPr>
                        <a:t>hh_size</a:t>
                      </a:r>
                      <a:endParaRPr sz="1100" u="none" strike="noStrike" cap="none">
                        <a:solidFill>
                          <a:schemeClr val="dk1"/>
                        </a:solidFill>
                        <a:latin typeface="Arial"/>
                        <a:ea typeface="Arial"/>
                        <a:cs typeface="Arial"/>
                        <a:sym typeface="Arial"/>
                      </a:endParaRPr>
                    </a:p>
                  </a:txBody>
                  <a:tcPr marL="91450" marR="91450" marT="45725" marB="45725" anchor="ctr">
                    <a:lnL w="12700" cap="flat" cmpd="sng">
                      <a:solidFill>
                        <a:srgbClr val="808080"/>
                      </a:solidFill>
                      <a:prstDash val="solid"/>
                      <a:round/>
                      <a:headEnd type="none" w="sm" len="sm"/>
                      <a:tailEnd type="none" w="sm" len="sm"/>
                    </a:lnL>
                    <a:lnR w="12700" cap="flat" cmpd="sng">
                      <a:solidFill>
                        <a:srgbClr val="808080"/>
                      </a:solidFill>
                      <a:prstDash val="solid"/>
                      <a:round/>
                      <a:headEnd type="none" w="sm" len="sm"/>
                      <a:tailEnd type="none" w="sm" len="sm"/>
                    </a:lnR>
                    <a:lnT w="12700"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E6E6E6"/>
                    </a:solidFill>
                  </a:tcPr>
                </a:tc>
                <a:tc>
                  <a:txBody>
                    <a:bodyPr/>
                    <a:lstStyle/>
                    <a:p>
                      <a:pPr marL="0" marR="0" lvl="0" indent="0" algn="l" rtl="0">
                        <a:spcBef>
                          <a:spcPts val="0"/>
                        </a:spcBef>
                        <a:spcAft>
                          <a:spcPts val="0"/>
                        </a:spcAft>
                        <a:buClr>
                          <a:srgbClr val="000000"/>
                        </a:buClr>
                        <a:buSzPts val="1200"/>
                        <a:buFont typeface="Arial"/>
                        <a:buNone/>
                      </a:pPr>
                      <a:r>
                        <a:rPr lang="en-US" sz="1100" b="1" u="none" strike="noStrike" cap="none">
                          <a:solidFill>
                            <a:schemeClr val="dk1"/>
                          </a:solidFill>
                          <a:latin typeface="Arial"/>
                          <a:ea typeface="Arial"/>
                          <a:cs typeface="Arial"/>
                          <a:sym typeface="Arial"/>
                        </a:rPr>
                        <a:t>rule</a:t>
                      </a:r>
                      <a:endParaRPr sz="1100" u="none" strike="noStrike" cap="none">
                        <a:solidFill>
                          <a:schemeClr val="dk1"/>
                        </a:solidFill>
                        <a:latin typeface="Arial"/>
                        <a:ea typeface="Arial"/>
                        <a:cs typeface="Arial"/>
                        <a:sym typeface="Arial"/>
                      </a:endParaRPr>
                    </a:p>
                  </a:txBody>
                  <a:tcPr marL="91450" marR="91450" marT="45725" marB="45725" anchor="ctr">
                    <a:lnL w="12700" cap="flat" cmpd="sng">
                      <a:solidFill>
                        <a:srgbClr val="808080"/>
                      </a:solidFill>
                      <a:prstDash val="solid"/>
                      <a:round/>
                      <a:headEnd type="none" w="sm" len="sm"/>
                      <a:tailEnd type="none" w="sm" len="sm"/>
                    </a:lnL>
                    <a:lnR w="12700" cap="flat" cmpd="sng">
                      <a:solidFill>
                        <a:srgbClr val="808080"/>
                      </a:solidFill>
                      <a:prstDash val="solid"/>
                      <a:round/>
                      <a:headEnd type="none" w="sm" len="sm"/>
                      <a:tailEnd type="none" w="sm" len="sm"/>
                    </a:lnR>
                    <a:lnT w="12700" cap="flat" cmpd="sng">
                      <a:solidFill>
                        <a:srgbClr val="808080"/>
                      </a:solidFill>
                      <a:prstDash val="solid"/>
                      <a:round/>
                      <a:headEnd type="none" w="sm" len="sm"/>
                      <a:tailEnd type="none" w="sm" len="sm"/>
                    </a:lnT>
                    <a:lnB w="9525" cap="flat" cmpd="sng">
                      <a:solidFill>
                        <a:srgbClr val="000000"/>
                      </a:solidFill>
                      <a:prstDash val="solid"/>
                      <a:round/>
                      <a:headEnd type="none" w="sm" len="sm"/>
                      <a:tailEnd type="none" w="sm" len="sm"/>
                    </a:lnB>
                    <a:solidFill>
                      <a:srgbClr val="E6E6E6"/>
                    </a:solidFill>
                  </a:tcPr>
                </a:tc>
                <a:tc>
                  <a:txBody>
                    <a:bodyPr/>
                    <a:lstStyle/>
                    <a:p>
                      <a:pPr marL="0" marR="0" lvl="0" indent="0" algn="l" rtl="0">
                        <a:spcBef>
                          <a:spcPts val="0"/>
                        </a:spcBef>
                        <a:spcAft>
                          <a:spcPts val="0"/>
                        </a:spcAft>
                        <a:buClr>
                          <a:srgbClr val="000000"/>
                        </a:buClr>
                        <a:buSzPts val="1200"/>
                        <a:buFont typeface="Arial"/>
                        <a:buNone/>
                      </a:pPr>
                      <a:r>
                        <a:rPr lang="en-US" sz="1100" b="1" u="none" strike="noStrike" cap="none">
                          <a:solidFill>
                            <a:schemeClr val="dk1"/>
                          </a:solidFill>
                          <a:latin typeface="Arial"/>
                          <a:ea typeface="Arial"/>
                          <a:cs typeface="Arial"/>
                          <a:sym typeface="Arial"/>
                        </a:rPr>
                        <a:t>precision</a:t>
                      </a:r>
                      <a:endParaRPr sz="1100" u="none" strike="noStrike" cap="none">
                        <a:solidFill>
                          <a:schemeClr val="dk1"/>
                        </a:solidFill>
                        <a:latin typeface="Arial"/>
                        <a:ea typeface="Arial"/>
                        <a:cs typeface="Arial"/>
                        <a:sym typeface="Arial"/>
                      </a:endParaRPr>
                    </a:p>
                  </a:txBody>
                  <a:tcPr marL="91450" marR="91450" marT="45725" marB="45725" anchor="ctr">
                    <a:lnL w="12700" cap="flat" cmpd="sng">
                      <a:solidFill>
                        <a:srgbClr val="808080"/>
                      </a:solidFill>
                      <a:prstDash val="solid"/>
                      <a:round/>
                      <a:headEnd type="none" w="sm" len="sm"/>
                      <a:tailEnd type="none" w="sm" len="sm"/>
                    </a:lnL>
                    <a:lnR w="12700" cap="flat" cmpd="sng">
                      <a:solidFill>
                        <a:srgbClr val="808080"/>
                      </a:solidFill>
                      <a:prstDash val="solid"/>
                      <a:round/>
                      <a:headEnd type="none" w="sm" len="sm"/>
                      <a:tailEnd type="none" w="sm" len="sm"/>
                    </a:lnR>
                    <a:lnT w="12700"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E6E6E6"/>
                    </a:solidFill>
                  </a:tcPr>
                </a:tc>
                <a:tc>
                  <a:txBody>
                    <a:bodyPr/>
                    <a:lstStyle/>
                    <a:p>
                      <a:pPr marL="0" marR="0" lvl="0" indent="0" algn="l" rtl="0">
                        <a:spcBef>
                          <a:spcPts val="0"/>
                        </a:spcBef>
                        <a:spcAft>
                          <a:spcPts val="0"/>
                        </a:spcAft>
                        <a:buClr>
                          <a:srgbClr val="000000"/>
                        </a:buClr>
                        <a:buSzPts val="1200"/>
                        <a:buFont typeface="Arial"/>
                        <a:buNone/>
                      </a:pPr>
                      <a:r>
                        <a:rPr lang="en-US" sz="1100" b="1" u="none" strike="noStrike" cap="none">
                          <a:solidFill>
                            <a:schemeClr val="dk1"/>
                          </a:solidFill>
                          <a:latin typeface="Arial"/>
                          <a:ea typeface="Arial"/>
                          <a:cs typeface="Arial"/>
                          <a:sym typeface="Arial"/>
                        </a:rPr>
                        <a:t>recall (</a:t>
                      </a:r>
                      <a:r>
                        <a:rPr lang="en-US" sz="1100" b="1">
                          <a:solidFill>
                            <a:schemeClr val="dk1"/>
                          </a:solidFill>
                        </a:rPr>
                        <a:t>$)</a:t>
                      </a:r>
                      <a:endParaRPr sz="1100" u="none" strike="noStrike" cap="none">
                        <a:solidFill>
                          <a:schemeClr val="dk1"/>
                        </a:solidFill>
                        <a:latin typeface="Arial"/>
                        <a:ea typeface="Arial"/>
                        <a:cs typeface="Arial"/>
                        <a:sym typeface="Arial"/>
                      </a:endParaRPr>
                    </a:p>
                  </a:txBody>
                  <a:tcPr marL="91450" marR="91450" marT="45725" marB="45725" anchor="ctr">
                    <a:lnL w="12700" cap="flat" cmpd="sng">
                      <a:solidFill>
                        <a:srgbClr val="808080"/>
                      </a:solidFill>
                      <a:prstDash val="solid"/>
                      <a:round/>
                      <a:headEnd type="none" w="sm" len="sm"/>
                      <a:tailEnd type="none" w="sm" len="sm"/>
                    </a:lnL>
                    <a:lnR w="12700" cap="flat" cmpd="sng">
                      <a:solidFill>
                        <a:srgbClr val="808080"/>
                      </a:solidFill>
                      <a:prstDash val="solid"/>
                      <a:round/>
                      <a:headEnd type="none" w="sm" len="sm"/>
                      <a:tailEnd type="none" w="sm" len="sm"/>
                    </a:lnR>
                    <a:lnT w="12700"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E6E6E6"/>
                    </a:solidFill>
                  </a:tcPr>
                </a:tc>
                <a:tc>
                  <a:txBody>
                    <a:bodyPr/>
                    <a:lstStyle/>
                    <a:p>
                      <a:pPr marL="0" marR="0" lvl="0" indent="0" algn="l" rtl="0">
                        <a:spcBef>
                          <a:spcPts val="0"/>
                        </a:spcBef>
                        <a:spcAft>
                          <a:spcPts val="0"/>
                        </a:spcAft>
                        <a:buClr>
                          <a:srgbClr val="000000"/>
                        </a:buClr>
                        <a:buSzPts val="1200"/>
                        <a:buFont typeface="Arial"/>
                        <a:buNone/>
                      </a:pPr>
                      <a:r>
                        <a:rPr lang="en-US" sz="1100" b="1" u="none" strike="noStrike" cap="none">
                          <a:solidFill>
                            <a:schemeClr val="dk1"/>
                          </a:solidFill>
                          <a:latin typeface="Arial"/>
                          <a:ea typeface="Arial"/>
                          <a:cs typeface="Arial"/>
                          <a:sym typeface="Arial"/>
                        </a:rPr>
                        <a:t>n_flagged</a:t>
                      </a:r>
                      <a:endParaRPr sz="1100" u="none" strike="noStrike" cap="none">
                        <a:solidFill>
                          <a:schemeClr val="dk1"/>
                        </a:solidFill>
                        <a:latin typeface="Arial"/>
                        <a:ea typeface="Arial"/>
                        <a:cs typeface="Arial"/>
                        <a:sym typeface="Arial"/>
                      </a:endParaRPr>
                    </a:p>
                  </a:txBody>
                  <a:tcPr marL="91450" marR="91450" marT="45725" marB="45725" anchor="ctr">
                    <a:lnL w="12700" cap="flat" cmpd="sng">
                      <a:solidFill>
                        <a:srgbClr val="808080"/>
                      </a:solidFill>
                      <a:prstDash val="solid"/>
                      <a:round/>
                      <a:headEnd type="none" w="sm" len="sm"/>
                      <a:tailEnd type="none" w="sm" len="sm"/>
                    </a:lnL>
                    <a:lnR w="12700" cap="flat" cmpd="sng">
                      <a:solidFill>
                        <a:srgbClr val="808080"/>
                      </a:solidFill>
                      <a:prstDash val="solid"/>
                      <a:round/>
                      <a:headEnd type="none" w="sm" len="sm"/>
                      <a:tailEnd type="none" w="sm" len="sm"/>
                    </a:lnR>
                    <a:lnT w="12700"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E6E6E6"/>
                    </a:solidFill>
                  </a:tcPr>
                </a:tc>
                <a:tc>
                  <a:txBody>
                    <a:bodyPr/>
                    <a:lstStyle/>
                    <a:p>
                      <a:pPr marL="0" marR="0" lvl="0" indent="0" algn="l" rtl="0">
                        <a:spcBef>
                          <a:spcPts val="0"/>
                        </a:spcBef>
                        <a:spcAft>
                          <a:spcPts val="0"/>
                        </a:spcAft>
                        <a:buClr>
                          <a:srgbClr val="000000"/>
                        </a:buClr>
                        <a:buSzPts val="1200"/>
                        <a:buFont typeface="Arial"/>
                        <a:buNone/>
                      </a:pPr>
                      <a:r>
                        <a:rPr lang="en-US" sz="1100" b="1" u="none" strike="noStrike" cap="none">
                          <a:solidFill>
                            <a:schemeClr val="dk1"/>
                          </a:solidFill>
                          <a:latin typeface="Arial"/>
                          <a:ea typeface="Arial"/>
                          <a:cs typeface="Arial"/>
                          <a:sym typeface="Arial"/>
                        </a:rPr>
                        <a:t>errors_caught</a:t>
                      </a:r>
                      <a:endParaRPr sz="1100" u="none" strike="noStrike" cap="none">
                        <a:solidFill>
                          <a:schemeClr val="dk1"/>
                        </a:solidFill>
                        <a:latin typeface="Arial"/>
                        <a:ea typeface="Arial"/>
                        <a:cs typeface="Arial"/>
                        <a:sym typeface="Arial"/>
                      </a:endParaRPr>
                    </a:p>
                  </a:txBody>
                  <a:tcPr marL="91450" marR="91450" marT="45725" marB="45725" anchor="ctr">
                    <a:lnL w="12700" cap="flat" cmpd="sng">
                      <a:solidFill>
                        <a:srgbClr val="808080"/>
                      </a:solidFill>
                      <a:prstDash val="solid"/>
                      <a:round/>
                      <a:headEnd type="none" w="sm" len="sm"/>
                      <a:tailEnd type="none" w="sm" len="sm"/>
                    </a:lnL>
                    <a:lnR w="12700" cap="flat" cmpd="sng">
                      <a:solidFill>
                        <a:srgbClr val="808080"/>
                      </a:solidFill>
                      <a:prstDash val="solid"/>
                      <a:round/>
                      <a:headEnd type="none" w="sm" len="sm"/>
                      <a:tailEnd type="none" w="sm" len="sm"/>
                    </a:lnR>
                    <a:lnT w="12700"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E6E6E6"/>
                    </a:solidFill>
                  </a:tcPr>
                </a:tc>
                <a:extLst>
                  <a:ext uri="{0D108BD9-81ED-4DB2-BD59-A6C34878D82A}">
                    <a16:rowId xmlns:a16="http://schemas.microsoft.com/office/drawing/2014/main" val="10000"/>
                  </a:ext>
                </a:extLst>
              </a:tr>
              <a:tr h="854700">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1</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unc_rawben_rel_max &lt; 1.217 &amp; </a:t>
                      </a:r>
                      <a:endParaRPr sz="1100">
                        <a:solidFill>
                          <a:schemeClr val="dk1"/>
                        </a:solidFill>
                      </a:endParaRPr>
                    </a:p>
                    <a:p>
                      <a:pPr marL="0" marR="0" lvl="0" indent="0" algn="l" rtl="0">
                        <a:spcBef>
                          <a:spcPts val="0"/>
                        </a:spcBef>
                        <a:spcAft>
                          <a:spcPts val="0"/>
                        </a:spcAft>
                        <a:buClr>
                          <a:srgbClr val="5A5A5A"/>
                        </a:buClr>
                        <a:buSzPts val="1200"/>
                        <a:buFont typeface="Arial"/>
                        <a:buNone/>
                      </a:pPr>
                      <a:r>
                        <a:rPr lang="en-US" sz="1100">
                          <a:solidFill>
                            <a:schemeClr val="dk1"/>
                          </a:solidFill>
                        </a:rPr>
                        <a:t>rawearn &gt;= 3 &amp; </a:t>
                      </a:r>
                      <a:endParaRPr sz="1100">
                        <a:solidFill>
                          <a:schemeClr val="dk1"/>
                        </a:solidFill>
                      </a:endParaRPr>
                    </a:p>
                    <a:p>
                      <a:pPr marL="0" marR="0" lvl="0" indent="0" algn="l" rtl="0">
                        <a:spcBef>
                          <a:spcPts val="0"/>
                        </a:spcBef>
                        <a:spcAft>
                          <a:spcPts val="0"/>
                        </a:spcAft>
                        <a:buClr>
                          <a:srgbClr val="5A5A5A"/>
                        </a:buClr>
                        <a:buSzPts val="1200"/>
                        <a:buFont typeface="Arial"/>
                        <a:buNone/>
                      </a:pPr>
                      <a:r>
                        <a:rPr lang="en-US" sz="1100">
                          <a:solidFill>
                            <a:schemeClr val="dk1"/>
                          </a:solidFill>
                        </a:rPr>
                        <a:t>0.9718 &gt; rawben_rel_max &gt; 0.7775 </a:t>
                      </a:r>
                      <a:endParaRPr sz="1100">
                        <a:solidFill>
                          <a:schemeClr val="dk1"/>
                        </a:solidFil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0.46</a:t>
                      </a:r>
                      <a:endParaRPr sz="1100">
                        <a:solidFill>
                          <a:schemeClr val="dk1"/>
                        </a:solidFil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0.32</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527</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243</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1"/>
                  </a:ext>
                </a:extLst>
              </a:tr>
              <a:tr h="457200">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2</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shelter_expenses &gt;= 1552 &amp; </a:t>
                      </a:r>
                      <a:endParaRPr sz="1100">
                        <a:solidFill>
                          <a:schemeClr val="dk1"/>
                        </a:solidFill>
                      </a:endParaRPr>
                    </a:p>
                    <a:p>
                      <a:pPr marL="0" marR="0" lvl="0" indent="0" algn="l" rtl="0">
                        <a:spcBef>
                          <a:spcPts val="0"/>
                        </a:spcBef>
                        <a:spcAft>
                          <a:spcPts val="0"/>
                        </a:spcAft>
                        <a:buClr>
                          <a:srgbClr val="5A5A5A"/>
                        </a:buClr>
                        <a:buSzPts val="1200"/>
                        <a:buFont typeface="Arial"/>
                        <a:buNone/>
                      </a:pPr>
                      <a:r>
                        <a:rPr lang="en-US" sz="1100">
                          <a:solidFill>
                            <a:schemeClr val="dk1"/>
                          </a:solidFill>
                        </a:rPr>
                        <a:t>rawearn &gt;= 1091 &amp; </a:t>
                      </a:r>
                      <a:endParaRPr sz="1100">
                        <a:solidFill>
                          <a:schemeClr val="dk1"/>
                        </a:solidFill>
                      </a:endParaRPr>
                    </a:p>
                    <a:p>
                      <a:pPr marL="0" marR="0" lvl="0" indent="0" algn="l" rtl="0">
                        <a:spcBef>
                          <a:spcPts val="0"/>
                        </a:spcBef>
                        <a:spcAft>
                          <a:spcPts val="0"/>
                        </a:spcAft>
                        <a:buClr>
                          <a:srgbClr val="5A5A5A"/>
                        </a:buClr>
                        <a:buSzPts val="1200"/>
                        <a:buFont typeface="Arial"/>
                        <a:buNone/>
                      </a:pPr>
                      <a:r>
                        <a:rPr lang="en-US" sz="1100">
                          <a:solidFill>
                            <a:schemeClr val="dk1"/>
                          </a:solidFill>
                        </a:rPr>
                        <a:t>total_deductions &lt; 1152</a:t>
                      </a:r>
                      <a:endParaRPr sz="1100" u="none" strike="noStrike" cap="none">
                        <a:solidFill>
                          <a:schemeClr val="dk1"/>
                        </a:solidFill>
                        <a:latin typeface="Arial"/>
                        <a:ea typeface="Arial"/>
                        <a:cs typeface="Arial"/>
                        <a:sym typeface="Aria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0.29</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00000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0.20</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291</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85</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2"/>
                  </a:ext>
                </a:extLst>
              </a:tr>
              <a:tr h="457200">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3</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l" rtl="0">
                        <a:spcBef>
                          <a:spcPts val="0"/>
                        </a:spcBef>
                        <a:spcAft>
                          <a:spcPts val="0"/>
                        </a:spcAft>
                        <a:buNone/>
                      </a:pPr>
                      <a:r>
                        <a:rPr lang="en-US" sz="1100">
                          <a:solidFill>
                            <a:schemeClr val="dk1"/>
                          </a:solidFill>
                        </a:rPr>
                        <a:t>unc_rawben_rel_max &gt;= 1.193 &amp; utilities &lt; 346 &amp; months_since_cert_n &gt;= 2.5 &amp; rawgross &lt; 2.5</a:t>
                      </a:r>
                      <a:endParaRPr sz="11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0.31</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00000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0.09</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72</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22</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3"/>
                  </a:ext>
                </a:extLst>
              </a:tr>
              <a:tr h="457200">
                <a:tc>
                  <a:txBody>
                    <a:bodyPr/>
                    <a:lstStyle/>
                    <a:p>
                      <a:pPr marL="0" marR="0" lvl="0" indent="0" algn="l" rtl="0">
                        <a:spcBef>
                          <a:spcPts val="0"/>
                        </a:spcBef>
                        <a:spcAft>
                          <a:spcPts val="0"/>
                        </a:spcAft>
                        <a:buNone/>
                      </a:pPr>
                      <a:r>
                        <a:rPr lang="en-US" sz="1100">
                          <a:solidFill>
                            <a:schemeClr val="dk1"/>
                          </a:solidFill>
                        </a:rPr>
                        <a:t>4</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None/>
                      </a:pPr>
                      <a:r>
                        <a:rPr lang="en-US" sz="1100">
                          <a:solidFill>
                            <a:schemeClr val="dk1"/>
                          </a:solidFill>
                        </a:rPr>
                        <a:t>total_deductions &lt; 614.5 &amp; shelter_expenses &lt; 346 &amp; </a:t>
                      </a:r>
                      <a:endParaRPr sz="1100">
                        <a:solidFill>
                          <a:schemeClr val="dk1"/>
                        </a:solidFill>
                      </a:endParaRPr>
                    </a:p>
                    <a:p>
                      <a:pPr marL="0" marR="0" lvl="0" indent="0" algn="l" rtl="0">
                        <a:spcBef>
                          <a:spcPts val="0"/>
                        </a:spcBef>
                        <a:spcAft>
                          <a:spcPts val="0"/>
                        </a:spcAft>
                        <a:buNone/>
                      </a:pPr>
                      <a:r>
                        <a:rPr lang="en-US" sz="1100">
                          <a:solidFill>
                            <a:schemeClr val="dk1"/>
                          </a:solidFill>
                        </a:rPr>
                        <a:t>utilities &gt;= 334 &amp; </a:t>
                      </a:r>
                      <a:endParaRPr sz="1100">
                        <a:solidFill>
                          <a:schemeClr val="dk1"/>
                        </a:solidFill>
                      </a:endParaRPr>
                    </a:p>
                    <a:p>
                      <a:pPr marL="0" marR="0" lvl="0" indent="0" algn="l" rtl="0">
                        <a:spcBef>
                          <a:spcPts val="0"/>
                        </a:spcBef>
                        <a:spcAft>
                          <a:spcPts val="0"/>
                        </a:spcAft>
                        <a:buNone/>
                      </a:pPr>
                      <a:r>
                        <a:rPr lang="en-US" sz="1100">
                          <a:solidFill>
                            <a:schemeClr val="dk1"/>
                          </a:solidFill>
                        </a:rPr>
                        <a:t>months_since_cert_n &gt;= 2.5</a:t>
                      </a:r>
                      <a:endParaRPr sz="1100" u="none" strike="noStrike" cap="none">
                        <a:solidFill>
                          <a:schemeClr val="dk1"/>
                        </a:solidFill>
                        <a:latin typeface="Arial"/>
                        <a:ea typeface="Arial"/>
                        <a:cs typeface="Arial"/>
                        <a:sym typeface="Aria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1100">
                          <a:solidFill>
                            <a:schemeClr val="dk1"/>
                          </a:solidFill>
                        </a:rPr>
                        <a:t>0.48</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00000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None/>
                      </a:pPr>
                      <a:r>
                        <a:rPr lang="en-US" sz="1100">
                          <a:solidFill>
                            <a:schemeClr val="dk1"/>
                          </a:solidFill>
                        </a:rPr>
                        <a:t>0.25</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None/>
                      </a:pPr>
                      <a:r>
                        <a:rPr lang="en-US" sz="1100">
                          <a:solidFill>
                            <a:schemeClr val="dk1"/>
                          </a:solidFill>
                        </a:rPr>
                        <a:t>114</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None/>
                      </a:pPr>
                      <a:r>
                        <a:rPr lang="en-US" sz="1100">
                          <a:solidFill>
                            <a:schemeClr val="dk1"/>
                          </a:solidFill>
                        </a:rPr>
                        <a:t>55</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4"/>
                  </a:ext>
                </a:extLst>
              </a:tr>
              <a:tr h="457200">
                <a:tc>
                  <a:txBody>
                    <a:bodyPr/>
                    <a:lstStyle/>
                    <a:p>
                      <a:pPr marL="0" marR="0" lvl="0" indent="0" algn="l" rtl="0">
                        <a:spcBef>
                          <a:spcPts val="0"/>
                        </a:spcBef>
                        <a:spcAft>
                          <a:spcPts val="0"/>
                        </a:spcAft>
                        <a:buNone/>
                      </a:pPr>
                      <a:r>
                        <a:rPr lang="en-US" sz="1100">
                          <a:solidFill>
                            <a:schemeClr val="dk1"/>
                          </a:solidFill>
                        </a:rPr>
                        <a:t>5+</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None/>
                      </a:pPr>
                      <a:r>
                        <a:rPr lang="en-US" sz="1100">
                          <a:solidFill>
                            <a:schemeClr val="dk1"/>
                          </a:solidFill>
                        </a:rPr>
                        <a:t>2221 &gt; shelter_expenses &gt; 1625 &amp; </a:t>
                      </a:r>
                      <a:endParaRPr sz="1100">
                        <a:solidFill>
                          <a:schemeClr val="dk1"/>
                        </a:solidFill>
                      </a:endParaRPr>
                    </a:p>
                    <a:p>
                      <a:pPr marL="0" marR="0" lvl="0" indent="0" algn="l" rtl="0">
                        <a:spcBef>
                          <a:spcPts val="0"/>
                        </a:spcBef>
                        <a:spcAft>
                          <a:spcPts val="0"/>
                        </a:spcAft>
                        <a:buNone/>
                      </a:pPr>
                      <a:r>
                        <a:rPr lang="en-US" sz="1100">
                          <a:solidFill>
                            <a:schemeClr val="dk1"/>
                          </a:solidFill>
                        </a:rPr>
                        <a:t>0.9545 &gt; rawben_rel_max &gt; 0.786 </a:t>
                      </a:r>
                      <a:endParaRPr sz="1100" u="none" strike="noStrike" cap="none">
                        <a:solidFill>
                          <a:schemeClr val="dk1"/>
                        </a:solidFill>
                        <a:latin typeface="Arial"/>
                        <a:ea typeface="Arial"/>
                        <a:cs typeface="Arial"/>
                        <a:sym typeface="Aria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1100">
                          <a:solidFill>
                            <a:schemeClr val="dk1"/>
                          </a:solidFill>
                        </a:rPr>
                        <a:t>0.25</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00000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None/>
                      </a:pPr>
                      <a:r>
                        <a:rPr lang="en-US" sz="1100">
                          <a:solidFill>
                            <a:schemeClr val="dk1"/>
                          </a:solidFill>
                        </a:rPr>
                        <a:t>0.13</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None/>
                      </a:pPr>
                      <a:r>
                        <a:rPr lang="en-US" sz="1100">
                          <a:solidFill>
                            <a:schemeClr val="dk1"/>
                          </a:solidFill>
                        </a:rPr>
                        <a:t>136</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None/>
                      </a:pPr>
                      <a:r>
                        <a:rPr lang="en-US" sz="1100">
                          <a:solidFill>
                            <a:schemeClr val="dk1"/>
                          </a:solidFill>
                        </a:rPr>
                        <a:t>34</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80" name="Google Shape;80;p6"/>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6</a:t>
            </a:r>
            <a:endParaRPr sz="9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5"/>
        <p:cNvGrpSpPr/>
        <p:nvPr/>
      </p:nvGrpSpPr>
      <p:grpSpPr>
        <a:xfrm>
          <a:off x="0" y="0"/>
          <a:ext cx="0" cy="0"/>
          <a:chOff x="0" y="0"/>
          <a:chExt cx="0" cy="0"/>
        </a:xfrm>
      </p:grpSpPr>
      <p:sp>
        <p:nvSpPr>
          <p:cNvPr id="86" name="Google Shape;86;p7"/>
          <p:cNvSpPr/>
          <p:nvPr/>
        </p:nvSpPr>
        <p:spPr>
          <a:xfrm>
            <a:off x="457200" y="310896"/>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2800" b="1">
                <a:solidFill>
                  <a:srgbClr val="000000"/>
                </a:solidFill>
                <a:latin typeface="Cambria"/>
                <a:ea typeface="Cambria"/>
                <a:cs typeface="Cambria"/>
                <a:sym typeface="Cambria"/>
              </a:rPr>
              <a:t>EXCL_find_ — combining rules to hit retention floors</a:t>
            </a:r>
            <a:endParaRPr sz="2800">
              <a:solidFill>
                <a:schemeClr val="dk1"/>
              </a:solidFill>
              <a:latin typeface="Calibri"/>
              <a:ea typeface="Calibri"/>
              <a:cs typeface="Calibri"/>
              <a:sym typeface="Calibri"/>
            </a:endParaRPr>
          </a:p>
        </p:txBody>
      </p:sp>
      <p:sp>
        <p:nvSpPr>
          <p:cNvPr id="87" name="Google Shape;87;p7"/>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Exclusion rules · EXCL_ scripts</a:t>
            </a:r>
            <a:endParaRPr sz="900">
              <a:solidFill>
                <a:schemeClr val="dk1"/>
              </a:solidFill>
              <a:latin typeface="Calibri"/>
              <a:ea typeface="Calibri"/>
              <a:cs typeface="Calibri"/>
              <a:sym typeface="Calibri"/>
            </a:endParaRPr>
          </a:p>
        </p:txBody>
      </p:sp>
      <p:graphicFrame>
        <p:nvGraphicFramePr>
          <p:cNvPr id="88" name="Google Shape;88;p7"/>
          <p:cNvGraphicFramePr/>
          <p:nvPr/>
        </p:nvGraphicFramePr>
        <p:xfrm>
          <a:off x="645775" y="1066538"/>
          <a:ext cx="8041025" cy="4016873"/>
        </p:xfrm>
        <a:graphic>
          <a:graphicData uri="http://schemas.openxmlformats.org/drawingml/2006/table">
            <a:tbl>
              <a:tblPr>
                <a:noFill/>
                <a:tableStyleId>{B5048AC8-0E75-455B-AB4F-AEF2A2D202BD}</a:tableStyleId>
              </a:tblPr>
              <a:tblGrid>
                <a:gridCol w="633900">
                  <a:extLst>
                    <a:ext uri="{9D8B030D-6E8A-4147-A177-3AD203B41FA5}">
                      <a16:colId xmlns:a16="http://schemas.microsoft.com/office/drawing/2014/main" val="20000"/>
                    </a:ext>
                  </a:extLst>
                </a:gridCol>
                <a:gridCol w="633900">
                  <a:extLst>
                    <a:ext uri="{9D8B030D-6E8A-4147-A177-3AD203B41FA5}">
                      <a16:colId xmlns:a16="http://schemas.microsoft.com/office/drawing/2014/main" val="20001"/>
                    </a:ext>
                  </a:extLst>
                </a:gridCol>
                <a:gridCol w="633900">
                  <a:extLst>
                    <a:ext uri="{9D8B030D-6E8A-4147-A177-3AD203B41FA5}">
                      <a16:colId xmlns:a16="http://schemas.microsoft.com/office/drawing/2014/main" val="20002"/>
                    </a:ext>
                  </a:extLst>
                </a:gridCol>
                <a:gridCol w="633900">
                  <a:extLst>
                    <a:ext uri="{9D8B030D-6E8A-4147-A177-3AD203B41FA5}">
                      <a16:colId xmlns:a16="http://schemas.microsoft.com/office/drawing/2014/main" val="20003"/>
                    </a:ext>
                  </a:extLst>
                </a:gridCol>
                <a:gridCol w="633900">
                  <a:extLst>
                    <a:ext uri="{9D8B030D-6E8A-4147-A177-3AD203B41FA5}">
                      <a16:colId xmlns:a16="http://schemas.microsoft.com/office/drawing/2014/main" val="20004"/>
                    </a:ext>
                  </a:extLst>
                </a:gridCol>
                <a:gridCol w="633900">
                  <a:extLst>
                    <a:ext uri="{9D8B030D-6E8A-4147-A177-3AD203B41FA5}">
                      <a16:colId xmlns:a16="http://schemas.microsoft.com/office/drawing/2014/main" val="20005"/>
                    </a:ext>
                  </a:extLst>
                </a:gridCol>
                <a:gridCol w="633900">
                  <a:extLst>
                    <a:ext uri="{9D8B030D-6E8A-4147-A177-3AD203B41FA5}">
                      <a16:colId xmlns:a16="http://schemas.microsoft.com/office/drawing/2014/main" val="20006"/>
                    </a:ext>
                  </a:extLst>
                </a:gridCol>
                <a:gridCol w="633900">
                  <a:extLst>
                    <a:ext uri="{9D8B030D-6E8A-4147-A177-3AD203B41FA5}">
                      <a16:colId xmlns:a16="http://schemas.microsoft.com/office/drawing/2014/main" val="20007"/>
                    </a:ext>
                  </a:extLst>
                </a:gridCol>
                <a:gridCol w="2969825">
                  <a:extLst>
                    <a:ext uri="{9D8B030D-6E8A-4147-A177-3AD203B41FA5}">
                      <a16:colId xmlns:a16="http://schemas.microsoft.com/office/drawing/2014/main" val="20008"/>
                    </a:ext>
                  </a:extLst>
                </a:gridCol>
              </a:tblGrid>
              <a:tr h="509950">
                <a:tc>
                  <a:txBody>
                    <a:bodyPr/>
                    <a:lstStyle/>
                    <a:p>
                      <a:pPr marL="0" lvl="0" indent="0" algn="ctr" rtl="0">
                        <a:lnSpc>
                          <a:spcPct val="115000"/>
                        </a:lnSpc>
                        <a:spcBef>
                          <a:spcPts val="0"/>
                        </a:spcBef>
                        <a:spcAft>
                          <a:spcPts val="0"/>
                        </a:spcAft>
                        <a:buNone/>
                      </a:pPr>
                      <a:r>
                        <a:rPr lang="en-US" sz="1000" b="1"/>
                        <a:t>Step</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a:t>hh size</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a:t>recall floor</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a:t>prec.</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a:t>recall ($)</a:t>
                      </a:r>
                      <a:endParaRPr sz="1000" b="1">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a:t>flagged</a:t>
                      </a:r>
                      <a:endParaRPr sz="1000" b="1">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a:t>errors caught</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a:t>n rules</a:t>
                      </a:r>
                      <a:endParaRPr sz="1000" b="1">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a:t>net (all for household size of 2)</a:t>
                      </a:r>
                      <a:endParaRPr sz="1000" b="1">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212075">
                <a:tc>
                  <a:txBody>
                    <a:bodyPr/>
                    <a:lstStyle/>
                    <a:p>
                      <a:pPr marL="0" lvl="0" indent="0" algn="l" rtl="0">
                        <a:spcBef>
                          <a:spcPts val="0"/>
                        </a:spcBef>
                        <a:spcAft>
                          <a:spcPts val="0"/>
                        </a:spcAft>
                        <a:buNone/>
                      </a:pPr>
                      <a:r>
                        <a:rPr lang="en-US" sz="1000"/>
                        <a:t>1</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2</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b="1"/>
                        <a:t>0.2</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0.29</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000">
                          <a:solidFill>
                            <a:schemeClr val="dk1"/>
                          </a:solidFill>
                        </a:rPr>
                        <a:t>.21</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000">
                          <a:solidFill>
                            <a:schemeClr val="dk1"/>
                          </a:solidFill>
                        </a:rPr>
                        <a:t>291</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85</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000">
                          <a:solidFill>
                            <a:schemeClr val="dk1"/>
                          </a:solidFill>
                        </a:rPr>
                        <a:t>2</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solidFill>
                            <a:schemeClr val="dk1"/>
                          </a:solidFill>
                        </a:rPr>
                        <a:t>unc_rawben_rel_max &gt;= 1.418 &amp; </a:t>
                      </a:r>
                      <a:endParaRPr sz="1000">
                        <a:solidFill>
                          <a:schemeClr val="dk1"/>
                        </a:solidFill>
                      </a:endParaRPr>
                    </a:p>
                    <a:p>
                      <a:pPr marL="0" lvl="0" indent="0" algn="l" rtl="0">
                        <a:spcBef>
                          <a:spcPts val="0"/>
                        </a:spcBef>
                        <a:spcAft>
                          <a:spcPts val="0"/>
                        </a:spcAft>
                        <a:buNone/>
                      </a:pPr>
                      <a:r>
                        <a:rPr lang="en-US" sz="1000">
                          <a:solidFill>
                            <a:schemeClr val="dk1"/>
                          </a:solidFill>
                        </a:rPr>
                        <a:t>utilities &lt; 382 &amp; </a:t>
                      </a:r>
                      <a:endParaRPr sz="1000">
                        <a:solidFill>
                          <a:schemeClr val="dk1"/>
                        </a:solidFill>
                      </a:endParaRPr>
                    </a:p>
                    <a:p>
                      <a:pPr marL="0" lvl="0" indent="0" algn="l" rtl="0">
                        <a:spcBef>
                          <a:spcPts val="0"/>
                        </a:spcBef>
                        <a:spcAft>
                          <a:spcPts val="0"/>
                        </a:spcAft>
                        <a:buNone/>
                      </a:pPr>
                      <a:r>
                        <a:rPr lang="en-US" sz="1000">
                          <a:solidFill>
                            <a:schemeClr val="dk1"/>
                          </a:solidFill>
                        </a:rPr>
                        <a:t>utilities &gt;= 12.5 </a:t>
                      </a:r>
                      <a:endParaRPr sz="1000">
                        <a:solidFill>
                          <a:schemeClr val="dk1"/>
                        </a:solidFill>
                      </a:endParaRPr>
                    </a:p>
                    <a:p>
                      <a:pPr marL="0" lvl="0" indent="0" algn="l" rtl="0">
                        <a:spcBef>
                          <a:spcPts val="0"/>
                        </a:spcBef>
                        <a:spcAft>
                          <a:spcPts val="0"/>
                        </a:spcAft>
                        <a:buNone/>
                      </a:pPr>
                      <a:r>
                        <a:rPr lang="en-US" sz="1000">
                          <a:solidFill>
                            <a:schemeClr val="dk1"/>
                          </a:solidFill>
                        </a:rPr>
                        <a:t>OR </a:t>
                      </a:r>
                      <a:endParaRPr sz="1000">
                        <a:solidFill>
                          <a:schemeClr val="dk1"/>
                        </a:solidFill>
                      </a:endParaRPr>
                    </a:p>
                    <a:p>
                      <a:pPr marL="0" lvl="0" indent="0" algn="l" rtl="0">
                        <a:spcBef>
                          <a:spcPts val="0"/>
                        </a:spcBef>
                        <a:spcAft>
                          <a:spcPts val="0"/>
                        </a:spcAft>
                        <a:buNone/>
                      </a:pPr>
                      <a:r>
                        <a:rPr lang="en-US" sz="1000">
                          <a:solidFill>
                            <a:schemeClr val="dk1"/>
                          </a:solidFill>
                        </a:rPr>
                        <a:t>shelter_expenses &gt;= 1552 &amp; </a:t>
                      </a:r>
                      <a:endParaRPr sz="1000">
                        <a:solidFill>
                          <a:schemeClr val="dk1"/>
                        </a:solidFill>
                      </a:endParaRPr>
                    </a:p>
                    <a:p>
                      <a:pPr marL="0" lvl="0" indent="0" algn="l" rtl="0">
                        <a:spcBef>
                          <a:spcPts val="0"/>
                        </a:spcBef>
                        <a:spcAft>
                          <a:spcPts val="0"/>
                        </a:spcAft>
                        <a:buNone/>
                      </a:pPr>
                      <a:r>
                        <a:rPr lang="en-US" sz="1000">
                          <a:solidFill>
                            <a:schemeClr val="dk1"/>
                          </a:solidFill>
                        </a:rPr>
                        <a:t>rawearn &gt;= 1091 &amp; </a:t>
                      </a:r>
                      <a:endParaRPr sz="1000">
                        <a:solidFill>
                          <a:schemeClr val="dk1"/>
                        </a:solidFill>
                      </a:endParaRPr>
                    </a:p>
                    <a:p>
                      <a:pPr marL="0" lvl="0" indent="0" algn="l" rtl="0">
                        <a:spcBef>
                          <a:spcPts val="0"/>
                        </a:spcBef>
                        <a:spcAft>
                          <a:spcPts val="0"/>
                        </a:spcAft>
                        <a:buNone/>
                      </a:pPr>
                      <a:r>
                        <a:rPr lang="en-US" sz="1000">
                          <a:solidFill>
                            <a:schemeClr val="dk1"/>
                          </a:solidFill>
                        </a:rPr>
                        <a:t>total_deductions &lt; 1152</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212075">
                <a:tc>
                  <a:txBody>
                    <a:bodyPr/>
                    <a:lstStyle/>
                    <a:p>
                      <a:pPr marL="0" lvl="0" indent="0" algn="l" rtl="0">
                        <a:spcBef>
                          <a:spcPts val="0"/>
                        </a:spcBef>
                        <a:spcAft>
                          <a:spcPts val="0"/>
                        </a:spcAft>
                        <a:buNone/>
                      </a:pPr>
                      <a:r>
                        <a:rPr lang="en-US" sz="1000"/>
                        <a:t>2</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2</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b="1"/>
                        <a:t>0.3</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0.2667</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0.379</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615</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164</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4</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000" i="1">
                          <a:solidFill>
                            <a:schemeClr val="dk1"/>
                          </a:solidFill>
                        </a:rPr>
                        <a:t>[ABOVE OR]</a:t>
                      </a:r>
                      <a:endParaRPr sz="1000" b="1" u="sng"/>
                    </a:p>
                    <a:p>
                      <a:pPr marL="0" lvl="0" indent="0" algn="l" rtl="0">
                        <a:spcBef>
                          <a:spcPts val="0"/>
                        </a:spcBef>
                        <a:spcAft>
                          <a:spcPts val="0"/>
                        </a:spcAft>
                        <a:buNone/>
                      </a:pPr>
                      <a:r>
                        <a:rPr lang="en-US" sz="1000"/>
                        <a:t>unc_rawben_rel_max &gt;= 1.487 &amp; </a:t>
                      </a:r>
                      <a:endParaRPr sz="1000"/>
                    </a:p>
                    <a:p>
                      <a:pPr marL="0" lvl="0" indent="0" algn="l" rtl="0">
                        <a:spcBef>
                          <a:spcPts val="0"/>
                        </a:spcBef>
                        <a:spcAft>
                          <a:spcPts val="0"/>
                        </a:spcAft>
                        <a:buNone/>
                      </a:pPr>
                      <a:r>
                        <a:rPr lang="en-US" sz="1000"/>
                        <a:t>shelter_expenses &gt;= 803 &amp; utilities &lt; 663.5 </a:t>
                      </a:r>
                      <a:endParaRPr sz="1000"/>
                    </a:p>
                    <a:p>
                      <a:pPr marL="0" lvl="0" indent="0" algn="l" rtl="0">
                        <a:spcBef>
                          <a:spcPts val="0"/>
                        </a:spcBef>
                        <a:spcAft>
                          <a:spcPts val="0"/>
                        </a:spcAft>
                        <a:buNone/>
                      </a:pPr>
                      <a:r>
                        <a:rPr lang="en-US" sz="1000"/>
                        <a:t>OR </a:t>
                      </a:r>
                      <a:endParaRPr sz="1000"/>
                    </a:p>
                    <a:p>
                      <a:pPr marL="0" lvl="0" indent="0" algn="l" rtl="0">
                        <a:spcBef>
                          <a:spcPts val="0"/>
                        </a:spcBef>
                        <a:spcAft>
                          <a:spcPts val="0"/>
                        </a:spcAft>
                        <a:buNone/>
                      </a:pPr>
                      <a:r>
                        <a:rPr lang="en-US" sz="1000"/>
                        <a:t>unc_rawben_rel_max &lt; 1.487 &amp; </a:t>
                      </a:r>
                      <a:endParaRPr sz="1000"/>
                    </a:p>
                    <a:p>
                      <a:pPr marL="0" lvl="0" indent="0" algn="l" rtl="0">
                        <a:spcBef>
                          <a:spcPts val="0"/>
                        </a:spcBef>
                        <a:spcAft>
                          <a:spcPts val="0"/>
                        </a:spcAft>
                        <a:buNone/>
                      </a:pPr>
                      <a:r>
                        <a:rPr lang="en-US" sz="1000"/>
                        <a:t>rawearn &gt;= 3.5 &amp; </a:t>
                      </a:r>
                      <a:endParaRPr sz="1000"/>
                    </a:p>
                    <a:p>
                      <a:pPr marL="0" lvl="0" indent="0" algn="l" rtl="0">
                        <a:spcBef>
                          <a:spcPts val="0"/>
                        </a:spcBef>
                        <a:spcAft>
                          <a:spcPts val="0"/>
                        </a:spcAft>
                        <a:buNone/>
                      </a:pPr>
                      <a:r>
                        <a:rPr lang="en-US" sz="1000">
                          <a:solidFill>
                            <a:schemeClr val="dk1"/>
                          </a:solidFill>
                        </a:rPr>
                        <a:t>0.9874 &gt; unc_rawben_rel_max &lt; 0.883 </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999125">
                <a:tc>
                  <a:txBody>
                    <a:bodyPr/>
                    <a:lstStyle/>
                    <a:p>
                      <a:pPr marL="0" lvl="0" indent="0" algn="l" rtl="0">
                        <a:spcBef>
                          <a:spcPts val="0"/>
                        </a:spcBef>
                        <a:spcAft>
                          <a:spcPts val="0"/>
                        </a:spcAft>
                        <a:buNone/>
                      </a:pPr>
                      <a:r>
                        <a:rPr lang="en-US" sz="1000"/>
                        <a:t>3</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2</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b="1"/>
                        <a:t>0.4</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0.2281</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0.5134</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1118</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255</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5</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i="1"/>
                        <a:t>[ABOVE OR]</a:t>
                      </a:r>
                      <a:endParaRPr sz="1000" i="1"/>
                    </a:p>
                    <a:p>
                      <a:pPr marL="0" lvl="0" indent="0" algn="l" rtl="0">
                        <a:spcBef>
                          <a:spcPts val="0"/>
                        </a:spcBef>
                        <a:spcAft>
                          <a:spcPts val="0"/>
                        </a:spcAft>
                        <a:buNone/>
                      </a:pPr>
                      <a:r>
                        <a:rPr lang="en-US" sz="1000"/>
                        <a:t>unc_rawben_rel_max &lt; 1.401 &amp; </a:t>
                      </a:r>
                      <a:endParaRPr sz="1000"/>
                    </a:p>
                    <a:p>
                      <a:pPr marL="0" lvl="0" indent="0" algn="l" rtl="0">
                        <a:spcBef>
                          <a:spcPts val="0"/>
                        </a:spcBef>
                        <a:spcAft>
                          <a:spcPts val="0"/>
                        </a:spcAft>
                        <a:buNone/>
                      </a:pPr>
                      <a:r>
                        <a:rPr lang="en-US" sz="1000"/>
                        <a:t>rawearn &gt;= 0.5 &amp;</a:t>
                      </a:r>
                      <a:endParaRPr sz="1000"/>
                    </a:p>
                    <a:p>
                      <a:pPr marL="0" lvl="0" indent="0" algn="l" rtl="0">
                        <a:spcBef>
                          <a:spcPts val="0"/>
                        </a:spcBef>
                        <a:spcAft>
                          <a:spcPts val="0"/>
                        </a:spcAft>
                        <a:buNone/>
                      </a:pPr>
                      <a:r>
                        <a:rPr lang="en-US" sz="1000"/>
                        <a:t>rawgross &lt; 1526 </a:t>
                      </a:r>
                      <a:r>
                        <a:rPr lang="en-US" sz="1000">
                          <a:solidFill>
                            <a:schemeClr val="dk1"/>
                          </a:solidFill>
                        </a:rPr>
                        <a:t>&amp; </a:t>
                      </a:r>
                      <a:endParaRPr sz="1000">
                        <a:solidFill>
                          <a:schemeClr val="dk1"/>
                        </a:solidFill>
                      </a:endParaRPr>
                    </a:p>
                    <a:p>
                      <a:pPr marL="0" lvl="0" indent="0" algn="l" rtl="0">
                        <a:spcBef>
                          <a:spcPts val="0"/>
                        </a:spcBef>
                        <a:spcAft>
                          <a:spcPts val="0"/>
                        </a:spcAft>
                        <a:buNone/>
                      </a:pPr>
                      <a:r>
                        <a:rPr lang="en-US" sz="1000">
                          <a:solidFill>
                            <a:schemeClr val="dk1"/>
                          </a:solidFill>
                        </a:rPr>
                        <a:t>rawben_rel_max &lt; 0.9876</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89" name="Google Shape;89;p7"/>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7</a:t>
            </a:r>
            <a:endParaRPr sz="900">
              <a:solidFill>
                <a:schemeClr val="dk1"/>
              </a:solidFill>
              <a:latin typeface="Calibri"/>
              <a:ea typeface="Calibri"/>
              <a:cs typeface="Calibri"/>
              <a:sym typeface="Calibri"/>
            </a:endParaRPr>
          </a:p>
        </p:txBody>
      </p:sp>
      <p:cxnSp>
        <p:nvCxnSpPr>
          <p:cNvPr id="90" name="Google Shape;90;p7"/>
          <p:cNvCxnSpPr/>
          <p:nvPr/>
        </p:nvCxnSpPr>
        <p:spPr>
          <a:xfrm flipH="1">
            <a:off x="319875" y="1740050"/>
            <a:ext cx="4200" cy="2982300"/>
          </a:xfrm>
          <a:prstGeom prst="straightConnector1">
            <a:avLst/>
          </a:prstGeom>
          <a:noFill/>
          <a:ln w="38100" cap="flat" cmpd="sng">
            <a:solidFill>
              <a:schemeClr val="dk2"/>
            </a:solidFill>
            <a:prstDash val="solid"/>
            <a:round/>
            <a:headEnd type="none" w="med" len="med"/>
            <a:tailEnd type="triangl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g3eae636d67f_0_57"/>
          <p:cNvSpPr txBox="1"/>
          <p:nvPr/>
        </p:nvSpPr>
        <p:spPr>
          <a:xfrm>
            <a:off x="457200" y="1050000"/>
            <a:ext cx="8229600" cy="3800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a:t>EXCL_optimize_single_exclusion_rule_by_hh_size_for_a_state.R</a:t>
            </a:r>
            <a:endParaRPr sz="2400"/>
          </a:p>
          <a:p>
            <a:r>
              <a:rPr sz="1400" b="0"/>
              <a:t>Takes one rule from EXCL_find_ output and grid-searches its numeric thresholds on a specific state’s data to maximize workload cut while retaining a dollar retention floor. Useful when you have a small number of rules you really want to get right for your state.</a:t>
            </a:r>
          </a:p>
          <a:p>
            <a:endParaRPr sz="1400" b="0"/>
          </a:p>
          <a:p>
            <a:r>
              <a:rPr sz="1800" b="1"/>
              <a:t>EXCL_optimize_set_of_exclusion_rules_by_hh_size_for_a_state.R</a:t>
            </a:r>
          </a:p>
          <a:p>
            <a:r>
              <a:rPr sz="1400" b="0"/>
              <a:t>Reads the full exclusion rule shortlist from EXCL_find_ and optimizes all rules for a specific state at once. Drops any rule that cannot retain the required dollar floor at its best workload cut. Useful when taking rules mined from national data and adapting them to your state.</a:t>
            </a:r>
          </a:p>
          <a:p>
            <a:endParaRPr sz="1400" b="0"/>
          </a:p>
          <a:p>
            <a:r>
              <a:rPr sz="1200" b="0"/>
              <a:t>Both scripts write state-optimized rules to exclusion_rules/</a:t>
            </a:r>
          </a:p>
        </p:txBody>
      </p:sp>
      <p:sp>
        <p:nvSpPr>
          <p:cNvPr id="66" name="Google Shape;66;p5"/>
          <p:cNvSpPr/>
          <p:nvPr/>
        </p:nvSpPr>
        <p:spPr>
          <a:xfrm>
            <a:off x="457200" y="310896"/>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2800" b="1">
                <a:solidFill>
                  <a:srgbClr val="000000"/>
                </a:solidFill>
                <a:latin typeface="Cambria"/>
                <a:ea typeface="Cambria"/>
                <a:cs typeface="Cambria"/>
                <a:sym typeface="Cambria"/>
              </a:rPr>
              <a:t>Tuning exclusion rules for a specific state — EXCL_optimize_single_ and EXCL_optimize_set_</a:t>
            </a:r>
            <a:endParaRPr sz="2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1108</Words>
  <Application>Microsoft Office PowerPoint</Application>
  <PresentationFormat>On-screen Show (16:9)</PresentationFormat>
  <Paragraphs>168</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Better Government Lab</dc:creator>
  <cp:lastModifiedBy>Eric Giannella</cp:lastModifiedBy>
  <cp:revision>1</cp:revision>
  <dcterms:created xsi:type="dcterms:W3CDTF">2026-06-09T21:09:16Z</dcterms:created>
  <dcterms:modified xsi:type="dcterms:W3CDTF">2026-06-14T04:32:07Z</dcterms:modified>
</cp:coreProperties>
</file>