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Lessons from building and rebuilding an error-mining pipeline on the public QC files.</a:t>
            </a:r>
          </a:p>
        </p:txBody>
        <a:p>
          <a:pPr>
            <a:spcAft>
              <a:spcPts val="400"/>
            </a:spcAft>
          </a:pPr>
          <a:r>
            <a:rPr sz="1200"/>
            <a:t>Lessons from building and rebuilding an error-mining pipeline on the public QC files.</a:t>
          </a:r>
        </a:p>
      </p:sp>
      <a:p>
        <a:pPr>
          <a:spcAft>
            <a:spcPts val="400"/>
          </a:spcAft>
        </a:pPr>
        <a:r>
          <a:rPr sz="1200"/>
          <a:t>Lessons from building and rebuilding an error-mining pipeline on the public QC files.</a:t>
        </a:r>
      </a: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Where these lessons come from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mine the public SNAP QC files for interpretable rules that flag high-risk cases for review (or safely exclude low-risk ones).</a:t>
            </a:r>
          </a:p>
        </p:txBody>
        <a:p>
          <a:pPr>
            <a:spcAft>
              <a:spcPts val="400"/>
            </a:spcAft>
          </a:pPr>
          <a:r>
            <a:rPr sz="1200"/>
            <a:t>- We mine the public SNAP QC files for interpretable rules that flag high-risk cases for review (or safely exclude low-risk ones).</a:t>
          </a:r>
        </a:p>
      </p:sp>
      <a:p>
        <a:pPr>
          <a:spcAft>
            <a:spcPts val="400"/>
          </a:spcAft>
        </a:pPr>
        <a:r>
          <a:rPr sz="1200"/>
          <a:t>- We mine the public SNAP QC files for interpretable rules that flag high-risk cases for review (or safely exclude low-risk ones).</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Know what your data cannot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public QC files EXCLUDE cases found ineligible - which are 100%-of-benefit errors. The technical documentation quantifies the exclusions; almost nobody reads those counts.</a:t>
            </a:r>
          </a:p>
        </p:txBody>
        <a:p>
          <a:pPr>
            <a:spcAft>
              <a:spcPts val="400"/>
            </a:spcAft>
          </a:pPr>
          <a:r>
            <a:rPr sz="1200"/>
            <a:t>- The public QC files EXCLUDE cases found ineligible - which are 100%-of-benefit errors. The technical documentation quantifies the exclusions; almost nobody reads those counts.</a:t>
          </a:r>
        </a:p>
      </p:sp>
      <a:p>
        <a:pPr>
          <a:spcAft>
            <a:spcPts val="400"/>
          </a:spcAft>
        </a:pPr>
        <a:r>
          <a:rPr sz="1200"/>
          <a:t>- The public QC files EXCLUDE cases found ineligible - which are 100%-of-benefit errors. The technical documentation quantifies the exclusions; almost nobody reads those counts.</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graphicFrame>
        <p:nvGraphicFramePr>
          <p:cNvPr id="5" name="Table 4"/>
          <p:cNvGraphicFramePr>
            <a:graphicFrameLocks noGrp="1"/>
          </p:cNvGraphicFramePr>
          <p:nvPr/>
        </p:nvGraphicFramePr>
        <p:xfrm>
          <a:off x="1600200" y="2752344"/>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a:tc>
                <a:tc>
                  <a:txBody>
                    <a:bodyPr/>
                    <a:lstStyle/>
                    <a:p>
                      <a:r>
                        <a:rPr sz="1200" b="1"/>
                        <a:t>visible share of errors</a:t>
                      </a:r>
                    </a:p>
                  </a:txBody>
                  <a:tcPr/>
                </a:tc>
              </a:tr>
              <a:tr h="292608">
                <a:tc>
                  <a:txBody>
                    <a:bodyPr/>
                    <a:lstStyle/>
                    <a:p>
                      <a:r>
                        <a:rPr sz="1200" b="0"/>
                        <a:t>New Jersey</a:t>
                      </a:r>
                    </a:p>
                  </a:txBody>
                  <a:tcPr/>
                </a:tc>
                <a:tc>
                  <a:txBody>
                    <a:bodyPr/>
                    <a:lstStyle/>
                    <a:p>
                      <a:r>
                        <a:rPr sz="1200" b="0"/>
                        <a:t>43%</a:t>
                      </a:r>
                    </a:p>
                  </a:txBody>
                  <a:tcPr/>
                </a:tc>
              </a:tr>
              <a:tr h="292608">
                <a:tc>
                  <a:txBody>
                    <a:bodyPr/>
                    <a:lstStyle/>
                    <a:p>
                      <a:r>
                        <a:rPr sz="1200" b="0"/>
                        <a:t>Tennessee</a:t>
                      </a:r>
                    </a:p>
                  </a:txBody>
                  <a:tcPr/>
                </a:tc>
                <a:tc>
                  <a:txBody>
                    <a:bodyPr/>
                    <a:lstStyle/>
                    <a:p>
                      <a:r>
                        <a:rPr sz="1200" b="0"/>
                        <a:t>51%</a:t>
                      </a:r>
                    </a:p>
                  </a:txBody>
                  <a:tcPr/>
                </a:tc>
              </a:tr>
              <a:tr h="292608">
                <a:tc>
                  <a:txBody>
                    <a:bodyPr/>
                    <a:lstStyle/>
                    <a:p>
                      <a:r>
                        <a:rPr sz="1200" b="0"/>
                        <a:t>Arkansas / Missouri / Utah</a:t>
                      </a:r>
                    </a:p>
                  </a:txBody>
                  <a:tcPr/>
                </a:tc>
                <a:tc>
                  <a:txBody>
                    <a:bodyPr/>
                    <a:lstStyle/>
                    <a:p>
                      <a:r>
                        <a:rPr sz="1200" b="0"/>
                        <a:t>~53%</a:t>
                      </a:r>
                    </a:p>
                  </a:txBody>
                  <a:tcPr/>
                </a:tc>
              </a:tr>
              <a:tr h="292608">
                <a:tc>
                  <a:txBody>
                    <a:bodyPr/>
                    <a:lstStyle/>
                    <a:p>
                      <a:r>
                        <a:rPr sz="1200" b="0"/>
                        <a:t>Washington / Virginia / Louisiana</a:t>
                      </a:r>
                    </a:p>
                  </a:txBody>
                  <a:tcPr/>
                </a:tc>
                <a:tc>
                  <a:txBody>
                    <a:bodyPr/>
                    <a:lstStyle/>
                    <a:p>
                      <a:r>
                        <a:rPr sz="1200" b="0"/>
                        <a:t>78-81%</a:t>
                      </a:r>
                    </a:p>
                  </a:txBody>
                  <a:tcPr/>
                </a:tc>
              </a:tr>
              <a:tr h="292608">
                <a:tc>
                  <a:txBody>
                    <a:bodyPr/>
                    <a:lstStyle/>
                    <a:p>
                      <a:r>
                        <a:rPr sz="1200" b="0"/>
                        <a:t>national</a:t>
                      </a:r>
                    </a:p>
                  </a:txBody>
                  <a:tcPr/>
                </a:tc>
                <a:tc>
                  <a:txBody>
                    <a:bodyPr/>
                    <a:lstStyle/>
                    <a:p>
                      <a:r>
                        <a:rPr sz="1200" b="0"/>
                        <a:t>71%</a:t>
                      </a:r>
                    </a:p>
                  </a:txBody>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Missing usually means 'not claimed', not 'unknown'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Deduction fields (dependent care, medical, child support, homeless) are blank when the household didn't claim the deduction. Dropping rows with blanks silently deletes real, clean cases.</a:t>
            </a:r>
          </a:p>
        </p:txBody>
        <a:p>
          <a:pPr>
            <a:spcAft>
              <a:spcPts val="400"/>
            </a:spcAft>
          </a:pPr>
          <a:r>
            <a:rPr sz="1200"/>
            <a:t>- Deduction fields (dependent care, medical, child support, homeless) are blank when the household didn't claim the deduction. Dropping rows with blanks silently deletes real, clean cases.</a:t>
          </a:r>
        </a:p>
      </p:sp>
      <a:p>
        <a:pPr>
          <a:spcAft>
            <a:spcPts val="400"/>
          </a:spcAft>
        </a:pPr>
        <a:r>
          <a:rPr sz="1200"/>
          <a:t>- Deduction fields (dependent care, medical, child support, homeless) are blank when the household didn't claim the deduction. Dropping rows with blanks silently deletes real, clean cases.</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Don't drop cases you can't fully reconcile - flag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QC reviews can find MULTIPLE errors in one case. Cases with a second error element didn't fit our single-error reconstruction, so an early version dropped them: 31% of all error cases, silently.</a:t>
            </a:r>
          </a:p>
        </p:txBody>
        <a:p>
          <a:pPr>
            <a:spcAft>
              <a:spcPts val="400"/>
            </a:spcAft>
          </a:pPr>
          <a:r>
            <a:rPr sz="1200"/>
            <a:t>- QC reviews can find MULTIPLE errors in one case. Cases with a second error element didn't fit our single-error reconstruction, so an early version dropped them: 31% of all error cases, silently.</a:t>
          </a:r>
        </a:p>
      </p:sp>
      <a:p>
        <a:pPr>
          <a:spcAft>
            <a:spcPts val="400"/>
          </a:spcAft>
        </a:pPr>
        <a:r>
          <a:rPr sz="1200"/>
          <a:t>- QC reviews can find MULTIPLE errors in one case. Cases with a second error element didn't fit our single-error reconstruction, so an early version dropped them: 31% of all error cases, silently.</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Rebuild derived datasets from the script, never by hand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modelling frame was once saved by hand from an interactive session. It silently descended from a version with the multi-error drop still active - and every result for weeks was mined on 69% of the true errors.</a:t>
            </a:r>
          </a:p>
        </p:txBody>
        <a:p>
          <a:pPr>
            <a:spcAft>
              <a:spcPts val="400"/>
            </a:spcAft>
          </a:pPr>
          <a:r>
            <a:rPr sz="1200"/>
            <a:t>- Our modelling frame was once saved by hand from an interactive session. It silently descended from a version with the multi-error drop still active - and every result for weeks was mined on 69% of the true errors.</a:t>
          </a:r>
        </a:p>
      </p:sp>
      <a:p>
        <a:pPr>
          <a:spcAft>
            <a:spcPts val="400"/>
          </a:spcAft>
        </a:pPr>
        <a:r>
          <a:rPr sz="1200"/>
          <a:t>- Our modelling frame was once saved by hand from an interactive session. It silently descended from a version with the multi-error drop still active - and every result for weeks was mined on 69% of the true errors.</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Screening many candidates on raw performance selects lucky ones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Generate 100,000 candidate rules and keep those with the best measured precision, and you mostly keep rules that got lucky: our 'train precision &gt;= 0.20' shortlist delivered only ~0.10 on a year it had never seen.</a:t>
            </a:r>
          </a:p>
        </p:txBody>
        <a:p>
          <a:pPr>
            <a:spcAft>
              <a:spcPts val="400"/>
            </a:spcAft>
          </a:pPr>
          <a:r>
            <a:rPr sz="1200"/>
            <a:t>- Generate 100,000 candidate rules and keep those with the best measured precision, and you mostly keep rules that got lucky: our 'train precision &gt;= 0.20' shortlist delivered only ~0.10 on a year it had never seen.</a:t>
          </a:r>
        </a:p>
      </p:sp>
      <a:p>
        <a:pPr>
          <a:spcAft>
            <a:spcPts val="400"/>
          </a:spcAft>
        </a:pPr>
        <a:r>
          <a:rPr sz="1200"/>
          <a:t>- Generate 100,000 candidate rules and keep those with the best measured precision, and you mostly keep rules that got lucky: our 'train precision &gt;= 0.20' shortlist delivered only ~0.10 on a year it had never seen.</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pic>
        <p:nvPicPr>
          <p:cNvPr id="5" name="Picture 4" descr="image.png"/>
          <p:cNvPicPr>
            <a:picLocks noChangeAspect="1"/>
          </p:cNvPicPr>
          <p:nvPr/>
        </p:nvPicPr>
        <p:blipFill>
          <a:blip r:embed="rId2"/>
          <a:stretch>
            <a:fillRect/>
          </a:stretch>
        </p:blipFill>
        <p:spPr>
          <a:xfrm>
            <a:off x="3639312" y="2752344"/>
            <a:ext cx="1865375" cy="1865375"/>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not the point estimate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candidate only if the LOWER end of its precision confidence interval clears your bar. Small-sample lucky streaks fail this test automatically; well-supported patterns pass.</a:t>
            </a:r>
          </a:p>
        </p:txBody>
        <a:p>
          <a:pPr>
            <a:spcAft>
              <a:spcPts val="400"/>
            </a:spcAft>
          </a:pPr>
          <a:r>
            <a:rPr sz="1200"/>
            <a:t>- Keep a candidate only if the LOWER end of its precision confidence interval clears your bar. Small-sample lucky streaks fail this test automatically; well-supported patterns pass.</a:t>
          </a:r>
        </a:p>
      </p:sp>
      <a:p>
        <a:pPr>
          <a:spcAft>
            <a:spcPts val="400"/>
          </a:spcAft>
        </a:pPr>
        <a:r>
          <a:rPr sz="1200"/>
          <a:t>- Keep a candidate only if the LOWER end of its precision confidence interval clears your bar. Small-sample lucky streaks fail this test automatically; well-supported patterns pass.</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pic>
        <p:nvPicPr>
          <p:cNvPr id="5" name="Picture 4" descr="image.png"/>
          <p:cNvPicPr>
            <a:picLocks noChangeAspect="1"/>
          </p:cNvPicPr>
          <p:nvPr/>
        </p:nvPicPr>
        <p:blipFill>
          <a:blip r:embed="rId2"/>
          <a:stretch>
            <a:fillRect/>
          </a:stretch>
        </p:blipFill>
        <p:spPr>
          <a:xfrm>
            <a:off x="2945330" y="2240280"/>
            <a:ext cx="3253338" cy="2377439"/>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Generate aggressively; let statistics do the vetoing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Bigger ensembles (1000 trees instead of 100) do not trace a better precision-recall frontier - but they find several times more DISTINCT patterns at every quality bar.</a:t>
            </a:r>
          </a:p>
        </p:txBody>
        <a:p>
          <a:pPr>
            <a:spcAft>
              <a:spcPts val="400"/>
            </a:spcAft>
          </a:pPr>
          <a:r>
            <a:rPr sz="1200"/>
            <a:t>- Bigger ensembles (1000 trees instead of 100) do not trace a better precision-recall frontier - but they find several times more DISTINCT patterns at every quality bar.</a:t>
          </a:r>
        </a:p>
      </p:sp>
      <a:p>
        <a:pPr>
          <a:spcAft>
            <a:spcPts val="400"/>
          </a:spcAft>
        </a:pPr>
        <a:r>
          <a:rPr sz="1200"/>
          <a:t>- Bigger ensembles (1000 trees instead of 100) do not trace a better precision-recall frontier - but they find several times more DISTINCT patterns at every quality bar.</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pic>
        <p:nvPicPr>
          <p:cNvPr id="5" name="Picture 4" descr="image.png"/>
          <p:cNvPicPr>
            <a:picLocks noChangeAspect="1"/>
          </p:cNvPicPr>
          <p:nvPr/>
        </p:nvPicPr>
        <p:blipFill>
          <a:blip r:embed="rId2"/>
          <a:stretch>
            <a:fillRect/>
          </a:stretch>
        </p:blipFill>
        <p:spPr>
          <a:xfrm>
            <a:off x="2874873" y="2496312"/>
            <a:ext cx="3394252" cy="2121407"/>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Count every error you catch, not just the kind you looked for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A rule built to find earned-income errors also flags cases carrying other error types - and those reviews succeed too.</a:t>
            </a:r>
          </a:p>
        </p:txBody>
        <a:p>
          <a:pPr>
            <a:spcAft>
              <a:spcPts val="400"/>
            </a:spcAft>
          </a:pPr>
          <a:r>
            <a:rPr sz="1200"/>
            <a:t>- A rule built to find earned-income errors also flags cases carrying other error types - and those reviews succeed too.</a:t>
          </a:r>
        </a:p>
      </p:sp>
      <a:p>
        <a:pPr>
          <a:spcAft>
            <a:spcPts val="400"/>
          </a:spcAft>
        </a:pPr>
        <a:r>
          <a:rPr sz="1200"/>
          <a:t>- A rule built to find earned-income errors also flags cases carrying other error types - and those reviews succeed too.</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Look for the unmodeled majority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Errors in deductions, shelter costs, and household composition ('other' errors) are the LARGEST category - 2,007 of 4,460 above-threshold errors in 2023 - and years of prior work never modeled them because they seemed heterogeneous.</a:t>
            </a:r>
          </a:p>
        </p:txBody>
        <a:p>
          <a:pPr>
            <a:spcAft>
              <a:spcPts val="400"/>
            </a:spcAft>
          </a:pPr>
          <a:r>
            <a:rPr sz="1200"/>
            <a:t>- Errors in deductions, shelter costs, and household composition ('other' errors) are the LARGEST category - 2,007 of 4,460 above-threshold errors in 2023 - and years of prior work never modeled them because they seemed heterogeneous.</a:t>
          </a:r>
        </a:p>
      </p:sp>
      <a:p>
        <a:pPr>
          <a:spcAft>
            <a:spcPts val="400"/>
          </a:spcAft>
        </a:pPr>
        <a:r>
          <a:rPr sz="1200"/>
          <a:t>- Errors in deductions, shelter costs, and household composition ('other' errors) are the LARGEST category - 2,007 of 4,460 above-threshold errors in 2023 - and years of prior work never modeled them because they seemed heterogeneous.</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structure - but split coarsely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 size changes which variables mean what (income per member, deduction scales), so we model size groups 1 / 2-3 / 4+ separately. Coarse splits kept enough data per group; a 5-way split performed worse.</a:t>
            </a:r>
          </a:p>
        </p:txBody>
        <a:p>
          <a:pPr>
            <a:spcAft>
              <a:spcPts val="400"/>
            </a:spcAft>
          </a:pPr>
          <a:r>
            <a:rPr sz="1200"/>
            <a:t>- Household size changes which variables mean what (income per member, deduction scales), so we model size groups 1 / 2-3 / 4+ separately. Coarse splits kept enough data per group; a 5-way split performed worse.</a:t>
          </a:r>
        </a:p>
      </p:sp>
      <a:p>
        <a:pPr>
          <a:spcAft>
            <a:spcPts val="400"/>
          </a:spcAft>
        </a:pPr>
        <a:r>
          <a:rPr sz="1200"/>
          <a:t>- Household size changes which variables mean what (income per member, deduction scales), so we model size groups 1 / 2-3 / 4+ separately. Coarse splits kept enough data per group; a 5-way split performed worse.</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pic>
        <p:nvPicPr>
          <p:cNvPr id="5" name="Picture 4" descr="image.png"/>
          <p:cNvPicPr>
            <a:picLocks noChangeAspect="1"/>
          </p:cNvPicPr>
          <p:nvPr/>
        </p:nvPicPr>
        <p:blipFill>
          <a:blip r:embed="rId2"/>
          <a:stretch>
            <a:fillRect/>
          </a:stretch>
        </p:blipFill>
        <p:spPr>
          <a:xfrm>
            <a:off x="3284524" y="3008376"/>
            <a:ext cx="2574950" cy="1609343"/>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Small samples need hard support floors, not just confidence bounds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At national scale (100k+ cases), a stringent lower-bound filter alone controls selection noise. At single-state scale it did NOT: rules selected with the bound but tiny support had median holdout precision of ZERO.</a:t>
            </a:r>
          </a:p>
        </p:txBody>
        <a:p>
          <a:pPr>
            <a:spcAft>
              <a:spcPts val="400"/>
            </a:spcAft>
          </a:pPr>
          <a:r>
            <a:rPr sz="1200"/>
            <a:t>- At national scale (100k+ cases), a stringent lower-bound filter alone controls selection noise. At single-state scale it did NOT: rules selected with the bound but tiny support had median holdout precision of ZERO.</a:t>
          </a:r>
        </a:p>
      </p:sp>
      <a:p>
        <a:pPr>
          <a:spcAft>
            <a:spcPts val="400"/>
          </a:spcAft>
        </a:pPr>
        <a:r>
          <a:rPr sz="1200"/>
          <a:t>- At national scale (100k+ cases), a stringent lower-bound filter alone controls selection noise. At single-state scale it did NOT: rules selected with the bound but tiny support had median holdout precision of ZERO.</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Match eras: recent similar data beats more mixed-era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For a state with weak local signal (Louisiana), pooling its own data across 2017-19 + 2022-24 made things WORSE (median holdout precision fell to zero) - error-generating processes drift with policy changes.</a:t>
            </a:r>
          </a:p>
        </p:txBody>
        <a:p>
          <a:pPr>
            <a:spcAft>
              <a:spcPts val="400"/>
            </a:spcAft>
          </a:pPr>
          <a:r>
            <a:rPr sz="1200"/>
            <a:t>- For a state with weak local signal (Louisiana), pooling its own data across 2017-19 + 2022-24 made things WORSE (median holdout precision fell to zero) - error-generating processes drift with policy changes.</a:t>
          </a:r>
        </a:p>
      </p:sp>
      <a:p>
        <a:pPr>
          <a:spcAft>
            <a:spcPts val="400"/>
          </a:spcAft>
        </a:pPr>
        <a:r>
          <a:rPr sz="1200"/>
          <a:t>- For a state with weak local signal (Louisiana), pooling its own data across 2017-19 + 2022-24 made things WORSE (median holdout precision fell to zero) - error-generating processes drift with policy changes.</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microdata already documents each state's policy choices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Key policy options - broad-based categorical eligibility, reporting systems, certification periods, standard medical deduction, standard utility allowances, SSI CAP - are all readable off the QC microdata itself, per state and era.</a:t>
            </a:r>
          </a:p>
        </p:txBody>
        <a:p>
          <a:pPr>
            <a:spcAft>
              <a:spcPts val="400"/>
            </a:spcAft>
          </a:pPr>
          <a:r>
            <a:rPr sz="1200"/>
            <a:t>- Key policy options - broad-based categorical eligibility, reporting systems, certification periods, standard medical deduction, standard utility allowances, SSI CAP - are all readable off the QC microdata itself, per state and era.</a:t>
          </a:r>
        </a:p>
      </p:sp>
      <a:p>
        <a:pPr>
          <a:spcAft>
            <a:spcPts val="400"/>
          </a:spcAft>
        </a:pPr>
        <a:r>
          <a:rPr sz="1200"/>
          <a:t>- Key policy options - broad-based categorical eligibility, reporting systems, certification periods, standard medical deduction, standard utility allowances, SSI CAP - are all readable off the QC microdata itself, per state and era.</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Data first: measure what your data cannot see, read missingness semantics, keep hard cases with flags, and make scripts - not hands - produce datasets.</a:t>
            </a:r>
          </a:p>
        </p:txBody>
        <a:p>
          <a:pPr>
            <a:spcAft>
              <a:spcPts val="400"/>
            </a:spcAft>
          </a:pPr>
          <a:r>
            <a:rPr sz="1200"/>
            <a:t>- Data first: measure what your data cannot see, read missingness semantics, keep hard cases with flags, and make scripts - not hands - produce datasets.</a:t>
          </a:r>
        </a:p>
      </p:sp>
      <a:p>
        <a:pPr>
          <a:spcAft>
            <a:spcPts val="400"/>
          </a:spcAft>
        </a:pPr>
        <a:r>
          <a:rPr sz="1200"/>
          <a:t>- Data first: measure what your data cannot see, read missingness semantics, keep hard cases with flags, and make scripts - not hands - produce datasets.</a:t>
        </a:r>
      </a:p>
      <p:sp>
        <p:nvSpPr>
          <p:cNvPr id="3" name="TextBox 2"/>
          <p:cNvSpPr txBox="1"/>
          <p:nvPr/>
        </p:nvSpPr>
        <p:spPr>
          <a:xfrm>
            <a:off x="400000" y="4723500"/>
            <a:ext cx="3200000" cy="320000"/>
          </a:xfrm>
          <a:prstGeom prst="rect">
            <a:avLst/>
          </a:prstGeom>
          <a:noFill/>
        </p:spPr>
        <p:txBody>
          <a:bodyPr wrap="none">
            <a:spAutoFit/>
          </a:bodyPr>
          <a:lstStyle/>
          <a:p>
            <a:r>
              <a:rPr sz="1000" i="1"/>
              <a:t>Lessons from the SNAP QC error-mining project - July 2026</a:t>
            </a:r>
          </a:p>
        </p:txBody>
      </p:sp>
    </p:spTree>
    <a:p>
      <a:pPr>
        <a:spcAft>
          <a:spcPts val="400"/>
        </a:spcAft>
      </a:pPr>
      <a:r>
        <a:rPr sz="1200"/>
        <a:t>- Data first: measure what your data cannot see, read missingness semantics, keep hard cases with flags, and make scripts - not hands - produce datasets.</a:t>
      </a:r>
    </a:p>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