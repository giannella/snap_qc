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(methods/modeling_findings.md)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marT="9144" marB="9144"/>
                </a:tc>
                <a:tc>
                  <a:txBody>
                    <a:bodyPr/>
                    <a:lstStyle/>
                    <a:p>
                      <a:r>
                        <a:rPr sz="1200" b="1"/>
                        <a:t>visible share of error cases</a:t>
                      </a:r>
                    </a:p>
                  </a:txBody>
                  <a:tcPr marT="9144" marB="9144"/>
                </a:tc>
              </a:tr>
              <a:tr h="292608">
                <a:tc>
                  <a:txBody>
                    <a:bodyPr/>
                    <a:lstStyle/>
                    <a:p>
                      <a:r>
                        <a:rPr sz="1200" b="0"/>
                        <a:t>New Jersey</a:t>
                      </a:r>
                    </a:p>
                  </a:txBody>
                  <a:tcPr marT="9144" marB="9144"/>
                </a:tc>
                <a:tc>
                  <a:txBody>
                    <a:bodyPr/>
                    <a:lstStyle/>
                    <a:p>
                      <a:r>
                        <a:rPr sz="1200" b="0"/>
                        <a:t>43%</a:t>
                      </a:r>
                    </a:p>
                  </a:txBody>
                  <a:tcPr marT="9144" marB="9144"/>
                </a:tc>
              </a:tr>
              <a:tr h="292608">
                <a:tc>
                  <a:txBody>
                    <a:bodyPr/>
                    <a:lstStyle/>
                    <a:p>
                      <a:r>
                        <a:rPr sz="1200" b="0"/>
                        <a:t>Tennessee</a:t>
                      </a:r>
                    </a:p>
                  </a:txBody>
                  <a:tcPr marT="9144" marB="9144"/>
                </a:tc>
                <a:tc>
                  <a:txBody>
                    <a:bodyPr/>
                    <a:lstStyle/>
                    <a:p>
                      <a:r>
                        <a:rPr sz="1200" b="0"/>
                        <a:t>51%</a:t>
                      </a:r>
                    </a:p>
                  </a:txBody>
                  <a:tcPr marT="9144" marB="9144"/>
                </a:tc>
              </a:tr>
              <a:tr h="292608">
                <a:tc>
                  <a:txBody>
                    <a:bodyPr/>
                    <a:lstStyle/>
                    <a:p>
                      <a:r>
                        <a:rPr sz="1200" b="0"/>
                        <a:t>Arkansas / Missouri / Utah</a:t>
                      </a:r>
                    </a:p>
                  </a:txBody>
                  <a:tcPr marT="9144" marB="9144"/>
                </a:tc>
                <a:tc>
                  <a:txBody>
                    <a:bodyPr/>
                    <a:lstStyle/>
                    <a:p>
                      <a:r>
                        <a:rPr sz="1200" b="0"/>
                        <a:t>~53%</a:t>
                      </a:r>
                    </a:p>
                  </a:txBody>
                  <a:tcPr marT="9144" marB="9144"/>
                </a:tc>
              </a:tr>
              <a:tr h="292608">
                <a:tc>
                  <a:txBody>
                    <a:bodyPr/>
                    <a:lstStyle/>
                    <a:p>
                      <a:r>
                        <a:rPr sz="1200" b="0"/>
                        <a:t>Washington / Virginia / Louisiana</a:t>
                      </a:r>
                    </a:p>
                  </a:txBody>
                  <a:tcPr marT="9144" marB="9144"/>
                </a:tc>
                <a:tc>
                  <a:txBody>
                    <a:bodyPr/>
                    <a:lstStyle/>
                    <a:p>
                      <a:r>
                        <a:rPr sz="1200" b="0"/>
                        <a:t>78-81%</a:t>
                      </a:r>
                    </a:p>
                  </a:txBody>
                  <a:tcPr marT="9144" marB="9144"/>
                </a:tc>
              </a:tr>
              <a:tr h="292608">
                <a:tc>
                  <a:txBody>
                    <a:bodyPr/>
                    <a:lstStyle/>
                    <a:p>
                      <a:r>
                        <a:rPr sz="1200" b="0"/>
                        <a:t>national</a:t>
                      </a:r>
                    </a:p>
                  </a:txBody>
                  <a:tcPr marT="9144" marB="9144"/>
                </a:tc>
                <a:tc>
                  <a:txBody>
                    <a:bodyPr/>
                    <a:lstStyle/>
                    <a:p>
                      <a:r>
                        <a:rPr sz="1200" b="0"/>
                        <a:t>71%</a:t>
                      </a:r>
                    </a:p>
                  </a:txBody>
                  <a:tcPr marT="9144" marB="9144"/>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slow learning (eta 0.02, 1000 rounds) beat fast; depth 4 sufficed; subsample barely matters (see the replication on the next slide).</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Re-test your selection choices on a year that never judged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Every configuration choice above was judged on the same held-out year (2023), so the selection PROCEDURE itself could be overfit to one year. We re-ran the decisive comparisons with the year roles swapped (train 2022+2023, test 2024), with expected outcomes and failure criteria written down BEFORE the run.</a:t>
            </a:r>
          </a:p>
          <a:p>
            <a:pPr>
              <a:spcAft>
                <a:spcPts val="400"/>
              </a:spcAft>
            </a:pPr>
            <a:r>
              <a:rPr sz="1200"/>
              <a:t>- Three of four claims replicated: the engine pairing still leads recall (margin thinner, 2.1pp vs 3pp+), stringency still buys precision monotonically, big ensembles still widen the menu ~7x at ~0.02 precision cost.</a:t>
            </a:r>
          </a:p>
          <a:p>
            <a:pPr>
              <a:spcAft>
                <a:spcPts val="400"/>
              </a:spcAft>
            </a:pPr>
            <a:r>
              <a:rPr sz="1200"/>
              <a:t>- One claim failed and is retired: 'low subsampling beats high' - on 2024 all nine settings from 0.15 to 0.80 land within 0.005 (right panel). The retraction is what makes the survivors credible: the procedure demonstrably can say no.</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replication_selection_studies.png"/>
          <p:cNvPicPr>
            <a:picLocks noChangeAspect="1"/>
          </p:cNvPicPr>
          <p:nvPr/>
        </p:nvPicPr>
        <p:blipFill>
          <a:blip r:embed="rId2"/>
          <a:stretch>
            <a:fillRect/>
          </a:stretch>
        </p:blipFill>
        <p:spPr>
          <a:xfrm>
            <a:off x="2880360" y="3264408"/>
            <a:ext cx="3383279" cy="13533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Evaluate at review budgets, not just statistical floors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Confidence floors produce whatever workload they produce: on the rebuilt data, the 0.20 floor's rule union flags ~half the caseload (which is how 'catch 79% of error dollars' happens). States plan around review capacity, not floors.</a:t>
            </a:r>
          </a:p>
          <a:p>
            <a:pPr>
              <a:spcAft>
                <a:spcPts val="400"/>
              </a:spcAft>
            </a:pPr>
            <a:r>
              <a:rPr sz="1200"/>
              <a:t>- So we also report budget-filled performance: add rules in descending lower-bound order until 5% or 10% of the caseload is flagged. In the deployment test (trained on 2022-23 only, scored on each state's 2024), the national rules deliver median 0.30 precision catching 16% of error dollars at a 5% budget, and 0.27 catching 25% at 10% - against 8-17% base rates.</a:t>
            </a:r>
          </a:p>
          <a:p>
            <a:pPr>
              <a:spcAft>
                <a:spcPts val="400"/>
              </a:spcAft>
            </a:pPr>
            <a:r>
              <a:rPr sz="1200"/>
              <a:t>- The budget lens also corrects floor artifacts: Mississippi's transferred rules stopped firing entirely at a 0.30 floor, yet delivered among the best 5%-budget precision of any state - the rules were fine, the floor wasn't.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best_pool_pr_by_budget.png"/>
          <p:cNvPicPr>
            <a:picLocks noChangeAspect="1"/>
          </p:cNvPicPr>
          <p:nvPr/>
        </p:nvPicPr>
        <p:blipFill>
          <a:blip r:embed="rId2"/>
          <a:stretch>
            <a:fillRect/>
          </a:stretch>
        </p:blipFill>
        <p:spPr>
          <a:xfrm>
            <a:off x="3626068" y="3520440"/>
            <a:ext cx="1891862" cy="1097279"/>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national rules, deployed a year ahead, state by state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deployment test: rules mined on all states' 2022-23 data, applied in national-confidence order until 10% of the state's caseload is flagged, scored on the state's 2024 cases - a year no rule ever saw.</a:t>
            </a:r>
          </a:p>
          <a:p>
            <a:pPr>
              <a:spcAft>
                <a:spcPts val="400"/>
              </a:spcAft>
            </a:pPr>
            <a:r>
              <a:rPr sz="1200"/>
              <a:t>- Every state clears its base rate: precision 0.18-0.37 against 8-17% base rates, a 1.5-3.4x lift over random review.</a:t>
            </a:r>
          </a:p>
          <a:p>
            <a:pPr>
              <a:spcAft>
                <a:spcPts val="400"/>
              </a:spcAft>
            </a:pPr>
            <a:r>
              <a:rPr sz="1200"/>
              <a:t>- Including the state's own 2022-23 rows in the mining changes little vs holding the state out entirely (median difference ~0.00; per state -0.08 to +0.06): with a truly unseen test year, the national numbers a state is quoted are already honest.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deploy_national_dotplot_budget10.png"/>
          <p:cNvPicPr>
            <a:picLocks noChangeAspect="1"/>
          </p:cNvPicPr>
          <p:nvPr/>
        </p:nvPicPr>
        <p:blipFill>
          <a:blip r:embed="rId2"/>
          <a:stretch>
            <a:fillRect/>
          </a:stretch>
        </p:blipFill>
        <p:spPr>
          <a:xfrm>
            <a:off x="3172968" y="2752344"/>
            <a:ext cx="2798063" cy="1865375"/>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Donor-state similarity: tested, and the national pool held up</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(which risk patterns fire in a state's caseload; rarely-firing patterns weighted more heavily) and pick each state's 5 nearest donors. Neighbor lists change sharply between 2017-19 and 2022-24, so we compute them per era.</a:t>
            </a:r>
          </a:p>
          <a:p>
            <a:pPr>
              <a:spcAft>
                <a:spcPts val="400"/>
              </a:spcAft>
            </a:pPr>
            <a:r>
              <a:rPr sz="1200"/>
              <a:t>- Scored within the same era, 5-donor pools matched or beat the held-out national pool in 6 of 12 states at a 10% budget (median 0.278 vs 0.245). Re-tested as a deployment (train 2022-23, score 2024), the advantage did not survive: national median 0.27-0.30 vs transfer 0.25-0.26 across budgets.</a:t>
            </a:r>
          </a:p>
          <a:p>
            <a:pPr>
              <a:spcAft>
                <a:spcPts val="400"/>
              </a:spcAft>
            </a:pPr>
            <a:r>
              <a:rPr sz="1200"/>
              <a:t>- Mining a state's own data alone is the high-variance option: the best single results anywhere (Connecticut 0.416, Virginia 0.371 at 10%) but also the worst - Washington's own rules delivered 0.05-0.08 precision on 2024, BELOW its 8.5% base rate. Neighbor pools are the fallback where own-state mining fails, not the default.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Adapting the national rules to a state: three schemes we tested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filtered - keep the national rules exactly as they are, but re-qualify each on the state's own 2022-23 data: deploy only rules whose 90% lower-bound precision clears 0.20 with &gt;= 30 flagged cases, applied in state-confidence order.</a:t>
            </a:r>
          </a:p>
          <a:p>
            <a:pPr>
              <a:spcAft>
                <a:spcPts val="400"/>
              </a:spcAft>
            </a:pPr>
            <a:r>
              <a:rPr sz="1200"/>
              <a:t>- tuned - grid-search each rule's thresholds (+/-10-25%) on the state's data; qualify variants at the same bar (90% lower bound &gt;= 0.20, &gt;= 30 flagged); deploy each rule's highest-lower-bound variant - the most statistically defensible version.</a:t>
            </a:r>
          </a:p>
          <a:p>
            <a:pPr>
              <a:spcAft>
                <a:spcPts val="400"/>
              </a:spcAft>
            </a:pPr>
            <a:r>
              <a:rPr sz="1200"/>
              <a:t>- hybrid - the scheme our July grid-search study settled on: qualify variants at 90% lower bound &gt;= 0.20 with &gt;= 5 flagged, then deploy the qualifying variant catching the most error DOLLARS on state training data - a careful gate with an aggressive pick.</a:t>
            </a:r>
          </a:p>
          <a:p>
            <a:pPr>
              <a:spcAft>
                <a:spcPts val="400"/>
              </a:spcAft>
            </a:pPr>
            <a:r>
              <a:rPr sz="1200"/>
              <a:t>- All arms are budget-filled on the state's 2024 cases: rules added in descending confidence order until 5% or 10% of the caseload is flagged. The state's 2024 data is never used to pick rules, only to count flags.</a:t>
            </a:r>
          </a:p>
          <a:p>
            <a:pPr>
              <a:spcAft>
                <a:spcPts val="400"/>
              </a:spcAft>
            </a:pPr>
            <a:r>
              <a:rPr sz="1200"/>
              <a:t>- Note: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Median across 18 states: adaptation does not beat the national order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No adaptation scheme beats deploying the national list in national-confidence order on the median state; national as-is takes the most per-state precision wins at both budgets (9 of 18 at 5%, 7 of 18 at 10%).</a:t>
            </a:r>
          </a:p>
          <a:p>
            <a:pPr>
              <a:spcAft>
                <a:spcPts val="400"/>
              </a:spcAft>
            </a:pPr>
            <a:r>
              <a:rPr sz="1200"/>
              <a:t>- Adaptation pays where the national list underperforms (New Jersey 0.10 -&gt; 0.27, Mississippi 0.25 -&gt; 0.42 at 5%) and hurts where it is already strong (Michigan 0.40 -&gt; 0.19, Washington 0.30 -&gt; 0.08 at 5%): small-sample qualification re-introduces the selection noise the national bound removed.</a:t>
            </a:r>
          </a:p>
          <a:p>
            <a:pPr>
              <a:spcAft>
                <a:spcPts val="400"/>
              </a:spcAft>
            </a:pPr>
            <a:r>
              <a:rPr sz="1200"/>
              <a:t>- The tuned arm is too conservative to deploy: 1-125 rules survive per state and 11 of its 36 runs cannot fill even half their budget. Cells: median precision / median share of error dollars, on 2024.</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752344"/>
          <a:ext cx="5943600" cy="1463040"/>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scheme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 as-is</a:t>
                      </a:r>
                    </a:p>
                  </a:txBody>
                  <a:tcPr marT="9144" marB="9144"/>
                </a:tc>
                <a:tc>
                  <a:txBody>
                    <a:bodyPr/>
                    <a:lstStyle/>
                    <a:p>
                      <a:r>
                        <a:rPr sz="1200" b="0"/>
                        <a:t>0.301 / 16%</a:t>
                      </a:r>
                    </a:p>
                  </a:txBody>
                  <a:tcPr marT="9144" marB="9144"/>
                </a:tc>
                <a:tc>
                  <a:txBody>
                    <a:bodyPr/>
                    <a:lstStyle/>
                    <a:p>
                      <a:r>
                        <a:rPr sz="1200" b="0"/>
                        <a:t>0.275 / 25%</a:t>
                      </a:r>
                    </a:p>
                  </a:txBody>
                  <a:tcPr marT="9144" marB="9144"/>
                </a:tc>
              </a:tr>
              <a:tr h="292608">
                <a:tc>
                  <a:txBody>
                    <a:bodyPr/>
                    <a:lstStyle/>
                    <a:p>
                      <a:r>
                        <a:rPr sz="1200" b="0"/>
                        <a:t>filtered</a:t>
                      </a:r>
                    </a:p>
                  </a:txBody>
                  <a:tcPr marT="9144" marB="9144"/>
                </a:tc>
                <a:tc>
                  <a:txBody>
                    <a:bodyPr/>
                    <a:lstStyle/>
                    <a:p>
                      <a:r>
                        <a:rPr sz="1200" b="0"/>
                        <a:t>0.273 / 13%</a:t>
                      </a:r>
                    </a:p>
                  </a:txBody>
                  <a:tcPr marT="9144" marB="9144"/>
                </a:tc>
                <a:tc>
                  <a:txBody>
                    <a:bodyPr/>
                    <a:lstStyle/>
                    <a:p>
                      <a:r>
                        <a:rPr sz="1200" b="0"/>
                        <a:t>0.261 / 24%</a:t>
                      </a:r>
                    </a:p>
                  </a:txBody>
                  <a:tcPr marT="9144" marB="9144"/>
                </a:tc>
              </a:tr>
              <a:tr h="292608">
                <a:tc>
                  <a:txBody>
                    <a:bodyPr/>
                    <a:lstStyle/>
                    <a:p>
                      <a:r>
                        <a:rPr sz="1200" b="0"/>
                        <a:t>tuned</a:t>
                      </a:r>
                    </a:p>
                  </a:txBody>
                  <a:tcPr marT="9144" marB="9144"/>
                </a:tc>
                <a:tc>
                  <a:txBody>
                    <a:bodyPr/>
                    <a:lstStyle/>
                    <a:p>
                      <a:r>
                        <a:rPr sz="1200" b="0"/>
                        <a:t>0.235 / 7%</a:t>
                      </a:r>
                    </a:p>
                  </a:txBody>
                  <a:tcPr marT="9144" marB="9144"/>
                </a:tc>
                <a:tc>
                  <a:txBody>
                    <a:bodyPr/>
                    <a:lstStyle/>
                    <a:p>
                      <a:r>
                        <a:rPr sz="1200" b="0"/>
                        <a:t>0.237 / 14%</a:t>
                      </a:r>
                    </a:p>
                  </a:txBody>
                  <a:tcPr marT="9144" marB="9144"/>
                </a:tc>
              </a:tr>
              <a:tr h="292608">
                <a:tc>
                  <a:txBody>
                    <a:bodyPr/>
                    <a:lstStyle/>
                    <a:p>
                      <a:r>
                        <a:rPr sz="1200" b="0"/>
                        <a:t>hybrid</a:t>
                      </a:r>
                    </a:p>
                  </a:txBody>
                  <a:tcPr marT="9144" marB="9144"/>
                </a:tc>
                <a:tc>
                  <a:txBody>
                    <a:bodyPr/>
                    <a:lstStyle/>
                    <a:p>
                      <a:r>
                        <a:rPr sz="1200" b="0"/>
                        <a:t>0.292 / 14%</a:t>
                      </a:r>
                    </a:p>
                  </a:txBody>
                  <a:tcPr marT="9144" marB="9144"/>
                </a:tc>
                <a:tc>
                  <a:txBody>
                    <a:bodyPr/>
                    <a:lstStyle/>
                    <a:p>
                      <a:r>
                        <a:rPr sz="1200" b="0"/>
                        <a:t>0.259 / 26%</a:t>
                      </a:r>
                    </a:p>
                  </a:txBody>
                  <a:tcPr marT="9144" marB="9144"/>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5%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0.535 @ 19% ($16%)</a:t>
                      </a:r>
                    </a:p>
                  </a:txBody>
                  <a:tcPr marT="9144" marB="9144"/>
                </a:tc>
                <a:tc>
                  <a:txBody>
                    <a:bodyPr/>
                    <a:lstStyle/>
                    <a:p>
                      <a:r>
                        <a:rPr sz="900" b="0"/>
                        <a:t>0.233 @ 8% ($4%)</a:t>
                      </a:r>
                    </a:p>
                  </a:txBody>
                  <a:tcPr marT="9144" marB="9144"/>
                </a:tc>
                <a:tc>
                  <a:txBody>
                    <a:bodyPr/>
                    <a:lstStyle/>
                    <a:p>
                      <a:r>
                        <a:rPr sz="900" b="0"/>
                        <a:t>0.309 @ 11% ($11%)</a:t>
                      </a:r>
                    </a:p>
                  </a:txBody>
                  <a:tcPr marT="9144" marB="9144"/>
                </a:tc>
                <a:tc>
                  <a:txBody>
                    <a:bodyPr/>
                    <a:lstStyle/>
                    <a:p>
                      <a:r>
                        <a:rPr sz="900" b="0"/>
                        <a:t>0.372 @ 13% ($12%)</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0.500 @ 21% ($20%)</a:t>
                      </a:r>
                    </a:p>
                  </a:txBody>
                  <a:tcPr marT="9144" marB="9144"/>
                </a:tc>
                <a:tc>
                  <a:txBody>
                    <a:bodyPr/>
                    <a:lstStyle/>
                    <a:p>
                      <a:r>
                        <a:rPr sz="900" b="0"/>
                        <a:t>0.300 @ 12% ($18%)</a:t>
                      </a:r>
                    </a:p>
                  </a:txBody>
                  <a:tcPr marT="9144" marB="9144"/>
                </a:tc>
                <a:tc>
                  <a:txBody>
                    <a:bodyPr/>
                    <a:lstStyle/>
                    <a:p>
                      <a:r>
                        <a:rPr sz="900" b="0"/>
                        <a:t>0.210 @ 8% ($8%)</a:t>
                      </a:r>
                    </a:p>
                  </a:txBody>
                  <a:tcPr marT="9144" marB="9144"/>
                </a:tc>
                <a:tc>
                  <a:txBody>
                    <a:bodyPr/>
                    <a:lstStyle/>
                    <a:p>
                      <a:r>
                        <a:rPr sz="900" b="0"/>
                        <a:t>0.500 @ 21% ($23%)</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0.417 @ 9% ($11%)</a:t>
                      </a:r>
                    </a:p>
                  </a:txBody>
                  <a:tcPr marT="9144" marB="9144"/>
                </a:tc>
                <a:tc>
                  <a:txBody>
                    <a:bodyPr/>
                    <a:lstStyle/>
                    <a:p>
                      <a:r>
                        <a:rPr sz="900" b="0"/>
                        <a:t>0.604 @ 14% ($13%)</a:t>
                      </a:r>
                    </a:p>
                  </a:txBody>
                  <a:tcPr marT="9144" marB="9144"/>
                </a:tc>
                <a:tc>
                  <a:txBody>
                    <a:bodyPr/>
                    <a:lstStyle/>
                    <a:p>
                      <a:r>
                        <a:rPr sz="900" b="0"/>
                        <a:t>0.188 @ 4% ($4%)</a:t>
                      </a:r>
                    </a:p>
                  </a:txBody>
                  <a:tcPr marT="9144" marB="9144"/>
                </a:tc>
                <a:tc>
                  <a:txBody>
                    <a:bodyPr/>
                    <a:lstStyle/>
                    <a:p>
                      <a:r>
                        <a:rPr sz="900" b="0"/>
                        <a:t>0.458 @ 10% ($10%)</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0.400 @ 12% ($12%)</a:t>
                      </a:r>
                    </a:p>
                  </a:txBody>
                  <a:tcPr marT="9144" marB="9144"/>
                </a:tc>
                <a:tc>
                  <a:txBody>
                    <a:bodyPr/>
                    <a:lstStyle/>
                    <a:p>
                      <a:r>
                        <a:rPr sz="900" b="0"/>
                        <a:t>0.371 @ 11% ($14%)</a:t>
                      </a:r>
                    </a:p>
                  </a:txBody>
                  <a:tcPr marT="9144" marB="9144"/>
                </a:tc>
                <a:tc>
                  <a:txBody>
                    <a:bodyPr/>
                    <a:lstStyle/>
                    <a:p>
                      <a:r>
                        <a:rPr sz="900" b="0"/>
                        <a:t>0.229 @ 7% ($5%)</a:t>
                      </a:r>
                    </a:p>
                  </a:txBody>
                  <a:tcPr marT="9144" marB="9144"/>
                </a:tc>
                <a:tc>
                  <a:txBody>
                    <a:bodyPr/>
                    <a:lstStyle/>
                    <a:p>
                      <a:r>
                        <a:rPr sz="900" b="0"/>
                        <a:t>0.371 @ 11% ($14%)</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0.395 @ 15% ($16%)</a:t>
                      </a:r>
                    </a:p>
                  </a:txBody>
                  <a:tcPr marT="9144" marB="9144"/>
                </a:tc>
                <a:tc>
                  <a:txBody>
                    <a:bodyPr/>
                    <a:lstStyle/>
                    <a:p>
                      <a:r>
                        <a:rPr sz="900" b="0"/>
                        <a:t>0.186 @ 7% ($13%)</a:t>
                      </a:r>
                    </a:p>
                  </a:txBody>
                  <a:tcPr marT="9144" marB="9144"/>
                </a:tc>
                <a:tc>
                  <a:txBody>
                    <a:bodyPr/>
                    <a:lstStyle/>
                    <a:p>
                      <a:r>
                        <a:rPr sz="900" b="0"/>
                        <a:t>0.146 @ 5% ($3%)</a:t>
                      </a:r>
                    </a:p>
                  </a:txBody>
                  <a:tcPr marT="9144" marB="9144"/>
                </a:tc>
                <a:tc>
                  <a:txBody>
                    <a:bodyPr/>
                    <a:lstStyle/>
                    <a:p>
                      <a:r>
                        <a:rPr sz="900" b="0"/>
                        <a:t>0.302 @ 12% ($11%)</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0.341 @ 12% ($16%)</a:t>
                      </a:r>
                    </a:p>
                  </a:txBody>
                  <a:tcPr marT="9144" marB="9144"/>
                </a:tc>
                <a:tc>
                  <a:txBody>
                    <a:bodyPr/>
                    <a:lstStyle/>
                    <a:p>
                      <a:r>
                        <a:rPr sz="900" b="0"/>
                        <a:t>0.364 @ 12% ($17%)</a:t>
                      </a:r>
                    </a:p>
                  </a:txBody>
                  <a:tcPr marT="9144" marB="9144"/>
                </a:tc>
                <a:tc>
                  <a:txBody>
                    <a:bodyPr/>
                    <a:lstStyle/>
                    <a:p>
                      <a:r>
                        <a:rPr sz="900" b="0"/>
                        <a:t>0.405 @ 13% ($16%)</a:t>
                      </a:r>
                    </a:p>
                  </a:txBody>
                  <a:tcPr marT="9144" marB="9144"/>
                </a:tc>
                <a:tc>
                  <a:txBody>
                    <a:bodyPr/>
                    <a:lstStyle/>
                    <a:p>
                      <a:r>
                        <a:rPr sz="900" b="0"/>
                        <a:t>0.409 @ 14% ($18%)</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0.324 @ 18% ($15%)</a:t>
                      </a:r>
                    </a:p>
                  </a:txBody>
                  <a:tcPr marT="9144" marB="9144"/>
                </a:tc>
                <a:tc>
                  <a:txBody>
                    <a:bodyPr/>
                    <a:lstStyle/>
                    <a:p>
                      <a:r>
                        <a:rPr sz="900" b="0"/>
                        <a:t>0.270 @ 15% ($22%)</a:t>
                      </a:r>
                    </a:p>
                  </a:txBody>
                  <a:tcPr marT="9144" marB="9144"/>
                </a:tc>
                <a:tc>
                  <a:txBody>
                    <a:bodyPr/>
                    <a:lstStyle/>
                    <a:p>
                      <a:r>
                        <a:rPr sz="900" b="0"/>
                        <a:t>0.200 @ 4% ($6%)</a:t>
                      </a:r>
                    </a:p>
                  </a:txBody>
                  <a:tcPr marT="9144" marB="9144"/>
                </a:tc>
                <a:tc>
                  <a:txBody>
                    <a:bodyPr/>
                    <a:lstStyle/>
                    <a:p>
                      <a:r>
                        <a:rPr sz="900" b="0"/>
                        <a:t>0.270 @ 15% ($17%)</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0.304 @ 12% ($19%)</a:t>
                      </a:r>
                    </a:p>
                  </a:txBody>
                  <a:tcPr marT="9144" marB="9144"/>
                </a:tc>
                <a:tc>
                  <a:txBody>
                    <a:bodyPr/>
                    <a:lstStyle/>
                    <a:p>
                      <a:r>
                        <a:rPr sz="900" b="0"/>
                        <a:t>0.283 @ 11% ($20%)</a:t>
                      </a:r>
                    </a:p>
                  </a:txBody>
                  <a:tcPr marT="9144" marB="9144"/>
                </a:tc>
                <a:tc>
                  <a:txBody>
                    <a:bodyPr/>
                    <a:lstStyle/>
                    <a:p>
                      <a:r>
                        <a:rPr sz="900" b="0"/>
                        <a:t>0.283 @ 11% ($20%)</a:t>
                      </a:r>
                    </a:p>
                  </a:txBody>
                  <a:tcPr marT="9144" marB="9144"/>
                </a:tc>
                <a:tc>
                  <a:txBody>
                    <a:bodyPr/>
                    <a:lstStyle/>
                    <a:p>
                      <a:r>
                        <a:rPr sz="900" b="0"/>
                        <a:t>0.326 @ 13% ($22%)</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0.302 @ 13% ($18%)</a:t>
                      </a:r>
                    </a:p>
                  </a:txBody>
                  <a:tcPr marT="9144" marB="9144"/>
                </a:tc>
                <a:tc>
                  <a:txBody>
                    <a:bodyPr/>
                    <a:lstStyle/>
                    <a:p>
                      <a:r>
                        <a:rPr sz="900" b="0"/>
                        <a:t>0.233 @ 10% ($19%)</a:t>
                      </a:r>
                    </a:p>
                  </a:txBody>
                  <a:tcPr marT="9144" marB="9144"/>
                </a:tc>
                <a:tc>
                  <a:txBody>
                    <a:bodyPr/>
                    <a:lstStyle/>
                    <a:p>
                      <a:r>
                        <a:rPr sz="900" b="0"/>
                        <a:t>0.244 @ 10% ($15%)</a:t>
                      </a:r>
                    </a:p>
                  </a:txBody>
                  <a:tcPr marT="9144" marB="9144"/>
                </a:tc>
                <a:tc>
                  <a:txBody>
                    <a:bodyPr/>
                    <a:lstStyle/>
                    <a:p>
                      <a:r>
                        <a:rPr sz="900" b="0"/>
                        <a:t>0.256 @ 11% ($21%)</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0.300 @ 17% ($24%)</a:t>
                      </a:r>
                    </a:p>
                  </a:txBody>
                  <a:tcPr marT="9144" marB="9144"/>
                </a:tc>
                <a:tc>
                  <a:txBody>
                    <a:bodyPr/>
                    <a:lstStyle/>
                    <a:p>
                      <a:r>
                        <a:rPr sz="900" b="0"/>
                        <a:t>0.075 @ 4% ($2%)</a:t>
                      </a:r>
                    </a:p>
                  </a:txBody>
                  <a:tcPr marT="9144" marB="9144"/>
                </a:tc>
                <a:tc>
                  <a:txBody>
                    <a:bodyPr/>
                    <a:lstStyle/>
                    <a:p>
                      <a:r>
                        <a:rPr sz="900" b="0"/>
                        <a:t>0.118 @ 3% ($5%)</a:t>
                      </a:r>
                    </a:p>
                  </a:txBody>
                  <a:tcPr marT="9144" marB="9144"/>
                </a:tc>
                <a:tc>
                  <a:txBody>
                    <a:bodyPr/>
                    <a:lstStyle/>
                    <a:p>
                      <a:r>
                        <a:rPr sz="900" b="0"/>
                        <a:t>0.282 @ 16% ($20%)</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0.300 @ 11% ($21%)</a:t>
                      </a:r>
                    </a:p>
                  </a:txBody>
                  <a:tcPr marT="9144" marB="9144"/>
                </a:tc>
                <a:tc>
                  <a:txBody>
                    <a:bodyPr/>
                    <a:lstStyle/>
                    <a:p>
                      <a:r>
                        <a:rPr sz="900" b="0"/>
                        <a:t>0.275 @ 10% ($18%)</a:t>
                      </a:r>
                    </a:p>
                  </a:txBody>
                  <a:tcPr marT="9144" marB="9144"/>
                </a:tc>
                <a:tc>
                  <a:txBody>
                    <a:bodyPr/>
                    <a:lstStyle/>
                    <a:p>
                      <a:r>
                        <a:rPr sz="900" b="0"/>
                        <a:t>0.229 @ 8% ($5%)</a:t>
                      </a:r>
                    </a:p>
                  </a:txBody>
                  <a:tcPr marT="9144" marB="9144"/>
                </a:tc>
                <a:tc>
                  <a:txBody>
                    <a:bodyPr/>
                    <a:lstStyle/>
                    <a:p>
                      <a:r>
                        <a:rPr sz="900" b="0"/>
                        <a:t>0.175 @ 7% ($12%)</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0.286 @ 10% ($11%)</a:t>
                      </a:r>
                    </a:p>
                  </a:txBody>
                  <a:tcPr marT="9144" marB="9144"/>
                </a:tc>
                <a:tc>
                  <a:txBody>
                    <a:bodyPr/>
                    <a:lstStyle/>
                    <a:p>
                      <a:r>
                        <a:rPr sz="900" b="0"/>
                        <a:t>0.286 @ 10% ($11%)</a:t>
                      </a:r>
                    </a:p>
                  </a:txBody>
                  <a:tcPr marT="9144" marB="9144"/>
                </a:tc>
                <a:tc>
                  <a:txBody>
                    <a:bodyPr/>
                    <a:lstStyle/>
                    <a:p>
                      <a:r>
                        <a:rPr sz="900" b="0"/>
                        <a:t>0.241 @ 7% ($8%)</a:t>
                      </a:r>
                    </a:p>
                  </a:txBody>
                  <a:tcPr marT="9144" marB="9144"/>
                </a:tc>
                <a:tc>
                  <a:txBody>
                    <a:bodyPr/>
                    <a:lstStyle/>
                    <a:p>
                      <a:r>
                        <a:rPr sz="900" b="0"/>
                        <a:t>0.257 @ 9% ($16%)</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0.279 @ 12% ($18%)</a:t>
                      </a:r>
                    </a:p>
                  </a:txBody>
                  <a:tcPr marT="9144" marB="9144"/>
                </a:tc>
                <a:tc>
                  <a:txBody>
                    <a:bodyPr/>
                    <a:lstStyle/>
                    <a:p>
                      <a:r>
                        <a:rPr sz="900" b="0"/>
                        <a:t>0.209 @ 9% ($9%)</a:t>
                      </a:r>
                    </a:p>
                  </a:txBody>
                  <a:tcPr marT="9144" marB="9144"/>
                </a:tc>
                <a:tc>
                  <a:txBody>
                    <a:bodyPr/>
                    <a:lstStyle/>
                    <a:p>
                      <a:r>
                        <a:rPr sz="900" b="0"/>
                        <a:t>0.357 @ 5% ($4%)</a:t>
                      </a:r>
                    </a:p>
                  </a:txBody>
                  <a:tcPr marT="9144" marB="9144"/>
                </a:tc>
                <a:tc>
                  <a:txBody>
                    <a:bodyPr/>
                    <a:lstStyle/>
                    <a:p>
                      <a:r>
                        <a:rPr sz="900" b="0"/>
                        <a:t>0.256 @ 11% ($14%)</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0.245 @ 10% ($9%)</a:t>
                      </a:r>
                    </a:p>
                  </a:txBody>
                  <a:tcPr marT="9144" marB="9144"/>
                </a:tc>
                <a:tc>
                  <a:txBody>
                    <a:bodyPr/>
                    <a:lstStyle/>
                    <a:p>
                      <a:r>
                        <a:rPr sz="900" b="0"/>
                        <a:t>0.377 @ 15% ($14%)</a:t>
                      </a:r>
                    </a:p>
                  </a:txBody>
                  <a:tcPr marT="9144" marB="9144"/>
                </a:tc>
                <a:tc>
                  <a:txBody>
                    <a:bodyPr/>
                    <a:lstStyle/>
                    <a:p>
                      <a:r>
                        <a:rPr sz="900" b="0"/>
                        <a:t>0.468 @ 17% ($15%)</a:t>
                      </a:r>
                    </a:p>
                  </a:txBody>
                  <a:tcPr marT="9144" marB="9144"/>
                </a:tc>
                <a:tc>
                  <a:txBody>
                    <a:bodyPr/>
                    <a:lstStyle/>
                    <a:p>
                      <a:r>
                        <a:rPr sz="900" b="0"/>
                        <a:t>0.415 @ 17% ($15%)</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10% ($9%)</a:t>
                      </a:r>
                    </a:p>
                  </a:txBody>
                  <a:tcPr marT="9144" marB="9144"/>
                </a:tc>
                <a:tc>
                  <a:txBody>
                    <a:bodyPr/>
                    <a:lstStyle/>
                    <a:p>
                      <a:r>
                        <a:rPr sz="900" b="0"/>
                        <a:t>0.289 @ 11% ($8%)</a:t>
                      </a:r>
                    </a:p>
                  </a:txBody>
                  <a:tcPr marT="9144" marB="9144"/>
                </a:tc>
                <a:tc>
                  <a:txBody>
                    <a:bodyPr/>
                    <a:lstStyle/>
                    <a:p>
                      <a:r>
                        <a:rPr sz="900" b="0"/>
                        <a:t>0.000 @ 0% ($0%)</a:t>
                      </a:r>
                    </a:p>
                  </a:txBody>
                  <a:tcPr marT="9144" marB="9144"/>
                </a:tc>
                <a:tc>
                  <a:txBody>
                    <a:bodyPr/>
                    <a:lstStyle/>
                    <a:p>
                      <a:r>
                        <a:rPr sz="900" b="0"/>
                        <a:t>0.311 @ 12% ($13%)</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0.239 @ 12% ($11%)</a:t>
                      </a:r>
                    </a:p>
                  </a:txBody>
                  <a:tcPr marT="9144" marB="9144"/>
                </a:tc>
                <a:tc>
                  <a:txBody>
                    <a:bodyPr/>
                    <a:lstStyle/>
                    <a:p>
                      <a:r>
                        <a:rPr sz="900" b="0"/>
                        <a:t>0.196 @ 10% ($10%)</a:t>
                      </a:r>
                    </a:p>
                  </a:txBody>
                  <a:tcPr marT="9144" marB="9144"/>
                </a:tc>
                <a:tc>
                  <a:txBody>
                    <a:bodyPr/>
                    <a:lstStyle/>
                    <a:p>
                      <a:r>
                        <a:rPr sz="900" b="0"/>
                        <a:t>0.256 @ 11% ($13%)</a:t>
                      </a:r>
                    </a:p>
                  </a:txBody>
                  <a:tcPr marT="9144" marB="9144"/>
                </a:tc>
                <a:tc>
                  <a:txBody>
                    <a:bodyPr/>
                    <a:lstStyle/>
                    <a:p>
                      <a:r>
                        <a:rPr sz="900" b="0"/>
                        <a:t>0.130 @ 6% ($8%)</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0.214 @ 7% ($8%)</a:t>
                      </a:r>
                    </a:p>
                  </a:txBody>
                  <a:tcPr marT="9144" marB="9144"/>
                </a:tc>
                <a:tc>
                  <a:txBody>
                    <a:bodyPr/>
                    <a:lstStyle/>
                    <a:p>
                      <a:r>
                        <a:rPr sz="900" b="0"/>
                        <a:t>0.238 @ 8% ($9%)</a:t>
                      </a:r>
                    </a:p>
                  </a:txBody>
                  <a:tcPr marT="9144" marB="9144"/>
                </a:tc>
                <a:tc>
                  <a:txBody>
                    <a:bodyPr/>
                    <a:lstStyle/>
                    <a:p>
                      <a:r>
                        <a:rPr sz="900" b="0"/>
                        <a:t>0.171 @ 5% ($3%)</a:t>
                      </a:r>
                    </a:p>
                  </a:txBody>
                  <a:tcPr marT="9144" marB="9144"/>
                </a:tc>
                <a:tc>
                  <a:txBody>
                    <a:bodyPr/>
                    <a:lstStyle/>
                    <a:p>
                      <a:r>
                        <a:rPr sz="900" b="0"/>
                        <a:t>0.214 @ 7% ($6%)</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0.097 @ 5% ($7%)</a:t>
                      </a:r>
                    </a:p>
                  </a:txBody>
                  <a:tcPr marT="9144" marB="9144"/>
                </a:tc>
                <a:tc>
                  <a:txBody>
                    <a:bodyPr/>
                    <a:lstStyle/>
                    <a:p>
                      <a:r>
                        <a:rPr sz="900" b="0"/>
                        <a:t>0.241 @ 12% ($14%)</a:t>
                      </a:r>
                    </a:p>
                  </a:txBody>
                  <a:tcPr marT="9144" marB="9144"/>
                </a:tc>
                <a:tc>
                  <a:txBody>
                    <a:bodyPr/>
                    <a:lstStyle/>
                    <a:p>
                      <a:r>
                        <a:rPr sz="900" b="0"/>
                        <a:t>0.273 @ 10% ($18%)</a:t>
                      </a:r>
                    </a:p>
                  </a:txBody>
                  <a:tcPr marT="9144" marB="9144"/>
                </a:tc>
                <a:tc>
                  <a:txBody>
                    <a:bodyPr/>
                    <a:lstStyle/>
                    <a:p>
                      <a:r>
                        <a:rPr sz="900" b="0"/>
                        <a:t>0.194 @ 10% ($10%)</a:t>
                      </a:r>
                    </a:p>
                  </a:txBody>
                  <a:tcPr marT="9144" marB="9144"/>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10%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0.433 @ 20% ($23%)</a:t>
                      </a:r>
                    </a:p>
                  </a:txBody>
                  <a:tcPr marT="9144" marB="9144"/>
                </a:tc>
                <a:tc>
                  <a:txBody>
                    <a:bodyPr/>
                    <a:lstStyle/>
                    <a:p>
                      <a:r>
                        <a:rPr sz="900" b="0"/>
                        <a:t>0.546 @ 25% ($23%)</a:t>
                      </a:r>
                    </a:p>
                  </a:txBody>
                  <a:tcPr marT="9144" marB="9144"/>
                </a:tc>
                <a:tc>
                  <a:txBody>
                    <a:bodyPr/>
                    <a:lstStyle/>
                    <a:p>
                      <a:r>
                        <a:rPr sz="900" b="0"/>
                        <a:t>0.210 @ 9% ($9%)</a:t>
                      </a:r>
                    </a:p>
                  </a:txBody>
                  <a:tcPr marT="9144" marB="9144"/>
                </a:tc>
                <a:tc>
                  <a:txBody>
                    <a:bodyPr/>
                    <a:lstStyle/>
                    <a:p>
                      <a:r>
                        <a:rPr sz="900" b="0"/>
                        <a:t>0.412 @ 19% ($21%)</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0.391 @ 29% ($28%)</a:t>
                      </a:r>
                    </a:p>
                  </a:txBody>
                  <a:tcPr marT="9144" marB="9144"/>
                </a:tc>
                <a:tc>
                  <a:txBody>
                    <a:bodyPr/>
                    <a:lstStyle/>
                    <a:p>
                      <a:r>
                        <a:rPr sz="900" b="0"/>
                        <a:t>0.287 @ 21% ($17%)</a:t>
                      </a:r>
                    </a:p>
                  </a:txBody>
                  <a:tcPr marT="9144" marB="9144"/>
                </a:tc>
                <a:tc>
                  <a:txBody>
                    <a:bodyPr/>
                    <a:lstStyle/>
                    <a:p>
                      <a:r>
                        <a:rPr sz="900" b="0"/>
                        <a:t>0.268 @ 18% ($17%)</a:t>
                      </a:r>
                    </a:p>
                  </a:txBody>
                  <a:tcPr marT="9144" marB="9144"/>
                </a:tc>
                <a:tc>
                  <a:txBody>
                    <a:bodyPr/>
                    <a:lstStyle/>
                    <a:p>
                      <a:r>
                        <a:rPr sz="900" b="0"/>
                        <a:t>0.356 @ 26% ($26%)</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0.371 @ 25% ($31%)</a:t>
                      </a:r>
                    </a:p>
                  </a:txBody>
                  <a:tcPr marT="9144" marB="9144"/>
                </a:tc>
                <a:tc>
                  <a:txBody>
                    <a:bodyPr/>
                    <a:lstStyle/>
                    <a:p>
                      <a:r>
                        <a:rPr sz="900" b="0"/>
                        <a:t>0.416 @ 28% ($29%)</a:t>
                      </a:r>
                    </a:p>
                  </a:txBody>
                  <a:tcPr marT="9144" marB="9144"/>
                </a:tc>
                <a:tc>
                  <a:txBody>
                    <a:bodyPr/>
                    <a:lstStyle/>
                    <a:p>
                      <a:r>
                        <a:rPr sz="900" b="0"/>
                        <a:t>0.306 @ 20% ($24%)</a:t>
                      </a:r>
                    </a:p>
                  </a:txBody>
                  <a:tcPr marT="9144" marB="9144"/>
                </a:tc>
                <a:tc>
                  <a:txBody>
                    <a:bodyPr/>
                    <a:lstStyle/>
                    <a:p>
                      <a:r>
                        <a:rPr sz="900" b="0"/>
                        <a:t>0.348 @ 24% ($29%)</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0.362 @ 30% ($27%)</a:t>
                      </a:r>
                    </a:p>
                  </a:txBody>
                  <a:tcPr marT="9144" marB="9144"/>
                </a:tc>
                <a:tc>
                  <a:txBody>
                    <a:bodyPr/>
                    <a:lstStyle/>
                    <a:p>
                      <a:r>
                        <a:rPr sz="900" b="0"/>
                        <a:t>0.263 @ 22% ($25%)</a:t>
                      </a:r>
                    </a:p>
                  </a:txBody>
                  <a:tcPr marT="9144" marB="9144"/>
                </a:tc>
                <a:tc>
                  <a:txBody>
                    <a:bodyPr/>
                    <a:lstStyle/>
                    <a:p>
                      <a:r>
                        <a:rPr sz="900" b="0"/>
                        <a:t>0.288 @ 22% ($24%)</a:t>
                      </a:r>
                    </a:p>
                  </a:txBody>
                  <a:tcPr marT="9144" marB="9144"/>
                </a:tc>
                <a:tc>
                  <a:txBody>
                    <a:bodyPr/>
                    <a:lstStyle/>
                    <a:p>
                      <a:r>
                        <a:rPr sz="900" b="0"/>
                        <a:t>0.367 @ 30% ($32%)</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0.329 @ 19% ($20%)</a:t>
                      </a:r>
                    </a:p>
                  </a:txBody>
                  <a:tcPr marT="9144" marB="9144"/>
                </a:tc>
                <a:tc>
                  <a:txBody>
                    <a:bodyPr/>
                    <a:lstStyle/>
                    <a:p>
                      <a:r>
                        <a:rPr sz="900" b="0"/>
                        <a:t>0.300 @ 18% ($22%)</a:t>
                      </a:r>
                    </a:p>
                  </a:txBody>
                  <a:tcPr marT="9144" marB="9144"/>
                </a:tc>
                <a:tc>
                  <a:txBody>
                    <a:bodyPr/>
                    <a:lstStyle/>
                    <a:p>
                      <a:r>
                        <a:rPr sz="900" b="0"/>
                        <a:t>0.243 @ 14% ($11%)</a:t>
                      </a:r>
                    </a:p>
                  </a:txBody>
                  <a:tcPr marT="9144" marB="9144"/>
                </a:tc>
                <a:tc>
                  <a:txBody>
                    <a:bodyPr/>
                    <a:lstStyle/>
                    <a:p>
                      <a:r>
                        <a:rPr sz="900" b="0"/>
                        <a:t>0.286 @ 17% ($21%)</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0.308 @ 25% ($25%)</a:t>
                      </a:r>
                    </a:p>
                  </a:txBody>
                  <a:tcPr marT="9144" marB="9144"/>
                </a:tc>
                <a:tc>
                  <a:txBody>
                    <a:bodyPr/>
                    <a:lstStyle/>
                    <a:p>
                      <a:r>
                        <a:rPr sz="900" b="0"/>
                        <a:t>0.346 @ 28% ($25%)</a:t>
                      </a:r>
                    </a:p>
                  </a:txBody>
                  <a:tcPr marT="9144" marB="9144"/>
                </a:tc>
                <a:tc>
                  <a:txBody>
                    <a:bodyPr/>
                    <a:lstStyle/>
                    <a:p>
                      <a:r>
                        <a:rPr sz="900" b="0"/>
                        <a:t>0.468 @ 17% ($15%)</a:t>
                      </a:r>
                    </a:p>
                  </a:txBody>
                  <a:tcPr marT="9144" marB="9144"/>
                </a:tc>
                <a:tc>
                  <a:txBody>
                    <a:bodyPr/>
                    <a:lstStyle/>
                    <a:p>
                      <a:r>
                        <a:rPr sz="900" b="0"/>
                        <a:t>0.407 @ 28% ($27%)</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0.300 @ 21% ($21%)</a:t>
                      </a:r>
                    </a:p>
                  </a:txBody>
                  <a:tcPr marT="9144" marB="9144"/>
                </a:tc>
                <a:tc>
                  <a:txBody>
                    <a:bodyPr/>
                    <a:lstStyle/>
                    <a:p>
                      <a:r>
                        <a:rPr sz="900" b="0"/>
                        <a:t>0.271 @ 19% ($19%)</a:t>
                      </a:r>
                    </a:p>
                  </a:txBody>
                  <a:tcPr marT="9144" marB="9144"/>
                </a:tc>
                <a:tc>
                  <a:txBody>
                    <a:bodyPr/>
                    <a:lstStyle/>
                    <a:p>
                      <a:r>
                        <a:rPr sz="900" b="0"/>
                        <a:t>0.241 @ 7% ($8%)</a:t>
                      </a:r>
                    </a:p>
                  </a:txBody>
                  <a:tcPr marT="9144" marB="9144"/>
                </a:tc>
                <a:tc>
                  <a:txBody>
                    <a:bodyPr/>
                    <a:lstStyle/>
                    <a:p>
                      <a:r>
                        <a:rPr sz="900" b="0"/>
                        <a:t>0.171 @ 12% ($19%)</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0.284 @ 33% ($35%)</a:t>
                      </a:r>
                    </a:p>
                  </a:txBody>
                  <a:tcPr marT="9144" marB="9144"/>
                </a:tc>
                <a:tc>
                  <a:txBody>
                    <a:bodyPr/>
                    <a:lstStyle/>
                    <a:p>
                      <a:r>
                        <a:rPr sz="900" b="0"/>
                        <a:t>0.148 @ 17% ($13%)</a:t>
                      </a:r>
                    </a:p>
                  </a:txBody>
                  <a:tcPr marT="9144" marB="9144"/>
                </a:tc>
                <a:tc>
                  <a:txBody>
                    <a:bodyPr/>
                    <a:lstStyle/>
                    <a:p>
                      <a:r>
                        <a:rPr sz="900" b="0"/>
                        <a:t>0.118 @ 3% ($5%)</a:t>
                      </a:r>
                    </a:p>
                  </a:txBody>
                  <a:tcPr marT="9144" marB="9144"/>
                </a:tc>
                <a:tc>
                  <a:txBody>
                    <a:bodyPr/>
                    <a:lstStyle/>
                    <a:p>
                      <a:r>
                        <a:rPr sz="900" b="0"/>
                        <a:t>0.198 @ 23% ($27%)</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0.279 @ 21% ($22%)</a:t>
                      </a:r>
                    </a:p>
                  </a:txBody>
                  <a:tcPr marT="9144" marB="9144"/>
                </a:tc>
                <a:tc>
                  <a:txBody>
                    <a:bodyPr/>
                    <a:lstStyle/>
                    <a:p>
                      <a:r>
                        <a:rPr sz="900" b="0"/>
                        <a:t>0.233 @ 18% ($28%)</a:t>
                      </a:r>
                    </a:p>
                  </a:txBody>
                  <a:tcPr marT="9144" marB="9144"/>
                </a:tc>
                <a:tc>
                  <a:txBody>
                    <a:bodyPr/>
                    <a:lstStyle/>
                    <a:p>
                      <a:r>
                        <a:rPr sz="900" b="0"/>
                        <a:t>0.200 @ 14% ($15%)</a:t>
                      </a:r>
                    </a:p>
                  </a:txBody>
                  <a:tcPr marT="9144" marB="9144"/>
                </a:tc>
                <a:tc>
                  <a:txBody>
                    <a:bodyPr/>
                    <a:lstStyle/>
                    <a:p>
                      <a:r>
                        <a:rPr sz="900" b="0"/>
                        <a:t>0.221 @ 17% ($18%)</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0.272 @ 22% ($32%)</a:t>
                      </a:r>
                    </a:p>
                  </a:txBody>
                  <a:tcPr marT="9144" marB="9144"/>
                </a:tc>
                <a:tc>
                  <a:txBody>
                    <a:bodyPr/>
                    <a:lstStyle/>
                    <a:p>
                      <a:r>
                        <a:rPr sz="900" b="0"/>
                        <a:t>0.239 @ 19% ($28%)</a:t>
                      </a:r>
                    </a:p>
                  </a:txBody>
                  <a:tcPr marT="9144" marB="9144"/>
                </a:tc>
                <a:tc>
                  <a:txBody>
                    <a:bodyPr/>
                    <a:lstStyle/>
                    <a:p>
                      <a:r>
                        <a:rPr sz="900" b="0"/>
                        <a:t>0.274 @ 20% ($29%)</a:t>
                      </a:r>
                    </a:p>
                  </a:txBody>
                  <a:tcPr marT="9144" marB="9144"/>
                </a:tc>
                <a:tc>
                  <a:txBody>
                    <a:bodyPr/>
                    <a:lstStyle/>
                    <a:p>
                      <a:r>
                        <a:rPr sz="900" b="0"/>
                        <a:t>0.272 @ 22% ($31%)</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0.267 @ 24% ($29%)</a:t>
                      </a:r>
                    </a:p>
                  </a:txBody>
                  <a:tcPr marT="9144" marB="9144"/>
                </a:tc>
                <a:tc>
                  <a:txBody>
                    <a:bodyPr/>
                    <a:lstStyle/>
                    <a:p>
                      <a:r>
                        <a:rPr sz="900" b="0"/>
                        <a:t>0.302 @ 27% ($33%)</a:t>
                      </a:r>
                    </a:p>
                  </a:txBody>
                  <a:tcPr marT="9144" marB="9144"/>
                </a:tc>
                <a:tc>
                  <a:txBody>
                    <a:bodyPr/>
                    <a:lstStyle/>
                    <a:p>
                      <a:r>
                        <a:rPr sz="900" b="0"/>
                        <a:t>0.209 @ 19% ($24%)</a:t>
                      </a:r>
                    </a:p>
                  </a:txBody>
                  <a:tcPr marT="9144" marB="9144"/>
                </a:tc>
                <a:tc>
                  <a:txBody>
                    <a:bodyPr/>
                    <a:lstStyle/>
                    <a:p>
                      <a:r>
                        <a:rPr sz="900" b="0"/>
                        <a:t>0.279 @ 25% ($34%)</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0.267 @ 29% ($29%)</a:t>
                      </a:r>
                    </a:p>
                  </a:txBody>
                  <a:tcPr marT="9144" marB="9144"/>
                </a:tc>
                <a:tc>
                  <a:txBody>
                    <a:bodyPr/>
                    <a:lstStyle/>
                    <a:p>
                      <a:r>
                        <a:rPr sz="900" b="0"/>
                        <a:t>0.187 @ 21% ($27%)</a:t>
                      </a:r>
                    </a:p>
                  </a:txBody>
                  <a:tcPr marT="9144" marB="9144"/>
                </a:tc>
                <a:tc>
                  <a:txBody>
                    <a:bodyPr/>
                    <a:lstStyle/>
                    <a:p>
                      <a:r>
                        <a:rPr sz="900" b="0"/>
                        <a:t>0.200 @ 4% ($6%)</a:t>
                      </a:r>
                    </a:p>
                  </a:txBody>
                  <a:tcPr marT="9144" marB="9144"/>
                </a:tc>
                <a:tc>
                  <a:txBody>
                    <a:bodyPr/>
                    <a:lstStyle/>
                    <a:p>
                      <a:r>
                        <a:rPr sz="900" b="0"/>
                        <a:t>0.211 @ 22% ($26%)</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19% ($17%)</a:t>
                      </a:r>
                    </a:p>
                  </a:txBody>
                  <a:tcPr marT="9144" marB="9144"/>
                </a:tc>
                <a:tc>
                  <a:txBody>
                    <a:bodyPr/>
                    <a:lstStyle/>
                    <a:p>
                      <a:r>
                        <a:rPr sz="900" b="0"/>
                        <a:t>0.289 @ 23% ($18%)</a:t>
                      </a:r>
                    </a:p>
                  </a:txBody>
                  <a:tcPr marT="9144" marB="9144"/>
                </a:tc>
                <a:tc>
                  <a:txBody>
                    <a:bodyPr/>
                    <a:lstStyle/>
                    <a:p>
                      <a:r>
                        <a:rPr sz="900" b="0"/>
                        <a:t>0.000 @ 0% ($0%)</a:t>
                      </a:r>
                    </a:p>
                  </a:txBody>
                  <a:tcPr marT="9144" marB="9144"/>
                </a:tc>
                <a:tc>
                  <a:txBody>
                    <a:bodyPr/>
                    <a:lstStyle/>
                    <a:p>
                      <a:r>
                        <a:rPr sz="900" b="0"/>
                        <a:t>0.284 @ 18% ($21%)</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0.235 @ 18% ($28%)</a:t>
                      </a:r>
                    </a:p>
                  </a:txBody>
                  <a:tcPr marT="9144" marB="9144"/>
                </a:tc>
                <a:tc>
                  <a:txBody>
                    <a:bodyPr/>
                    <a:lstStyle/>
                    <a:p>
                      <a:r>
                        <a:rPr sz="900" b="0"/>
                        <a:t>0.259 @ 20% ($29%)</a:t>
                      </a:r>
                    </a:p>
                  </a:txBody>
                  <a:tcPr marT="9144" marB="9144"/>
                </a:tc>
                <a:tc>
                  <a:txBody>
                    <a:bodyPr/>
                    <a:lstStyle/>
                    <a:p>
                      <a:r>
                        <a:rPr sz="900" b="0"/>
                        <a:t>0.210 @ 15% ($14%)</a:t>
                      </a:r>
                    </a:p>
                  </a:txBody>
                  <a:tcPr marT="9144" marB="9144"/>
                </a:tc>
                <a:tc>
                  <a:txBody>
                    <a:bodyPr/>
                    <a:lstStyle/>
                    <a:p>
                      <a:r>
                        <a:rPr sz="900" b="0"/>
                        <a:t>0.210 @ 16% ($27%)</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0.224 @ 15% ($14%)</a:t>
                      </a:r>
                    </a:p>
                  </a:txBody>
                  <a:tcPr marT="9144" marB="9144"/>
                </a:tc>
                <a:tc>
                  <a:txBody>
                    <a:bodyPr/>
                    <a:lstStyle/>
                    <a:p>
                      <a:r>
                        <a:rPr sz="900" b="0"/>
                        <a:t>0.235 @ 16% ($18%)</a:t>
                      </a:r>
                    </a:p>
                  </a:txBody>
                  <a:tcPr marT="9144" marB="9144"/>
                </a:tc>
                <a:tc>
                  <a:txBody>
                    <a:bodyPr/>
                    <a:lstStyle/>
                    <a:p>
                      <a:r>
                        <a:rPr sz="900" b="0"/>
                        <a:t>0.232 @ 10% ($12%)</a:t>
                      </a:r>
                    </a:p>
                  </a:txBody>
                  <a:tcPr marT="9144" marB="9144"/>
                </a:tc>
                <a:tc>
                  <a:txBody>
                    <a:bodyPr/>
                    <a:lstStyle/>
                    <a:p>
                      <a:r>
                        <a:rPr sz="900" b="0"/>
                        <a:t>0.241 @ 16% ($15%)</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0.215 @ 22% ($21%)</a:t>
                      </a:r>
                    </a:p>
                  </a:txBody>
                  <a:tcPr marT="9144" marB="9144"/>
                </a:tc>
                <a:tc>
                  <a:txBody>
                    <a:bodyPr/>
                    <a:lstStyle/>
                    <a:p>
                      <a:r>
                        <a:rPr sz="900" b="0"/>
                        <a:t>0.215 @ 22% ($28%)</a:t>
                      </a:r>
                    </a:p>
                  </a:txBody>
                  <a:tcPr marT="9144" marB="9144"/>
                </a:tc>
                <a:tc>
                  <a:txBody>
                    <a:bodyPr/>
                    <a:lstStyle/>
                    <a:p>
                      <a:r>
                        <a:rPr sz="900" b="0"/>
                        <a:t>0.182 @ 15% ($19%)</a:t>
                      </a:r>
                    </a:p>
                  </a:txBody>
                  <a:tcPr marT="9144" marB="9144"/>
                </a:tc>
                <a:tc>
                  <a:txBody>
                    <a:bodyPr/>
                    <a:lstStyle/>
                    <a:p>
                      <a:r>
                        <a:rPr sz="900" b="0"/>
                        <a:t>0.192 @ 16% ($17%)</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0.207 @ 19% ($26%)</a:t>
                      </a:r>
                    </a:p>
                  </a:txBody>
                  <a:tcPr marT="9144" marB="9144"/>
                </a:tc>
                <a:tc>
                  <a:txBody>
                    <a:bodyPr/>
                    <a:lstStyle/>
                    <a:p>
                      <a:r>
                        <a:rPr sz="900" b="0"/>
                        <a:t>0.184 @ 17% ($13%)</a:t>
                      </a:r>
                    </a:p>
                  </a:txBody>
                  <a:tcPr marT="9144" marB="9144"/>
                </a:tc>
                <a:tc>
                  <a:txBody>
                    <a:bodyPr/>
                    <a:lstStyle/>
                    <a:p>
                      <a:r>
                        <a:rPr sz="900" b="0"/>
                        <a:t>0.357 @ 5% ($4%)</a:t>
                      </a:r>
                    </a:p>
                  </a:txBody>
                  <a:tcPr marT="9144" marB="9144"/>
                </a:tc>
                <a:tc>
                  <a:txBody>
                    <a:bodyPr/>
                    <a:lstStyle/>
                    <a:p>
                      <a:r>
                        <a:rPr sz="900" b="0"/>
                        <a:t>0.247 @ 22% ($25%)</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0.177 @ 19% ($20%)</a:t>
                      </a:r>
                    </a:p>
                  </a:txBody>
                  <a:tcPr marT="9144" marB="9144"/>
                </a:tc>
                <a:tc>
                  <a:txBody>
                    <a:bodyPr/>
                    <a:lstStyle/>
                    <a:p>
                      <a:r>
                        <a:rPr sz="900" b="0"/>
                        <a:t>0.177 @ 19% ($23%)</a:t>
                      </a:r>
                    </a:p>
                  </a:txBody>
                  <a:tcPr marT="9144" marB="9144"/>
                </a:tc>
                <a:tc>
                  <a:txBody>
                    <a:bodyPr/>
                    <a:lstStyle/>
                    <a:p>
                      <a:r>
                        <a:rPr sz="900" b="0"/>
                        <a:t>0.273 @ 10% ($18%)</a:t>
                      </a:r>
                    </a:p>
                  </a:txBody>
                  <a:tcPr marT="9144" marB="9144"/>
                </a:tc>
                <a:tc>
                  <a:txBody>
                    <a:bodyPr/>
                    <a:lstStyle/>
                    <a:p>
                      <a:r>
                        <a:rPr sz="900" b="0"/>
                        <a:t>0.233 @ 17% ($22%)</a:t>
                      </a:r>
                    </a:p>
                  </a:txBody>
                  <a:tcPr marT="9144" marB="9144"/>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deployed list is a few dozen rules, not thousands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budget fill scans the whole ~45k national pool in confidence order and admits any rule whose newly flagged cases still fit under the review cap - it does not stop at a rule count.</a:t>
            </a:r>
          </a:p>
          <a:p>
            <a:pPr>
              <a:spcAft>
                <a:spcPts val="400"/>
              </a:spcAft>
            </a:pPr>
            <a:r>
              <a:rPr sz="1200"/>
              <a:t>- A rule whose cases are all already flagged adds zero and always 'fits', so admitted-rule counts run 10-20k. The union is actually built by the rules adding at least one new case: 26-54 rules at these budgets. Deploying exactly those reproduces the identical flagged set.</a:t>
            </a:r>
          </a:p>
          <a:p>
            <a:pPr>
              <a:spcAft>
                <a:spcPts val="400"/>
              </a:spcAft>
            </a:pPr>
            <a:r>
              <a:rPr sz="1200"/>
              <a:t>- Which rules those are depends only on the ranked list (trained on 2022-23) and the state's incoming caseload - no error outcomes - so a state reproduces the short list the moment it applies the ranking to its own cases.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685800" y="3008376"/>
          <a:ext cx="7772400" cy="1792224"/>
        </p:xfrm>
        <a:graphic>
          <a:graphicData uri="http://schemas.openxmlformats.org/drawingml/2006/table">
            <a:tbl>
              <a:tblPr firstRow="1" bandRow="1">
                <a:tableStyleId>{5C22544A-7EE6-4342-B048-85BDC9FD1C3A}</a:tableStyleId>
              </a:tblPr>
              <a:tblGrid>
                <a:gridCol w="1554480"/>
                <a:gridCol w="1554480"/>
                <a:gridCol w="1554480"/>
                <a:gridCol w="1554480"/>
                <a:gridCol w="1554480"/>
              </a:tblGrid>
              <a:tr h="256032">
                <a:tc>
                  <a:txBody>
                    <a:bodyPr/>
                    <a:lstStyle/>
                    <a:p>
                      <a:r>
                        <a:rPr sz="1100" b="1"/>
                        <a:t>state</a:t>
                      </a:r>
                    </a:p>
                  </a:txBody>
                  <a:tcPr marT="9144" marB="9144"/>
                </a:tc>
                <a:tc>
                  <a:txBody>
                    <a:bodyPr/>
                    <a:lstStyle/>
                    <a:p>
                      <a:r>
                        <a:rPr sz="1100" b="1"/>
                        <a:t>budget</a:t>
                      </a:r>
                    </a:p>
                  </a:txBody>
                  <a:tcPr marT="9144" marB="9144"/>
                </a:tc>
                <a:tc>
                  <a:txBody>
                    <a:bodyPr/>
                    <a:lstStyle/>
                    <a:p>
                      <a:r>
                        <a:rPr sz="1100" b="1"/>
                        <a:t>review cap (cases)</a:t>
                      </a:r>
                    </a:p>
                  </a:txBody>
                  <a:tcPr marT="9144" marB="9144"/>
                </a:tc>
                <a:tc>
                  <a:txBody>
                    <a:bodyPr/>
                    <a:lstStyle/>
                    <a:p>
                      <a:r>
                        <a:rPr sz="1100" b="1"/>
                        <a:t>rules admitted by the scan</a:t>
                      </a:r>
                    </a:p>
                  </a:txBody>
                  <a:tcPr marT="9144" marB="9144"/>
                </a:tc>
                <a:tc>
                  <a:txBody>
                    <a:bodyPr/>
                    <a:lstStyle/>
                    <a:p>
                      <a:r>
                        <a:rPr sz="1100" b="1"/>
                        <a:t>rules that build the union</a:t>
                      </a:r>
                    </a:p>
                  </a:txBody>
                  <a:tcPr marT="9144" marB="9144"/>
                </a:tc>
              </a:tr>
              <a:tr h="256032">
                <a:tc>
                  <a:txBody>
                    <a:bodyPr/>
                    <a:lstStyle/>
                    <a:p>
                      <a:r>
                        <a:rPr sz="1100" b="0"/>
                        <a:t>District of Columbia</a:t>
                      </a:r>
                    </a:p>
                  </a:txBody>
                  <a:tcPr marT="9144" marB="9144"/>
                </a:tc>
                <a:tc>
                  <a:txBody>
                    <a:bodyPr/>
                    <a:lstStyle/>
                    <a:p>
                      <a:r>
                        <a:rPr sz="1100" b="0"/>
                        <a:t>5%</a:t>
                      </a:r>
                    </a:p>
                  </a:txBody>
                  <a:tcPr marT="9144" marB="9144"/>
                </a:tc>
                <a:tc>
                  <a:txBody>
                    <a:bodyPr/>
                    <a:lstStyle/>
                    <a:p>
                      <a:r>
                        <a:rPr sz="1100" b="0"/>
                        <a:t>48</a:t>
                      </a:r>
                    </a:p>
                  </a:txBody>
                  <a:tcPr marT="9144" marB="9144"/>
                </a:tc>
                <a:tc>
                  <a:txBody>
                    <a:bodyPr/>
                    <a:lstStyle/>
                    <a:p>
                      <a:r>
                        <a:rPr sz="1100" b="0"/>
                        <a:t>14416</a:t>
                      </a:r>
                    </a:p>
                  </a:txBody>
                  <a:tcPr marT="9144" marB="9144"/>
                </a:tc>
                <a:tc>
                  <a:txBody>
                    <a:bodyPr/>
                    <a:lstStyle/>
                    <a:p>
                      <a:r>
                        <a:rPr sz="1100" b="0"/>
                        <a:t>26</a:t>
                      </a:r>
                    </a:p>
                  </a:txBody>
                  <a:tcPr marT="9144" marB="9144"/>
                </a:tc>
              </a:tr>
              <a:tr h="256032">
                <a:tc>
                  <a:txBody>
                    <a:bodyPr/>
                    <a:lstStyle/>
                    <a:p>
                      <a:r>
                        <a:rPr sz="1100" b="0"/>
                        <a:t>District of Columbia</a:t>
                      </a:r>
                    </a:p>
                  </a:txBody>
                  <a:tcPr marT="9144" marB="9144"/>
                </a:tc>
                <a:tc>
                  <a:txBody>
                    <a:bodyPr/>
                    <a:lstStyle/>
                    <a:p>
                      <a:r>
                        <a:rPr sz="1100" b="0"/>
                        <a:t>10%</a:t>
                      </a:r>
                    </a:p>
                  </a:txBody>
                  <a:tcPr marT="9144" marB="9144"/>
                </a:tc>
                <a:tc>
                  <a:txBody>
                    <a:bodyPr/>
                    <a:lstStyle/>
                    <a:p>
                      <a:r>
                        <a:rPr sz="1100" b="0"/>
                        <a:t>97</a:t>
                      </a:r>
                    </a:p>
                  </a:txBody>
                  <a:tcPr marT="9144" marB="9144"/>
                </a:tc>
                <a:tc>
                  <a:txBody>
                    <a:bodyPr/>
                    <a:lstStyle/>
                    <a:p>
                      <a:r>
                        <a:rPr sz="1100" b="0"/>
                        <a:t>16912</a:t>
                      </a:r>
                    </a:p>
                  </a:txBody>
                  <a:tcPr marT="9144" marB="9144"/>
                </a:tc>
                <a:tc>
                  <a:txBody>
                    <a:bodyPr/>
                    <a:lstStyle/>
                    <a:p>
                      <a:r>
                        <a:rPr sz="1100" b="0"/>
                        <a:t>53</a:t>
                      </a:r>
                    </a:p>
                  </a:txBody>
                  <a:tcPr marT="9144" marB="9144"/>
                </a:tc>
              </a:tr>
              <a:tr h="256032">
                <a:tc>
                  <a:txBody>
                    <a:bodyPr/>
                    <a:lstStyle/>
                    <a:p>
                      <a:r>
                        <a:rPr sz="1100" b="0"/>
                        <a:t>Louisiana</a:t>
                      </a:r>
                    </a:p>
                  </a:txBody>
                  <a:tcPr marT="9144" marB="9144"/>
                </a:tc>
                <a:tc>
                  <a:txBody>
                    <a:bodyPr/>
                    <a:lstStyle/>
                    <a:p>
                      <a:r>
                        <a:rPr sz="1100" b="0"/>
                        <a:t>5%</a:t>
                      </a:r>
                    </a:p>
                  </a:txBody>
                  <a:tcPr marT="9144" marB="9144"/>
                </a:tc>
                <a:tc>
                  <a:txBody>
                    <a:bodyPr/>
                    <a:lstStyle/>
                    <a:p>
                      <a:r>
                        <a:rPr sz="1100" b="0"/>
                        <a:t>43</a:t>
                      </a:r>
                    </a:p>
                  </a:txBody>
                  <a:tcPr marT="9144" marB="9144"/>
                </a:tc>
                <a:tc>
                  <a:txBody>
                    <a:bodyPr/>
                    <a:lstStyle/>
                    <a:p>
                      <a:r>
                        <a:rPr sz="1100" b="0"/>
                        <a:t>12273</a:t>
                      </a:r>
                    </a:p>
                  </a:txBody>
                  <a:tcPr marT="9144" marB="9144"/>
                </a:tc>
                <a:tc>
                  <a:txBody>
                    <a:bodyPr/>
                    <a:lstStyle/>
                    <a:p>
                      <a:r>
                        <a:rPr sz="1100" b="0"/>
                        <a:t>27</a:t>
                      </a:r>
                    </a:p>
                  </a:txBody>
                  <a:tcPr marT="9144" marB="9144"/>
                </a:tc>
              </a:tr>
              <a:tr h="256032">
                <a:tc>
                  <a:txBody>
                    <a:bodyPr/>
                    <a:lstStyle/>
                    <a:p>
                      <a:r>
                        <a:rPr sz="1100" b="0"/>
                        <a:t>Louisiana</a:t>
                      </a:r>
                    </a:p>
                  </a:txBody>
                  <a:tcPr marT="9144" marB="9144"/>
                </a:tc>
                <a:tc>
                  <a:txBody>
                    <a:bodyPr/>
                    <a:lstStyle/>
                    <a:p>
                      <a:r>
                        <a:rPr sz="1100" b="0"/>
                        <a:t>10%</a:t>
                      </a:r>
                    </a:p>
                  </a:txBody>
                  <a:tcPr marT="9144" marB="9144"/>
                </a:tc>
                <a:tc>
                  <a:txBody>
                    <a:bodyPr/>
                    <a:lstStyle/>
                    <a:p>
                      <a:r>
                        <a:rPr sz="1100" b="0"/>
                        <a:t>87</a:t>
                      </a:r>
                    </a:p>
                  </a:txBody>
                  <a:tcPr marT="9144" marB="9144"/>
                </a:tc>
                <a:tc>
                  <a:txBody>
                    <a:bodyPr/>
                    <a:lstStyle/>
                    <a:p>
                      <a:r>
                        <a:rPr sz="1100" b="0"/>
                        <a:t>13831</a:t>
                      </a:r>
                    </a:p>
                  </a:txBody>
                  <a:tcPr marT="9144" marB="9144"/>
                </a:tc>
                <a:tc>
                  <a:txBody>
                    <a:bodyPr/>
                    <a:lstStyle/>
                    <a:p>
                      <a:r>
                        <a:rPr sz="1100" b="0"/>
                        <a:t>54</a:t>
                      </a:r>
                    </a:p>
                  </a:txBody>
                  <a:tcPr marT="9144" marB="9144"/>
                </a:tc>
              </a:tr>
              <a:tr h="256032">
                <a:tc>
                  <a:txBody>
                    <a:bodyPr/>
                    <a:lstStyle/>
                    <a:p>
                      <a:r>
                        <a:rPr sz="1100" b="0"/>
                        <a:t>California</a:t>
                      </a:r>
                    </a:p>
                  </a:txBody>
                  <a:tcPr marT="9144" marB="9144"/>
                </a:tc>
                <a:tc>
                  <a:txBody>
                    <a:bodyPr/>
                    <a:lstStyle/>
                    <a:p>
                      <a:r>
                        <a:rPr sz="1100" b="0"/>
                        <a:t>5%</a:t>
                      </a:r>
                    </a:p>
                  </a:txBody>
                  <a:tcPr marT="9144" marB="9144"/>
                </a:tc>
                <a:tc>
                  <a:txBody>
                    <a:bodyPr/>
                    <a:lstStyle/>
                    <a:p>
                      <a:r>
                        <a:rPr sz="1100" b="0"/>
                        <a:t>40</a:t>
                      </a:r>
                    </a:p>
                  </a:txBody>
                  <a:tcPr marT="9144" marB="9144"/>
                </a:tc>
                <a:tc>
                  <a:txBody>
                    <a:bodyPr/>
                    <a:lstStyle/>
                    <a:p>
                      <a:r>
                        <a:rPr sz="1100" b="0"/>
                        <a:t>9459</a:t>
                      </a:r>
                    </a:p>
                  </a:txBody>
                  <a:tcPr marT="9144" marB="9144"/>
                </a:tc>
                <a:tc>
                  <a:txBody>
                    <a:bodyPr/>
                    <a:lstStyle/>
                    <a:p>
                      <a:r>
                        <a:rPr sz="1100" b="0"/>
                        <a:t>26</a:t>
                      </a:r>
                    </a:p>
                  </a:txBody>
                  <a:tcPr marT="9144" marB="9144"/>
                </a:tc>
              </a:tr>
              <a:tr h="256032">
                <a:tc>
                  <a:txBody>
                    <a:bodyPr/>
                    <a:lstStyle/>
                    <a:p>
                      <a:r>
                        <a:rPr sz="1100" b="0"/>
                        <a:t>California</a:t>
                      </a:r>
                    </a:p>
                  </a:txBody>
                  <a:tcPr marT="9144" marB="9144"/>
                </a:tc>
                <a:tc>
                  <a:txBody>
                    <a:bodyPr/>
                    <a:lstStyle/>
                    <a:p>
                      <a:r>
                        <a:rPr sz="1100" b="0"/>
                        <a:t>10%</a:t>
                      </a:r>
                    </a:p>
                  </a:txBody>
                  <a:tcPr marT="9144" marB="9144"/>
                </a:tc>
                <a:tc>
                  <a:txBody>
                    <a:bodyPr/>
                    <a:lstStyle/>
                    <a:p>
                      <a:r>
                        <a:rPr sz="1100" b="0"/>
                        <a:t>81</a:t>
                      </a:r>
                    </a:p>
                  </a:txBody>
                  <a:tcPr marT="9144" marB="9144"/>
                </a:tc>
                <a:tc>
                  <a:txBody>
                    <a:bodyPr/>
                    <a:lstStyle/>
                    <a:p>
                      <a:r>
                        <a:rPr sz="1100" b="0"/>
                        <a:t>10593</a:t>
                      </a:r>
                    </a:p>
                  </a:txBody>
                  <a:tcPr marT="9144" marB="9144"/>
                </a:tc>
                <a:tc>
                  <a:txBody>
                    <a:bodyPr/>
                    <a:lstStyle/>
                    <a:p>
                      <a:r>
                        <a:rPr sz="1100" b="0"/>
                        <a:t>43</a:t>
                      </a:r>
                    </a:p>
                  </a:txBody>
                  <a:tcPr marT="9144" marB="9144"/>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Freeze each state's list in advance: it costs almost nothing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handable deliverable: budget-fill the ranked national list against the state's own 2022-23 caseload (no outcomes needed), freeze the 35-101 contributing rules, deploy unchanged on 2024.</a:t>
            </a:r>
          </a:p>
          <a:p>
            <a:pPr>
              <a:spcAft>
                <a:spcPts val="400"/>
              </a:spcAft>
            </a:pPr>
            <a:r>
              <a:rPr sz="1200"/>
              <a:t>- Freezing costs ~no precision (median 0.288 vs 0.275 for a list sized all at once against the full 2024 caseload); realized workload lands slightly under target (median -0.9pp, worst -4.4pp), so the cost is under-used capacity: ~3pp of error dollars, recoverable by extending deeper into the ranking when under budget.</a:t>
            </a:r>
          </a:p>
          <a:p>
            <a:pPr>
              <a:spcAft>
                <a:spcPts val="400"/>
              </a:spcAft>
            </a:pPr>
            <a:r>
              <a:rPr sz="1200"/>
              <a:t>- All 18 states clear their base rate. Validation recipe for a state: we freeze on public data through the latest year; the state validates on its own newer internal data before relying on it.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frozen_lists_panels_budget10.png"/>
          <p:cNvPicPr>
            <a:picLocks noChangeAspect="1"/>
          </p:cNvPicPr>
          <p:nvPr/>
        </p:nvPicPr>
        <p:blipFill>
          <a:blip r:embed="rId2"/>
          <a:stretch>
            <a:fillRect/>
          </a:stretch>
        </p:blipFill>
        <p:spPr>
          <a:xfrm>
            <a:off x="3656338" y="3008376"/>
            <a:ext cx="1831322" cy="1609343"/>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