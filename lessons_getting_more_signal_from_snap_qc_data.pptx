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a state is handed under the two-regime rule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One ranked list per state (core sized to the budget + buffer to 3x depth), from the national pool by default or the state's own mined pool where its own rules win on 2024. 'Typically run' = rules actually activated before 2024 capacity filled.</a:t>
            </a:r>
          </a:p>
          <a:p>
            <a:pPr>
              <a:spcAft>
                <a:spcPts val="400"/>
              </a:spcAft>
            </a:pPr>
            <a:r>
              <a:rPr sz="1200"/>
              <a:t>- Own rules are the FALLBACK regime, not a co-equal choice: the public files show only 43-81% of a state's error cases, so where they disagree with the national list, only the state's own internal validation can settle which is really better.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496312"/>
          <a:ext cx="8412480" cy="3648456"/>
        </p:xfrm>
        <a:graphic>
          <a:graphicData uri="http://schemas.openxmlformats.org/drawingml/2006/table">
            <a:tbl>
              <a:tblPr firstRow="1" bandRow="1">
                <a:tableStyleId>{5C22544A-7EE6-4342-B048-85BDC9FD1C3A}</a:tableStyleId>
              </a:tblPr>
              <a:tblGrid>
                <a:gridCol w="1201782"/>
                <a:gridCol w="1201782"/>
                <a:gridCol w="1201782"/>
                <a:gridCol w="1201782"/>
                <a:gridCol w="1201782"/>
                <a:gridCol w="1201782"/>
                <a:gridCol w="1201788"/>
              </a:tblGrid>
              <a:tr h="192024">
                <a:tc>
                  <a:txBody>
                    <a:bodyPr/>
                    <a:lstStyle/>
                    <a:p>
                      <a:r>
                        <a:rPr sz="900" b="1"/>
                        <a:t>state</a:t>
                      </a:r>
                    </a:p>
                  </a:txBody>
                  <a:tcPr marT="9144" marB="9144"/>
                </a:tc>
                <a:tc>
                  <a:txBody>
                    <a:bodyPr/>
                    <a:lstStyle/>
                    <a:p>
                      <a:r>
                        <a:rPr sz="900" b="1"/>
                        <a:t>regime (5%)</a:t>
                      </a:r>
                    </a:p>
                  </a:txBody>
                  <a:tcPr marT="9144" marB="9144"/>
                </a:tc>
                <a:tc>
                  <a:txBody>
                    <a:bodyPr/>
                    <a:lstStyle/>
                    <a:p>
                      <a:r>
                        <a:rPr sz="900" b="1"/>
                        <a:t>rules handed (5%)</a:t>
                      </a:r>
                    </a:p>
                  </a:txBody>
                  <a:tcPr marT="9144" marB="9144"/>
                </a:tc>
                <a:tc>
                  <a:txBody>
                    <a:bodyPr/>
                    <a:lstStyle/>
                    <a:p>
                      <a:r>
                        <a:rPr sz="900" b="1"/>
                        <a:t>typically run (5%)</a:t>
                      </a:r>
                    </a:p>
                  </a:txBody>
                  <a:tcPr marT="9144" marB="9144"/>
                </a:tc>
                <a:tc>
                  <a:txBody>
                    <a:bodyPr/>
                    <a:lstStyle/>
                    <a:p>
                      <a:r>
                        <a:rPr sz="900" b="1"/>
                        <a:t>regime (10%)</a:t>
                      </a:r>
                    </a:p>
                  </a:txBody>
                  <a:tcPr marT="9144" marB="9144"/>
                </a:tc>
                <a:tc>
                  <a:txBody>
                    <a:bodyPr/>
                    <a:lstStyle/>
                    <a:p>
                      <a:r>
                        <a:rPr sz="900" b="1"/>
                        <a:t>rules handed (10%)</a:t>
                      </a:r>
                    </a:p>
                  </a:txBody>
                  <a:tcPr marT="9144" marB="9144"/>
                </a:tc>
                <a:tc>
                  <a:txBody>
                    <a:bodyPr/>
                    <a:lstStyle/>
                    <a:p>
                      <a:r>
                        <a:rPr sz="900" b="1"/>
                        <a:t>typically run (10%)</a:t>
                      </a:r>
                    </a:p>
                  </a:txBody>
                  <a:tcPr marT="9144" marB="9144"/>
                </a:tc>
              </a:tr>
              <a:tr h="192024">
                <a:tc>
                  <a:txBody>
                    <a:bodyPr/>
                    <a:lstStyle/>
                    <a:p>
                      <a:r>
                        <a:rPr sz="900" b="0"/>
                        <a:t>Arizona</a:t>
                      </a:r>
                    </a:p>
                  </a:txBody>
                  <a:tcPr marT="9144" marB="9144"/>
                </a:tc>
                <a:tc>
                  <a:txBody>
                    <a:bodyPr/>
                    <a:lstStyle/>
                    <a:p>
                      <a:r>
                        <a:rPr sz="900" b="0"/>
                        <a:t>national</a:t>
                      </a:r>
                    </a:p>
                  </a:txBody>
                  <a:tcPr marT="9144" marB="9144"/>
                </a:tc>
                <a:tc>
                  <a:txBody>
                    <a:bodyPr/>
                    <a:lstStyle/>
                    <a:p>
                      <a:r>
                        <a:rPr sz="900" b="0"/>
                        <a:t>99</a:t>
                      </a:r>
                    </a:p>
                  </a:txBody>
                  <a:tcPr marT="9144" marB="9144"/>
                </a:tc>
                <a:tc>
                  <a:txBody>
                    <a:bodyPr/>
                    <a:lstStyle/>
                    <a:p>
                      <a:r>
                        <a:rPr sz="900" b="0"/>
                        <a:t>18</a:t>
                      </a:r>
                    </a:p>
                  </a:txBody>
                  <a:tcPr marT="9144" marB="9144"/>
                </a:tc>
                <a:tc>
                  <a:txBody>
                    <a:bodyPr/>
                    <a:lstStyle/>
                    <a:p>
                      <a:r>
                        <a:rPr sz="900" b="0"/>
                        <a:t>own rules</a:t>
                      </a:r>
                    </a:p>
                  </a:txBody>
                  <a:tcPr marT="9144" marB="9144"/>
                </a:tc>
                <a:tc>
                  <a:txBody>
                    <a:bodyPr/>
                    <a:lstStyle/>
                    <a:p>
                      <a:r>
                        <a:rPr sz="900" b="0"/>
                        <a:t>147</a:t>
                      </a:r>
                    </a:p>
                  </a:txBody>
                  <a:tcPr marT="9144" marB="9144"/>
                </a:tc>
                <a:tc>
                  <a:txBody>
                    <a:bodyPr/>
                    <a:lstStyle/>
                    <a:p>
                      <a:r>
                        <a:rPr sz="900" b="0"/>
                        <a:t>29</a:t>
                      </a:r>
                    </a:p>
                  </a:txBody>
                  <a:tcPr marT="9144" marB="9144"/>
                </a:tc>
              </a:tr>
              <a:tr h="192024">
                <a:tc>
                  <a:txBody>
                    <a:bodyPr/>
                    <a:lstStyle/>
                    <a:p>
                      <a:r>
                        <a:rPr sz="900" b="0"/>
                        <a:t>California</a:t>
                      </a:r>
                    </a:p>
                  </a:txBody>
                  <a:tcPr marT="9144" marB="9144"/>
                </a:tc>
                <a:tc>
                  <a:txBody>
                    <a:bodyPr/>
                    <a:lstStyle/>
                    <a:p>
                      <a:r>
                        <a:rPr sz="900" b="0"/>
                        <a:t>national</a:t>
                      </a:r>
                    </a:p>
                  </a:txBody>
                  <a:tcPr marT="9144" marB="9144"/>
                </a:tc>
                <a:tc>
                  <a:txBody>
                    <a:bodyPr/>
                    <a:lstStyle/>
                    <a:p>
                      <a:r>
                        <a:rPr sz="900" b="0"/>
                        <a:t>93</a:t>
                      </a:r>
                    </a:p>
                  </a:txBody>
                  <a:tcPr marT="9144" marB="9144"/>
                </a:tc>
                <a:tc>
                  <a:txBody>
                    <a:bodyPr/>
                    <a:lstStyle/>
                    <a:p>
                      <a:r>
                        <a:rPr sz="900" b="0"/>
                        <a:t>20</a:t>
                      </a:r>
                    </a:p>
                  </a:txBody>
                  <a:tcPr marT="9144" marB="9144"/>
                </a:tc>
                <a:tc>
                  <a:txBody>
                    <a:bodyPr/>
                    <a:lstStyle/>
                    <a:p>
                      <a:r>
                        <a:rPr sz="900" b="0"/>
                        <a:t>own rules</a:t>
                      </a:r>
                    </a:p>
                  </a:txBody>
                  <a:tcPr marT="9144" marB="9144"/>
                </a:tc>
                <a:tc>
                  <a:txBody>
                    <a:bodyPr/>
                    <a:lstStyle/>
                    <a:p>
                      <a:r>
                        <a:rPr sz="900" b="0"/>
                        <a:t>81</a:t>
                      </a:r>
                    </a:p>
                  </a:txBody>
                  <a:tcPr marT="9144" marB="9144"/>
                </a:tc>
                <a:tc>
                  <a:txBody>
                    <a:bodyPr/>
                    <a:lstStyle/>
                    <a:p>
                      <a:r>
                        <a:rPr sz="900" b="0"/>
                        <a:t>14</a:t>
                      </a:r>
                    </a:p>
                  </a:txBody>
                  <a:tcPr marT="9144" marB="9144"/>
                </a:tc>
              </a:tr>
              <a:tr h="192024">
                <a:tc>
                  <a:txBody>
                    <a:bodyPr/>
                    <a:lstStyle/>
                    <a:p>
                      <a:r>
                        <a:rPr sz="900" b="0"/>
                        <a:t>Colorado</a:t>
                      </a:r>
                    </a:p>
                  </a:txBody>
                  <a:tcPr marT="9144" marB="9144"/>
                </a:tc>
                <a:tc>
                  <a:txBody>
                    <a:bodyPr/>
                    <a:lstStyle/>
                    <a:p>
                      <a:r>
                        <a:rPr sz="900" b="0"/>
                        <a:t>national</a:t>
                      </a:r>
                    </a:p>
                  </a:txBody>
                  <a:tcPr marT="9144" marB="9144"/>
                </a:tc>
                <a:tc>
                  <a:txBody>
                    <a:bodyPr/>
                    <a:lstStyle/>
                    <a:p>
                      <a:r>
                        <a:rPr sz="900" b="0"/>
                        <a:t>136</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264</a:t>
                      </a:r>
                    </a:p>
                  </a:txBody>
                  <a:tcPr marT="9144" marB="9144"/>
                </a:tc>
                <a:tc>
                  <a:txBody>
                    <a:bodyPr/>
                    <a:lstStyle/>
                    <a:p>
                      <a:r>
                        <a:rPr sz="900" b="0"/>
                        <a:t>44</a:t>
                      </a:r>
                    </a:p>
                  </a:txBody>
                  <a:tcPr marT="9144" marB="9144"/>
                </a:tc>
              </a:tr>
              <a:tr h="192024">
                <a:tc>
                  <a:txBody>
                    <a:bodyPr/>
                    <a:lstStyle/>
                    <a:p>
                      <a:r>
                        <a:rPr sz="900" b="0"/>
                        <a:t>Connecticut</a:t>
                      </a:r>
                    </a:p>
                  </a:txBody>
                  <a:tcPr marT="9144" marB="9144"/>
                </a:tc>
                <a:tc>
                  <a:txBody>
                    <a:bodyPr/>
                    <a:lstStyle/>
                    <a:p>
                      <a:r>
                        <a:rPr sz="900" b="0"/>
                        <a:t>own rules</a:t>
                      </a:r>
                    </a:p>
                  </a:txBody>
                  <a:tcPr marT="9144" marB="9144"/>
                </a:tc>
                <a:tc>
                  <a:txBody>
                    <a:bodyPr/>
                    <a:lstStyle/>
                    <a:p>
                      <a:r>
                        <a:rPr sz="900" b="0"/>
                        <a:t>45</a:t>
                      </a:r>
                    </a:p>
                  </a:txBody>
                  <a:tcPr marT="9144" marB="9144"/>
                </a:tc>
                <a:tc>
                  <a:txBody>
                    <a:bodyPr/>
                    <a:lstStyle/>
                    <a:p>
                      <a:r>
                        <a:rPr sz="900" b="0"/>
                        <a:t>8</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17</a:t>
                      </a:r>
                    </a:p>
                  </a:txBody>
                  <a:tcPr marT="9144" marB="9144"/>
                </a:tc>
              </a:tr>
              <a:tr h="192024">
                <a:tc>
                  <a:txBody>
                    <a:bodyPr/>
                    <a:lstStyle/>
                    <a:p>
                      <a:r>
                        <a:rPr sz="900" b="0"/>
                        <a:t>District of Columbia</a:t>
                      </a:r>
                    </a:p>
                  </a:txBody>
                  <a:tcPr marT="9144" marB="9144"/>
                </a:tc>
                <a:tc>
                  <a:txBody>
                    <a:bodyPr/>
                    <a:lstStyle/>
                    <a:p>
                      <a:r>
                        <a:rPr sz="900" b="0"/>
                        <a:t>own rules</a:t>
                      </a:r>
                    </a:p>
                  </a:txBody>
                  <a:tcPr marT="9144" marB="9144"/>
                </a:tc>
                <a:tc>
                  <a:txBody>
                    <a:bodyPr/>
                    <a:lstStyle/>
                    <a:p>
                      <a:r>
                        <a:rPr sz="900" b="0"/>
                        <a:t>31</a:t>
                      </a:r>
                    </a:p>
                  </a:txBody>
                  <a:tcPr marT="9144" marB="9144"/>
                </a:tc>
                <a:tc>
                  <a:txBody>
                    <a:bodyPr/>
                    <a:lstStyle/>
                    <a:p>
                      <a:r>
                        <a:rPr sz="900" b="0"/>
                        <a:t>5</a:t>
                      </a:r>
                    </a:p>
                  </a:txBody>
                  <a:tcPr marT="9144" marB="9144"/>
                </a:tc>
                <a:tc>
                  <a:txBody>
                    <a:bodyPr/>
                    <a:lstStyle/>
                    <a:p>
                      <a:r>
                        <a:rPr sz="900" b="0"/>
                        <a:t>own rules</a:t>
                      </a:r>
                    </a:p>
                  </a:txBody>
                  <a:tcPr marT="9144" marB="9144"/>
                </a:tc>
                <a:tc>
                  <a:txBody>
                    <a:bodyPr/>
                    <a:lstStyle/>
                    <a:p>
                      <a:r>
                        <a:rPr sz="900" b="0"/>
                        <a:t>66</a:t>
                      </a:r>
                    </a:p>
                  </a:txBody>
                  <a:tcPr marT="9144" marB="9144"/>
                </a:tc>
                <a:tc>
                  <a:txBody>
                    <a:bodyPr/>
                    <a:lstStyle/>
                    <a:p>
                      <a:r>
                        <a:rPr sz="900" b="0"/>
                        <a:t>19</a:t>
                      </a:r>
                    </a:p>
                  </a:txBody>
                  <a:tcPr marT="9144" marB="9144"/>
                </a:tc>
              </a:tr>
              <a:tr h="192024">
                <a:tc>
                  <a:txBody>
                    <a:bodyPr/>
                    <a:lstStyle/>
                    <a:p>
                      <a:r>
                        <a:rPr sz="900" b="0"/>
                        <a:t>Louisiana</a:t>
                      </a:r>
                    </a:p>
                  </a:txBody>
                  <a:tcPr marT="9144" marB="9144"/>
                </a:tc>
                <a:tc>
                  <a:txBody>
                    <a:bodyPr/>
                    <a:lstStyle/>
                    <a:p>
                      <a:r>
                        <a:rPr sz="900" b="0"/>
                        <a:t>national</a:t>
                      </a:r>
                    </a:p>
                  </a:txBody>
                  <a:tcPr marT="9144" marB="9144"/>
                </a:tc>
                <a:tc>
                  <a:txBody>
                    <a:bodyPr/>
                    <a:lstStyle/>
                    <a:p>
                      <a:r>
                        <a:rPr sz="900" b="0"/>
                        <a:t>112</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223</a:t>
                      </a:r>
                    </a:p>
                  </a:txBody>
                  <a:tcPr marT="9144" marB="9144"/>
                </a:tc>
                <a:tc>
                  <a:txBody>
                    <a:bodyPr/>
                    <a:lstStyle/>
                    <a:p>
                      <a:r>
                        <a:rPr sz="900" b="0"/>
                        <a:t>42</a:t>
                      </a:r>
                    </a:p>
                  </a:txBody>
                  <a:tcPr marT="9144" marB="9144"/>
                </a:tc>
              </a:tr>
              <a:tr h="192024">
                <a:tc>
                  <a:txBody>
                    <a:bodyPr/>
                    <a:lstStyle/>
                    <a:p>
                      <a:r>
                        <a:rPr sz="900" b="0"/>
                        <a:t>Maine</a:t>
                      </a:r>
                    </a:p>
                  </a:txBody>
                  <a:tcPr marT="9144" marB="9144"/>
                </a:tc>
                <a:tc>
                  <a:txBody>
                    <a:bodyPr/>
                    <a:lstStyle/>
                    <a:p>
                      <a:r>
                        <a:rPr sz="900" b="0"/>
                        <a:t>own rules</a:t>
                      </a:r>
                    </a:p>
                  </a:txBody>
                  <a:tcPr marT="9144" marB="9144"/>
                </a:tc>
                <a:tc>
                  <a:txBody>
                    <a:bodyPr/>
                    <a:lstStyle/>
                    <a:p>
                      <a:r>
                        <a:rPr sz="900" b="0"/>
                        <a:t>58</a:t>
                      </a:r>
                    </a:p>
                  </a:txBody>
                  <a:tcPr marT="9144" marB="9144"/>
                </a:tc>
                <a:tc>
                  <a:txBody>
                    <a:bodyPr/>
                    <a:lstStyle/>
                    <a:p>
                      <a:r>
                        <a:rPr sz="900" b="0"/>
                        <a:t>7</a:t>
                      </a:r>
                    </a:p>
                  </a:txBody>
                  <a:tcPr marT="9144" marB="9144"/>
                </a:tc>
                <a:tc>
                  <a:txBody>
                    <a:bodyPr/>
                    <a:lstStyle/>
                    <a:p>
                      <a:r>
                        <a:rPr sz="900" b="0"/>
                        <a:t>national</a:t>
                      </a:r>
                    </a:p>
                  </a:txBody>
                  <a:tcPr marT="9144" marB="9144"/>
                </a:tc>
                <a:tc>
                  <a:txBody>
                    <a:bodyPr/>
                    <a:lstStyle/>
                    <a:p>
                      <a:r>
                        <a:rPr sz="900" b="0"/>
                        <a:t>276</a:t>
                      </a:r>
                    </a:p>
                  </a:txBody>
                  <a:tcPr marT="9144" marB="9144"/>
                </a:tc>
                <a:tc>
                  <a:txBody>
                    <a:bodyPr/>
                    <a:lstStyle/>
                    <a:p>
                      <a:r>
                        <a:rPr sz="900" b="0"/>
                        <a:t>42</a:t>
                      </a:r>
                    </a:p>
                  </a:txBody>
                  <a:tcPr marT="9144" marB="9144"/>
                </a:tc>
              </a:tr>
              <a:tr h="192024">
                <a:tc>
                  <a:txBody>
                    <a:bodyPr/>
                    <a:lstStyle/>
                    <a:p>
                      <a:r>
                        <a:rPr sz="900" b="0"/>
                        <a:t>Maryland</a:t>
                      </a:r>
                    </a:p>
                  </a:txBody>
                  <a:tcPr marT="9144" marB="9144"/>
                </a:tc>
                <a:tc>
                  <a:txBody>
                    <a:bodyPr/>
                    <a:lstStyle/>
                    <a:p>
                      <a:r>
                        <a:rPr sz="900" b="0"/>
                        <a:t>own rules</a:t>
                      </a:r>
                    </a:p>
                  </a:txBody>
                  <a:tcPr marT="9144" marB="9144"/>
                </a:tc>
                <a:tc>
                  <a:txBody>
                    <a:bodyPr/>
                    <a:lstStyle/>
                    <a:p>
                      <a:r>
                        <a:rPr sz="900" b="0"/>
                        <a:t>13</a:t>
                      </a:r>
                    </a:p>
                  </a:txBody>
                  <a:tcPr marT="9144" marB="9144"/>
                </a:tc>
                <a:tc>
                  <a:txBody>
                    <a:bodyPr/>
                    <a:lstStyle/>
                    <a:p>
                      <a:r>
                        <a:rPr sz="900" b="0"/>
                        <a:t>4</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8</a:t>
                      </a:r>
                    </a:p>
                  </a:txBody>
                  <a:tcPr marT="9144" marB="9144"/>
                </a:tc>
              </a:tr>
              <a:tr h="192024">
                <a:tc>
                  <a:txBody>
                    <a:bodyPr/>
                    <a:lstStyle/>
                    <a:p>
                      <a:r>
                        <a:rPr sz="900" b="0"/>
                        <a:t>Massachusetts</a:t>
                      </a:r>
                    </a:p>
                  </a:txBody>
                  <a:tcPr marT="9144" marB="9144"/>
                </a:tc>
                <a:tc>
                  <a:txBody>
                    <a:bodyPr/>
                    <a:lstStyle/>
                    <a:p>
                      <a:r>
                        <a:rPr sz="900" b="0"/>
                        <a:t>national</a:t>
                      </a:r>
                    </a:p>
                  </a:txBody>
                  <a:tcPr marT="9144" marB="9144"/>
                </a:tc>
                <a:tc>
                  <a:txBody>
                    <a:bodyPr/>
                    <a:lstStyle/>
                    <a:p>
                      <a:r>
                        <a:rPr sz="900" b="0"/>
                        <a:t>137</a:t>
                      </a:r>
                    </a:p>
                  </a:txBody>
                  <a:tcPr marT="9144" marB="9144"/>
                </a:tc>
                <a:tc>
                  <a:txBody>
                    <a:bodyPr/>
                    <a:lstStyle/>
                    <a:p>
                      <a:r>
                        <a:rPr sz="900" b="0"/>
                        <a:t>20</a:t>
                      </a:r>
                    </a:p>
                  </a:txBody>
                  <a:tcPr marT="9144" marB="9144"/>
                </a:tc>
                <a:tc>
                  <a:txBody>
                    <a:bodyPr/>
                    <a:lstStyle/>
                    <a:p>
                      <a:r>
                        <a:rPr sz="900" b="0"/>
                        <a:t>national</a:t>
                      </a:r>
                    </a:p>
                  </a:txBody>
                  <a:tcPr marT="9144" marB="9144"/>
                </a:tc>
                <a:tc>
                  <a:txBody>
                    <a:bodyPr/>
                    <a:lstStyle/>
                    <a:p>
                      <a:r>
                        <a:rPr sz="900" b="0"/>
                        <a:t>262</a:t>
                      </a:r>
                    </a:p>
                  </a:txBody>
                  <a:tcPr marT="9144" marB="9144"/>
                </a:tc>
                <a:tc>
                  <a:txBody>
                    <a:bodyPr/>
                    <a:lstStyle/>
                    <a:p>
                      <a:r>
                        <a:rPr sz="900" b="0"/>
                        <a:t>38</a:t>
                      </a:r>
                    </a:p>
                  </a:txBody>
                  <a:tcPr marT="9144" marB="9144"/>
                </a:tc>
              </a:tr>
              <a:tr h="192024">
                <a:tc>
                  <a:txBody>
                    <a:bodyPr/>
                    <a:lstStyle/>
                    <a:p>
                      <a:r>
                        <a:rPr sz="900" b="0"/>
                        <a:t>Michigan</a:t>
                      </a:r>
                    </a:p>
                  </a:txBody>
                  <a:tcPr marT="9144" marB="9144"/>
                </a:tc>
                <a:tc>
                  <a:txBody>
                    <a:bodyPr/>
                    <a:lstStyle/>
                    <a:p>
                      <a:r>
                        <a:rPr sz="900" b="0"/>
                        <a:t>national</a:t>
                      </a:r>
                    </a:p>
                  </a:txBody>
                  <a:tcPr marT="9144" marB="9144"/>
                </a:tc>
                <a:tc>
                  <a:txBody>
                    <a:bodyPr/>
                    <a:lstStyle/>
                    <a:p>
                      <a:r>
                        <a:rPr sz="900" b="0"/>
                        <a:t>125</a:t>
                      </a:r>
                    </a:p>
                  </a:txBody>
                  <a:tcPr marT="9144" marB="9144"/>
                </a:tc>
                <a:tc>
                  <a:txBody>
                    <a:bodyPr/>
                    <a:lstStyle/>
                    <a:p>
                      <a:r>
                        <a:rPr sz="900" b="0"/>
                        <a:t>25</a:t>
                      </a:r>
                    </a:p>
                  </a:txBody>
                  <a:tcPr marT="9144" marB="9144"/>
                </a:tc>
                <a:tc>
                  <a:txBody>
                    <a:bodyPr/>
                    <a:lstStyle/>
                    <a:p>
                      <a:r>
                        <a:rPr sz="900" b="0"/>
                        <a:t>national</a:t>
                      </a:r>
                    </a:p>
                  </a:txBody>
                  <a:tcPr marT="9144" marB="9144"/>
                </a:tc>
                <a:tc>
                  <a:txBody>
                    <a:bodyPr/>
                    <a:lstStyle/>
                    <a:p>
                      <a:r>
                        <a:rPr sz="900" b="0"/>
                        <a:t>238</a:t>
                      </a:r>
                    </a:p>
                  </a:txBody>
                  <a:tcPr marT="9144" marB="9144"/>
                </a:tc>
                <a:tc>
                  <a:txBody>
                    <a:bodyPr/>
                    <a:lstStyle/>
                    <a:p>
                      <a:r>
                        <a:rPr sz="900" b="0"/>
                        <a:t>42</a:t>
                      </a:r>
                    </a:p>
                  </a:txBody>
                  <a:tcPr marT="9144" marB="9144"/>
                </a:tc>
              </a:tr>
              <a:tr h="192024">
                <a:tc>
                  <a:txBody>
                    <a:bodyPr/>
                    <a:lstStyle/>
                    <a:p>
                      <a:r>
                        <a:rPr sz="900" b="0"/>
                        <a:t>Mississippi</a:t>
                      </a:r>
                    </a:p>
                  </a:txBody>
                  <a:tcPr marT="9144" marB="9144"/>
                </a:tc>
                <a:tc>
                  <a:txBody>
                    <a:bodyPr/>
                    <a:lstStyle/>
                    <a:p>
                      <a:r>
                        <a:rPr sz="900" b="0"/>
                        <a:t>own rules</a:t>
                      </a:r>
                    </a:p>
                  </a:txBody>
                  <a:tcPr marT="9144" marB="9144"/>
                </a:tc>
                <a:tc>
                  <a:txBody>
                    <a:bodyPr/>
                    <a:lstStyle/>
                    <a:p>
                      <a:r>
                        <a:rPr sz="900" b="0"/>
                        <a:t>43</a:t>
                      </a:r>
                    </a:p>
                  </a:txBody>
                  <a:tcPr marT="9144" marB="9144"/>
                </a:tc>
                <a:tc>
                  <a:txBody>
                    <a:bodyPr/>
                    <a:lstStyle/>
                    <a:p>
                      <a:r>
                        <a:rPr sz="900" b="0"/>
                        <a:t>6</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20</a:t>
                      </a:r>
                    </a:p>
                  </a:txBody>
                  <a:tcPr marT="9144" marB="9144"/>
                </a:tc>
              </a:tr>
              <a:tr h="192024">
                <a:tc>
                  <a:txBody>
                    <a:bodyPr/>
                    <a:lstStyle/>
                    <a:p>
                      <a:r>
                        <a:rPr sz="900" b="0"/>
                        <a:t>Missouri</a:t>
                      </a:r>
                    </a:p>
                  </a:txBody>
                  <a:tcPr marT="9144" marB="9144"/>
                </a:tc>
                <a:tc>
                  <a:txBody>
                    <a:bodyPr/>
                    <a:lstStyle/>
                    <a:p>
                      <a:r>
                        <a:rPr sz="900" b="0"/>
                        <a:t>national</a:t>
                      </a:r>
                    </a:p>
                  </a:txBody>
                  <a:tcPr marT="9144" marB="9144"/>
                </a:tc>
                <a:tc>
                  <a:txBody>
                    <a:bodyPr/>
                    <a:lstStyle/>
                    <a:p>
                      <a:r>
                        <a:rPr sz="900" b="0"/>
                        <a:t>107</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203</a:t>
                      </a:r>
                    </a:p>
                  </a:txBody>
                  <a:tcPr marT="9144" marB="9144"/>
                </a:tc>
                <a:tc>
                  <a:txBody>
                    <a:bodyPr/>
                    <a:lstStyle/>
                    <a:p>
                      <a:r>
                        <a:rPr sz="900" b="0"/>
                        <a:t>44</a:t>
                      </a:r>
                    </a:p>
                  </a:txBody>
                  <a:tcPr marT="9144" marB="9144"/>
                </a:tc>
              </a:tr>
              <a:tr h="192024">
                <a:tc>
                  <a:txBody>
                    <a:bodyPr/>
                    <a:lstStyle/>
                    <a:p>
                      <a:r>
                        <a:rPr sz="900" b="0"/>
                        <a:t>New Jersey</a:t>
                      </a:r>
                    </a:p>
                  </a:txBody>
                  <a:tcPr marT="9144" marB="9144"/>
                </a:tc>
                <a:tc>
                  <a:txBody>
                    <a:bodyPr/>
                    <a:lstStyle/>
                    <a:p>
                      <a:r>
                        <a:rPr sz="900" b="0"/>
                        <a:t>own rules</a:t>
                      </a:r>
                    </a:p>
                  </a:txBody>
                  <a:tcPr marT="9144" marB="9144"/>
                </a:tc>
                <a:tc>
                  <a:txBody>
                    <a:bodyPr/>
                    <a:lstStyle/>
                    <a:p>
                      <a:r>
                        <a:rPr sz="900" b="0"/>
                        <a:t>20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4</a:t>
                      </a:r>
                    </a:p>
                  </a:txBody>
                  <a:tcPr marT="9144" marB="9144"/>
                </a:tc>
              </a:tr>
              <a:tr h="192024">
                <a:tc>
                  <a:txBody>
                    <a:bodyPr/>
                    <a:lstStyle/>
                    <a:p>
                      <a:r>
                        <a:rPr sz="900" b="0"/>
                        <a:t>North Carolina</a:t>
                      </a:r>
                    </a:p>
                  </a:txBody>
                  <a:tcPr marT="9144" marB="9144"/>
                </a:tc>
                <a:tc>
                  <a:txBody>
                    <a:bodyPr/>
                    <a:lstStyle/>
                    <a:p>
                      <a:r>
                        <a:rPr sz="900" b="0"/>
                        <a:t>national</a:t>
                      </a:r>
                    </a:p>
                  </a:txBody>
                  <a:tcPr marT="9144" marB="9144"/>
                </a:tc>
                <a:tc>
                  <a:txBody>
                    <a:bodyPr/>
                    <a:lstStyle/>
                    <a:p>
                      <a:r>
                        <a:rPr sz="900" b="0"/>
                        <a:t>148</a:t>
                      </a:r>
                    </a:p>
                  </a:txBody>
                  <a:tcPr marT="9144" marB="9144"/>
                </a:tc>
                <a:tc>
                  <a:txBody>
                    <a:bodyPr/>
                    <a:lstStyle/>
                    <a:p>
                      <a:r>
                        <a:rPr sz="900" b="0"/>
                        <a:t>27</a:t>
                      </a:r>
                    </a:p>
                  </a:txBody>
                  <a:tcPr marT="9144" marB="9144"/>
                </a:tc>
                <a:tc>
                  <a:txBody>
                    <a:bodyPr/>
                    <a:lstStyle/>
                    <a:p>
                      <a:r>
                        <a:rPr sz="900" b="0"/>
                        <a:t>own rules</a:t>
                      </a:r>
                    </a:p>
                  </a:txBody>
                  <a:tcPr marT="9144" marB="9144"/>
                </a:tc>
                <a:tc>
                  <a:txBody>
                    <a:bodyPr/>
                    <a:lstStyle/>
                    <a:p>
                      <a:r>
                        <a:rPr sz="900" b="0"/>
                        <a:t>70</a:t>
                      </a:r>
                    </a:p>
                  </a:txBody>
                  <a:tcPr marT="9144" marB="9144"/>
                </a:tc>
                <a:tc>
                  <a:txBody>
                    <a:bodyPr/>
                    <a:lstStyle/>
                    <a:p>
                      <a:r>
                        <a:rPr sz="900" b="0"/>
                        <a:t>12</a:t>
                      </a:r>
                    </a:p>
                  </a:txBody>
                  <a:tcPr marT="9144" marB="9144"/>
                </a:tc>
              </a:tr>
              <a:tr h="192024">
                <a:tc>
                  <a:txBody>
                    <a:bodyPr/>
                    <a:lstStyle/>
                    <a:p>
                      <a:r>
                        <a:rPr sz="900" b="0"/>
                        <a:t>Tennessee</a:t>
                      </a:r>
                    </a:p>
                  </a:txBody>
                  <a:tcPr marT="9144" marB="9144"/>
                </a:tc>
                <a:tc>
                  <a:txBody>
                    <a:bodyPr/>
                    <a:lstStyle/>
                    <a:p>
                      <a:r>
                        <a:rPr sz="900" b="0"/>
                        <a:t>national</a:t>
                      </a:r>
                    </a:p>
                  </a:txBody>
                  <a:tcPr marT="9144" marB="9144"/>
                </a:tc>
                <a:tc>
                  <a:txBody>
                    <a:bodyPr/>
                    <a:lstStyle/>
                    <a:p>
                      <a:r>
                        <a:rPr sz="900" b="0"/>
                        <a:t>143</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281</a:t>
                      </a:r>
                    </a:p>
                  </a:txBody>
                  <a:tcPr marT="9144" marB="9144"/>
                </a:tc>
                <a:tc>
                  <a:txBody>
                    <a:bodyPr/>
                    <a:lstStyle/>
                    <a:p>
                      <a:r>
                        <a:rPr sz="900" b="0"/>
                        <a:t>49</a:t>
                      </a:r>
                    </a:p>
                  </a:txBody>
                  <a:tcPr marT="9144" marB="9144"/>
                </a:tc>
              </a:tr>
              <a:tr h="192024">
                <a:tc>
                  <a:txBody>
                    <a:bodyPr/>
                    <a:lstStyle/>
                    <a:p>
                      <a:r>
                        <a:rPr sz="900" b="0"/>
                        <a:t>Texas</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102</a:t>
                      </a:r>
                    </a:p>
                  </a:txBody>
                  <a:tcPr marT="9144" marB="9144"/>
                </a:tc>
                <a:tc>
                  <a:txBody>
                    <a:bodyPr/>
                    <a:lstStyle/>
                    <a:p>
                      <a:r>
                        <a:rPr sz="900" b="0"/>
                        <a:t>10</a:t>
                      </a:r>
                    </a:p>
                  </a:txBody>
                  <a:tcPr marT="9144" marB="9144"/>
                </a:tc>
              </a:tr>
              <a:tr h="192024">
                <a:tc>
                  <a:txBody>
                    <a:bodyPr/>
                    <a:lstStyle/>
                    <a:p>
                      <a:r>
                        <a:rPr sz="900" b="0"/>
                        <a:t>Virginia</a:t>
                      </a:r>
                    </a:p>
                  </a:txBody>
                  <a:tcPr marT="9144" marB="9144"/>
                </a:tc>
                <a:tc>
                  <a:txBody>
                    <a:bodyPr/>
                    <a:lstStyle/>
                    <a:p>
                      <a:r>
                        <a:rPr sz="900" b="0"/>
                        <a:t>national</a:t>
                      </a:r>
                    </a:p>
                  </a:txBody>
                  <a:tcPr marT="9144" marB="9144"/>
                </a:tc>
                <a:tc>
                  <a:txBody>
                    <a:bodyPr/>
                    <a:lstStyle/>
                    <a:p>
                      <a:r>
                        <a:rPr sz="900" b="0"/>
                        <a:t>90</a:t>
                      </a:r>
                    </a:p>
                  </a:txBody>
                  <a:tcPr marT="9144" marB="9144"/>
                </a:tc>
                <a:tc>
                  <a:txBody>
                    <a:bodyPr/>
                    <a:lstStyle/>
                    <a:p>
                      <a:r>
                        <a:rPr sz="900" b="0"/>
                        <a:t>23</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8</a:t>
                      </a:r>
                    </a:p>
                  </a:txBody>
                  <a:tcPr marT="9144" marB="9144"/>
                </a:tc>
              </a:tr>
              <a:tr h="192024">
                <a:tc>
                  <a:txBody>
                    <a:bodyPr/>
                    <a:lstStyle/>
                    <a:p>
                      <a:r>
                        <a:rPr sz="900" b="0"/>
                        <a:t>Washington</a:t>
                      </a:r>
                    </a:p>
                  </a:txBody>
                  <a:tcPr marT="9144" marB="9144"/>
                </a:tc>
                <a:tc>
                  <a:txBody>
                    <a:bodyPr/>
                    <a:lstStyle/>
                    <a:p>
                      <a:r>
                        <a:rPr sz="900" b="0"/>
                        <a:t>national</a:t>
                      </a:r>
                    </a:p>
                  </a:txBody>
                  <a:tcPr marT="9144" marB="9144"/>
                </a:tc>
                <a:tc>
                  <a:txBody>
                    <a:bodyPr/>
                    <a:lstStyle/>
                    <a:p>
                      <a:r>
                        <a:rPr sz="900" b="0"/>
                        <a:t>127</a:t>
                      </a:r>
                    </a:p>
                  </a:txBody>
                  <a:tcPr marT="9144" marB="9144"/>
                </a:tc>
                <a:tc>
                  <a:txBody>
                    <a:bodyPr/>
                    <a:lstStyle/>
                    <a:p>
                      <a:r>
                        <a:rPr sz="900" b="0"/>
                        <a:t>22</a:t>
                      </a:r>
                    </a:p>
                  </a:txBody>
                  <a:tcPr marT="9144" marB="9144"/>
                </a:tc>
                <a:tc>
                  <a:txBody>
                    <a:bodyPr/>
                    <a:lstStyle/>
                    <a:p>
                      <a:r>
                        <a:rPr sz="900" b="0"/>
                        <a:t>national</a:t>
                      </a:r>
                    </a:p>
                  </a:txBody>
                  <a:tcPr marT="9144" marB="9144"/>
                </a:tc>
                <a:tc>
                  <a:txBody>
                    <a:bodyPr/>
                    <a:lstStyle/>
                    <a:p>
                      <a:r>
                        <a:rPr sz="900" b="0"/>
                        <a:t>249</a:t>
                      </a:r>
                    </a:p>
                  </a:txBody>
                  <a:tcPr marT="9144" marB="9144"/>
                </a:tc>
                <a:tc>
                  <a:txBody>
                    <a:bodyPr/>
                    <a:lstStyle/>
                    <a:p>
                      <a:r>
                        <a:rPr sz="900" b="0"/>
                        <a:t>49</a:t>
                      </a:r>
                    </a:p>
                  </a:txBody>
                  <a:tcPr marT="9144" marB="9144"/>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Blending state and national rules onto one confidence scale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Merge the state's own mined pool into the national pool and rank EVERY rule by its own 99% lower-bound precision - national rules bounded on national training data, state rules on the state's own. Both read 'at least this, with 99% confidence', and the bound applies the certainty discount automatically: a small-support state rule outranks national rules only when its precision overcomes the penalty.</a:t>
            </a:r>
          </a:p>
          <a:p>
            <a:pPr>
              <a:spcAft>
                <a:spcPts val="400"/>
              </a:spcAft>
            </a:pPr>
            <a:r>
              <a:rPr sz="1200"/>
              <a:t>- As a single recipe with no regime decision, the blend beats the national-only frozen list at a 5% budget (median 0.324 vs 0.294 precision, 15% vs 12% of error dollars) and ties it at 10%. Where state rules clear the bar, interleaving beats either pool alone: Arizona 0.326 (vs 0.291 best single), DC 0.495 (vs 0.464), Mississippi 0.374 (vs 0.355).</a:t>
            </a:r>
          </a:p>
          <a:p>
            <a:pPr>
              <a:spcAft>
                <a:spcPts val="400"/>
              </a:spcAft>
            </a:pPr>
            <a:r>
              <a:rPr sz="1200"/>
              <a:t>- The known blind spot: a national rule's bound describes its precision on the national mix and is silent about transfer, so in states where the national mix fits worst the scale over-trusts national rules - New Jersey's own rules never enter and the blend under-delivers there (0.161 vs 0.230 for its own list at 10%).</a:t>
            </a:r>
          </a:p>
          <a:p>
            <a:pPr>
              <a:spcAft>
                <a:spcPts val="400"/>
              </a:spcAft>
            </a:pPr>
            <a:r>
              <a:rPr sz="1200"/>
              <a:t>- Deployment: blend as the default; the own-pool list stays available as the fallback where a state's internal validation shows the blend under-performing. In low-visibility states (New Jersey: 43% of error cases visible) the public data cannot settle the question - the state's internal check decides.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4800600"/>
          <a:ext cx="5943600" cy="1170432"/>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option (single recipe)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national-only frozen list</a:t>
                      </a:r>
                    </a:p>
                  </a:txBody>
                  <a:tcPr marT="9144" marB="9144"/>
                </a:tc>
                <a:tc>
                  <a:txBody>
                    <a:bodyPr/>
                    <a:lstStyle/>
                    <a:p>
                      <a:r>
                        <a:rPr sz="1200" b="0"/>
                        <a:t>0.294 / 12%</a:t>
                      </a:r>
                    </a:p>
                  </a:txBody>
                  <a:tcPr marT="9144" marB="9144"/>
                </a:tc>
                <a:tc>
                  <a:txBody>
                    <a:bodyPr/>
                    <a:lstStyle/>
                    <a:p>
                      <a:r>
                        <a:rPr sz="1200" b="0"/>
                        <a:t>0.270 / 25%</a:t>
                      </a:r>
                    </a:p>
                  </a:txBody>
                  <a:tcPr marT="9144" marB="9144"/>
                </a:tc>
              </a:tr>
              <a:tr h="292608">
                <a:tc>
                  <a:txBody>
                    <a:bodyPr/>
                    <a:lstStyle/>
                    <a:p>
                      <a:r>
                        <a:rPr sz="1200" b="0"/>
                        <a:t>blended frozen list (99% bound)</a:t>
                      </a:r>
                    </a:p>
                  </a:txBody>
                  <a:tcPr marT="9144" marB="9144"/>
                </a:tc>
                <a:tc>
                  <a:txBody>
                    <a:bodyPr/>
                    <a:lstStyle/>
                    <a:p>
                      <a:r>
                        <a:rPr sz="1200" b="0"/>
                        <a:t>0.324 / 15%</a:t>
                      </a:r>
                    </a:p>
                  </a:txBody>
                  <a:tcPr marT="9144" marB="9144"/>
                </a:tc>
                <a:tc>
                  <a:txBody>
                    <a:bodyPr/>
                    <a:lstStyle/>
                    <a:p>
                      <a:r>
                        <a:rPr sz="1200" b="0"/>
                        <a:t>0.262 / 24%</a:t>
                      </a:r>
                    </a:p>
                  </a:txBody>
                  <a:tcPr marT="9144" marB="9144"/>
                </a:tc>
              </a:tr>
              <a:tr h="292608">
                <a:tc>
                  <a:txBody>
                    <a:bodyPr/>
                    <a:lstStyle/>
                    <a:p>
                      <a:r>
                        <a:rPr sz="1200" b="0"/>
                        <a:t>state's own pool only</a:t>
                      </a:r>
                    </a:p>
                  </a:txBody>
                  <a:tcPr marT="9144" marB="9144"/>
                </a:tc>
                <a:tc>
                  <a:txBody>
                    <a:bodyPr/>
                    <a:lstStyle/>
                    <a:p>
                      <a:r>
                        <a:rPr sz="1200" b="0"/>
                        <a:t>0.256 / 13%</a:t>
                      </a:r>
                    </a:p>
                  </a:txBody>
                  <a:tcPr marT="9144" marB="9144"/>
                </a:tc>
                <a:tc>
                  <a:txBody>
                    <a:bodyPr/>
                    <a:lstStyle/>
                    <a:p>
                      <a:r>
                        <a:rPr sz="1200" b="0"/>
                        <a:t>0.236 / 25%</a:t>
                      </a:r>
                    </a:p>
                  </a:txBody>
                  <a:tcPr marT="9144" marB="9144"/>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