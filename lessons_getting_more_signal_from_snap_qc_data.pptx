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4"/>
  </p:notesMasterIdLst>
  <p:sldIdLst>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5" roundtripDataSignature="AMtx7miQRICf23Bzy3Bs41KrA83+2K6/D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5048AC8-0E75-455B-AB4F-AEF2A2D202BD}">
  <a:tblStyle styleId="{B5048AC8-0E75-455B-AB4F-AEF2A2D202B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97" d="100"/>
          <a:sy n="197" d="100"/>
        </p:scale>
        <p:origin x="760"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customschemas.google.com/relationships/presentationmetadata" Target="metadata"/><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57400" y="685800"/>
            <a:ext cx="342915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514350" y="4343400"/>
            <a:ext cx="41148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
        <p:cNvGrpSpPr/>
        <p:nvPr/>
      </p:nvGrpSpPr>
      <p:grpSpPr>
        <a:xfrm>
          <a:off x="0" y="0"/>
          <a:ext cx="0" cy="0"/>
          <a:chOff x="0" y="0"/>
          <a:chExt cx="0" cy="0"/>
        </a:xfrm>
      </p:grpSpPr>
      <p:sp>
        <p:nvSpPr>
          <p:cNvPr id="8" name="Google Shape;8;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 name="Google Shape;9;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 name="Google Shape;10;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
        <p:cNvGrpSpPr/>
        <p:nvPr/>
      </p:nvGrpSpPr>
      <p:grpSpPr>
        <a:xfrm>
          <a:off x="0" y="0"/>
          <a:ext cx="0" cy="0"/>
          <a:chOff x="0" y="0"/>
          <a:chExt cx="0" cy="0"/>
        </a:xfrm>
      </p:grpSpPr>
      <p:sp>
        <p:nvSpPr>
          <p:cNvPr id="18" name="Google Shape;18;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 name="Google Shape;19;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0" name="Google Shape;20;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
        <p:cNvGrpSpPr/>
        <p:nvPr/>
      </p:nvGrpSpPr>
      <p:grpSpPr>
        <a:xfrm>
          <a:off x="0" y="0"/>
          <a:ext cx="0" cy="0"/>
          <a:chOff x="0" y="0"/>
          <a:chExt cx="0" cy="0"/>
        </a:xfrm>
      </p:grpSpPr>
      <p:sp>
        <p:nvSpPr>
          <p:cNvPr id="27" name="Google Shape;27;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 name="Google Shape;28;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9" name="Google Shape;29;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76250" y="685800"/>
            <a:ext cx="6096000" cy="3429000"/>
          </a:xfrm>
        </p:spPr>
      </p:sp>
      <p:sp>
        <p:nvSpPr>
          <p:cNvPr id="3" name="Notes Placeholder 2"/>
          <p:cNvSpPr>
            <a:spLocks noGrp="1"/>
          </p:cNvSpPr>
          <p:nvPr>
            <p:ph type="body" idx="1"/>
          </p:nvPr>
        </p:nvSpPr>
        <p:spPr/>
        <p:txBody>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 Also ~5x faster than the {pre} pipeline and runs on a 16 GB laptop (the old internal lasso needed 40+ GB at scale).</a:t>
            </a:r>
          </a:p>
          <a:p>
            <a:endParaRPr lang="en-US" dirty="0"/>
          </a:p>
        </p:txBody>
      </p:sp>
    </p:spTree>
    <p:extLst>
      <p:ext uri="{BB962C8B-B14F-4D97-AF65-F5344CB8AC3E}">
        <p14:creationId xmlns:p14="http://schemas.microsoft.com/office/powerpoint/2010/main" val="32287600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Google Shape;36;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 name="Google Shape;37;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8" name="Google Shape;38;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7</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 name="Google Shape;63;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4" name="Google Shape;64;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8</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 name="Google Shape;75;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6" name="Google Shape;76;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9</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3" name="Google Shape;83;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4" name="Google Shape;84;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10</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3eae636d67f_0_57:notes"/>
          <p:cNvSpPr>
            <a:spLocks noGrp="1" noRot="1" noChangeAspect="1"/>
          </p:cNvSpPr>
          <p:nvPr>
            <p:ph type="sldImg" idx="2"/>
          </p:nvPr>
        </p:nvSpPr>
        <p:spPr>
          <a:xfrm>
            <a:off x="-47625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eae636d67f_0_57:notes"/>
          <p:cNvSpPr txBox="1">
            <a:spLocks noGrp="1"/>
          </p:cNvSpPr>
          <p:nvPr>
            <p:ph type="body" idx="1"/>
          </p:nvPr>
        </p:nvSpPr>
        <p:spPr>
          <a:xfrm>
            <a:off x="514350" y="4343400"/>
            <a:ext cx="41148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github.com/giannella/snap_qc"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
        <p:cNvGrpSpPr/>
        <p:nvPr/>
      </p:nvGrpSpPr>
      <p:grpSpPr>
        <a:xfrm>
          <a:off x="0" y="0"/>
          <a:ext cx="0" cy="0"/>
          <a:chOff x="0" y="0"/>
          <a:chExt cx="0" cy="0"/>
        </a:xfrm>
      </p:grpSpPr>
      <p:sp>
        <p:nvSpPr>
          <p:cNvPr id="12" name="Google Shape;12;p1"/>
          <p:cNvSpPr/>
          <p:nvPr/>
        </p:nvSpPr>
        <p:spPr>
          <a:xfrm>
            <a:off x="457200" y="1371600"/>
            <a:ext cx="8229600" cy="10058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4000"/>
              <a:buFont typeface="Cambria"/>
              <a:buNone/>
            </a:pPr>
            <a:r>
              <a:rPr lang="en-US" sz="4000" b="1" i="0" u="none" strike="noStrike" cap="none" dirty="0">
                <a:solidFill>
                  <a:srgbClr val="000000"/>
                </a:solidFill>
                <a:latin typeface="Cambria"/>
                <a:ea typeface="Cambria"/>
                <a:cs typeface="Cambria"/>
                <a:sym typeface="Cambria"/>
              </a:rPr>
              <a:t>Finding Inclusion Rules </a:t>
            </a:r>
          </a:p>
        </p:txBody>
      </p:sp>
      <p:sp>
        <p:nvSpPr>
          <p:cNvPr id="13" name="Google Shape;13;p1"/>
          <p:cNvSpPr/>
          <p:nvPr/>
        </p:nvSpPr>
        <p:spPr>
          <a:xfrm>
            <a:off x="457200" y="2468870"/>
            <a:ext cx="8229600" cy="913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Flagging SNAP cases for review — INCL_ scripts</a:t>
            </a:r>
            <a:endParaRPr sz="1800" b="0" i="0" u="none" strike="noStrike" cap="none">
              <a:solidFill>
                <a:srgbClr val="000000"/>
              </a:solidFill>
              <a:latin typeface="Arial"/>
              <a:ea typeface="Arial"/>
              <a:cs typeface="Arial"/>
              <a:sym typeface="Arial"/>
            </a:endParaRPr>
          </a:p>
          <a:p>
            <a:pPr marL="0" marR="0" lvl="0" indent="0" algn="l" rtl="0">
              <a:spcBef>
                <a:spcPts val="0"/>
              </a:spcBef>
              <a:spcAft>
                <a:spcPts val="0"/>
              </a:spcAft>
              <a:buClr>
                <a:srgbClr val="000000"/>
              </a:buClr>
              <a:buSzPts val="1800"/>
              <a:buFont typeface="Arial"/>
              <a:buNone/>
            </a:pPr>
            <a:endParaRPr sz="1800"/>
          </a:p>
          <a:p>
            <a:pPr marL="0" marR="0" lvl="0" indent="0" algn="l" rtl="0">
              <a:spcBef>
                <a:spcPts val="0"/>
              </a:spcBef>
              <a:spcAft>
                <a:spcPts val="0"/>
              </a:spcAft>
              <a:buClr>
                <a:srgbClr val="000000"/>
              </a:buClr>
              <a:buSzPts val="1800"/>
              <a:buFont typeface="Arial"/>
              <a:buNone/>
            </a:pPr>
            <a:r>
              <a:rPr lang="en-US" sz="1800" u="sng">
                <a:solidFill>
                  <a:schemeClr val="hlink"/>
                </a:solidFill>
                <a:hlinkClick r:id="rId3"/>
              </a:rPr>
              <a:t>https://github.com/giannella/snap_qc</a:t>
            </a:r>
            <a:endParaRPr sz="1800"/>
          </a:p>
        </p:txBody>
      </p:sp>
      <p:sp>
        <p:nvSpPr>
          <p:cNvPr id="14" name="Google Shape;14;p1"/>
          <p:cNvSpPr/>
          <p:nvPr/>
        </p:nvSpPr>
        <p:spPr>
          <a:xfrm>
            <a:off x="457200" y="3473805"/>
            <a:ext cx="82296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300" b="0" i="1" u="none" strike="noStrike" cap="none">
                <a:solidFill>
                  <a:srgbClr val="5A5A5A"/>
                </a:solidFill>
                <a:latin typeface="Arial"/>
                <a:ea typeface="Arial"/>
                <a:cs typeface="Arial"/>
                <a:sym typeface="Arial"/>
              </a:rPr>
              <a:t>Version 2: rules found by machine learning, kept only when we can be confident in their accuracy, then tuned for each state</a:t>
            </a:r>
            <a:endParaRPr sz="1300" b="0" i="0" u="none" strike="noStrike" cap="none">
              <a:solidFill>
                <a:schemeClr val="dk1"/>
              </a:solidFill>
              <a:latin typeface="Calibri"/>
              <a:ea typeface="Calibri"/>
              <a:cs typeface="Calibri"/>
              <a:sym typeface="Calibri"/>
            </a:endParaRPr>
          </a:p>
        </p:txBody>
      </p:sp>
      <p:sp>
        <p:nvSpPr>
          <p:cNvPr id="15" name="Google Shape;15;p1"/>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Inclusion rules · INCL_ scripts</a:t>
            </a:r>
            <a:endParaRPr sz="900" b="0" i="0" u="none" strike="noStrike" cap="none">
              <a:solidFill>
                <a:schemeClr val="dk1"/>
              </a:solidFill>
              <a:latin typeface="Calibri"/>
              <a:ea typeface="Calibri"/>
              <a:cs typeface="Calibri"/>
              <a:sym typeface="Calibri"/>
            </a:endParaRPr>
          </a:p>
        </p:txBody>
      </p:sp>
      <p:sp>
        <p:nvSpPr>
          <p:cNvPr id="16" name="Google Shape;16;p1"/>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1</a:t>
            </a:r>
            <a:endParaRPr sz="9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
        <p:cNvGrpSpPr/>
        <p:nvPr/>
      </p:nvGrpSpPr>
      <p:grpSpPr>
        <a:xfrm>
          <a:off x="0" y="0"/>
          <a:ext cx="0" cy="0"/>
          <a:chOff x="0" y="0"/>
          <a:chExt cx="0" cy="0"/>
        </a:xfrm>
      </p:grpSpPr>
      <p:sp>
        <p:nvSpPr>
          <p:cNvPr id="22" name="Google Shape;22;p2"/>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solidFill>
                  <a:srgbClr val="000000"/>
                </a:solidFill>
                <a:latin typeface="Cambria"/>
                <a:ea typeface="Cambria"/>
                <a:cs typeface="Cambria"/>
                <a:sym typeface="Cambria"/>
              </a:rPr>
              <a:t>The problem</a:t>
            </a:r>
            <a:endParaRPr sz="2800">
              <a:solidFill>
                <a:schemeClr val="dk1"/>
              </a:solidFill>
              <a:latin typeface="Calibri"/>
              <a:ea typeface="Calibri"/>
              <a:cs typeface="Calibri"/>
              <a:sym typeface="Calibri"/>
            </a:endParaRPr>
          </a:p>
        </p:txBody>
      </p:sp>
      <p:sp>
        <p:nvSpPr>
          <p:cNvPr id="23" name="Google Shape;23;p2"/>
          <p:cNvSpPr/>
          <p:nvPr/>
        </p:nvSpPr>
        <p:spPr>
          <a:xfrm>
            <a:off x="457200" y="1234450"/>
            <a:ext cx="7835400" cy="3291900"/>
          </a:xfrm>
          <a:prstGeom prst="rect">
            <a:avLst/>
          </a:prstGeom>
          <a:noFill/>
          <a:ln>
            <a:noFill/>
          </a:ln>
        </p:spPr>
        <p:txBody>
          <a:bodyPr spcFirstLastPara="1" wrap="square" lIns="91425" tIns="45700" rIns="91425" bIns="45700" anchor="t" anchorCtr="0">
            <a:noAutofit/>
          </a:bodyPr>
          <a:lstStyle/>
          <a:p>
            <a:pPr marL="177800" marR="0" lvl="0" indent="-177800" algn="l" rtl="0">
              <a:spcBef>
                <a:spcPts val="0"/>
              </a:spcBef>
              <a:spcAft>
                <a:spcPts val="0"/>
              </a:spcAft>
              <a:buClr>
                <a:srgbClr val="000000"/>
              </a:buClr>
              <a:buSzPts val="1500"/>
              <a:buFont typeface="Arial"/>
              <a:buChar char="•"/>
            </a:pPr>
            <a:r>
              <a:rPr lang="en-US" sz="1500">
                <a:solidFill>
                  <a:srgbClr val="000000"/>
                </a:solidFill>
                <a:latin typeface="Arial"/>
                <a:ea typeface="Arial"/>
                <a:cs typeface="Arial"/>
                <a:sym typeface="Arial"/>
              </a:rPr>
              <a:t>Review capacity is limited; only a small fraction of cases can be examined.</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We want to flag the cases most likely to </a:t>
            </a:r>
            <a:r>
              <a:rPr lang="en-US" sz="1500"/>
              <a:t>have large, correctable payment </a:t>
            </a:r>
            <a:r>
              <a:rPr lang="en-US" sz="1500">
                <a:solidFill>
                  <a:srgbClr val="000000"/>
                </a:solidFill>
                <a:latin typeface="Arial"/>
                <a:ea typeface="Arial"/>
                <a:cs typeface="Arial"/>
                <a:sym typeface="Arial"/>
              </a:rPr>
              <a:t>errors.</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An “inclusion” rule marks a case </a:t>
            </a:r>
            <a:r>
              <a:rPr lang="en-US" sz="1500"/>
              <a:t>as more likely to have one of these errors</a:t>
            </a:r>
            <a:r>
              <a:rPr lang="en-US" sz="1500">
                <a:solidFill>
                  <a:srgbClr val="000000"/>
                </a:solidFill>
                <a:latin typeface="Arial"/>
                <a:ea typeface="Arial"/>
                <a:cs typeface="Arial"/>
                <a:sym typeface="Arial"/>
              </a:rPr>
              <a:t>.</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t>Designed to focus on </a:t>
            </a:r>
            <a:r>
              <a:rPr lang="en-US" sz="1500">
                <a:solidFill>
                  <a:srgbClr val="000000"/>
                </a:solidFill>
                <a:latin typeface="Arial"/>
                <a:ea typeface="Arial"/>
                <a:cs typeface="Arial"/>
                <a:sym typeface="Arial"/>
              </a:rPr>
              <a:t>high precision (maximize av</a:t>
            </a:r>
            <a:r>
              <a:rPr lang="en-US" sz="1500"/>
              <a:t>erage yield per reviewed case</a:t>
            </a:r>
            <a:r>
              <a:rPr lang="en-US" sz="1500">
                <a:solidFill>
                  <a:srgbClr val="000000"/>
                </a:solidFill>
                <a:latin typeface="Arial"/>
                <a:ea typeface="Arial"/>
                <a:cs typeface="Arial"/>
                <a:sym typeface="Arial"/>
              </a:rPr>
              <a:t>) while still </a:t>
            </a:r>
            <a:r>
              <a:rPr lang="en-US" sz="1500"/>
              <a:t>catching a predefined level of errors</a:t>
            </a:r>
            <a:r>
              <a:rPr lang="en-US" sz="1500">
                <a:solidFill>
                  <a:srgbClr val="000000"/>
                </a:solidFill>
                <a:latin typeface="Arial"/>
                <a:ea typeface="Arial"/>
                <a:cs typeface="Arial"/>
                <a:sym typeface="Arial"/>
              </a:rPr>
              <a:t> (recall).</a:t>
            </a:r>
            <a:endParaRPr sz="1500">
              <a:solidFill>
                <a:schemeClr val="dk1"/>
              </a:solidFill>
              <a:latin typeface="Calibri"/>
              <a:ea typeface="Calibri"/>
              <a:cs typeface="Calibri"/>
              <a:sym typeface="Calibri"/>
            </a:endParaRPr>
          </a:p>
        </p:txBody>
      </p:sp>
      <p:sp>
        <p:nvSpPr>
          <p:cNvPr id="24" name="Google Shape;24;p2"/>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25" name="Google Shape;25;p2"/>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2</a:t>
            </a:r>
            <a:endParaRPr sz="9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
        <p:cNvGrpSpPr/>
        <p:nvPr/>
      </p:nvGrpSpPr>
      <p:grpSpPr>
        <a:xfrm>
          <a:off x="0" y="0"/>
          <a:ext cx="0" cy="0"/>
          <a:chOff x="0" y="0"/>
          <a:chExt cx="0" cy="0"/>
        </a:xfrm>
      </p:grpSpPr>
      <p:sp>
        <p:nvSpPr>
          <p:cNvPr id="31" name="Google Shape;31;p3"/>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dirty="0">
                <a:solidFill>
                  <a:srgbClr val="000000"/>
                </a:solidFill>
                <a:latin typeface="Cambria"/>
                <a:ea typeface="Cambria"/>
                <a:cs typeface="Cambria"/>
                <a:sym typeface="Cambria"/>
              </a:rPr>
              <a:t>Key ideas</a:t>
            </a:r>
            <a:endParaRPr sz="2800" dirty="0">
              <a:solidFill>
                <a:schemeClr val="dk1"/>
              </a:solidFill>
              <a:latin typeface="Calibri"/>
              <a:ea typeface="Calibri"/>
              <a:cs typeface="Calibri"/>
              <a:sym typeface="Calibri"/>
            </a:endParaRPr>
          </a:p>
        </p:txBody>
      </p:sp>
      <p:sp>
        <p:nvSpPr>
          <p:cNvPr id="32" name="Google Shape;32;p3"/>
          <p:cNvSpPr/>
          <p:nvPr/>
        </p:nvSpPr>
        <p:spPr>
          <a:xfrm>
            <a:off x="457200" y="1234440"/>
            <a:ext cx="8229600" cy="338328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Precision </a:t>
            </a:r>
            <a:r>
              <a:rPr lang="en-US" sz="1450" dirty="0">
                <a:solidFill>
                  <a:srgbClr val="000000"/>
                </a:solidFill>
                <a:latin typeface="Arial"/>
                <a:ea typeface="Arial"/>
                <a:cs typeface="Arial"/>
                <a:sym typeface="Arial"/>
              </a:rPr>
              <a:t>— share of flagged cases that are true errors.</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Recall </a:t>
            </a:r>
            <a:r>
              <a:rPr lang="en-US" sz="1450" dirty="0">
                <a:solidFill>
                  <a:srgbClr val="000000"/>
                </a:solidFill>
                <a:latin typeface="Arial"/>
                <a:ea typeface="Arial"/>
                <a:cs typeface="Arial"/>
                <a:sym typeface="Arial"/>
              </a:rPr>
              <a:t>— share of all errors (or error dollars) that get flagged.</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Finding rules - </a:t>
            </a:r>
            <a:r>
              <a:rPr lang="en-US" sz="1450" dirty="0">
                <a:solidFill>
                  <a:srgbClr val="000000"/>
                </a:solidFill>
                <a:latin typeface="Arial"/>
                <a:ea typeface="Arial"/>
                <a:cs typeface="Arial"/>
                <a:sym typeface="Arial"/>
              </a:rPr>
              <a:t>two standard machine-learning methods (xgboost and ranger) grow thousands of decision trees on the data; every branch becomes a candidate if-then rule. The two methods find different rules, so we use both.</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Keeping rules </a:t>
            </a:r>
            <a:r>
              <a:rPr lang="en-US" sz="1450" dirty="0">
                <a:solidFill>
                  <a:srgbClr val="000000"/>
                </a:solidFill>
                <a:latin typeface="Arial"/>
                <a:ea typeface="Arial"/>
                <a:cs typeface="Arial"/>
                <a:sym typeface="Arial"/>
              </a:rPr>
              <a:t>- a rule tested on only a handful of cases can look great by luck. Before keeping a rule, we shrink its measured precision to what we can be statistically confident of, given how many cases it was tested on. Without this step, a rule list promising 20% precision delivered about 10% on new data.</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By household size </a:t>
            </a:r>
            <a:r>
              <a:rPr lang="en-US" sz="1450" dirty="0">
                <a:solidFill>
                  <a:srgbClr val="000000"/>
                </a:solidFill>
                <a:latin typeface="Arial"/>
                <a:ea typeface="Arial"/>
                <a:cs typeface="Arial"/>
                <a:sym typeface="Arial"/>
              </a:rPr>
              <a:t>- cases are split into sizes 1, 2-3, and 4+ and modeled separately, since benefits and error amounts scale with household size.</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Counting every error</a:t>
            </a:r>
            <a:r>
              <a:rPr lang="en-US" sz="1450" dirty="0">
                <a:solidFill>
                  <a:srgbClr val="000000"/>
                </a:solidFill>
                <a:latin typeface="Arial"/>
                <a:ea typeface="Arial"/>
                <a:cs typeface="Arial"/>
                <a:sym typeface="Arial"/>
              </a:rPr>
              <a:t> - when a flagged case turns out to have a different kind of error than the rule was built for, the review still succeeded. Counting only the original error type understates real-world accuracy by about half.</a:t>
            </a:r>
            <a:endParaRPr sz="1450" dirty="0">
              <a:solidFill>
                <a:schemeClr val="dk1"/>
              </a:solidFill>
              <a:latin typeface="Calibri"/>
              <a:ea typeface="Calibri"/>
              <a:cs typeface="Calibri"/>
              <a:sym typeface="Calibri"/>
            </a:endParaRPr>
          </a:p>
        </p:txBody>
      </p:sp>
      <p:sp>
        <p:nvSpPr>
          <p:cNvPr id="33" name="Google Shape;33;p3"/>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34" name="Google Shape;34;p3"/>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3</a:t>
            </a:r>
            <a:endParaRPr sz="9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7295587" cy="430887"/>
          </a:xfrm>
          <a:prstGeom prst="rect">
            <a:avLst/>
          </a:prstGeom>
          <a:noFill/>
        </p:spPr>
        <p:txBody>
          <a:bodyPr wrap="none">
            <a:spAutoFit/>
          </a:bodyPr>
          <a:lstStyle/>
          <a:p>
            <a:r>
              <a:rPr lang="en-US" sz="2200" b="1" dirty="0"/>
              <a:t>Finding rules: </a:t>
            </a:r>
            <a:r>
              <a:rPr sz="2200" b="1" dirty="0" err="1"/>
              <a:t>xgboost</a:t>
            </a:r>
            <a:r>
              <a:rPr sz="2200" b="1" dirty="0"/>
              <a:t> + </a:t>
            </a:r>
            <a:r>
              <a:rPr lang="en-US" sz="2200" b="1" dirty="0"/>
              <a:t>constrained random forests</a:t>
            </a:r>
          </a:p>
        </p:txBody>
      </p:sp>
      <p:sp>
        <p:nvSpPr>
          <p:cNvPr id="4" name="TextBox 3"/>
          <p:cNvSpPr txBox="1"/>
          <p:nvPr/>
        </p:nvSpPr>
        <p:spPr>
          <a:xfrm>
            <a:off x="400000" y="900000"/>
            <a:ext cx="3273434" cy="3046988"/>
          </a:xfrm>
          <a:prstGeom prst="rect">
            <a:avLst/>
          </a:prstGeom>
          <a:noFill/>
        </p:spPr>
        <p:txBody>
          <a:bodyPr wrap="square">
            <a:spAutoFit/>
          </a:bodyPr>
          <a:lstStyle/>
          <a:p>
            <a:pPr>
              <a:spcAft>
                <a:spcPts val="600"/>
              </a:spcAft>
            </a:pPr>
            <a:r>
              <a:rPr sz="1300" dirty="0"/>
              <a:t>- Head-to-head with everything else identical (same screens, </a:t>
            </a:r>
            <a:r>
              <a:rPr sz="1300" dirty="0" err="1"/>
              <a:t>dedup</a:t>
            </a:r>
            <a:r>
              <a:rPr sz="1300" dirty="0"/>
              <a:t>, filter): </a:t>
            </a:r>
            <a:r>
              <a:rPr sz="1300" dirty="0" err="1"/>
              <a:t>xgboost</a:t>
            </a:r>
            <a:r>
              <a:rPr sz="1300" dirty="0"/>
              <a:t> + ranger catches 55% of error dollars at the 0.20 filter floor vs 47% for bagged CART ({pre}'s rule generator), at slightly better precision at matched recall (+1.2pp).</a:t>
            </a:r>
          </a:p>
          <a:p>
            <a:pPr>
              <a:spcAft>
                <a:spcPts val="600"/>
              </a:spcAft>
            </a:pPr>
            <a:r>
              <a:rPr sz="1300" dirty="0"/>
              <a:t>- The </a:t>
            </a:r>
            <a:r>
              <a:rPr lang="en-US" sz="1300" dirty="0"/>
              <a:t>pair </a:t>
            </a:r>
            <a:r>
              <a:rPr sz="1300" dirty="0"/>
              <a:t>beats either engine alone - </a:t>
            </a:r>
            <a:r>
              <a:rPr lang="en-US" sz="1300" dirty="0"/>
              <a:t>they</a:t>
            </a:r>
            <a:r>
              <a:rPr sz="1300" dirty="0"/>
              <a:t> find complementary rules (engine pairs beat singles in every test).</a:t>
            </a:r>
            <a:endParaRPr lang="en-US" sz="1300" dirty="0"/>
          </a:p>
          <a:p>
            <a:pPr>
              <a:spcAft>
                <a:spcPts val="600"/>
              </a:spcAft>
            </a:pPr>
            <a:r>
              <a:rPr lang="en-US" sz="1300" dirty="0"/>
              <a:t>- Random forests can only choose between two variables in each split, forces coverage of key demographic variations such as elderly or disabled. </a:t>
            </a:r>
            <a:endParaRPr sz="1300" dirty="0"/>
          </a:p>
        </p:txBody>
      </p:sp>
      <p:pic>
        <p:nvPicPr>
          <p:cNvPr id="5" name="Picture 4" descr="combo_sweeps.png"/>
          <p:cNvPicPr>
            <a:picLocks noChangeAspect="1"/>
          </p:cNvPicPr>
          <p:nvPr/>
        </p:nvPicPr>
        <p:blipFill>
          <a:blip r:embed="rId3"/>
          <a:stretch>
            <a:fillRect/>
          </a:stretch>
        </p:blipFill>
        <p:spPr>
          <a:xfrm>
            <a:off x="3994343" y="1696755"/>
            <a:ext cx="4900000" cy="299444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Finding rules: M</a:t>
            </a:r>
            <a:r>
              <a:rPr lang="en-US" sz="2000" b="1" dirty="0">
                <a:solidFill>
                  <a:srgbClr val="000000"/>
                </a:solidFill>
                <a:latin typeface="Cambria"/>
                <a:ea typeface="Cambria"/>
                <a:cs typeface="Cambria"/>
                <a:sym typeface="Cambria"/>
              </a:rPr>
              <a:t>odeling by household size helps </a:t>
            </a: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7" name="Picture 6">
            <a:extLst>
              <a:ext uri="{FF2B5EF4-FFF2-40B4-BE49-F238E27FC236}">
                <a16:creationId xmlns:a16="http://schemas.microsoft.com/office/drawing/2014/main" id="{4F524269-74D9-2AC1-0B21-BA4281EE36E8}"/>
              </a:ext>
            </a:extLst>
          </p:cNvPr>
          <p:cNvPicPr>
            <a:picLocks noChangeAspect="1"/>
          </p:cNvPicPr>
          <p:nvPr/>
        </p:nvPicPr>
        <p:blipFill>
          <a:blip r:embed="rId2"/>
          <a:stretch>
            <a:fillRect/>
          </a:stretch>
        </p:blipFill>
        <p:spPr>
          <a:xfrm>
            <a:off x="1274729" y="897425"/>
            <a:ext cx="6145086" cy="3840678"/>
          </a:xfrm>
          <a:prstGeom prst="rect">
            <a:avLst/>
          </a:prstGeom>
        </p:spPr>
      </p:pic>
    </p:spTree>
    <p:extLst>
      <p:ext uri="{BB962C8B-B14F-4D97-AF65-F5344CB8AC3E}">
        <p14:creationId xmlns:p14="http://schemas.microsoft.com/office/powerpoint/2010/main" val="28789923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But less so after we introduce constrained random forests (</a:t>
            </a:r>
            <a:r>
              <a:rPr lang="en-US" sz="2000" b="1" dirty="0" err="1">
                <a:latin typeface="Cambria"/>
                <a:ea typeface="Cambria"/>
                <a:cs typeface="Cambria"/>
                <a:sym typeface="Cambria"/>
              </a:rPr>
              <a:t>mtry</a:t>
            </a:r>
            <a:r>
              <a:rPr lang="en-US" sz="2000" b="1" dirty="0">
                <a:latin typeface="Cambria"/>
                <a:ea typeface="Cambria"/>
                <a:cs typeface="Cambria"/>
                <a:sym typeface="Cambria"/>
              </a:rPr>
              <a:t>=2)</a:t>
            </a:r>
            <a:endParaRPr lang="en-US" sz="2000" b="1" dirty="0">
              <a:solidFill>
                <a:srgbClr val="000000"/>
              </a:solidFill>
              <a:latin typeface="Cambria"/>
              <a:ea typeface="Cambria"/>
              <a:cs typeface="Cambria"/>
              <a:sym typeface="Cambria"/>
            </a:endParaRP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6" name="Picture 5" descr="strata_sweeps.png"/>
          <p:cNvPicPr>
            <a:picLocks noChangeAspect="1"/>
          </p:cNvPicPr>
          <p:nvPr/>
        </p:nvPicPr>
        <p:blipFill>
          <a:blip r:embed="rId2"/>
          <a:stretch>
            <a:fillRect/>
          </a:stretch>
        </p:blipFill>
        <p:spPr>
          <a:xfrm>
            <a:off x="1317357" y="982787"/>
            <a:ext cx="6199328" cy="3788478"/>
          </a:xfrm>
          <a:prstGeom prst="rect">
            <a:avLst/>
          </a:prstGeom>
        </p:spPr>
      </p:pic>
    </p:spTree>
    <p:extLst>
      <p:ext uri="{BB962C8B-B14F-4D97-AF65-F5344CB8AC3E}">
        <p14:creationId xmlns:p14="http://schemas.microsoft.com/office/powerpoint/2010/main" val="33955495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
        <p:cNvGrpSpPr/>
        <p:nvPr/>
      </p:nvGrpSpPr>
      <p:grpSpPr>
        <a:xfrm>
          <a:off x="0" y="0"/>
          <a:ext cx="0" cy="0"/>
          <a:chOff x="0" y="0"/>
          <a:chExt cx="0" cy="0"/>
        </a:xfrm>
      </p:grpSpPr>
      <p:sp>
        <p:nvSpPr>
          <p:cNvPr id="40" name="Google Shape;40;p4"/>
          <p:cNvSpPr/>
          <p:nvPr/>
        </p:nvSpPr>
        <p:spPr>
          <a:xfrm>
            <a:off x="457200" y="310896"/>
            <a:ext cx="8229600" cy="640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latin typeface="Cambria"/>
                <a:ea typeface="Cambria"/>
                <a:cs typeface="Cambria"/>
                <a:sym typeface="Cambria"/>
              </a:rPr>
              <a:t>How to use the scripts</a:t>
            </a:r>
            <a:endParaRPr sz="2800">
              <a:solidFill>
                <a:schemeClr val="dk1"/>
              </a:solidFill>
              <a:latin typeface="Calibri"/>
              <a:ea typeface="Calibri"/>
              <a:cs typeface="Calibri"/>
              <a:sym typeface="Calibri"/>
            </a:endParaRPr>
          </a:p>
        </p:txBody>
      </p:sp>
      <p:sp>
        <p:nvSpPr>
          <p:cNvPr id="41" name="Google Shape;41;p4"/>
          <p:cNvSpPr/>
          <p:nvPr/>
        </p:nvSpPr>
        <p:spPr>
          <a:xfrm>
            <a:off x="309966" y="2286000"/>
            <a:ext cx="1500534"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2" name="Google Shape;42;p4"/>
          <p:cNvSpPr/>
          <p:nvPr/>
        </p:nvSpPr>
        <p:spPr>
          <a:xfrm>
            <a:off x="421316"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INPUT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Labelled cases (errors + clean)</a:t>
            </a:r>
            <a:endParaRPr sz="1000" b="1">
              <a:solidFill>
                <a:srgbClr val="5A5A5A"/>
              </a:solidFill>
              <a:latin typeface="Arial"/>
              <a:ea typeface="Arial"/>
              <a:cs typeface="Arial"/>
              <a:sym typeface="Arial"/>
            </a:endParaRPr>
          </a:p>
        </p:txBody>
      </p:sp>
      <p:cxnSp>
        <p:nvCxnSpPr>
          <p:cNvPr id="43" name="Google Shape;43;p4"/>
          <p:cNvCxnSpPr>
            <a:cxnSpLocks/>
            <a:stCxn id="41" idx="3"/>
            <a:endCxn id="44" idx="1"/>
          </p:cNvCxnSpPr>
          <p:nvPr/>
        </p:nvCxnSpPr>
        <p:spPr>
          <a:xfrm>
            <a:off x="1810500" y="3000450"/>
            <a:ext cx="218538" cy="0"/>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44" name="Google Shape;44;p4"/>
          <p:cNvSpPr/>
          <p:nvPr/>
        </p:nvSpPr>
        <p:spPr>
          <a:xfrm>
            <a:off x="2029038" y="2286000"/>
            <a:ext cx="1500534"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5" name="Google Shape;45;p4"/>
          <p:cNvSpPr/>
          <p:nvPr/>
        </p:nvSpPr>
        <p:spPr>
          <a:xfrm>
            <a:off x="2140388"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000" i="1" dirty="0">
                <a:solidFill>
                  <a:srgbClr val="5A5A5A"/>
                </a:solidFill>
                <a:latin typeface="Arial"/>
                <a:ea typeface="Arial"/>
                <a:cs typeface="Arial"/>
                <a:sym typeface="Arial"/>
              </a:rPr>
              <a:t>INCL_find_inclusion_rules_by_hh_size_v2.</a:t>
            </a:r>
          </a:p>
          <a:p>
            <a:pPr marL="0" lvl="0" indent="0" algn="ctr" rtl="0">
              <a:spcBef>
                <a:spcPts val="375"/>
              </a:spcBef>
              <a:spcAft>
                <a:spcPts val="0"/>
              </a:spcAft>
              <a:buNone/>
            </a:pPr>
            <a:r>
              <a:rPr lang="en-US" sz="1100" b="1" dirty="0">
                <a:solidFill>
                  <a:srgbClr val="000000"/>
                </a:solidFill>
                <a:latin typeface="Arial"/>
                <a:ea typeface="Arial"/>
                <a:cs typeface="Arial"/>
                <a:sym typeface="Arial"/>
              </a:rPr>
              <a:t>Find candidate rules; keep reliably accurate rules</a:t>
            </a:r>
            <a:endParaRPr sz="1000" b="1" dirty="0">
              <a:solidFill>
                <a:srgbClr val="5A5A5A"/>
              </a:solidFill>
              <a:latin typeface="Arial"/>
              <a:ea typeface="Arial"/>
              <a:cs typeface="Arial"/>
              <a:sym typeface="Arial"/>
            </a:endParaRPr>
          </a:p>
        </p:txBody>
      </p:sp>
      <p:cxnSp>
        <p:nvCxnSpPr>
          <p:cNvPr id="46" name="Google Shape;46;p4"/>
          <p:cNvCxnSpPr>
            <a:cxnSpLocks/>
            <a:stCxn id="44" idx="3"/>
            <a:endCxn id="47" idx="1"/>
          </p:cNvCxnSpPr>
          <p:nvPr/>
        </p:nvCxnSpPr>
        <p:spPr>
          <a:xfrm flipV="1">
            <a:off x="3529572" y="2143200"/>
            <a:ext cx="853556" cy="857250"/>
          </a:xfrm>
          <a:prstGeom prst="bentConnector3">
            <a:avLst>
              <a:gd name="adj1" fmla="val 50000"/>
            </a:avLst>
          </a:prstGeom>
          <a:solidFill>
            <a:srgbClr val="FFFFFF"/>
          </a:solidFill>
          <a:ln w="22225" cap="flat" cmpd="sng">
            <a:solidFill>
              <a:srgbClr val="000000"/>
            </a:solidFill>
            <a:prstDash val="solid"/>
            <a:round/>
            <a:headEnd type="none" w="sm" len="sm"/>
            <a:tailEnd type="triangle" w="med" len="med"/>
          </a:ln>
        </p:spPr>
      </p:cxnSp>
      <p:sp>
        <p:nvSpPr>
          <p:cNvPr id="47" name="Google Shape;47;p4"/>
          <p:cNvSpPr/>
          <p:nvPr/>
        </p:nvSpPr>
        <p:spPr>
          <a:xfrm>
            <a:off x="4383128" y="1428750"/>
            <a:ext cx="1546213" cy="1428900"/>
          </a:xfrm>
          <a:prstGeom prst="roundRect">
            <a:avLst>
              <a:gd name="adj" fmla="val 4053"/>
            </a:avLst>
          </a:prstGeom>
          <a:solidFill>
            <a:srgbClr val="EFEFE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8" name="Google Shape;48;p4"/>
          <p:cNvSpPr/>
          <p:nvPr/>
        </p:nvSpPr>
        <p:spPr>
          <a:xfrm>
            <a:off x="4474569" y="1524000"/>
            <a:ext cx="1337126" cy="1238400"/>
          </a:xfrm>
          <a:prstGeom prst="rect">
            <a:avLst/>
          </a:prstGeom>
          <a:solidFill>
            <a:srgbClr val="EFEFEF"/>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err="1">
                <a:solidFill>
                  <a:srgbClr val="5A5A5A"/>
                </a:solidFill>
                <a:latin typeface="Arial"/>
                <a:ea typeface="Arial"/>
                <a:cs typeface="Arial"/>
                <a:sym typeface="Arial"/>
              </a:rPr>
              <a:t>state_threshold_ gridsearch_v2</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Adjust rule cutoffs to your state's data</a:t>
            </a:r>
            <a:endParaRPr sz="1000" b="1" dirty="0">
              <a:solidFill>
                <a:srgbClr val="5A5A5A"/>
              </a:solidFill>
              <a:latin typeface="Arial"/>
              <a:ea typeface="Arial"/>
              <a:cs typeface="Arial"/>
              <a:sym typeface="Arial"/>
            </a:endParaRPr>
          </a:p>
        </p:txBody>
      </p:sp>
      <p:cxnSp>
        <p:nvCxnSpPr>
          <p:cNvPr id="49" name="Google Shape;49;p4"/>
          <p:cNvCxnSpPr>
            <a:cxnSpLocks/>
            <a:stCxn id="44" idx="3"/>
            <a:endCxn id="50" idx="1"/>
          </p:cNvCxnSpPr>
          <p:nvPr/>
        </p:nvCxnSpPr>
        <p:spPr>
          <a:xfrm>
            <a:off x="3529572" y="3000450"/>
            <a:ext cx="871831" cy="835538"/>
          </a:xfrm>
          <a:prstGeom prst="bentConnector3">
            <a:avLst>
              <a:gd name="adj1" fmla="val 48667"/>
            </a:avLst>
          </a:prstGeom>
          <a:solidFill>
            <a:srgbClr val="FFFFFF"/>
          </a:solidFill>
          <a:ln w="22225" cap="flat" cmpd="sng">
            <a:solidFill>
              <a:srgbClr val="000000"/>
            </a:solidFill>
            <a:prstDash val="solid"/>
            <a:round/>
            <a:headEnd type="none" w="sm" len="sm"/>
            <a:tailEnd type="triangle" w="med" len="med"/>
          </a:ln>
        </p:spPr>
      </p:cxnSp>
      <p:sp>
        <p:nvSpPr>
          <p:cNvPr id="50" name="Google Shape;50;p4"/>
          <p:cNvSpPr/>
          <p:nvPr/>
        </p:nvSpPr>
        <p:spPr>
          <a:xfrm>
            <a:off x="4401403" y="3121538"/>
            <a:ext cx="1546213"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1" name="Google Shape;51;p4"/>
          <p:cNvSpPr/>
          <p:nvPr/>
        </p:nvSpPr>
        <p:spPr>
          <a:xfrm>
            <a:off x="4474569"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Choose how many rules to use</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Pick the precision floor that matches your review capacity</a:t>
            </a:r>
            <a:endParaRPr sz="1000" b="1">
              <a:solidFill>
                <a:srgbClr val="5A5A5A"/>
              </a:solidFill>
              <a:latin typeface="Arial"/>
              <a:ea typeface="Arial"/>
              <a:cs typeface="Arial"/>
              <a:sym typeface="Arial"/>
            </a:endParaRPr>
          </a:p>
        </p:txBody>
      </p:sp>
      <p:cxnSp>
        <p:nvCxnSpPr>
          <p:cNvPr id="52" name="Google Shape;52;p4"/>
          <p:cNvCxnSpPr>
            <a:cxnSpLocks/>
            <a:stCxn id="50" idx="3"/>
            <a:endCxn id="53" idx="1"/>
          </p:cNvCxnSpPr>
          <p:nvPr/>
        </p:nvCxnSpPr>
        <p:spPr>
          <a:xfrm>
            <a:off x="5947616" y="3835988"/>
            <a:ext cx="383134"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3" name="Google Shape;53;p4"/>
          <p:cNvSpPr/>
          <p:nvPr/>
        </p:nvSpPr>
        <p:spPr>
          <a:xfrm>
            <a:off x="6330750" y="31215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4" name="Google Shape;54;p4"/>
          <p:cNvSpPr/>
          <p:nvPr/>
        </p:nvSpPr>
        <p:spPr>
          <a:xfrm>
            <a:off x="6422241"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OUTPUT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State rule set for testing on FY2025 and FY2026 data</a:t>
            </a:r>
            <a:endParaRPr sz="1100" b="1">
              <a:solidFill>
                <a:srgbClr val="000000"/>
              </a:solidFill>
              <a:latin typeface="Arial"/>
              <a:ea typeface="Arial"/>
              <a:cs typeface="Arial"/>
              <a:sym typeface="Arial"/>
            </a:endParaRPr>
          </a:p>
        </p:txBody>
      </p:sp>
      <p:sp>
        <p:nvSpPr>
          <p:cNvPr id="55" name="Google Shape;55;p4"/>
          <p:cNvSpPr/>
          <p:nvPr/>
        </p:nvSpPr>
        <p:spPr>
          <a:xfrm>
            <a:off x="421316" y="3862651"/>
            <a:ext cx="3913322" cy="1238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100" i="1" dirty="0">
                <a:solidFill>
                  <a:srgbClr val="5A5A5A"/>
                </a:solidFill>
                <a:latin typeface="Arial"/>
                <a:ea typeface="Arial"/>
                <a:cs typeface="Arial"/>
                <a:sym typeface="Arial"/>
              </a:rPr>
              <a:t>States with smaller samples and where national </a:t>
            </a:r>
            <a:r>
              <a:rPr lang="en-US" sz="1100" i="1" dirty="0">
                <a:solidFill>
                  <a:srgbClr val="5A5A5A"/>
                </a:solidFill>
              </a:rPr>
              <a:t>rules don’t perform well </a:t>
            </a:r>
            <a:r>
              <a:rPr lang="en-US" sz="1100" i="1" dirty="0">
                <a:solidFill>
                  <a:srgbClr val="5A5A5A"/>
                </a:solidFill>
                <a:latin typeface="Arial"/>
                <a:ea typeface="Arial"/>
                <a:cs typeface="Arial"/>
                <a:sym typeface="Arial"/>
              </a:rPr>
              <a:t>should use rules derived from similar states and test on their data.</a:t>
            </a:r>
            <a:endParaRPr sz="1100" dirty="0">
              <a:solidFill>
                <a:schemeClr val="dk1"/>
              </a:solidFill>
              <a:latin typeface="Calibri"/>
              <a:ea typeface="Calibri"/>
              <a:cs typeface="Calibri"/>
              <a:sym typeface="Calibri"/>
            </a:endParaRPr>
          </a:p>
        </p:txBody>
      </p:sp>
      <p:sp>
        <p:nvSpPr>
          <p:cNvPr id="56" name="Google Shape;56;p4"/>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57" name="Google Shape;57;p4"/>
          <p:cNvSpPr/>
          <p:nvPr/>
        </p:nvSpPr>
        <p:spPr>
          <a:xfrm>
            <a:off x="8138160" y="4814316"/>
            <a:ext cx="54870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5</a:t>
            </a:r>
            <a:endParaRPr sz="900" dirty="0">
              <a:solidFill>
                <a:schemeClr val="dk1"/>
              </a:solidFill>
              <a:latin typeface="Calibri"/>
              <a:ea typeface="Calibri"/>
              <a:cs typeface="Calibri"/>
              <a:sym typeface="Calibri"/>
            </a:endParaRPr>
          </a:p>
        </p:txBody>
      </p:sp>
      <p:sp>
        <p:nvSpPr>
          <p:cNvPr id="58" name="Google Shape;58;p4"/>
          <p:cNvSpPr/>
          <p:nvPr/>
        </p:nvSpPr>
        <p:spPr>
          <a:xfrm>
            <a:off x="6330800" y="14287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 name="Google Shape;59;p4"/>
          <p:cNvSpPr/>
          <p:nvPr/>
        </p:nvSpPr>
        <p:spPr>
          <a:xfrm>
            <a:off x="6422241" y="15240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a:solidFill>
                  <a:srgbClr val="5A5A5A"/>
                </a:solidFill>
                <a:latin typeface="Arial"/>
                <a:ea typeface="Arial"/>
                <a:cs typeface="Arial"/>
                <a:sym typeface="Arial"/>
              </a:rPr>
              <a:t>Add to existing curated rule set</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Test on hold-out (either FY25/26 or a predefined random sample)</a:t>
            </a:r>
            <a:endParaRPr sz="1100" b="1" dirty="0">
              <a:solidFill>
                <a:srgbClr val="000000"/>
              </a:solidFill>
              <a:latin typeface="Arial"/>
              <a:ea typeface="Arial"/>
              <a:cs typeface="Arial"/>
              <a:sym typeface="Arial"/>
            </a:endParaRPr>
          </a:p>
        </p:txBody>
      </p:sp>
      <p:cxnSp>
        <p:nvCxnSpPr>
          <p:cNvPr id="60" name="Google Shape;60;p4"/>
          <p:cNvCxnSpPr>
            <a:cxnSpLocks/>
            <a:stCxn id="47" idx="3"/>
          </p:cNvCxnSpPr>
          <p:nvPr/>
        </p:nvCxnSpPr>
        <p:spPr>
          <a:xfrm flipV="1">
            <a:off x="5929341" y="2143188"/>
            <a:ext cx="392275"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 name="Google Shape;41;p4">
            <a:extLst>
              <a:ext uri="{FF2B5EF4-FFF2-40B4-BE49-F238E27FC236}">
                <a16:creationId xmlns:a16="http://schemas.microsoft.com/office/drawing/2014/main" id="{49ED0841-3C2D-56C1-B372-A1BF4250BC98}"/>
              </a:ext>
            </a:extLst>
          </p:cNvPr>
          <p:cNvSpPr/>
          <p:nvPr/>
        </p:nvSpPr>
        <p:spPr>
          <a:xfrm>
            <a:off x="2006199" y="906602"/>
            <a:ext cx="1546212" cy="1108499"/>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r>
              <a:rPr lang="en-US" sz="1200" b="1" dirty="0"/>
              <a:t>Input data for finding rules</a:t>
            </a:r>
          </a:p>
          <a:p>
            <a:pPr marL="285750" lvl="0" indent="-285750" algn="l" rtl="0">
              <a:spcBef>
                <a:spcPts val="0"/>
              </a:spcBef>
              <a:spcAft>
                <a:spcPts val="0"/>
              </a:spcAft>
              <a:buFont typeface="Arial" panose="020B0604020202020204" pitchFamily="34" charset="0"/>
              <a:buChar char="•"/>
            </a:pPr>
            <a:r>
              <a:rPr lang="en-US" sz="1200" dirty="0"/>
              <a:t>national OR  </a:t>
            </a:r>
          </a:p>
          <a:p>
            <a:pPr marL="285750" lvl="0" indent="-285750" algn="l" rtl="0">
              <a:spcBef>
                <a:spcPts val="0"/>
              </a:spcBef>
              <a:spcAft>
                <a:spcPts val="0"/>
              </a:spcAft>
              <a:buFont typeface="Arial" panose="020B0604020202020204" pitchFamily="34" charset="0"/>
              <a:buChar char="•"/>
            </a:pPr>
            <a:r>
              <a:rPr lang="en-US" sz="1200" dirty="0"/>
              <a:t>similar states OR </a:t>
            </a:r>
          </a:p>
          <a:p>
            <a:pPr marL="285750" lvl="0" indent="-285750" algn="l" rtl="0">
              <a:spcBef>
                <a:spcPts val="0"/>
              </a:spcBef>
              <a:spcAft>
                <a:spcPts val="0"/>
              </a:spcAft>
              <a:buFont typeface="Arial" panose="020B0604020202020204" pitchFamily="34" charset="0"/>
              <a:buChar char="•"/>
            </a:pPr>
            <a:r>
              <a:rPr lang="en-US" sz="1200" dirty="0"/>
              <a:t>your state</a:t>
            </a:r>
            <a:endParaRPr sz="1200" dirty="0"/>
          </a:p>
        </p:txBody>
      </p:sp>
      <p:cxnSp>
        <p:nvCxnSpPr>
          <p:cNvPr id="7" name="Straight Arrow Connector 6">
            <a:extLst>
              <a:ext uri="{FF2B5EF4-FFF2-40B4-BE49-F238E27FC236}">
                <a16:creationId xmlns:a16="http://schemas.microsoft.com/office/drawing/2014/main" id="{AE719576-0002-C02D-D44A-394556490E41}"/>
              </a:ext>
            </a:extLst>
          </p:cNvPr>
          <p:cNvCxnSpPr>
            <a:stCxn id="5" idx="2"/>
            <a:endCxn id="44" idx="0"/>
          </p:cNvCxnSpPr>
          <p:nvPr/>
        </p:nvCxnSpPr>
        <p:spPr>
          <a:xfrm>
            <a:off x="2779305" y="2015101"/>
            <a:ext cx="0" cy="27089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5"/>
        <p:cNvGrpSpPr/>
        <p:nvPr/>
      </p:nvGrpSpPr>
      <p:grpSpPr>
        <a:xfrm>
          <a:off x="0" y="0"/>
          <a:ext cx="0" cy="0"/>
          <a:chOff x="0" y="0"/>
          <a:chExt cx="0" cy="0"/>
        </a:xfrm>
      </p:grpSpPr>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a:buSzPts val="2800"/>
            </a:pPr>
            <a:r>
              <a:rPr lang="en-US" sz="1800" b="1" dirty="0">
                <a:solidFill>
                  <a:srgbClr val="000000"/>
                </a:solidFill>
                <a:latin typeface="Cambria"/>
                <a:ea typeface="Cambria"/>
                <a:cs typeface="Cambria"/>
                <a:sym typeface="Cambria"/>
              </a:rPr>
              <a:t>Find and combine inclusion rules:</a:t>
            </a: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INCL_find_inclusion_rules_by_hh_size_v2.R</a:t>
            </a:r>
            <a:endParaRPr lang="en-US" sz="1800" b="1" dirty="0">
              <a:solidFill>
                <a:srgbClr val="000000"/>
              </a:solidFill>
              <a:latin typeface="Cambria"/>
              <a:ea typeface="Cambria"/>
              <a:cs typeface="Cambria"/>
              <a:sym typeface="Cambria"/>
            </a:endParaRPr>
          </a:p>
        </p:txBody>
      </p:sp>
      <p:sp>
        <p:nvSpPr>
          <p:cNvPr id="67" name="Google Shape;67;p5"/>
          <p:cNvSpPr/>
          <p:nvPr/>
        </p:nvSpPr>
        <p:spPr>
          <a:xfrm>
            <a:off x="457200" y="1234440"/>
            <a:ext cx="5212080" cy="3291840"/>
          </a:xfrm>
          <a:prstGeom prst="rect">
            <a:avLst/>
          </a:prstGeom>
          <a:noFill/>
          <a:ln>
            <a:noFill/>
          </a:ln>
        </p:spPr>
        <p:txBody>
          <a:bodyPr spcFirstLastPara="1" wrap="square" lIns="91425" tIns="45700" rIns="91425" bIns="45700" anchor="t" anchorCtr="0">
            <a:noAutofit/>
          </a:bodyPr>
          <a:lstStyle/>
          <a:p>
            <a:pPr marR="0" lvl="0" algn="l" rtl="0">
              <a:spcBef>
                <a:spcPts val="0"/>
              </a:spcBef>
              <a:spcAft>
                <a:spcPts val="0"/>
              </a:spcAft>
              <a:buClr>
                <a:srgbClr val="000000"/>
              </a:buClr>
              <a:buSzPts val="1500"/>
            </a:pPr>
            <a:r>
              <a:rPr lang="en-US" sz="1200" b="1" dirty="0">
                <a:solidFill>
                  <a:srgbClr val="000000"/>
                </a:solidFill>
                <a:latin typeface="Arial"/>
                <a:ea typeface="Arial"/>
                <a:cs typeface="Arial"/>
                <a:sym typeface="Arial"/>
              </a:rPr>
              <a:t>Creating rules</a:t>
            </a:r>
            <a:r>
              <a:rPr lang="en-US" sz="1200" dirty="0">
                <a:solidFill>
                  <a:srgbClr val="000000"/>
                </a:solidFill>
                <a:latin typeface="Arial"/>
                <a:ea typeface="Arial"/>
                <a:cs typeface="Arial"/>
                <a:sym typeface="Arial"/>
              </a:rPr>
              <a:t>: For each error type (earned income, unearned income, underpayment, other) plus an all-errors category, and each household size, the two tree-growing methods propose rules that combine 1-4 variables.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Scoring rules: </a:t>
            </a:r>
            <a:r>
              <a:rPr lang="en-US" sz="1200" dirty="0">
                <a:solidFill>
                  <a:srgbClr val="000000"/>
                </a:solidFill>
                <a:latin typeface="Arial"/>
                <a:ea typeface="Arial"/>
                <a:cs typeface="Arial"/>
                <a:sym typeface="Arial"/>
              </a:rPr>
              <a:t>Every rule is scored three ways: on the data used to build it, on a year of data it never saw, and counting every kind of error it catches.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Selecting rules:</a:t>
            </a:r>
            <a:r>
              <a:rPr lang="en-US" sz="1200" dirty="0">
                <a:solidFill>
                  <a:srgbClr val="000000"/>
                </a:solidFill>
                <a:latin typeface="Arial"/>
                <a:ea typeface="Arial"/>
                <a:cs typeface="Arial"/>
                <a:sym typeface="Arial"/>
              </a:rPr>
              <a:t> A rule is kept only when we can be statistically confident its precision clears the bar (default: confident at the 99% level that at least 1 in 5 flagged cases has an error). Near-duplicate rules are removed.</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t>Measure overall potential</a:t>
            </a:r>
            <a:r>
              <a:rPr lang="en-US" sz="1200" dirty="0"/>
              <a:t>: Track, for each level of precision, what ALL the selected rules achieve together - how many cases they flag and what share of errors and error dollars they catch (a case flagged by several rules counts once).</a:t>
            </a:r>
            <a:endParaRPr sz="1200" dirty="0"/>
          </a:p>
        </p:txBody>
      </p:sp>
      <p:sp>
        <p:nvSpPr>
          <p:cNvPr id="68" name="Google Shape;68;p5"/>
          <p:cNvSpPr/>
          <p:nvPr/>
        </p:nvSpPr>
        <p:spPr>
          <a:xfrm>
            <a:off x="5989320" y="1280160"/>
            <a:ext cx="2697480" cy="3108960"/>
          </a:xfrm>
          <a:prstGeom prst="roundRect">
            <a:avLst>
              <a:gd name="adj" fmla="val 2034"/>
            </a:avLst>
          </a:prstGeom>
          <a:solidFill>
            <a:srgbClr val="F2F2F2"/>
          </a:solidFill>
          <a:ln w="12700" cap="flat" cmpd="sng">
            <a:solidFill>
              <a:srgbClr val="80808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5"/>
          <p:cNvSpPr/>
          <p:nvPr/>
        </p:nvSpPr>
        <p:spPr>
          <a:xfrm>
            <a:off x="6172200" y="1463040"/>
            <a:ext cx="233172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300"/>
              <a:buFont typeface="Arial"/>
              <a:buNone/>
            </a:pPr>
            <a:r>
              <a:rPr lang="en-US" sz="1300" b="1" dirty="0">
                <a:solidFill>
                  <a:srgbClr val="000000"/>
                </a:solidFill>
                <a:latin typeface="Arial"/>
                <a:ea typeface="Arial"/>
                <a:cs typeface="Arial"/>
                <a:sym typeface="Arial"/>
              </a:rPr>
              <a:t>Output tables and charts</a:t>
            </a:r>
            <a:endParaRPr sz="1300" dirty="0">
              <a:solidFill>
                <a:schemeClr val="dk1"/>
              </a:solidFill>
              <a:latin typeface="Calibri"/>
              <a:ea typeface="Calibri"/>
              <a:cs typeface="Calibri"/>
              <a:sym typeface="Calibri"/>
            </a:endParaRPr>
          </a:p>
        </p:txBody>
      </p:sp>
      <p:sp>
        <p:nvSpPr>
          <p:cNvPr id="70" name="Google Shape;70;p5"/>
          <p:cNvSpPr/>
          <p:nvPr/>
        </p:nvSpPr>
        <p:spPr>
          <a:xfrm>
            <a:off x="6172200" y="1874520"/>
            <a:ext cx="2331720" cy="2423160"/>
          </a:xfrm>
          <a:prstGeom prst="rect">
            <a:avLst/>
          </a:prstGeom>
          <a:noFill/>
          <a:ln>
            <a:noFill/>
          </a:ln>
        </p:spPr>
        <p:txBody>
          <a:bodyPr spcFirstLastPara="1" wrap="square" lIns="91425" tIns="45700" rIns="91425" bIns="45700" anchor="t" anchorCtr="0">
            <a:noAutofit/>
          </a:bodyPr>
          <a:lstStyle/>
          <a:p>
            <a:pPr marL="152400" marR="0" lvl="0" indent="-152400" algn="l" rtl="0">
              <a:spcBef>
                <a:spcPts val="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Full rule table (scores on build data, on a new year, and against all error types)</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Shortlist of high-confidence rules (near-duplicates removed)</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Summary table + chart: results at each precision floor</a:t>
            </a:r>
            <a:endParaRPr sz="1200" dirty="0">
              <a:solidFill>
                <a:schemeClr val="dk1"/>
              </a:solidFill>
              <a:latin typeface="Calibri"/>
              <a:ea typeface="Calibri"/>
              <a:cs typeface="Calibri"/>
              <a:sym typeface="Calibri"/>
            </a:endParaRPr>
          </a:p>
        </p:txBody>
      </p:sp>
      <p:sp>
        <p:nvSpPr>
          <p:cNvPr id="71" name="Google Shape;71;p5"/>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72" name="Google Shape;72;p5"/>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6</a:t>
            </a:r>
            <a:endParaRPr sz="900" dirty="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7"/>
        <p:cNvGrpSpPr/>
        <p:nvPr/>
      </p:nvGrpSpPr>
      <p:grpSpPr>
        <a:xfrm>
          <a:off x="0" y="0"/>
          <a:ext cx="0" cy="0"/>
          <a:chOff x="0" y="0"/>
          <a:chExt cx="0" cy="0"/>
        </a:xfrm>
      </p:grpSpPr>
      <p:sp>
        <p:nvSpPr>
          <p:cNvPr id="78" name="Google Shape;78;p6"/>
          <p:cNvSpPr/>
          <p:nvPr/>
        </p:nvSpPr>
        <p:spPr>
          <a:xfrm>
            <a:off x="457200" y="310896"/>
            <a:ext cx="8392332"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Example outputs from </a:t>
            </a:r>
            <a:r>
              <a:rPr lang="en-US" sz="1600" b="1" dirty="0" err="1">
                <a:solidFill>
                  <a:srgbClr val="000000"/>
                </a:solidFill>
                <a:latin typeface="Cambria"/>
                <a:ea typeface="Cambria"/>
                <a:cs typeface="Cambria"/>
                <a:sym typeface="Cambria"/>
              </a:rPr>
              <a:t>INCL_find</a:t>
            </a:r>
            <a:r>
              <a:rPr lang="en-US" sz="1600" b="1" dirty="0">
                <a:solidFill>
                  <a:srgbClr val="000000"/>
                </a:solidFill>
                <a:latin typeface="Cambria"/>
                <a:ea typeface="Cambria"/>
                <a:cs typeface="Cambria"/>
                <a:sym typeface="Cambria"/>
              </a:rPr>
              <a:t>_..._v2 output: filtered inclusion rules</a:t>
            </a:r>
          </a:p>
          <a:p>
            <a:pPr marL="0" marR="0" lvl="0" indent="0" algn="l" rtl="0">
              <a:spcBef>
                <a:spcPts val="0"/>
              </a:spcBef>
              <a:spcAft>
                <a:spcPts val="0"/>
              </a:spcAft>
              <a:buClr>
                <a:srgbClr val="000000"/>
              </a:buClr>
              <a:buSzPts val="2800"/>
              <a:buFont typeface="Cambria"/>
              <a:buNone/>
            </a:pPr>
            <a:r>
              <a:rPr lang="en-US" sz="1600" b="1" i="1" dirty="0">
                <a:solidFill>
                  <a:srgbClr val="000000"/>
                </a:solidFill>
                <a:latin typeface="Cambria"/>
                <a:ea typeface="Cambria"/>
                <a:cs typeface="Cambria"/>
                <a:sym typeface="Cambria"/>
              </a:rPr>
              <a:t>file: /inclusion_rules_by_hh_size_v2/final_rules_highprecision_all_frames.csv</a:t>
            </a:r>
          </a:p>
        </p:txBody>
      </p:sp>
      <p:graphicFrame>
        <p:nvGraphicFramePr>
          <p:cNvPr id="79" name="Google Shape;79;p6"/>
          <p:cNvGraphicFramePr/>
          <p:nvPr>
            <p:extLst>
              <p:ext uri="{D42A27DB-BD31-4B8C-83A1-F6EECF244321}">
                <p14:modId xmlns:p14="http://schemas.microsoft.com/office/powerpoint/2010/main" val="1963913017"/>
              </p:ext>
            </p:extLst>
          </p:nvPr>
        </p:nvGraphicFramePr>
        <p:xfrm>
          <a:off x="379086" y="1063986"/>
          <a:ext cx="8229600" cy="3978930"/>
        </p:xfrm>
        <a:graphic>
          <a:graphicData uri="http://schemas.openxmlformats.org/drawingml/2006/table">
            <a:tbl>
              <a:tblPr>
                <a:noFill/>
                <a:tableStyleId>{B5048AC8-0E75-455B-AB4F-AEF2A2D202BD}</a:tableStyleId>
              </a:tblPr>
              <a:tblGrid>
                <a:gridCol w="512899">
                  <a:extLst>
                    <a:ext uri="{9D8B030D-6E8A-4147-A177-3AD203B41FA5}">
                      <a16:colId xmlns:a16="http://schemas.microsoft.com/office/drawing/2014/main" val="20000"/>
                    </a:ext>
                  </a:extLst>
                </a:gridCol>
                <a:gridCol w="3267704">
                  <a:extLst>
                    <a:ext uri="{9D8B030D-6E8A-4147-A177-3AD203B41FA5}">
                      <a16:colId xmlns:a16="http://schemas.microsoft.com/office/drawing/2014/main" val="20001"/>
                    </a:ext>
                  </a:extLst>
                </a:gridCol>
                <a:gridCol w="612694">
                  <a:extLst>
                    <a:ext uri="{9D8B030D-6E8A-4147-A177-3AD203B41FA5}">
                      <a16:colId xmlns:a16="http://schemas.microsoft.com/office/drawing/2014/main" val="20002"/>
                    </a:ext>
                  </a:extLst>
                </a:gridCol>
                <a:gridCol w="1093103">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457200">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HH size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rule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00000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a:solidFill>
                            <a:schemeClr val="dk1"/>
                          </a:solidFill>
                          <a:latin typeface="Arial"/>
                          <a:ea typeface="Arial"/>
                          <a:cs typeface="Arial"/>
                          <a:sym typeface="Arial"/>
                        </a:rPr>
                        <a:t>error type targeted</a:t>
                      </a:r>
                      <a:endParaRPr sz="1100" u="none" strike="noStrike" cap="none">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floor met in training (lower confidence bound)</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(same error type)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(any error)</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extLst>
                  <a:ext uri="{0D108BD9-81ED-4DB2-BD59-A6C34878D82A}">
                    <a16:rowId xmlns:a16="http://schemas.microsoft.com/office/drawing/2014/main" val="10000"/>
                  </a:ext>
                </a:extLst>
              </a:tr>
              <a:tr h="8547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5.50 &amp; unc_rawben_rel_max &gt; 1.82 &amp; utilities &lt;= 340</a:t>
                      </a:r>
                      <a:endParaRPr sz="110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Earned income</a:t>
                      </a:r>
                      <a:endParaRPr sz="1100" dirty="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0.26</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1"/>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2-3</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1.50 &amp; months_since_cert_n &lt;= 15.50 &amp; unc_rawben_rel_max &gt; 1.69</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Unearned income</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0.28</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0.46</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2"/>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en-US" sz="1100">
                          <a:solidFill>
                            <a:schemeClr val="dk1"/>
                          </a:solidFill>
                        </a:rPr>
                        <a:t>shelter_expenses_by_hh_size &gt; 882 &amp; total_deductions_by_hh_size &gt; 714 &amp; utilities &lt;= 8</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Other (deductions, shelter, HH composition)</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0.25</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0.24</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0.38</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0" name="Google Shape;80;p6"/>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7</a:t>
            </a:r>
            <a:endParaRPr sz="900" dirty="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5"/>
        <p:cNvGrpSpPr/>
        <p:nvPr/>
      </p:nvGrpSpPr>
      <p:grpSpPr>
        <a:xfrm>
          <a:off x="0" y="0"/>
          <a:ext cx="0" cy="0"/>
          <a:chOff x="0" y="0"/>
          <a:chExt cx="0" cy="0"/>
        </a:xfrm>
      </p:grpSpPr>
      <p:sp>
        <p:nvSpPr>
          <p:cNvPr id="86" name="Google Shape;86;p7"/>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Output: what the kept rules achieve together, at each precision floor</a:t>
            </a:r>
            <a:endParaRPr sz="1800" dirty="0">
              <a:solidFill>
                <a:schemeClr val="dk1"/>
              </a:solidFill>
              <a:latin typeface="Calibri"/>
              <a:ea typeface="Calibri"/>
              <a:cs typeface="Calibri"/>
              <a:sym typeface="Calibri"/>
            </a:endParaRPr>
          </a:p>
        </p:txBody>
      </p:sp>
      <p:graphicFrame>
        <p:nvGraphicFramePr>
          <p:cNvPr id="88" name="Google Shape;88;p7"/>
          <p:cNvGraphicFramePr/>
          <p:nvPr>
            <p:extLst>
              <p:ext uri="{D42A27DB-BD31-4B8C-83A1-F6EECF244321}">
                <p14:modId xmlns:p14="http://schemas.microsoft.com/office/powerpoint/2010/main" val="1604718696"/>
              </p:ext>
            </p:extLst>
          </p:nvPr>
        </p:nvGraphicFramePr>
        <p:xfrm>
          <a:off x="585433" y="888358"/>
          <a:ext cx="7469560" cy="3941723"/>
        </p:xfrm>
        <a:graphic>
          <a:graphicData uri="http://schemas.openxmlformats.org/drawingml/2006/table">
            <a:tbl>
              <a:tblPr>
                <a:noFill/>
                <a:tableStyleId>{B5048AC8-0E75-455B-AB4F-AEF2A2D202BD}</a:tableStyleId>
              </a:tblPr>
              <a:tblGrid>
                <a:gridCol w="1067080">
                  <a:extLst>
                    <a:ext uri="{9D8B030D-6E8A-4147-A177-3AD203B41FA5}">
                      <a16:colId xmlns:a16="http://schemas.microsoft.com/office/drawing/2014/main" val="20000"/>
                    </a:ext>
                  </a:extLst>
                </a:gridCol>
                <a:gridCol w="1067080">
                  <a:extLst>
                    <a:ext uri="{9D8B030D-6E8A-4147-A177-3AD203B41FA5}">
                      <a16:colId xmlns:a16="http://schemas.microsoft.com/office/drawing/2014/main" val="1465495465"/>
                    </a:ext>
                  </a:extLst>
                </a:gridCol>
                <a:gridCol w="1067080">
                  <a:extLst>
                    <a:ext uri="{9D8B030D-6E8A-4147-A177-3AD203B41FA5}">
                      <a16:colId xmlns:a16="http://schemas.microsoft.com/office/drawing/2014/main" val="1336201734"/>
                    </a:ext>
                  </a:extLst>
                </a:gridCol>
                <a:gridCol w="1067080">
                  <a:extLst>
                    <a:ext uri="{9D8B030D-6E8A-4147-A177-3AD203B41FA5}">
                      <a16:colId xmlns:a16="http://schemas.microsoft.com/office/drawing/2014/main" val="3010606503"/>
                    </a:ext>
                  </a:extLst>
                </a:gridCol>
                <a:gridCol w="1067080">
                  <a:extLst>
                    <a:ext uri="{9D8B030D-6E8A-4147-A177-3AD203B41FA5}">
                      <a16:colId xmlns:a16="http://schemas.microsoft.com/office/drawing/2014/main" val="20001"/>
                    </a:ext>
                  </a:extLst>
                </a:gridCol>
                <a:gridCol w="1067080">
                  <a:extLst>
                    <a:ext uri="{9D8B030D-6E8A-4147-A177-3AD203B41FA5}">
                      <a16:colId xmlns:a16="http://schemas.microsoft.com/office/drawing/2014/main" val="20004"/>
                    </a:ext>
                  </a:extLst>
                </a:gridCol>
                <a:gridCol w="1067080">
                  <a:extLst>
                    <a:ext uri="{9D8B030D-6E8A-4147-A177-3AD203B41FA5}">
                      <a16:colId xmlns:a16="http://schemas.microsoft.com/office/drawing/2014/main" val="20005"/>
                    </a:ext>
                  </a:extLst>
                </a:gridCol>
              </a:tblGrid>
              <a:tr h="509950">
                <a:tc>
                  <a:txBody>
                    <a:bodyPr/>
                    <a:lstStyle/>
                    <a:p>
                      <a:pPr marL="0" lvl="0" indent="0" algn="ctr" rtl="0">
                        <a:lnSpc>
                          <a:spcPct val="115000"/>
                        </a:lnSpc>
                        <a:spcBef>
                          <a:spcPts val="0"/>
                        </a:spcBef>
                        <a:spcAft>
                          <a:spcPts val="0"/>
                        </a:spcAft>
                        <a:buNone/>
                      </a:pPr>
                      <a:r>
                        <a:rPr lang="en-US" sz="1000" b="1" dirty="0"/>
                        <a:t>precision floor</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error $ caught</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caseload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cases flagged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rules kept</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Precision on held-out data</a:t>
                      </a:r>
                      <a:endParaRPr sz="1000" b="1" dirty="0">
                        <a:solidFill>
                          <a:schemeClr val="dk1"/>
                        </a:solidFill>
                      </a:endParaRPr>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a:t>% of errors caught</a:t>
                      </a:r>
                      <a:endParaRPr sz="1000" b="1">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212075">
                <a:tc>
                  <a:txBody>
                    <a:bodyPr/>
                    <a:lstStyle/>
                    <a:p>
                      <a:pPr marL="0" lvl="0" indent="0" algn="l" rtl="0">
                        <a:spcBef>
                          <a:spcPts val="0"/>
                        </a:spcBef>
                        <a:spcAft>
                          <a:spcPts val="0"/>
                        </a:spcAft>
                        <a:buNone/>
                      </a:pPr>
                      <a:r>
                        <a:rPr lang="en-US" sz="1400" b="1" dirty="0"/>
                        <a:t>0.20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83%</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51.6%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20,668</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15,335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sz="1400" dirty="0">
                          <a:solidFill>
                            <a:schemeClr val="dk1"/>
                          </a:solidFill>
                        </a:rPr>
                        <a:t>0.173</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dirty="0"/>
                        <a:t>80%</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1212075">
                <a:tc>
                  <a:txBody>
                    <a:bodyPr/>
                    <a:lstStyle/>
                    <a:p>
                      <a:pPr marL="0" lvl="0" indent="0" algn="l" rtl="0">
                        <a:spcBef>
                          <a:spcPts val="0"/>
                        </a:spcBef>
                        <a:spcAft>
                          <a:spcPts val="0"/>
                        </a:spcAft>
                        <a:buNone/>
                      </a:pPr>
                      <a:r>
                        <a:rPr lang="en-US" sz="1400" b="1" dirty="0"/>
                        <a:t>0.30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32%</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12.5%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5,017</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1,832</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0.256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29%</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999125">
                <a:tc>
                  <a:txBody>
                    <a:bodyPr/>
                    <a:lstStyle/>
                    <a:p>
                      <a:pPr marL="0" lvl="0" indent="0" algn="l" rtl="0">
                        <a:spcBef>
                          <a:spcPts val="0"/>
                        </a:spcBef>
                        <a:spcAft>
                          <a:spcPts val="0"/>
                        </a:spcAft>
                        <a:buNone/>
                      </a:pPr>
                      <a:r>
                        <a:rPr lang="en-US" sz="1400" b="1" dirty="0"/>
                        <a:t>0.40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7%</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2.4%</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944</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299</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0.339</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7%</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9" name="Google Shape;89;p7"/>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8</a:t>
            </a:r>
            <a:endParaRPr sz="900" dirty="0">
              <a:solidFill>
                <a:schemeClr val="dk1"/>
              </a:solidFill>
              <a:latin typeface="Calibri"/>
              <a:ea typeface="Calibri"/>
              <a:cs typeface="Calibri"/>
              <a:sym typeface="Calibri"/>
            </a:endParaRPr>
          </a:p>
        </p:txBody>
      </p:sp>
      <p:cxnSp>
        <p:nvCxnSpPr>
          <p:cNvPr id="90" name="Google Shape;90;p7"/>
          <p:cNvCxnSpPr/>
          <p:nvPr/>
        </p:nvCxnSpPr>
        <p:spPr>
          <a:xfrm flipH="1">
            <a:off x="319875" y="1740050"/>
            <a:ext cx="4200" cy="2982300"/>
          </a:xfrm>
          <a:prstGeom prst="straightConnector1">
            <a:avLst/>
          </a:prstGeom>
          <a:noFill/>
          <a:ln w="38100" cap="flat" cmpd="sng">
            <a:solidFill>
              <a:schemeClr val="dk2"/>
            </a:solidFill>
            <a:prstDash val="solid"/>
            <a:round/>
            <a:headEnd type="none" w="med" len="med"/>
            <a:tailEnd type="triangle" w="med" len="med"/>
          </a:ln>
        </p:spPr>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g3eae636d67f_0_57"/>
          <p:cNvSpPr txBox="1"/>
          <p:nvPr/>
        </p:nvSpPr>
        <p:spPr>
          <a:xfrm>
            <a:off x="457200" y="1050000"/>
            <a:ext cx="8229600" cy="307773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800" b="1" dirty="0" err="1"/>
              <a:t>state_threshold_gridsearch_v2.R</a:t>
            </a:r>
            <a:endParaRPr sz="2400" dirty="0"/>
          </a:p>
          <a:p>
            <a:r>
              <a:rPr sz="1400" b="0" dirty="0"/>
              <a:t>Takes the national rule list and, for one state at a time: tries a range of cutoff values for every rule on the state's training years, keeps rules that meet the quality bar on the state's own data, and picks the version of each rule that captures the most error dollars.</a:t>
            </a:r>
          </a:p>
          <a:p>
            <a:endParaRPr sz="1400" b="0" dirty="0"/>
          </a:p>
          <a:p>
            <a:r>
              <a:rPr sz="1800" b="1" dirty="0" err="1"/>
              <a:t>Built-in honesty checks</a:t>
            </a:r>
            <a:endParaRPr sz="1800" b="1" dirty="0"/>
          </a:p>
          <a:p>
            <a:r>
              <a:rPr sz="1400" b="0" dirty="0"/>
              <a:t>Every rule is then tested on a year of data that was never used for tuning - under both its adjusted cutoffs and the original national ones - and the whole exercise is compared against simply using the national rules unchanged. In seven-state testing, tuning helped when roughly 30+ rules met the bar (Connecticut: 43% of errors and 49% of error dollars caught, with about 1 in 5 flagged cases having an error) and hurt below that - with little data, tuning just rewards lucky cutoffs. Smaller states: use the national rules as-is.</a:t>
            </a:r>
          </a:p>
          <a:p>
            <a:endParaRPr sz="1400" b="0" dirty="0"/>
          </a:p>
          <a:p>
            <a:r>
              <a:rPr sz="1200" b="0" dirty="0"/>
              <a:t>Writes per-state rule CSVs (national + tuned thresholds side by side) to state_rules_v2/</a:t>
            </a:r>
          </a:p>
        </p:txBody>
      </p:sp>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Tuning rules for a specific state:</a:t>
            </a:r>
          </a:p>
          <a:p>
            <a:pPr marL="0" marR="0" lvl="0" indent="0" algn="l" rtl="0">
              <a:spcBef>
                <a:spcPts val="0"/>
              </a:spcBef>
              <a:spcAft>
                <a:spcPts val="0"/>
              </a:spcAft>
              <a:buClr>
                <a:srgbClr val="000000"/>
              </a:buClr>
              <a:buSzPts val="2800"/>
              <a:buFont typeface="Cambria"/>
              <a:buNone/>
            </a:pPr>
            <a:r>
              <a:rPr lang="en-US" sz="1600" b="1" dirty="0" err="1">
                <a:solidFill>
                  <a:srgbClr val="000000"/>
                </a:solidFill>
                <a:latin typeface="Cambria"/>
                <a:ea typeface="Cambria"/>
                <a:cs typeface="Cambria"/>
                <a:sym typeface="Cambria"/>
              </a:rPr>
              <a:t>state_threshold_gridsearch_v2.R</a:t>
            </a:r>
            <a:endParaRPr sz="1600" dirty="0">
              <a:solidFill>
                <a:schemeClr val="dk1"/>
              </a:solidFill>
              <a:latin typeface="Calibri"/>
              <a:ea typeface="Calibri"/>
              <a:cs typeface="Calibri"/>
              <a:sym typeface="Calibri"/>
            </a:endParaRPr>
          </a:p>
        </p:txBody>
      </p:sp>
      <p:sp>
        <p:nvSpPr>
          <p:cNvPr id="2" name="Google Shape;71;p5">
            <a:extLst>
              <a:ext uri="{FF2B5EF4-FFF2-40B4-BE49-F238E27FC236}">
                <a16:creationId xmlns:a16="http://schemas.microsoft.com/office/drawing/2014/main" id="{B0D642F2-6701-2B92-8D1B-5371BA2BAFB4}"/>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3" name="Google Shape;72;p5">
            <a:extLst>
              <a:ext uri="{FF2B5EF4-FFF2-40B4-BE49-F238E27FC236}">
                <a16:creationId xmlns:a16="http://schemas.microsoft.com/office/drawing/2014/main" id="{E3CAAEA4-E2AC-8019-F176-869DED338969}"/>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why we're cautious about a rule's measured accuracy</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50000"/>
            <a:ext cx="8344000" cy="3743500"/>
          </a:xfrm>
          <a:prstGeom prst="rect">
            <a:avLst/>
          </a:prstGeom>
          <a:noFill/>
        </p:spPr>
        <p:txBody>
          <a:bodyPr wrap="square">
            <a:spAutoFit/>
          </a:bodyPr>
          <a:lstStyle/>
          <a:p>
            <a:pPr>
              <a:spcAft>
                <a:spcPts val="600"/>
              </a:spcAft>
            </a:pPr>
            <a:r>
              <a:rPr sz="1400" dirty="0"/>
              <a:t>- The trap: generate 100,000 candidate rules and keep the ones with the best measured accuracy, and you mostly keep rules that got lucky. We measured it: a list promising 20% precision delivered about 10% on a year of new data.</a:t>
            </a:r>
          </a:p>
          <a:p>
            <a:pPr>
              <a:spcAft>
                <a:spcPts val="600"/>
              </a:spcAft>
            </a:pPr>
            <a:r>
              <a:rPr sz="1400" dirty="0"/>
              <a:t>- The fix, by example: a rule that flagged 20 cases and was right 4 times and a rule that flagged 200 and was right 40 both measure 20% - but only the second has real evidence behind it. We adjust each rule's score for how much evidence it has, and keep a rule only when the adjusted score clears the bar.</a:t>
            </a:r>
          </a:p>
          <a:p>
            <a:pPr>
              <a:spcAft>
                <a:spcPts val="600"/>
              </a:spcAft>
            </a:pPr>
            <a:r>
              <a:rPr sz="1400" dirty="0"/>
              <a:t>- Result: kept rules deliver roughly what they promise on new data, and at the same delivered accuracy - about 1 in 5 flagged cases having an error - we catch 12.8% of all errors instead of 8.2%.</a:t>
            </a:r>
          </a:p>
          <a:p>
            <a:pPr>
              <a:spcAft>
                <a:spcPts val="600"/>
              </a:spcAft>
            </a:pPr>
            <a:r>
              <a:rPr sz="1400" dirty="0"/>
              <a:t>- Caution for single states: with only a few hundred errors to learn from, the adjustment alone is not enough - also require each rule to have flagged at least ~30 cases, or rules will still disappoint on new data.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settings that matter (and settings that don't)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00000"/>
            <a:ext cx="3200000" cy="3847207"/>
          </a:xfrm>
          <a:prstGeom prst="rect">
            <a:avLst/>
          </a:prstGeom>
          <a:noFill/>
        </p:spPr>
        <p:txBody>
          <a:bodyPr wrap="square">
            <a:spAutoFit/>
          </a:bodyPr>
          <a:lstStyle/>
          <a:p>
            <a:pPr>
              <a:spcAft>
                <a:spcPts val="600"/>
              </a:spcAft>
            </a:pPr>
            <a:r>
              <a:rPr sz="1300" dirty="0"/>
              <a:t>- We varied one setting at a time and judged each version on a year of unseen data. What helped: letting each tree split consider two variables instead of one; learning slowly; and showing each tree a small random slice of the data (15-30%) rather than most of it.</a:t>
            </a:r>
          </a:p>
          <a:p>
            <a:pPr>
              <a:spcAft>
                <a:spcPts val="600"/>
              </a:spcAft>
            </a:pPr>
            <a:r>
              <a:rPr sz="1300" dirty="0"/>
              <a:t>- Growing more trees does not make the kept rules more accurate - the two curves below sit on top of each other. It makes the MENU bigger: several times more rules pass any precision floor, so states have alternatives when their experts want to drop a rule.</a:t>
            </a:r>
          </a:p>
          <a:p>
            <a:pPr>
              <a:spcAft>
                <a:spcPts val="600"/>
              </a:spcAft>
            </a:pPr>
            <a:r>
              <a:rPr sz="1300" dirty="0"/>
              <a:t>- Final settings: 1,000 rounds/trees for each method, with the 99%-confidence quality bar.</a:t>
            </a:r>
          </a:p>
        </p:txBody>
      </p:sp>
      <p:pic>
        <p:nvPicPr>
          <p:cNvPr id="5" name="Picture 4" descr="mine_big_filter_stringently.png"/>
          <p:cNvPicPr>
            <a:picLocks noChangeAspect="1"/>
          </p:cNvPicPr>
          <p:nvPr/>
        </p:nvPicPr>
        <p:blipFill>
          <a:blip r:embed="rId2"/>
          <a:stretch>
            <a:fillRect/>
          </a:stretch>
        </p:blipFill>
        <p:spPr>
          <a:xfrm>
            <a:off x="3663618" y="1122545"/>
            <a:ext cx="5381374" cy="334841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boosted-tree method (xgboost)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Each panel varies one setting around our final choice; curves show accuracy vs share of error dollars caught, on a year of unseen data.</a:t>
            </a:r>
          </a:p>
          <a:p>
            <a:pPr>
              <a:spcAft>
                <a:spcPts val="400"/>
              </a:spcAft>
            </a:pPr>
            <a:r>
              <a:rPr sz="1200"/>
              <a:t>- Learning slowly beats learning fast; trees 4-5 questions deep beat shallower ones; more rounds mainly add rules (see previous slide).</a:t>
            </a:r>
          </a:p>
        </p:txBody>
      </p:sp>
      <p:pic>
        <p:nvPicPr>
          <p:cNvPr id="5" name="Picture 4" descr="v2_tuning_xgboost.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random-forest method (ranger)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Letting each split choose between two variables beats forcing a single random variable - a little guidance beats pure randomness.</a:t>
            </a:r>
          </a:p>
          <a:p>
            <a:pPr>
              <a:spcAft>
                <a:spcPts val="400"/>
              </a:spcAft>
            </a:pPr>
            <a:r>
              <a:rPr sz="1200"/>
              <a:t>- Beyond ~500 trees, more trees neither help nor hurt accuracy; other settings barely matter.</a:t>
            </a:r>
          </a:p>
        </p:txBody>
      </p:sp>
      <p:pic>
        <p:nvPicPr>
          <p:cNvPr id="5" name="Picture 4" descr="v2_tuning_ranger.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how much data each tree sees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Showing each tree a small random slice of the data (15-30%) works better than showing it most of the data (60-80%) - small slices make the trees more varied, and varied trees find sharper rules.</a:t>
            </a:r>
          </a:p>
          <a:p>
            <a:pPr>
              <a:spcAft>
                <a:spcPts val="400"/>
              </a:spcAft>
            </a:pPr>
            <a:r>
              <a:rPr sz="1200"/>
              <a:t>- Anywhere in the 15-30% range performs the same; we use 20%.</a:t>
            </a:r>
          </a:p>
        </p:txBody>
      </p:sp>
      <p:pic>
        <p:nvPicPr>
          <p:cNvPr id="5" name="Picture 4" descr="v2_subsample_fine.png"/>
          <p:cNvPicPr>
            <a:picLocks noChangeAspect="1"/>
          </p:cNvPicPr>
          <p:nvPr/>
        </p:nvPicPr>
        <p:blipFill>
          <a:blip r:embed="rId2"/>
          <a:stretch>
            <a:fillRect/>
          </a:stretch>
        </p:blipFill>
        <p:spPr>
          <a:xfrm>
            <a:off x="2081864" y="1620000"/>
            <a:ext cx="4980272" cy="30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lucky rules, measured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Same candidate rules, chosen two ways, then scored on a year of data they never saw. Choosing by raw measured accuracy over-promises; choosing by the evidence-adjusted score keeps its promises.</a:t>
            </a:r>
          </a:p>
        </p:txBody>
      </p:sp>
      <p:pic>
        <p:nvPicPr>
          <p:cNvPr id="5" name="Picture 4" descr="winners_curse_raw_vs_lcb.png"/>
          <p:cNvPicPr>
            <a:picLocks noChangeAspect="1"/>
          </p:cNvPicPr>
          <p:nvPr/>
        </p:nvPicPr>
        <p:blipFill>
          <a:blip r:embed="rId2"/>
          <a:stretch>
            <a:fillRect/>
          </a:stretch>
        </p:blipFill>
        <p:spPr>
          <a:xfrm>
            <a:off x="2748971" y="1230000"/>
            <a:ext cx="3646058" cy="364605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621271" cy="430887"/>
          </a:xfrm>
          <a:prstGeom prst="rect">
            <a:avLst/>
          </a:prstGeom>
          <a:noFill/>
        </p:spPr>
        <p:txBody>
          <a:bodyPr wrap="none">
            <a:spAutoFit/>
          </a:bodyPr>
          <a:lstStyle/>
          <a:p>
            <a:r>
              <a:rPr sz="2200" b="1" dirty="0"/>
              <a:t>Appendix: why </a:t>
            </a:r>
            <a:r>
              <a:rPr lang="en-US" sz="2200" b="1" dirty="0"/>
              <a:t>we use the 99% lower </a:t>
            </a:r>
            <a:r>
              <a:rPr sz="2200" b="1" dirty="0"/>
              <a:t>bound, not </a:t>
            </a:r>
            <a:r>
              <a:rPr lang="en-US" sz="2200" b="1" dirty="0"/>
              <a:t>raw </a:t>
            </a:r>
            <a:r>
              <a:rPr sz="2200" b="1" dirty="0"/>
              <a:t>precision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5" name="Picture 4" descr="floor_definitions_educational.png"/>
          <p:cNvPicPr>
            <a:picLocks noChangeAspect="1"/>
          </p:cNvPicPr>
          <p:nvPr/>
        </p:nvPicPr>
        <p:blipFill>
          <a:blip r:embed="rId2"/>
          <a:stretch>
            <a:fillRect/>
          </a:stretch>
        </p:blipFill>
        <p:spPr>
          <a:xfrm>
            <a:off x="1366684" y="628229"/>
            <a:ext cx="5785185" cy="422636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build rules per error type AND for all errors together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Rules built for specific error types and rules built on all errors together find different things - combining both catches 3-6 percentage points more errors at any precision floor, for a small accuracy cost. If you need just one simple model, the all-errors version gets you ~95% of the way.</a:t>
            </a:r>
          </a:p>
        </p:txBody>
      </p:sp>
      <p:pic>
        <p:nvPicPr>
          <p:cNvPr id="5" name="Picture 4" descr="anyerror_vs_typed_sweep.png"/>
          <p:cNvPicPr>
            <a:picLocks noChangeAspect="1"/>
          </p:cNvPicPr>
          <p:nvPr/>
        </p:nvPicPr>
        <p:blipFill>
          <a:blip r:embed="rId2"/>
          <a:stretch>
            <a:fillRect/>
          </a:stretch>
        </p:blipFill>
        <p:spPr>
          <a:xfrm>
            <a:off x="1746428" y="1462732"/>
            <a:ext cx="5503909" cy="336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count every error a rule catches, not just the intended kind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A rule built to find earned-income errors also flags cases with other kinds of errors - and those reviews succeed too. Counting only the intended error type, these rules score 8%; counting every error they actually catch, 19%. Report the second number - it is what reviewers will experience (dashed vs solid lines below).</a:t>
            </a:r>
          </a:p>
        </p:txBody>
      </p:sp>
      <p:pic>
        <p:nvPicPr>
          <p:cNvPr id="5" name="Picture 4" descr="image.png"/>
          <p:cNvPicPr>
            <a:picLocks noChangeAspect="1"/>
          </p:cNvPicPr>
          <p:nvPr/>
        </p:nvPicPr>
        <p:blipFill>
          <a:blip r:embed="rId2"/>
          <a:stretch>
            <a:fillRect/>
          </a:stretch>
        </p:blipFill>
        <p:spPr>
          <a:xfrm>
            <a:off x="1881200" y="1636350"/>
            <a:ext cx="5381600" cy="26908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6314549" cy="430887"/>
          </a:xfrm>
          <a:prstGeom prst="rect">
            <a:avLst/>
          </a:prstGeom>
          <a:noFill/>
        </p:spPr>
        <p:txBody>
          <a:bodyPr wrap="none">
            <a:spAutoFit/>
          </a:bodyPr>
          <a:lstStyle/>
          <a:p>
            <a:r>
              <a:rPr sz="2200" b="1" dirty="0"/>
              <a:t>Appendix:</a:t>
            </a:r>
            <a:r>
              <a:rPr lang="en-US" sz="2200" b="1" dirty="0"/>
              <a:t> added “other” (mostly deductions)</a:t>
            </a:r>
            <a:endParaRPr sz="2200" b="1" dirty="0"/>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646331"/>
          </a:xfrm>
          <a:prstGeom prst="rect">
            <a:avLst/>
          </a:prstGeom>
          <a:noFill/>
        </p:spPr>
        <p:txBody>
          <a:bodyPr wrap="square">
            <a:spAutoFit/>
          </a:bodyPr>
          <a:lstStyle/>
          <a:p>
            <a:pPr>
              <a:spcAft>
                <a:spcPts val="400"/>
              </a:spcAft>
            </a:pPr>
            <a:r>
              <a:rPr sz="1200" dirty="0"/>
              <a:t>- Errors in deductions, shelter costs, and household composition ('other') are the LARGEST error category - 2,007 of 4,460 errors in 2023. They turn out to be </a:t>
            </a:r>
            <a:r>
              <a:rPr lang="en-US" sz="1200" dirty="0"/>
              <a:t>somewhat </a:t>
            </a:r>
            <a:r>
              <a:rPr sz="1200" dirty="0"/>
              <a:t>learnable: this category now contributes the largest block of high-confidence rules (1,700 rules, about 1 in 5 flagged cases having an error on new data).</a:t>
            </a:r>
          </a:p>
        </p:txBody>
      </p:sp>
      <p:pic>
        <p:nvPicPr>
          <p:cNvPr id="5" name="Picture 4" descr="image.png"/>
          <p:cNvPicPr>
            <a:picLocks noChangeAspect="1"/>
          </p:cNvPicPr>
          <p:nvPr/>
        </p:nvPicPr>
        <p:blipFill>
          <a:blip r:embed="rId2"/>
          <a:stretch>
            <a:fillRect/>
          </a:stretch>
        </p:blipFill>
        <p:spPr>
          <a:xfrm>
            <a:off x="1602623" y="1532409"/>
            <a:ext cx="5702181" cy="285109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9990235" cy="430887"/>
          </a:xfrm>
          <a:prstGeom prst="rect">
            <a:avLst/>
          </a:prstGeom>
          <a:noFill/>
        </p:spPr>
        <p:txBody>
          <a:bodyPr wrap="none">
            <a:spAutoFit/>
          </a:bodyPr>
          <a:lstStyle/>
          <a:p>
            <a:r>
              <a:rPr sz="2200" b="1" dirty="0"/>
              <a:t>Appendix: elderly/disabled households - one model works for everyone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4" name="Picture 3" descr="esap_error_mix.png"/>
          <p:cNvPicPr>
            <a:picLocks noChangeAspect="1"/>
          </p:cNvPicPr>
          <p:nvPr/>
        </p:nvPicPr>
        <p:blipFill>
          <a:blip r:embed="rId2"/>
          <a:stretch>
            <a:fillRect/>
          </a:stretch>
        </p:blipFill>
        <p:spPr>
          <a:xfrm>
            <a:off x="1139850" y="850000"/>
            <a:ext cx="6864300" cy="38135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Getting more signal out of SNAP QC data: modeling lessons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What we learned from building, tuning, and stress-testing an error-mining pipeline on the public QC files.</a:t>
            </a:r>
          </a:p>
          <a:p>
            <a:pPr>
              <a:spcAft>
                <a:spcPts val="400"/>
              </a:spcAft>
            </a:pPr>
            <a:r>
              <a:rPr sz="1200"/>
              <a:t>Every claim below is backed by a measurement from our own runs - configurations tried head-to-head on held-out years.</a:t>
            </a:r>
          </a:p>
          <a:p>
            <a:pPr>
              <a:spcAft>
                <a:spcPts val="400"/>
              </a:spcAft>
            </a:pPr>
            <a:r>
              <a:rPr sz="1200"/>
              <a:t>Code and full evidence: https://github.com/giannella/snap_qc (methods/modeling_findings.md)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What we ran</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Task: mine interpretable rules that flag high-error-risk cases; judge every configuration on a year of data it never saw (train 2022+2024, test 2023).</a:t>
            </a:r>
          </a:p>
          <a:p>
            <a:pPr>
              <a:spcAft>
                <a:spcPts val="400"/>
              </a:spcAft>
            </a:pPr>
            <a:r>
              <a:rPr sz="1200"/>
              <a:t>- Compared head-to-head: tree engines and their pairings, ensemble sizes, learning rates, subsampling, tree depth, split randomness, stratification schemes, selection statistics, filter stringencies, and state-level deployment strategies.</a:t>
            </a:r>
          </a:p>
          <a:p>
            <a:pPr>
              <a:spcAft>
                <a:spcPts val="400"/>
              </a:spcAft>
            </a:pPr>
            <a:r>
              <a:rPr sz="1200"/>
              <a:t>- The lessons below are the settings and practices that moved held-out performance - and the ones that didn't.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Two data-build choices changed results more than any tuning</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Cases whose review found a second error element did not fit our single-error reconstruction and were being dropped: 31% of all above-threshold error cases. Keeping them (with a flag) raised qualifying rules from 3,741 to 11,018 at the same filter - more error data tightens every statistical bound.</a:t>
            </a:r>
          </a:p>
          <a:p>
            <a:pPr>
              <a:spcAft>
                <a:spcPts val="400"/>
              </a:spcAft>
            </a:pPr>
            <a:r>
              <a:rPr sz="1200"/>
              <a:t>- The fix did not rewrite the rules' content: 93% of the previous rule set survived the rebuild - 63% as the same variables and directions with shifted cutpoints, 29% matched by a new rule flagging a highly overlapping case set (Jaccard &gt;= 0.5 on the test year), 1% exact; only 7% dropped with no counterpart.</a:t>
            </a:r>
          </a:p>
          <a:p>
            <a:pPr>
              <a:spcAft>
                <a:spcPts val="400"/>
              </a:spcAft>
            </a:pPr>
            <a:r>
              <a:rPr sz="1200"/>
              <a:t>- Nor did the restored cases add a new pattern type: brand-new rules' catches were 34% restored-case vs a 32% base - the gain was statistical power, not different signal.</a:t>
            </a:r>
          </a:p>
          <a:p>
            <a:pPr>
              <a:spcAft>
                <a:spcPts val="400"/>
              </a:spcAft>
            </a:pPr>
            <a:r>
              <a:rPr sz="1200"/>
              <a:t>- Rows with blank optional-deduction fields were also being dropped: ~16% of Washington's caseload. Zero-filling with an imputed-flag kept them.</a:t>
            </a:r>
          </a:p>
          <a:p>
            <a:pPr>
              <a:spcAft>
                <a:spcPts val="400"/>
              </a:spcAft>
            </a:pPr>
            <a:r>
              <a:rPr sz="1200"/>
              <a:t>- Both defects were invisible in model metrics and found only by reconciling row and error counts against the raw files, state by state. We now diff mined-rule sets across data builds (exact / shifted / overlapping / dropped / new) to audit any data change.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Check how much of the error population your data can see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We reconciled the public files against the QC technical documentation's exclusion counts, per state and year (2022-24).</a:t>
            </a:r>
          </a:p>
          <a:p>
            <a:pPr>
              <a:spcAft>
                <a:spcPts val="400"/>
              </a:spcAft>
            </a:pPr>
            <a:r>
              <a:rPr sz="1200"/>
              <a:t>- The public files' share of each state's error cases ranges from 43% to 81% - the excluded cases are the ineligible determinations.</a:t>
            </a:r>
          </a:p>
          <a:p>
            <a:pPr>
              <a:spcAft>
                <a:spcPts val="400"/>
              </a:spcAft>
            </a:pPr>
            <a:r>
              <a:rPr sz="1200"/>
              <a:t>- This bounds what any public-data model can deliver per state; we quote it alongside every state result.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1600200" y="2240280"/>
          <a:ext cx="5943600" cy="1755648"/>
        </p:xfrm>
        <a:graphic>
          <a:graphicData uri="http://schemas.openxmlformats.org/drawingml/2006/table">
            <a:tbl>
              <a:tblPr firstRow="1" bandRow="1">
                <a:tableStyleId>{5C22544A-7EE6-4342-B048-85BDC9FD1C3A}</a:tableStyleId>
              </a:tblPr>
              <a:tblGrid>
                <a:gridCol w="2971800"/>
                <a:gridCol w="2971800"/>
              </a:tblGrid>
              <a:tr h="292608">
                <a:tc>
                  <a:txBody>
                    <a:bodyPr/>
                    <a:lstStyle/>
                    <a:p>
                      <a:r>
                        <a:rPr sz="1200" b="1"/>
                        <a:t>state</a:t>
                      </a:r>
                    </a:p>
                  </a:txBody>
                  <a:tcPr/>
                </a:tc>
                <a:tc>
                  <a:txBody>
                    <a:bodyPr/>
                    <a:lstStyle/>
                    <a:p>
                      <a:r>
                        <a:rPr sz="1200" b="1"/>
                        <a:t>visible share of error cases</a:t>
                      </a:r>
                    </a:p>
                  </a:txBody>
                  <a:tcPr/>
                </a:tc>
              </a:tr>
              <a:tr h="292608">
                <a:tc>
                  <a:txBody>
                    <a:bodyPr/>
                    <a:lstStyle/>
                    <a:p>
                      <a:r>
                        <a:rPr sz="1200" b="0"/>
                        <a:t>New Jersey</a:t>
                      </a:r>
                    </a:p>
                  </a:txBody>
                  <a:tcPr/>
                </a:tc>
                <a:tc>
                  <a:txBody>
                    <a:bodyPr/>
                    <a:lstStyle/>
                    <a:p>
                      <a:r>
                        <a:rPr sz="1200" b="0"/>
                        <a:t>43%</a:t>
                      </a:r>
                    </a:p>
                  </a:txBody>
                  <a:tcPr/>
                </a:tc>
              </a:tr>
              <a:tr h="292608">
                <a:tc>
                  <a:txBody>
                    <a:bodyPr/>
                    <a:lstStyle/>
                    <a:p>
                      <a:r>
                        <a:rPr sz="1200" b="0"/>
                        <a:t>Tennessee</a:t>
                      </a:r>
                    </a:p>
                  </a:txBody>
                  <a:tcPr/>
                </a:tc>
                <a:tc>
                  <a:txBody>
                    <a:bodyPr/>
                    <a:lstStyle/>
                    <a:p>
                      <a:r>
                        <a:rPr sz="1200" b="0"/>
                        <a:t>51%</a:t>
                      </a:r>
                    </a:p>
                  </a:txBody>
                  <a:tcPr/>
                </a:tc>
              </a:tr>
              <a:tr h="292608">
                <a:tc>
                  <a:txBody>
                    <a:bodyPr/>
                    <a:lstStyle/>
                    <a:p>
                      <a:r>
                        <a:rPr sz="1200" b="0"/>
                        <a:t>Arkansas / Missouri / Utah</a:t>
                      </a:r>
                    </a:p>
                  </a:txBody>
                  <a:tcPr/>
                </a:tc>
                <a:tc>
                  <a:txBody>
                    <a:bodyPr/>
                    <a:lstStyle/>
                    <a:p>
                      <a:r>
                        <a:rPr sz="1200" b="0"/>
                        <a:t>~53%</a:t>
                      </a:r>
                    </a:p>
                  </a:txBody>
                  <a:tcPr/>
                </a:tc>
              </a:tr>
              <a:tr h="292608">
                <a:tc>
                  <a:txBody>
                    <a:bodyPr/>
                    <a:lstStyle/>
                    <a:p>
                      <a:r>
                        <a:rPr sz="1200" b="0"/>
                        <a:t>Washington / Virginia / Louisiana</a:t>
                      </a:r>
                    </a:p>
                  </a:txBody>
                  <a:tcPr/>
                </a:tc>
                <a:tc>
                  <a:txBody>
                    <a:bodyPr/>
                    <a:lstStyle/>
                    <a:p>
                      <a:r>
                        <a:rPr sz="1200" b="0"/>
                        <a:t>78-81%</a:t>
                      </a:r>
                    </a:p>
                  </a:txBody>
                  <a:tcPr/>
                </a:tc>
              </a:tr>
              <a:tr h="292608">
                <a:tc>
                  <a:txBody>
                    <a:bodyPr/>
                    <a:lstStyle/>
                    <a:p>
                      <a:r>
                        <a:rPr sz="1200" b="0"/>
                        <a:t>national</a:t>
                      </a:r>
                    </a:p>
                  </a:txBody>
                  <a:tcPr/>
                </a:tc>
                <a:tc>
                  <a:txBody>
                    <a:bodyPr/>
                    <a:lstStyle/>
                    <a:p>
                      <a:r>
                        <a:rPr sz="1200" b="0"/>
                        <a:t>71%</a:t>
                      </a:r>
                    </a:p>
                  </a:txBody>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Selecting rules on raw training precision delivered half of it</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Our 'train precision &gt;= 0.20' shortlist delivered ~0.10 on the held-out year. Before any selection, train precision was nearly unbiased for holdout (median gap -0.003, r = 0.83); rules selected on the HOLDOUT &gt;= 0.20 showed median train precision 0.116.</a:t>
            </a:r>
          </a:p>
          <a:p>
            <a:pPr>
              <a:spcAft>
                <a:spcPts val="400"/>
              </a:spcAft>
            </a:pPr>
            <a:r>
              <a:rPr sz="1200"/>
              <a:t>- So the decay is selection noise (regression to the mean), not overfitting or year drift - the same rules held ~3.9x lift on 2018-19 vs ~3.5x on 2023.</a:t>
            </a:r>
          </a:p>
          <a:p>
            <a:pPr>
              <a:spcAft>
                <a:spcPts val="400"/>
              </a:spcAft>
            </a:pPr>
            <a:r>
              <a:rPr sz="1200"/>
              <a:t>- Any 'generate many candidates, keep the best-measured' step has this problem, whatever the model class.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511296" y="2496312"/>
            <a:ext cx="2121407" cy="2121407"/>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Filter on a lower confidence bound of training precision</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Keep a rule only if the one-sided 99% Wilson lower bound of its training precision clears the floor. At matched delivered precision (~0.20), lower-bound selection caught 12.8% of errors vs 8.2% for raw-precision selection.</a:t>
            </a:r>
          </a:p>
          <a:p>
            <a:pPr>
              <a:spcAft>
                <a:spcPts val="400"/>
              </a:spcAft>
            </a:pPr>
            <a:r>
              <a:rPr sz="1200"/>
              <a:t>- Same rule pool, measured three ways: raw floors overpromise even after a lower-bound gate (floor 0.50 delivers 0.34); lower-bound floors deliver at or above their number (floor 0.30 delivers 0.38, floor 0.40 delivers 0.51).</a:t>
            </a:r>
          </a:p>
          <a:p>
            <a:pPr>
              <a:spcAft>
                <a:spcPts val="400"/>
              </a:spcAft>
            </a:pPr>
            <a:r>
              <a:rPr sz="1200"/>
              <a:t>- The lower bound is the only selection statistic we tested whose value survives contact with a new year.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295690" y="2752344"/>
            <a:ext cx="2552619" cy="1865375"/>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Bigger ensembles widen the menu, not the frontier</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- 1000-round/1000-tree ensembles traced the SAME precision-recall frontier as small ones - but produced several times more distinct rules clearing any given floor (~2.6-5x the filtered inventory).</a:t>
            </a:r>
          </a:p>
          <a:p>
            <a:pPr>
              <a:spcAft>
                <a:spcPts val="400"/>
              </a:spcAft>
            </a:pPr>
            <a:r>
              <a:rPr sz="1200"/>
              <a:t>- That inventory is what states use: reviewers veto rules they distrust and need substitutes.</a:t>
            </a:r>
          </a:p>
          <a:p>
            <a:pPr>
              <a:spcAft>
                <a:spcPts val="400"/>
              </a:spcAft>
            </a:pPr>
            <a:r>
              <a:rPr sz="1200"/>
              <a:t>- The stringent lower-bound filter is what keeps large pools safe: it removes the extra selection noise that more candidates would otherwise inject.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670048" y="2240280"/>
            <a:ext cx="3803903" cy="2377439"/>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Tuning: what moved held-out performance and what didn't</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Engine PAIRING mattered: xgboost + random forest (ranger) beat either engine alone and beat bagged-CART + ranger, everything else held equal.</a:t>
            </a:r>
          </a:p>
          <a:p>
            <a:pPr>
              <a:spcAft>
                <a:spcPts val="400"/>
              </a:spcAft>
            </a:pPr>
            <a:r>
              <a:rPr sz="1200"/>
              <a:t>- Within engines: mtry = 2 beat mtry = 1 across the frontier; slow learning (eta 0.02, 1000 rounds) beat fast; depth 4 sufficed; subsample barely matters (see the replication on the next slide).</a:t>
            </a:r>
          </a:p>
          <a:p>
            <a:pPr>
              <a:spcAft>
                <a:spcPts val="400"/>
              </a:spcAft>
            </a:pPr>
            <a:r>
              <a:rPr sz="1200"/>
              <a:t>- Most other knobs did not move the frontier - we verified by varying one setting at a time around the final configuration.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208237" y="2496312"/>
            <a:ext cx="2727524" cy="2121407"/>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Re-test your selection choices on a year that never judged them</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Every configuration choice above was judged on the same held-out year (2023), so the selection PROCEDURE itself could be overfit to one year. We re-ran the decisive comparisons with the year roles swapped (train 2022+2023, test 2024), with expected outcomes and failure criteria written down BEFORE the run.</a:t>
            </a:r>
          </a:p>
          <a:p>
            <a:pPr>
              <a:spcAft>
                <a:spcPts val="400"/>
              </a:spcAft>
            </a:pPr>
            <a:r>
              <a:rPr sz="1200"/>
              <a:t>- Three of four claims replicated: the engine pairing still leads recall (margin thinner, 2.1pp vs 3pp+), stringency still buys precision monotonically, big ensembles still widen the menu ~7x at ~0.02 precision cost.</a:t>
            </a:r>
          </a:p>
          <a:p>
            <a:pPr>
              <a:spcAft>
                <a:spcPts val="400"/>
              </a:spcAft>
            </a:pPr>
            <a:r>
              <a:rPr sz="1200"/>
              <a:t>- One claim failed and is retired: 'low subsampling beats high' - on 2024 all nine settings from 0.15 to 0.80 land within 0.005 (right panel). The retraction is what makes the survivors credible: the procedure demonstrably can say no.</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replication_selection_studies.png"/>
          <p:cNvPicPr>
            <a:picLocks noChangeAspect="1"/>
          </p:cNvPicPr>
          <p:nvPr/>
        </p:nvPicPr>
        <p:blipFill>
          <a:blip r:embed="rId2"/>
          <a:stretch>
            <a:fillRect/>
          </a:stretch>
        </p:blipFill>
        <p:spPr>
          <a:xfrm>
            <a:off x="2880360" y="3264408"/>
            <a:ext cx="3383279" cy="1353311"/>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Score rules against all error types, not just the mined type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Rules mined for one error type also flag cases carrying other types. Scored only against the mined type, our earned-income rules measured 8% precision on the held-out year; scored against any above-threshold error on the same flags, 19%.</a:t>
            </a:r>
          </a:p>
          <a:p>
            <a:pPr>
              <a:spcAft>
                <a:spcPts val="400"/>
              </a:spcAft>
            </a:pPr>
            <a:r>
              <a:rPr sz="1200"/>
              <a:t>- The gap was similar across frames (~2x). Reporting only the narrow metric understates what reviewers would actually find.</a:t>
            </a:r>
          </a:p>
          <a:p>
            <a:pPr>
              <a:spcAft>
                <a:spcPts val="400"/>
              </a:spcAft>
            </a:pPr>
            <a:r>
              <a:rPr sz="1200"/>
              <a:t>- We now compute both in every run (dashed vs solid below).</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450592" y="2496312"/>
            <a:ext cx="4242815" cy="2121407"/>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Split by coarse household-size strata (1 / 2-3 / 4+)</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Household-size strata 1 / 2-3 / 4+ beat pooled modeling on recall reach and filtered inventory (~5x); a 5-way split was worse on the same test year.</a:t>
            </a:r>
          </a:p>
          <a:p>
            <a:pPr>
              <a:spcAft>
                <a:spcPts val="400"/>
              </a:spcAft>
            </a:pPr>
            <a:r>
              <a:rPr sz="1200"/>
              <a:t>- Adding an elderly/disabled STRATUM on top bought nothing: an indicator variable achieved the same held-out frontier and the same coverage of those households - we checked coverage parity explicitly.</a:t>
            </a:r>
          </a:p>
          <a:p>
            <a:pPr>
              <a:spcAft>
                <a:spcPts val="400"/>
              </a:spcAft>
            </a:pPr>
            <a:r>
              <a:rPr sz="1200"/>
              <a:t>- We test 'new stratum vs new variable' empirically before adding strata; strata cost data and the variable usually suffices.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836302" y="2496312"/>
            <a:ext cx="3471394" cy="2121407"/>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At state scale, confidence bounds alone were not enough</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Mining directly on one state's data (~2,000-3,000 cases/year), rules passing the same 99% lower-bound filter with small support had median HOLDOUT precision of zero at support &gt;= 5.</a:t>
            </a:r>
          </a:p>
          <a:p>
            <a:pPr>
              <a:spcAft>
                <a:spcPts val="400"/>
              </a:spcAft>
            </a:pPr>
            <a:r>
              <a:rPr sz="1200"/>
              <a:t>- Requiring each rule to flag &gt;= 30 training cases changed the failure mode from collapse to gentle deflation (~1/3 below training estimates).</a:t>
            </a:r>
          </a:p>
          <a:p>
            <a:pPr>
              <a:spcAft>
                <a:spcPts val="400"/>
              </a:spcAft>
            </a:pPr>
            <a:r>
              <a:rPr sz="1200"/>
              <a:t>- National scale hides this: with 100k+ cases the bound rarely admits tiny-support rules in the first place.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For thin states, same-era neighbor data beat more own-state data</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Louisiana's own 2022-24 mining collapsed on holdout. Adding its 2017-19 data made it WORSE (median holdout precision fell to zero).</a:t>
            </a:r>
          </a:p>
          <a:p>
            <a:pPr>
              <a:spcAft>
                <a:spcPts val="400"/>
              </a:spcAft>
            </a:pPr>
            <a:r>
              <a:rPr sz="1200"/>
              <a:t>- Training on five similar states' 2022-24 data - never touching Louisiana - delivered 14% precision at 49% of error dollars on Louisiana 2022-24.</a:t>
            </a:r>
          </a:p>
          <a:p>
            <a:pPr>
              <a:spcAft>
                <a:spcPts val="400"/>
              </a:spcAft>
            </a:pPr>
            <a:r>
              <a:rPr sz="1200"/>
              <a:t>- Both comparisons used identical engines and filters; the only differences were WHERE and WHEN the training data came from.</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Evaluate at review budgets, not just statistical floors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Confidence floors produce whatever workload they produce: on the rebuilt data, the 0.20 floor's rule union flags ~half the caseload (which is how 'catch 79% of error dollars' happens). States plan around review capacity, not floors.</a:t>
            </a:r>
          </a:p>
          <a:p>
            <a:pPr>
              <a:spcAft>
                <a:spcPts val="400"/>
              </a:spcAft>
            </a:pPr>
            <a:r>
              <a:rPr sz="1200"/>
              <a:t>- So we also report budget-filled performance: add rules in descending lower-bound order until 5% or 10% of the caseload is flagged. In the deployment test (trained on 2022-23 only, scored on each state's 2024), the national rules deliver median 0.30 precision catching 16% of error dollars at a 5% budget, and 0.27 catching 25% at 10% - against 8-17% base rates.</a:t>
            </a:r>
          </a:p>
          <a:p>
            <a:pPr>
              <a:spcAft>
                <a:spcPts val="400"/>
              </a:spcAft>
            </a:pPr>
            <a:r>
              <a:rPr sz="1200"/>
              <a:t>- The budget lens also corrects floor artifacts: Mississippi's transferred rules stopped firing entirely at a 0.30 floor, yet delivered among the best 5%-budget precision of any state - the rules were fine, the floor wasn't.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best_pool_pr_by_budget.png"/>
          <p:cNvPicPr>
            <a:picLocks noChangeAspect="1"/>
          </p:cNvPicPr>
          <p:nvPr/>
        </p:nvPicPr>
        <p:blipFill>
          <a:blip r:embed="rId2"/>
          <a:stretch>
            <a:fillRect/>
          </a:stretch>
        </p:blipFill>
        <p:spPr>
          <a:xfrm>
            <a:off x="3626068" y="3520440"/>
            <a:ext cx="1891862" cy="1097279"/>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The national rules, deployed a year ahead, state by state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deployment test: rules mined on all states' 2022-23 data, applied in national-confidence order until 10% of the state's caseload is flagged, scored on the state's 2024 cases - a year no rule ever saw.</a:t>
            </a:r>
          </a:p>
          <a:p>
            <a:pPr>
              <a:spcAft>
                <a:spcPts val="400"/>
              </a:spcAft>
            </a:pPr>
            <a:r>
              <a:rPr sz="1200"/>
              <a:t>- Every state clears its base rate: precision 0.18-0.37 against 8-17% base rates, a 1.5-3.4x lift over random review.</a:t>
            </a:r>
          </a:p>
          <a:p>
            <a:pPr>
              <a:spcAft>
                <a:spcPts val="400"/>
              </a:spcAft>
            </a:pPr>
            <a:r>
              <a:rPr sz="1200"/>
              <a:t>- Including the state's own 2022-23 rows in the mining changes little vs holding the state out entirely (median difference ~0.00; per state -0.08 to +0.06): with a truly unseen test year, the national numbers a state is quoted are already honest.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deploy_national_dotplot_budget10.png"/>
          <p:cNvPicPr>
            <a:picLocks noChangeAspect="1"/>
          </p:cNvPicPr>
          <p:nvPr/>
        </p:nvPicPr>
        <p:blipFill>
          <a:blip r:embed="rId2"/>
          <a:stretch>
            <a:fillRect/>
          </a:stretch>
        </p:blipFill>
        <p:spPr>
          <a:xfrm>
            <a:off x="3172968" y="2752344"/>
            <a:ext cx="2798063" cy="1865375"/>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Donor-state similarity: tested, and the national pool held up</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We compute state similarity from the QC microdata itself (which risk patterns fire in a state's caseload; rarely-firing patterns weighted more heavily) and pick each state's 5 nearest donors. Neighbor lists change sharply between 2017-19 and 2022-24, so we compute them per era.</a:t>
            </a:r>
          </a:p>
          <a:p>
            <a:pPr>
              <a:spcAft>
                <a:spcPts val="400"/>
              </a:spcAft>
            </a:pPr>
            <a:r>
              <a:rPr sz="1200"/>
              <a:t>- Scored within the same era, 5-donor pools matched or beat the held-out national pool in 6 of 12 states at a 10% budget (median 0.278 vs 0.245). Re-tested as a deployment (train 2022-23, score 2024), the advantage did not survive: national median 0.27-0.30 vs transfer 0.25-0.26 across budgets.</a:t>
            </a:r>
          </a:p>
          <a:p>
            <a:pPr>
              <a:spcAft>
                <a:spcPts val="400"/>
              </a:spcAft>
            </a:pPr>
            <a:r>
              <a:rPr sz="1200"/>
              <a:t>- Mining a state's own data alone is the high-variance option: the best single results anywhere (Connecticut 0.416, Virginia 0.371 at 10%) but also the worst - Washington's own rules delivered 0.05-0.08 precision on 2024, BELOW its 8.5% base rate. Neighbor pools are the fallback where own-state mining fails, not the default.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Takeaways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Reconcile your build against the raw files before tuning anything: our two data-build fixes moved results more than any hyperparameter.</a:t>
            </a:r>
          </a:p>
          <a:p>
            <a:pPr>
              <a:spcAft>
                <a:spcPts val="400"/>
              </a:spcAft>
            </a:pPr>
            <a:r>
              <a:rPr sz="1200"/>
              <a:t>- Select on a lower confidence bound, judge on a held-out year, and add hard support floors when samples are small.</a:t>
            </a:r>
          </a:p>
          <a:p>
            <a:pPr>
              <a:spcAft>
                <a:spcPts val="400"/>
              </a:spcAft>
            </a:pPr>
            <a:r>
              <a:rPr sz="1200"/>
              <a:t>- Score against all error types; stratify only where a variable can't do the job; prefer same-era similar data over more mixed data.</a:t>
            </a:r>
          </a:p>
          <a:p>
            <a:pPr>
              <a:spcAft>
                <a:spcPts val="400"/>
              </a:spcAft>
            </a:pPr>
            <a:r>
              <a:rPr sz="1200"/>
              <a:t>- Numbers, charts, and code: github.com/giannella/snap_qc</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126</TotalTime>
  <Words>2240</Words>
  <Application>Microsoft Office PowerPoint</Application>
  <PresentationFormat>On-screen Show (16:9)</PresentationFormat>
  <Paragraphs>180</Paragraphs>
  <Slides>22</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Better Government Lab</dc:creator>
  <cp:lastModifiedBy>Eric Giannella</cp:lastModifiedBy>
  <cp:revision>21</cp:revision>
  <dcterms:created xsi:type="dcterms:W3CDTF">2026-06-09T21:09:16Z</dcterms:created>
  <dcterms:modified xsi:type="dcterms:W3CDTF">2026-07-07T23:41:47Z</dcterms:modified>
</cp:coreProperties>
</file>