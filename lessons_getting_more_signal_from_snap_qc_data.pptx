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50" roundtripDataSignature="AMtx7miHiQSzGui/N0IV2pULBjiL6ibjV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11BCCF0-E1D9-4781-8257-B1F1CAFEECCC}">
  <a:tblStyle styleId="{E11BCCF0-E1D9-4781-8257-B1F1CAFEECCC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fill>
          <a:solidFill>
            <a:srgbClr val="CDD4EA"/>
          </a:solidFill>
        </a:fill>
      </a:tcStyle>
    </a:band1H>
    <a:band2H>
      <a:tcTxStyle/>
    </a:band2H>
    <a:band1V>
      <a:tcTxStyle/>
      <a:tcStyle>
        <a:fill>
          <a:solidFill>
            <a:srgbClr val="CDD4EA"/>
          </a:solidFill>
        </a:fill>
      </a:tcStyle>
    </a:band1V>
    <a:band2V>
      <a:tcTxStyle/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0" Type="http://customschemas.google.com/relationships/presentationmetadata" Target="meta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8:notes"/>
          <p:cNvSpPr/>
          <p:nvPr>
            <p:ph idx="2" type="sldImg"/>
          </p:nvPr>
        </p:nvSpPr>
        <p:spPr>
          <a:xfrm>
            <a:off x="-47625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" name="Google Shape;9;p8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9:notes"/>
          <p:cNvSpPr/>
          <p:nvPr>
            <p:ph idx="2" type="sldImg"/>
          </p:nvPr>
        </p:nvSpPr>
        <p:spPr>
          <a:xfrm>
            <a:off x="-47625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" name="Google Shape;15;p9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0:notes"/>
          <p:cNvSpPr/>
          <p:nvPr>
            <p:ph idx="2" type="sldImg"/>
          </p:nvPr>
        </p:nvSpPr>
        <p:spPr>
          <a:xfrm>
            <a:off x="-47625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" name="Google Shape;22;p10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1:notes"/>
          <p:cNvSpPr/>
          <p:nvPr>
            <p:ph idx="2" type="sldImg"/>
          </p:nvPr>
        </p:nvSpPr>
        <p:spPr>
          <a:xfrm>
            <a:off x="-47625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" name="Google Shape;28;p11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2:notes"/>
          <p:cNvSpPr/>
          <p:nvPr>
            <p:ph idx="2" type="sldImg"/>
          </p:nvPr>
        </p:nvSpPr>
        <p:spPr>
          <a:xfrm>
            <a:off x="-47625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" name="Google Shape;35;p12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3:notes"/>
          <p:cNvSpPr/>
          <p:nvPr>
            <p:ph idx="2" type="sldImg"/>
          </p:nvPr>
        </p:nvSpPr>
        <p:spPr>
          <a:xfrm>
            <a:off x="-47625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" name="Google Shape;41;p13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7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17:notes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8:notes"/>
          <p:cNvSpPr/>
          <p:nvPr>
            <p:ph idx="2" type="sldImg"/>
          </p:nvPr>
        </p:nvSpPr>
        <p:spPr>
          <a:xfrm>
            <a:off x="-47625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" name="Google Shape;53;p18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/>
              <a:t>- The fix did not rewrite the rules' content: 93% of the previous rule set survived the rebuild - 63% as the same variables and directions with shifted cutpoints, 29% matched by a new rule flagging a highly overlapping case set (Jaccard &gt;= 0.5 on the test year), 1% exact; only 7% dropped with no counterpart. | - Nor did the restored cases add a new pattern type: brand-new rules' catches were 34% restored-case vs a 32% base - the gain was statistical power, not different signal. 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9:notes"/>
          <p:cNvSpPr/>
          <p:nvPr>
            <p:ph idx="2" type="sldImg"/>
          </p:nvPr>
        </p:nvSpPr>
        <p:spPr>
          <a:xfrm>
            <a:off x="-47625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19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0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20:notes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1:notes"/>
          <p:cNvSpPr/>
          <p:nvPr>
            <p:ph idx="2" type="sldImg"/>
          </p:nvPr>
        </p:nvSpPr>
        <p:spPr>
          <a:xfrm>
            <a:off x="-47625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" name="Google Shape;74;p21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[RevD - principal DS] Title reworded per review section 5: 'delivered half of it' had an unclear antecedent.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2:notes"/>
          <p:cNvSpPr/>
          <p:nvPr>
            <p:ph idx="2" type="sldImg"/>
          </p:nvPr>
        </p:nvSpPr>
        <p:spPr>
          <a:xfrm>
            <a:off x="-47625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22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23:notes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4:notes"/>
          <p:cNvSpPr/>
          <p:nvPr>
            <p:ph idx="2" type="sldImg"/>
          </p:nvPr>
        </p:nvSpPr>
        <p:spPr>
          <a:xfrm>
            <a:off x="-47625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p24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5:notes"/>
          <p:cNvSpPr/>
          <p:nvPr>
            <p:ph idx="2" type="sldImg"/>
          </p:nvPr>
        </p:nvSpPr>
        <p:spPr>
          <a:xfrm>
            <a:off x="-47625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25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6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26:notes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7:notes"/>
          <p:cNvSpPr/>
          <p:nvPr>
            <p:ph idx="2" type="sldImg"/>
          </p:nvPr>
        </p:nvSpPr>
        <p:spPr>
          <a:xfrm>
            <a:off x="-47625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27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[2026-07-12 revision] revB: added the destination so the section poses a question it then answers.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8:notes"/>
          <p:cNvSpPr/>
          <p:nvPr>
            <p:ph idx="2" type="sldImg"/>
          </p:nvPr>
        </p:nvSpPr>
        <p:spPr>
          <a:xfrm>
            <a:off x="-47625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p28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[2026-07-12 revision] Comment 'explain / review': verified against the Virginia year-split logs (custom_one_off/virginia/): bound-only arm median 2024 precision 0.000, 262 of 583 rules caught nothing; support-floor arm 0.326 -&gt; 0.211 (~1/3 deflation), 7 of 522 at zero. One correction: the second arm used a RAW 0.30 floor with n &gt;= 30, not the lower-bound filter. Mechanism line added.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9:notes"/>
          <p:cNvSpPr/>
          <p:nvPr>
            <p:ph idx="2" type="sldImg"/>
          </p:nvPr>
        </p:nvSpPr>
        <p:spPr>
          <a:xfrm>
            <a:off x="-47625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p29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dk1"/>
                </a:solidFill>
              </a:rPr>
              <a:t>Own-state mining is the high-variance option: the best results anywhere (Connecticut 0.416 at 10%) and the worst (Washington 0.049-0.075, below its 8.5% base rate). Era matters too: adding Louisiana's 2017-19 data to its 2022-24 mining made results worse, not better.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dk1"/>
                </a:solidFill>
              </a:rPr>
              <a:t>Similar-state (neighbor) pools are insurance where own-state mining fails (Washington 0.247, Louisiana 0.207 at 10%), not a first choice.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dk1"/>
                </a:solidFill>
              </a:rPr>
              <a:t>Re-filtering or re-tuning the national rules on a state's own data also failed to beat the national ordering for the median state.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[RevD - principal DS] New slide replacing six superseded Part-3 slides (Louisiana neighbors, donor similarity, two-regime, three adaptation schemes + medians + schematic) per review Top-5 #2. Numbers: modeling_findings.md section 14 (time-shifted deployment benchmark, train 2022-23 / test 2024) and section 12/9 for the era-match lesson. Content preserved from the cut slides:</a:t>
            </a:r>
            <a:endParaRPr/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[RevD - principal DS] (cut slide 'For thin states, same-era neighbor data beat more own-state data') Louisiana's own 2022-24 mining collapsed on holdout; adding its 2017-19 data made it WORSE (median holdout precision zero). Training on five similar states' 2022-24 data - never touching Louisiana - delivered 14% precision at 49% of error dollars on Louisiana 2022-24. Superseded as a recipe: on 2024, neighbor pools trailed the national and blended lists (median 0.25 vs 0.26-0.32). What survives: match the era; neighbors beat own-state where own-state collapses.</a:t>
            </a:r>
            <a:endParaRPr/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[RevD - principal DS] (cut slide 'Donor-state similarity') Similarity computed from the QC microdata (which rules fire in a state; rare rules weighted up); 5 nearest donors. Neighbor lists change across eras: only ~2 of 5 members persist. Same-era, neighbor pools looked competitive at a 10% budget; tested on 2024 the advantage vanished.</a:t>
            </a:r>
            <a:endParaRPr/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[RevD - principal DS] (cut slide 'Two-regime approach') Default: the national list in confidence order; fallback: the state's own rules where they win and the state's validation confirms it. Precursor to the blend, which folds both into one ranked list and was best.</a:t>
            </a:r>
            <a:endParaRPr/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[RevD - principal DS] (cut slides 'Adaptation schemes' + medians table + schematic) filtered = national rules re-qualified on the state's data; tuned = thresholds re-searched; hybrid = careful gate, dollar-max pick. Median across 18 states: national as-is 0.301/16% (5%), 0.275/25% (10%); filtered 0.273/13%, 0.261/24%; tuned 0.235/7%, 0.237/14%; hybrid 0.292/14%, 0.259/26%. No scheme beats the national ordering for the median state; adaptation pays where the national list is weak (NJ, MS, DC), hurts where it is strong (MI, WA, MA); the tuned arm is too conservative.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0:notes"/>
          <p:cNvSpPr/>
          <p:nvPr>
            <p:ph idx="2" type="sldImg"/>
          </p:nvPr>
        </p:nvSpPr>
        <p:spPr>
          <a:xfrm>
            <a:off x="-47625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" name="Google Shape;143;p30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[2026-07-12 revision] Chart re-rendered with states alphabetical.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[2026-07-12 rev2] Comment 'did we have an 18 state version? can we include that?': yes - chart swapped to the 18-state workshop version (workshop_national_dotplot_budget10.png; adds ME, MD, MO, MA, DC, TN). Range updated: 10%-budget precision 0.177 (NJ) to 0.433 (DC); base rates 8.5-21.9%; lift 1.5x (TX) to 3.4x (WA).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[2026-07-12 rev2] revB condensed (include-own-state finding moved to notes). Original text: - The deployment test: rules mined on all states' 2022-23 data, applied in national-confidence order until 10% of the state's caseload is flagged, scored on the state's 2024 cases - a year no rule ever saw. | - Every state clears its base rate: precision 0.18-0.43 against 8-22% base rates, a 1.5-3.4x lift over random review. | - Including the state's own 2022-23 rows in the mining changes little vs holding the state out entirely (median difference ~0.00; per state -0.08 to +0.06): with a truly unseen test year, the national numbers a state is quoted are already honest.</a:t>
            </a:r>
            <a:endParaRPr/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[RevD - principal DS] Swapped the dot plot for the base-rate dumbbell per review Top-5 #4 (methods/visualize_deploy_dumbbell_v2.R -&gt; deploy_national_dumbbell_budget10.png; data: deployment_menu_train2223_test24.csv + deployment_menu_workshop_extension.csv, approach national_all, budget 0.1). Reframed 'lift over random review' as 'unaided review of the same volume' per review section 5.</a:t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1:notes"/>
          <p:cNvSpPr/>
          <p:nvPr>
            <p:ph idx="2" type="sldImg"/>
          </p:nvPr>
        </p:nvSpPr>
        <p:spPr>
          <a:xfrm>
            <a:off x="-47625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31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[RevC - statistician] New slide, no new analysis - the same 18-state chart, read the way a statistician would: interval overlap means rank order is weak evidence, base-rate clearance is strong evidence. This also inoculates the audience against over-reading their own state's position.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2:notes"/>
          <p:cNvSpPr/>
          <p:nvPr>
            <p:ph idx="2" type="sldImg"/>
          </p:nvPr>
        </p:nvSpPr>
        <p:spPr>
          <a:xfrm>
            <a:off x="-47625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32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[2026-07-12 rev2] revB condensed (full mechanics moved to notes). Original text: - Merge the state's own mined pool into the national pool and rank EVERY rule by its own 99% lower-bound precision - national rules bounded on national training data, state rules on the state's own. Both read 'at least this, with 99% confidence', and the bound applies the certainty discount automatically: a small-support state rule outranks national rules only when its precision overcomes the penalty. | - As a single recipe with no regime decision, the blend beats the national-only frozen list at a 5% budget (median 0.324 vs 0.294 precision, 15% vs 12% of error dollars) and ties it at 10%. Where state rules clear the bar, interleaving beats either pool alone: Arizona 0.326 (vs 0.291 best single), DC 0.495 (vs 0.464), Mississippi 0.374 (vs 0.355). | - The known blind spot: a national rule's bound describes its precision on the national mix and is silent about transfer, so in states where the national mix fits worst the scale over-trusts national rules - New Jersey's own rules never enter and the blend under-delivers there (0.161 vs 0.230 for its own list at 10%). | - Deployment: blend as the default; the own-pool list stays available as the fallback where a state's internal validation shows the blend under-performing. In low-visibility states (New Jersey: 43% of error cases visible) the public data cannot settle the question - the state's internal check decides.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[2026-07-12 rev3] Comment 'move this to the top of the blend section': blend section now runs intro -&gt; per-state chart -&gt; few-dozen mechanics -&gt; deliverable -&gt; freeze cost -&gt; handoff table.</a:t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3:notes"/>
          <p:cNvSpPr/>
          <p:nvPr>
            <p:ph idx="2" type="sldImg"/>
          </p:nvPr>
        </p:nvSpPr>
        <p:spPr>
          <a:xfrm>
            <a:off x="-47625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" name="Google Shape;167;p33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[2026-07-12 revision] Chart re-rendered with states alphabetical (same 5% blend chart).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[2026-07-12 rev2] revB condensed (Mississippi floor-artifact example moved to notes). Original text: - Confidence floors produce whatever workload they produce: on the rebuilt data, the 0.20 floor's rule union flags ~half the caseload (which is how 'catch 79% of error dollars' happens). States plan around review capacity, not floors. | - So we also report budget-filled performance: add rules in descending lower-bound order until 5% or 10% of the caseload is flagged. In the deployment test (trained on 2022-23 only, scored on each state's 2024), the national rules deliver median 0.30 precision catching 16% of error dollars at a 5% budget, and 0.27 catching 25% at 10% - against 8-17% base rates. | - The budget lens also corrects floor artifacts: Mississippi's transferred rules stopped firing entirely at a 0.30 floor, yet delivered among the best 5%-budget precision of any state - the rules were fine, the floor wasn't.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[RevC - statistician] Context worth saying aloud: floors are statistical statements, budgets are operational ones. A floor left the workload to chance (half the caseload); the budget lens fixes the operational variable and lets precision and dollars be compared apples to apples across every option in the talk.</a:t>
            </a:r>
            <a:endParaRPr/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[RevD - principal DS] Added the precision-basis footnote (findings section 6: frame-relative understates deployed ~2x) and replaced 'budget-filled' jargon per review sections 5-6.</a:t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4:notes"/>
          <p:cNvSpPr/>
          <p:nvPr>
            <p:ph idx="2" type="sldImg"/>
          </p:nvPr>
        </p:nvSpPr>
        <p:spPr>
          <a:xfrm>
            <a:off x="-47625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5" name="Google Shape;175;p34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[2026-07-12 rev2] revB condensed (exact feature counts moved to notes). Original text: - The three rules deployed by the most states (of 18) in each household-size stratum, from the 10%-budget national deployment. Each is a plain checkable condition. Benefit amounts relative to the household maximum appear in 8 of the 9 rules and deduction levels relative to household size in 7; certification timing, utilities, and shelter levels fill out the rest.</a:t>
            </a:r>
            <a:endParaRPr/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[RevD - principal DS] Reframed per review section 5: 'benefits-near-max and deduction levels dominate' read as if the rules chase deduction errors, which states treat as low-value. The rules use deduction LEVELS as predictors; hits are any-error (the mining and scoring recipe is any-error throughout).</a:t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5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35:notes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:notes"/>
          <p:cNvSpPr/>
          <p:nvPr>
            <p:ph idx="2" type="sldImg"/>
          </p:nvPr>
        </p:nvSpPr>
        <p:spPr>
          <a:xfrm>
            <a:off x="-47625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9" name="Google Shape;189;p36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7:notes"/>
          <p:cNvSpPr/>
          <p:nvPr>
            <p:ph idx="2" type="sldImg"/>
          </p:nvPr>
        </p:nvSpPr>
        <p:spPr>
          <a:xfrm>
            <a:off x="-47625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p37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:notes"/>
          <p:cNvSpPr/>
          <p:nvPr>
            <p:ph idx="2" type="sldImg"/>
          </p:nvPr>
        </p:nvSpPr>
        <p:spPr>
          <a:xfrm>
            <a:off x="-47625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p38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9:notes"/>
          <p:cNvSpPr/>
          <p:nvPr>
            <p:ph idx="2" type="sldImg"/>
          </p:nvPr>
        </p:nvSpPr>
        <p:spPr>
          <a:xfrm>
            <a:off x="-47625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3" name="Google Shape;213;p39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:notes"/>
          <p:cNvSpPr/>
          <p:nvPr>
            <p:ph idx="2" type="sldImg"/>
          </p:nvPr>
        </p:nvSpPr>
        <p:spPr>
          <a:xfrm>
            <a:off x="-47625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0" name="Google Shape;220;p40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41:notes"/>
          <p:cNvSpPr/>
          <p:nvPr>
            <p:ph idx="2" type="sldImg"/>
          </p:nvPr>
        </p:nvSpPr>
        <p:spPr>
          <a:xfrm>
            <a:off x="-47625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7" name="Google Shape;227;p41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2:notes"/>
          <p:cNvSpPr/>
          <p:nvPr>
            <p:ph idx="2" type="sldImg"/>
          </p:nvPr>
        </p:nvSpPr>
        <p:spPr>
          <a:xfrm>
            <a:off x="-47625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4" name="Google Shape;234;p42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43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43:notes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4:notes"/>
          <p:cNvSpPr/>
          <p:nvPr>
            <p:ph idx="2" type="sldImg"/>
          </p:nvPr>
        </p:nvSpPr>
        <p:spPr>
          <a:xfrm>
            <a:off x="-47625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6" name="Google Shape;246;p44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:notes"/>
          <p:cNvSpPr/>
          <p:nvPr>
            <p:ph idx="2" type="sldImg"/>
          </p:nvPr>
        </p:nvSpPr>
        <p:spPr>
          <a:xfrm>
            <a:off x="-47625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4" name="Google Shape;254;p45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46:notes"/>
          <p:cNvSpPr/>
          <p:nvPr>
            <p:ph idx="2" type="sldImg"/>
          </p:nvPr>
        </p:nvSpPr>
        <p:spPr>
          <a:xfrm>
            <a:off x="-47625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" name="Google Shape;261;p46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7:notes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47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8:notes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5" name="Google Shape;275;p48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9:notes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1" name="Google Shape;281;p49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:notes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7" name="Google Shape;287;p50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51:notes"/>
          <p:cNvSpPr/>
          <p:nvPr>
            <p:ph idx="2" type="sldImg"/>
          </p:nvPr>
        </p:nvSpPr>
        <p:spPr>
          <a:xfrm>
            <a:off x="-47625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3" name="Google Shape;293;p51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2:notes"/>
          <p:cNvSpPr/>
          <p:nvPr>
            <p:ph idx="2" type="sldImg"/>
          </p:nvPr>
        </p:nvSpPr>
        <p:spPr>
          <a:xfrm>
            <a:off x="-47625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9" name="Google Shape;299;p52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53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53:notes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4:notes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1" name="Google Shape;311;p54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9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3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8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2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20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7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8"/>
          <p:cNvSpPr txBox="1"/>
          <p:nvPr/>
        </p:nvSpPr>
        <p:spPr>
          <a:xfrm>
            <a:off x="640080" y="1543050"/>
            <a:ext cx="7863840" cy="16260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Getting more signal out of SNAP QC data</a:t>
            </a:r>
            <a:endParaRPr b="1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modeling lessons  ·  open-source code  ·  rules each state can test on FY25/26</a:t>
            </a:r>
            <a:endParaRPr/>
          </a:p>
        </p:txBody>
      </p:sp>
      <p:sp>
        <p:nvSpPr>
          <p:cNvPr id="12" name="Google Shape;12;p8"/>
          <p:cNvSpPr txBox="1"/>
          <p:nvPr/>
        </p:nvSpPr>
        <p:spPr>
          <a:xfrm>
            <a:off x="640080" y="3806190"/>
            <a:ext cx="7863840" cy="8412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Eric Giannella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1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Georgetown Better Government Lab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1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July 2026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9"/>
          <p:cNvSpPr txBox="1"/>
          <p:nvPr/>
        </p:nvSpPr>
        <p:spPr>
          <a:xfrm>
            <a:off x="400000" y="200000"/>
            <a:ext cx="4507965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Two key things I want to convey</a:t>
            </a:r>
            <a:endParaRPr b="1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9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sp>
        <p:nvSpPr>
          <p:cNvPr id="19" name="Google Shape;19;p9"/>
          <p:cNvSpPr txBox="1"/>
          <p:nvPr/>
        </p:nvSpPr>
        <p:spPr>
          <a:xfrm>
            <a:off x="402336" y="758952"/>
            <a:ext cx="8321100" cy="18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We’ve published 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public available rules that may help improve precision &amp; recall. I’d love to get additional volunteers to test.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publicly available code reflects the modeling lessons I’m going to go through today. Hopefully the lessons are helpful even if you do not use the publicly available code.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0"/>
          <p:cNvSpPr txBox="1"/>
          <p:nvPr/>
        </p:nvSpPr>
        <p:spPr>
          <a:xfrm>
            <a:off x="400000" y="200000"/>
            <a:ext cx="793198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Opportunit</a:t>
            </a:r>
            <a:r>
              <a:rPr b="1" lang="en-US" sz="2200"/>
              <a:t>ies</a:t>
            </a: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(</a:t>
            </a:r>
            <a:r>
              <a:rPr b="1" lang="en-US" sz="2200"/>
              <a:t>aka</a:t>
            </a: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favors)</a:t>
            </a:r>
            <a:endParaRPr/>
          </a:p>
        </p:txBody>
      </p:sp>
      <p:sp>
        <p:nvSpPr>
          <p:cNvPr id="25" name="Google Shape;25;p10"/>
          <p:cNvSpPr txBox="1"/>
          <p:nvPr/>
        </p:nvSpPr>
        <p:spPr>
          <a:xfrm>
            <a:off x="400000" y="760000"/>
            <a:ext cx="7511400" cy="39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175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arenR"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Apply a frozen, ranked rule list to your FY25/26 cases and tell us the hit rate. No modeling, no re-training. The list was mined on all states' 2022-24 public QC data. </a:t>
            </a:r>
            <a:endParaRPr/>
          </a:p>
          <a:p>
            <a: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lphaLcParenR"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approach has been tested by mining rules from 2022-23 and testing on 2024: </a:t>
            </a:r>
            <a:endParaRPr/>
          </a:p>
          <a:p>
            <a: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romanLcParenR"/>
            </a:pPr>
            <a:r>
              <a:rPr lang="en-US"/>
              <a:t>M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edian precision 0.27-0.30 at 5-10% review budgets, against state base error rates of 8-17%.</a:t>
            </a:r>
            <a:endParaRPr/>
          </a:p>
          <a:p>
            <a: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romanLcParenR"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Recall of 15-24% error dollars at 5-10% caseload review budgets. </a:t>
            </a:r>
            <a:endParaRPr/>
          </a:p>
          <a:p>
            <a: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romanLcParenR"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18 states tested cleared their base rate: the rules found 1.5-3.4x the errors that unaided review of the same volume finds.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arenR"/>
            </a:pPr>
            <a:r>
              <a:rPr lang="en-US"/>
              <a:t>Use the code yourself! Could combine your state’s data with national qc data (also in the repo).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Code and findings: github.com/giannella/snap_qc (methods/modeling_findings.md)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1"/>
          <p:cNvSpPr txBox="1"/>
          <p:nvPr/>
        </p:nvSpPr>
        <p:spPr>
          <a:xfrm>
            <a:off x="400000" y="200000"/>
            <a:ext cx="3074881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What a rule looks like</a:t>
            </a:r>
            <a:endParaRPr b="1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1"/>
          <p:cNvSpPr txBox="1"/>
          <p:nvPr/>
        </p:nvSpPr>
        <p:spPr>
          <a:xfrm>
            <a:off x="402336" y="758952"/>
            <a:ext cx="8321100" cy="21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One of the most widely shipped rules (households of 4+):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certified 10 or more months ago,  AND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computed benefit at 68-82% of the household maximum,  AND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deductions per household member of at least $27   </a:t>
            </a:r>
            <a:r>
              <a:rPr b="0" i="1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-&gt;   flag the case for review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 2022-23 training data it flagged 173 cases; 40% had a payment error (99% lower bound: at least 32%). It’s on 15 of the 18 state lists.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 typical rule combines 3-4 conditions drawn from 16 case fields.</a:t>
            </a:r>
            <a:endParaRPr/>
          </a:p>
        </p:txBody>
      </p:sp>
      <p:sp>
        <p:nvSpPr>
          <p:cNvPr id="32" name="Google Shape;32;p11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2"/>
          <p:cNvSpPr txBox="1"/>
          <p:nvPr/>
        </p:nvSpPr>
        <p:spPr>
          <a:xfrm>
            <a:off x="400000" y="208586"/>
            <a:ext cx="5072222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Intuition for new modeling approach</a:t>
            </a:r>
            <a:endParaRPr b="1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12"/>
          <p:cNvSpPr txBox="1"/>
          <p:nvPr/>
        </p:nvSpPr>
        <p:spPr>
          <a:xfrm>
            <a:off x="400000" y="772875"/>
            <a:ext cx="6661200" cy="417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cap="none" strike="noStrike">
                <a:solidFill>
                  <a:srgbClr val="000000"/>
                </a:solidFill>
              </a:rPr>
              <a:t>Goal: create the best pool of rules that can be filtered and applied per state.</a:t>
            </a:r>
            <a:endParaRPr b="1" sz="1600"/>
          </a:p>
          <a:p>
            <a:pPr indent="-330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i="1" lang="en-US" sz="1600"/>
              <a:t>hopefully means the method itself is also useful</a:t>
            </a:r>
            <a:endParaRPr i="1"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600"/>
              <a:t>Originally: relied on d</a:t>
            </a:r>
            <a:r>
              <a:rPr b="0" i="0" lang="en-US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ecision trees with lots of </a:t>
            </a:r>
            <a:r>
              <a:rPr lang="en-US" sz="1600"/>
              <a:t>15-30% </a:t>
            </a:r>
            <a:r>
              <a:rPr b="0" i="0" lang="en-US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subsampling to </a:t>
            </a:r>
            <a:r>
              <a:rPr lang="en-US" sz="1600"/>
              <a:t>ensure </a:t>
            </a:r>
            <a:r>
              <a:rPr b="0" i="0" lang="en-US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diversity. But, this approach benefited less from learning. (And, </a:t>
            </a:r>
            <a:r>
              <a:rPr lang="en-US" sz="1600"/>
              <a:t>g</a:t>
            </a:r>
            <a:r>
              <a:rPr b="0" i="0" lang="en-US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etting rules out of </a:t>
            </a:r>
            <a:r>
              <a:rPr lang="en-US" sz="1600"/>
              <a:t>tree methods used to be a pain, but now it’s not.)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600"/>
              <a:t>New approach:</a:t>
            </a:r>
            <a:endParaRPr sz="1600"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The pipeline extracts every root-to-node path in every tree as a candidate rule; xgboost's boosting makes it better at common error patterns.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To ensure coverage for less common circumstances, we added a random forest allowed to choose between only 1 or 2 variables at each split (2 was better).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3"/>
          <p:cNvSpPr txBox="1"/>
          <p:nvPr/>
        </p:nvSpPr>
        <p:spPr>
          <a:xfrm>
            <a:off x="400000" y="208575"/>
            <a:ext cx="75297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How the two engines complement each other</a:t>
            </a:r>
            <a:endParaRPr b="1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" name="Google Shape;4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1525" y="841625"/>
            <a:ext cx="8080925" cy="4037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7"/>
          <p:cNvSpPr txBox="1"/>
          <p:nvPr/>
        </p:nvSpPr>
        <p:spPr>
          <a:xfrm>
            <a:off x="731520" y="1748790"/>
            <a:ext cx="7680960" cy="8258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777777"/>
                </a:solidFill>
                <a:latin typeface="Arial"/>
                <a:ea typeface="Arial"/>
                <a:cs typeface="Arial"/>
                <a:sym typeface="Arial"/>
              </a:rPr>
              <a:t>PART 1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improvements and limitations</a:t>
            </a:r>
            <a:endParaRPr b="1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17"/>
          <p:cNvSpPr/>
          <p:nvPr/>
        </p:nvSpPr>
        <p:spPr>
          <a:xfrm>
            <a:off x="3200400" y="1543050"/>
            <a:ext cx="2743200" cy="17780"/>
          </a:xfrm>
          <a:prstGeom prst="rect">
            <a:avLst/>
          </a:prstGeom>
          <a:solidFill>
            <a:srgbClr val="40404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8"/>
          <p:cNvSpPr txBox="1"/>
          <p:nvPr/>
        </p:nvSpPr>
        <p:spPr>
          <a:xfrm>
            <a:off x="400000" y="200000"/>
            <a:ext cx="8451353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Two data munging choices changed results more than tuning</a:t>
            </a:r>
            <a:endParaRPr/>
          </a:p>
        </p:txBody>
      </p:sp>
      <p:sp>
        <p:nvSpPr>
          <p:cNvPr id="56" name="Google Shape;56;p18"/>
          <p:cNvSpPr txBox="1"/>
          <p:nvPr/>
        </p:nvSpPr>
        <p:spPr>
          <a:xfrm>
            <a:off x="400000" y="760000"/>
            <a:ext cx="6720835" cy="177484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1) Worried that second error element cases would mislead the model, </a:t>
            </a:r>
            <a:r>
              <a:rPr b="0" i="1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probably </a:t>
            </a: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matter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- 31% of error cases were being dropped (second error element); restoring them tripled the qualifying rules.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Rule content survived the fix: 93% of the old rule set persisted.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2) Blank deduction fields dropped cases from models (e.g., ~16% of Washington's caseload); zero-fill + flag kept them. Ran search for other blanks vars. 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Both defects were invisible in model metrics - found only by reconciling counts against the raw files.</a:t>
            </a:r>
            <a:endParaRPr/>
          </a:p>
        </p:txBody>
      </p:sp>
      <p:sp>
        <p:nvSpPr>
          <p:cNvPr id="57" name="Google Shape;57;p18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9"/>
          <p:cNvSpPr txBox="1"/>
          <p:nvPr/>
        </p:nvSpPr>
        <p:spPr>
          <a:xfrm>
            <a:off x="400000" y="200000"/>
            <a:ext cx="7853432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Limitations of the public QC data – esp. for certain states</a:t>
            </a:r>
            <a:endParaRPr b="1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9"/>
          <p:cNvSpPr txBox="1"/>
          <p:nvPr/>
        </p:nvSpPr>
        <p:spPr>
          <a:xfrm>
            <a:off x="402336" y="758952"/>
            <a:ext cx="4526280" cy="26853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 reconciled the public files against the QC technical documentation's exclusion counts, per state and year (2022-24).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public files show 43% (New Jersey) to 91% (Georgia) of each state's error cases; national 71%. The missing cases are ineligible determinations.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This bounds what any public-data model can deliver per state; we quote it alongside every state result.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Below ~60% visibility (NJ, TN, AR, MO, UT): treat these rules as a supplement and run the mining pipeline on internal data - it runs in a few min on a 16 GB laptop; a full mining run takes ~45 minutes.</a:t>
            </a:r>
            <a:endParaRPr/>
          </a:p>
        </p:txBody>
      </p:sp>
      <p:sp>
        <p:nvSpPr>
          <p:cNvPr id="64" name="Google Shape;64;p19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descr="visibility_dotplot_2022_2024.png" id="65" name="Google Shape;65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74920" y="566928"/>
            <a:ext cx="3757889" cy="41605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0"/>
          <p:cNvSpPr txBox="1"/>
          <p:nvPr/>
        </p:nvSpPr>
        <p:spPr>
          <a:xfrm>
            <a:off x="731520" y="1748790"/>
            <a:ext cx="7680960" cy="8258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777777"/>
                </a:solidFill>
                <a:latin typeface="Arial"/>
                <a:ea typeface="Arial"/>
                <a:cs typeface="Arial"/>
                <a:sym typeface="Arial"/>
              </a:rPr>
              <a:t>PART 2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Selecting rules</a:t>
            </a:r>
            <a:endParaRPr/>
          </a:p>
        </p:txBody>
      </p:sp>
      <p:sp>
        <p:nvSpPr>
          <p:cNvPr id="71" name="Google Shape;71;p20"/>
          <p:cNvSpPr/>
          <p:nvPr/>
        </p:nvSpPr>
        <p:spPr>
          <a:xfrm>
            <a:off x="3200400" y="1543050"/>
            <a:ext cx="2743200" cy="17780"/>
          </a:xfrm>
          <a:prstGeom prst="rect">
            <a:avLst/>
          </a:prstGeom>
          <a:solidFill>
            <a:srgbClr val="40404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1"/>
          <p:cNvSpPr txBox="1"/>
          <p:nvPr/>
        </p:nvSpPr>
        <p:spPr>
          <a:xfrm>
            <a:off x="400000" y="200000"/>
            <a:ext cx="8199681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Raw training precision example: promised 0.20 and delivered 0.10</a:t>
            </a:r>
            <a:endParaRPr/>
          </a:p>
        </p:txBody>
      </p:sp>
      <p:sp>
        <p:nvSpPr>
          <p:cNvPr id="77" name="Google Shape;77;p21"/>
          <p:cNvSpPr txBox="1"/>
          <p:nvPr/>
        </p:nvSpPr>
        <p:spPr>
          <a:xfrm>
            <a:off x="400000" y="763153"/>
            <a:ext cx="3974524" cy="3448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Setting rules based on training precision: </a:t>
            </a:r>
            <a:endParaRPr/>
          </a:p>
          <a:p>
            <a:pPr indent="-285750" lvl="0" marL="285750" marR="0" rtl="0" algn="l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-"/>
            </a:pPr>
            <a:r>
              <a:rPr b="0" i="1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 0.20 raw bar delivered ~0.18 combined; a 0.40 bar delivered ~0.22 (red)</a:t>
            </a:r>
            <a:endParaRPr/>
          </a:p>
          <a:p>
            <a:pPr indent="-285750" lvl="0" marL="285750" marR="0" rtl="0" algn="l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-"/>
            </a:pPr>
            <a:r>
              <a:rPr b="0" i="1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Simple filter &gt;.2 with confidence bound has expected decay (blue)</a:t>
            </a:r>
            <a:endParaRPr/>
          </a:p>
          <a:p>
            <a:pPr indent="-171450" lvl="0" marL="171450" marR="0" rtl="0" algn="l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-"/>
            </a:pPr>
            <a:r>
              <a:rPr b="0" i="1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But, rules selected on the HOLDOUT &gt;= 0.20 showed median train precision 0.116.</a:t>
            </a:r>
            <a:endParaRPr/>
          </a:p>
          <a:p>
            <a:pPr indent="-171450" lvl="0" marL="171450" marR="0" rtl="0" algn="l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-"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And, before any selection, train precision was nearly unbiased for holdout (median gap -0.003, r = 0.83)</a:t>
            </a:r>
            <a:endParaRPr b="0" i="1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So the decay is selection noise (regression to the mean), not overfitting or year drift</a:t>
            </a:r>
            <a:endParaRPr/>
          </a:p>
        </p:txBody>
      </p:sp>
      <p:sp>
        <p:nvSpPr>
          <p:cNvPr id="78" name="Google Shape;78;p21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descr="image.png" id="79" name="Google Shape;79;p21"/>
          <p:cNvPicPr preferRelativeResize="0"/>
          <p:nvPr/>
        </p:nvPicPr>
        <p:blipFill rotWithShape="1">
          <a:blip r:embed="rId3">
            <a:alphaModFix/>
          </a:blip>
          <a:srcRect b="0" l="11621" r="10982" t="16353"/>
          <a:stretch/>
        </p:blipFill>
        <p:spPr>
          <a:xfrm>
            <a:off x="4649273" y="643069"/>
            <a:ext cx="4031088" cy="43566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2"/>
          <p:cNvSpPr txBox="1"/>
          <p:nvPr/>
        </p:nvSpPr>
        <p:spPr>
          <a:xfrm>
            <a:off x="400000" y="200000"/>
            <a:ext cx="701987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Better way to select rules: lower confidence bound</a:t>
            </a:r>
            <a:endParaRPr b="1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22"/>
          <p:cNvSpPr txBox="1"/>
          <p:nvPr/>
        </p:nvSpPr>
        <p:spPr>
          <a:xfrm>
            <a:off x="400000" y="759998"/>
            <a:ext cx="3200000" cy="387227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Keep a rule only if the 99% Wilson lower bound of its training precision clears the floor: delivered precision then meets the floor, with ~50% more recall at 0.20 than raw selection.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Example:</a:t>
            </a:r>
            <a:endParaRPr/>
          </a:p>
          <a:p>
            <a:pPr indent="-171450" lvl="0" marL="171450" marR="0" rtl="0" algn="l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At 10 cases flagged, aiming for 0.3 precision: need 7 of 10 hits (raw 0.70)</a:t>
            </a:r>
            <a:endParaRPr/>
          </a:p>
          <a:p>
            <a:pPr indent="-171450" lvl="0" marL="171450" marR="0" rtl="0" algn="l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At 100 cases flagged, aiming for 0.3 precision: need 41 of 100 hits (raw 0.41)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(Raw selection also had a support floor: n &gt;= 10, but curse survived it.)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The lower bound is the only selection statistic we tested whose value survives contact with a new year.</a:t>
            </a:r>
            <a:endParaRPr/>
          </a:p>
        </p:txBody>
      </p:sp>
      <p:sp>
        <p:nvSpPr>
          <p:cNvPr id="86" name="Google Shape;86;p2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descr="floor_definitions_educational_2024.png" id="87" name="Google Shape;87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11934" y="722110"/>
            <a:ext cx="5576852" cy="40753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3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Bigger ensembles widen the menu, not the frontier</a:t>
            </a:r>
            <a:endParaRPr/>
          </a:p>
        </p:txBody>
      </p:sp>
      <p:sp>
        <p:nvSpPr>
          <p:cNvPr id="93" name="Google Shape;93;p23"/>
          <p:cNvSpPr txBox="1"/>
          <p:nvPr/>
        </p:nvSpPr>
        <p:spPr>
          <a:xfrm>
            <a:off x="400000" y="759999"/>
            <a:ext cx="3270600" cy="23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- 1000-round/1000-tree ensembles traced the roughly the same precision-recall frontier as smaller ones</a:t>
            </a:r>
            <a:r>
              <a:rPr lang="en-US" sz="1200"/>
              <a:t>,</a:t>
            </a: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but ~2.6-5x the filtered inventory.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Why a redundant inventory? </a:t>
            </a:r>
            <a:r>
              <a:rPr lang="en-US" sz="1200"/>
              <a:t>E</a:t>
            </a: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xclude rules </a:t>
            </a:r>
            <a:r>
              <a:rPr lang="en-US" sz="1200"/>
              <a:t>you know will not work. 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</a:t>
            </a:r>
            <a:r>
              <a:rPr lang="en-US" sz="1200"/>
              <a:t>T</a:t>
            </a: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 99% lower-bound filter is what keeps large pools </a:t>
            </a:r>
            <a:r>
              <a:rPr lang="en-US" sz="1200"/>
              <a:t>reliable</a:t>
            </a: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3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descr="image.png" id="95" name="Google Shape;95;p23"/>
          <p:cNvPicPr preferRelativeResize="0"/>
          <p:nvPr/>
        </p:nvPicPr>
        <p:blipFill rotWithShape="1">
          <a:blip r:embed="rId3">
            <a:alphaModFix/>
          </a:blip>
          <a:srcRect b="0" l="0" r="0" t="18446"/>
          <a:stretch/>
        </p:blipFill>
        <p:spPr>
          <a:xfrm>
            <a:off x="3600000" y="1326524"/>
            <a:ext cx="5489148" cy="27978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/>
          <p:nvPr/>
        </p:nvSpPr>
        <p:spPr>
          <a:xfrm>
            <a:off x="402336" y="274320"/>
            <a:ext cx="356616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By error category vs all errors: mine both, pool them</a:t>
            </a:r>
            <a:endParaRPr/>
          </a:p>
        </p:txBody>
      </p:sp>
      <p:sp>
        <p:nvSpPr>
          <p:cNvPr id="101" name="Google Shape;101;p24"/>
          <p:cNvSpPr txBox="1"/>
          <p:nvPr/>
        </p:nvSpPr>
        <p:spPr>
          <a:xfrm>
            <a:off x="402336" y="1463040"/>
            <a:ext cx="3566160" cy="11721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Typed frames edge one all-errors model slightly; the UNION wins: +3-6pp recall for ~1pp precision.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Chart: the 2024 replication. The original 2023 run agreed (in repo).</a:t>
            </a:r>
            <a:endParaRPr/>
          </a:p>
        </p:txBody>
      </p:sp>
      <p:pic>
        <p:nvPicPr>
          <p:cNvPr descr="anyerror_vs_typed_sweep.png" id="102" name="Google Shape;102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69080" y="777240"/>
            <a:ext cx="4892040" cy="29900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Split by coarse household-size strata (1 / 2-3 / 4+)</a:t>
            </a:r>
            <a:endParaRPr/>
          </a:p>
        </p:txBody>
      </p:sp>
      <p:sp>
        <p:nvSpPr>
          <p:cNvPr id="108" name="Google Shape;108;p25"/>
          <p:cNvSpPr txBox="1"/>
          <p:nvPr/>
        </p:nvSpPr>
        <p:spPr>
          <a:xfrm>
            <a:off x="236136" y="800000"/>
            <a:ext cx="2645383" cy="25494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 CART/RuleFit, strata bought +47% precision. On v2 (RF + xbg) the margins flip by year - but the coarse split never loses.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- 2023: pooling matched precision; split won reach.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- 2024 (chart): split wins precision (0.30 vs 0.26); pooling wins floor-reach (0.84 vs 0.79).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Best performance: strata 1 / 2-3 / 4+.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Elderly/disabled stratum stopped helping once mtry-2 forests arrived (parity checked).</a:t>
            </a:r>
            <a:endParaRPr/>
          </a:p>
        </p:txBody>
      </p:sp>
      <p:sp>
        <p:nvSpPr>
          <p:cNvPr id="109" name="Google Shape;109;p25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id="110" name="Google Shape;110;p25" title="strata_sweep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33919" y="952400"/>
            <a:ext cx="5919406" cy="361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6"/>
          <p:cNvSpPr txBox="1"/>
          <p:nvPr/>
        </p:nvSpPr>
        <p:spPr>
          <a:xfrm>
            <a:off x="400000" y="200000"/>
            <a:ext cx="358143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Testing the configuration</a:t>
            </a:r>
            <a:endParaRPr b="1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26"/>
          <p:cNvSpPr txBox="1"/>
          <p:nvPr/>
        </p:nvSpPr>
        <p:spPr>
          <a:xfrm>
            <a:off x="400000" y="760000"/>
            <a:ext cx="8344000" cy="1487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Every configuration choice above was judged on the same held-out year (2023), so the selection PROCEDURE itself could be overfit to one year. We re-ran the decisive comparisons with the year roles swapped (train 2022+2023, test 2024). 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Three of four claims replicated: the engine pairing still leads recall (margin thinner, 2.1pp vs 3pp+), stringency still buys precision monotonically, big ensembles still widen the menu ~7x at ~0.02 precision cost.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One claim failed and is retired: 'low subsampling beats high' - on 2024 all nine settings from 0.15 to 0.80 land within 0.005 (right panel). </a:t>
            </a:r>
            <a:endParaRPr/>
          </a:p>
        </p:txBody>
      </p:sp>
      <p:sp>
        <p:nvSpPr>
          <p:cNvPr id="117" name="Google Shape;117;p26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descr="replication_selection_studies.png" id="118" name="Google Shape;11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1560" y="2240155"/>
            <a:ext cx="7162968" cy="28651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7"/>
          <p:cNvSpPr txBox="1"/>
          <p:nvPr/>
        </p:nvSpPr>
        <p:spPr>
          <a:xfrm>
            <a:off x="334951" y="396875"/>
            <a:ext cx="4304100" cy="8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3   ·   Optimizing rule sets for states</a:t>
            </a:r>
            <a:endParaRPr b="1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7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sp>
        <p:nvSpPr>
          <p:cNvPr id="125" name="Google Shape;125;p27"/>
          <p:cNvSpPr txBox="1"/>
          <p:nvPr/>
        </p:nvSpPr>
        <p:spPr>
          <a:xfrm>
            <a:off x="423349" y="1401040"/>
            <a:ext cx="5970600" cy="164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Challenge is to not lose state-specific patterns if you set such stringent thresholds by mining much larger national data.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How do you make state-generated and nationally-generated rules comparable?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(Answer: rank every rule by its own 99% lower bound)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8"/>
          <p:cNvSpPr txBox="1"/>
          <p:nvPr/>
        </p:nvSpPr>
        <p:spPr>
          <a:xfrm>
            <a:off x="400000" y="200000"/>
            <a:ext cx="8138766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At state scale, confidence bounds alone were not enough</a:t>
            </a:r>
            <a:endParaRPr/>
          </a:p>
        </p:txBody>
      </p:sp>
      <p:sp>
        <p:nvSpPr>
          <p:cNvPr id="131" name="Google Shape;131;p28"/>
          <p:cNvSpPr txBox="1"/>
          <p:nvPr/>
        </p:nvSpPr>
        <p:spPr>
          <a:xfrm>
            <a:off x="400000" y="760000"/>
            <a:ext cx="4170900" cy="27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Mining directly on one state's data (~2,000-3,000 cases/year), rules passing the same 99% lower-bound filter with small support had median HOLDOUT precision of zero at support &gt;= 5.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Requiring &gt;= 30 flagged training cases (with a raw 0.30 floor) changed collapse into gentle deflation: median 0.33 train -&gt; 0.21 held-out; ~1% of rules at zero.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National scale hides this: with 100k+ cases the bound rarely admits tiny-support rules in the first place.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Why: at 5-10 cases the bound only passes near-perfect raw precision - exactly where luck concentrates.</a:t>
            </a:r>
            <a:endParaRPr/>
          </a:p>
        </p:txBody>
      </p:sp>
      <p:sp>
        <p:nvSpPr>
          <p:cNvPr id="132" name="Google Shape;132;p28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9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Own-state, similar-state, or national? Head-to-head on 2024</a:t>
            </a:r>
            <a:endParaRPr/>
          </a:p>
        </p:txBody>
      </p:sp>
      <p:sp>
        <p:nvSpPr>
          <p:cNvPr id="138" name="Google Shape;138;p29"/>
          <p:cNvSpPr txBox="1"/>
          <p:nvPr/>
        </p:nvSpPr>
        <p:spPr>
          <a:xfrm>
            <a:off x="402336" y="758952"/>
            <a:ext cx="8321100" cy="120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Everything mined on 2022-23 only, filled to the review budget in confidence order, scored on each state's 2024 cases (12 states). Table cells: median precision / share of the state's 2024 error dollars.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national pool is the best default: it leads median precision at both budgets and is never the disaster case.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be sure: blended state-national worked best (in a few slides)</a:t>
            </a:r>
            <a:endParaRPr b="0" i="1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29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graphicFrame>
        <p:nvGraphicFramePr>
          <p:cNvPr id="140" name="Google Shape;140;p29"/>
          <p:cNvGraphicFramePr/>
          <p:nvPr/>
        </p:nvGraphicFramePr>
        <p:xfrm>
          <a:off x="1555150" y="24724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{E11BCCF0-E1D9-4781-8257-B1F1CAFEECCC}</a:tableStyleId>
              </a:tblPr>
              <a:tblGrid>
                <a:gridCol w="1981200"/>
                <a:gridCol w="1981200"/>
                <a:gridCol w="1981200"/>
              </a:tblGrid>
              <a:tr h="292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/>
                        <a:t>rules mined on</a:t>
                      </a:r>
                      <a:endParaRPr/>
                    </a:p>
                  </a:txBody>
                  <a:tcPr marT="9150" marB="915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/>
                        <a:t>5% budget</a:t>
                      </a:r>
                      <a:endParaRPr/>
                    </a:p>
                  </a:txBody>
                  <a:tcPr marT="9150" marB="915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/>
                        <a:t>10% budget</a:t>
                      </a:r>
                      <a:endParaRPr/>
                    </a:p>
                  </a:txBody>
                  <a:tcPr marT="9150" marB="9150" marR="91450" marL="91450"/>
                </a:tc>
              </a:tr>
              <a:tr h="292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 u="none" cap="none" strike="noStrike"/>
                        <a:t>the state's own data</a:t>
                      </a:r>
                      <a:endParaRPr/>
                    </a:p>
                  </a:txBody>
                  <a:tcPr marT="9150" marB="915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 u="none" cap="none" strike="noStrike"/>
                        <a:t>0.253 / 14%</a:t>
                      </a:r>
                      <a:endParaRPr/>
                    </a:p>
                  </a:txBody>
                  <a:tcPr marT="9150" marB="915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 u="none" cap="none" strike="noStrike"/>
                        <a:t>0.240 / 25%</a:t>
                      </a:r>
                      <a:endParaRPr/>
                    </a:p>
                  </a:txBody>
                  <a:tcPr marT="9150" marB="9150" marR="91450" marL="91450"/>
                </a:tc>
              </a:tr>
              <a:tr h="292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 u="none" cap="none" strike="noStrike"/>
                        <a:t>five similar states</a:t>
                      </a:r>
                      <a:endParaRPr/>
                    </a:p>
                  </a:txBody>
                  <a:tcPr marT="9150" marB="915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 u="none" cap="none" strike="noStrike"/>
                        <a:t>0.256 / 11%</a:t>
                      </a:r>
                      <a:endParaRPr/>
                    </a:p>
                  </a:txBody>
                  <a:tcPr marT="9150" marB="915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 u="none" cap="none" strike="noStrike"/>
                        <a:t>0.245 / 20%</a:t>
                      </a:r>
                      <a:endParaRPr/>
                    </a:p>
                  </a:txBody>
                  <a:tcPr marT="9150" marB="9150" marR="91450" marL="91450"/>
                </a:tc>
              </a:tr>
              <a:tr h="292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 u="none" cap="none" strike="noStrike"/>
                        <a:t>all states (national)</a:t>
                      </a:r>
                      <a:endParaRPr/>
                    </a:p>
                  </a:txBody>
                  <a:tcPr marT="9150" marB="915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 u="none" cap="none" strike="noStrike"/>
                        <a:t>0.300 / 16%</a:t>
                      </a:r>
                      <a:endParaRPr/>
                    </a:p>
                  </a:txBody>
                  <a:tcPr marT="9150" marB="915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 u="none" cap="none" strike="noStrike"/>
                        <a:t>0.273 / 25%</a:t>
                      </a:r>
                      <a:endParaRPr/>
                    </a:p>
                  </a:txBody>
                  <a:tcPr marT="9150" marB="9150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0"/>
          <p:cNvSpPr txBox="1"/>
          <p:nvPr/>
        </p:nvSpPr>
        <p:spPr>
          <a:xfrm>
            <a:off x="400000" y="200000"/>
            <a:ext cx="7319632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National rules, deployed a year ahead, could be a win</a:t>
            </a:r>
            <a:endParaRPr b="1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30"/>
          <p:cNvSpPr txBox="1"/>
          <p:nvPr/>
        </p:nvSpPr>
        <p:spPr>
          <a:xfrm>
            <a:off x="400000" y="760000"/>
            <a:ext cx="2835569" cy="333424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Mined on all states' 2022-23; applied in confidence order to 10% of caseload; scored on 2024.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Every state clears its base rate: the filled dot lands right of the open dot in all 18 states.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gap is the gain over unaided review of the same volume: 1.5-3.4x.</a:t>
            </a:r>
            <a:endParaRPr/>
          </a:p>
        </p:txBody>
      </p:sp>
      <p:sp>
        <p:nvSpPr>
          <p:cNvPr id="147" name="Google Shape;147;p30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descr="deploy_national_dumbbell_budget10.png" id="148" name="Google Shape;148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7749" y="758952"/>
            <a:ext cx="4763370" cy="40416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31"/>
          <p:cNvSpPr txBox="1"/>
          <p:nvPr/>
        </p:nvSpPr>
        <p:spPr>
          <a:xfrm>
            <a:off x="400000" y="200000"/>
            <a:ext cx="83439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/>
              <a:t>But not a big win for every state</a:t>
            </a:r>
            <a:endParaRPr/>
          </a:p>
        </p:txBody>
      </p:sp>
      <p:sp>
        <p:nvSpPr>
          <p:cNvPr id="154" name="Google Shape;154;p31"/>
          <p:cNvSpPr txBox="1"/>
          <p:nvPr/>
        </p:nvSpPr>
        <p:spPr>
          <a:xfrm>
            <a:off x="402336" y="1051560"/>
            <a:ext cx="3840480" cy="556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Nearly every state's interval clears its base rate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As expected, more missing data hurts</a:t>
            </a:r>
            <a:endParaRPr/>
          </a:p>
        </p:txBody>
      </p:sp>
      <p:sp>
        <p:nvSpPr>
          <p:cNvPr id="155" name="Google Shape;155;p31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descr="image.png" id="156" name="Google Shape;156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34840" y="1051560"/>
            <a:ext cx="4480560" cy="38016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2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Blending state and national rules onto one confidence scale</a:t>
            </a:r>
            <a:endParaRPr/>
          </a:p>
        </p:txBody>
      </p:sp>
      <p:sp>
        <p:nvSpPr>
          <p:cNvPr id="162" name="Google Shape;162;p32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Rank EVERY rule - state or national - by its own 99% lower bound; the bound prices the certainty gap.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As a single recipe the blend beats national-only at 5% (0.324 vs 0.294) and ties at 10%.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Where state rules clear the bar, interleaving beats both parents (AZ, DC, MS).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Blind spot: national bounds say nothing about transfer - NJ's own rules never enter; the own-pool fallback exists.</a:t>
            </a:r>
            <a:endParaRPr/>
          </a:p>
        </p:txBody>
      </p:sp>
      <p:sp>
        <p:nvSpPr>
          <p:cNvPr id="163" name="Google Shape;163;p3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graphicFrame>
        <p:nvGraphicFramePr>
          <p:cNvPr id="164" name="Google Shape;164;p32"/>
          <p:cNvGraphicFramePr/>
          <p:nvPr/>
        </p:nvGraphicFramePr>
        <p:xfrm>
          <a:off x="1580032" y="238985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{E11BCCF0-E1D9-4781-8257-B1F1CAFEECCC}</a:tableStyleId>
              </a:tblPr>
              <a:tblGrid>
                <a:gridCol w="1981200"/>
                <a:gridCol w="1981200"/>
                <a:gridCol w="1981200"/>
              </a:tblGrid>
              <a:tr h="292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/>
                        <a:t>option (single recipe)</a:t>
                      </a:r>
                      <a:endParaRPr/>
                    </a:p>
                  </a:txBody>
                  <a:tcPr marT="9150" marB="915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/>
                        <a:t>5% budget</a:t>
                      </a:r>
                      <a:endParaRPr/>
                    </a:p>
                  </a:txBody>
                  <a:tcPr marT="9150" marB="915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/>
                        <a:t>10% budget</a:t>
                      </a:r>
                      <a:endParaRPr/>
                    </a:p>
                  </a:txBody>
                  <a:tcPr marT="9150" marB="9150" marR="91450" marL="91450"/>
                </a:tc>
              </a:tr>
              <a:tr h="292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 u="none" cap="none" strike="noStrike"/>
                        <a:t>national-only frozen list</a:t>
                      </a:r>
                      <a:endParaRPr/>
                    </a:p>
                  </a:txBody>
                  <a:tcPr marT="9150" marB="915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 u="none" cap="none" strike="noStrike"/>
                        <a:t>0.294 / 12%</a:t>
                      </a:r>
                      <a:endParaRPr/>
                    </a:p>
                  </a:txBody>
                  <a:tcPr marT="9150" marB="915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 u="none" cap="none" strike="noStrike"/>
                        <a:t>0.270 / 25%</a:t>
                      </a:r>
                      <a:endParaRPr/>
                    </a:p>
                  </a:txBody>
                  <a:tcPr marT="9150" marB="9150" marR="91450" marL="91450"/>
                </a:tc>
              </a:tr>
              <a:tr h="292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 u="none" cap="none" strike="noStrike"/>
                        <a:t>blended frozen list (99% bound)</a:t>
                      </a:r>
                      <a:endParaRPr/>
                    </a:p>
                  </a:txBody>
                  <a:tcPr marT="9150" marB="915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 u="none" cap="none" strike="noStrike"/>
                        <a:t>0.324 / 15%</a:t>
                      </a:r>
                      <a:endParaRPr/>
                    </a:p>
                  </a:txBody>
                  <a:tcPr marT="9150" marB="915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 u="none" cap="none" strike="noStrike"/>
                        <a:t>0.262 / 24%</a:t>
                      </a:r>
                      <a:endParaRPr/>
                    </a:p>
                  </a:txBody>
                  <a:tcPr marT="9150" marB="9150" marR="91450" marL="91450"/>
                </a:tc>
              </a:tr>
              <a:tr h="292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 u="none" cap="none" strike="noStrike"/>
                        <a:t>state's own pool only</a:t>
                      </a:r>
                      <a:endParaRPr/>
                    </a:p>
                  </a:txBody>
                  <a:tcPr marT="9150" marB="915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 u="none" cap="none" strike="noStrike"/>
                        <a:t>0.256 / 13%</a:t>
                      </a:r>
                      <a:endParaRPr/>
                    </a:p>
                  </a:txBody>
                  <a:tcPr marT="9150" marB="915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00" u="none" cap="none" strike="noStrike"/>
                        <a:t>0.236 / 25%</a:t>
                      </a:r>
                      <a:endParaRPr/>
                    </a:p>
                  </a:txBody>
                  <a:tcPr marT="9150" marB="9150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33"/>
          <p:cNvSpPr txBox="1"/>
          <p:nvPr/>
        </p:nvSpPr>
        <p:spPr>
          <a:xfrm>
            <a:off x="399999" y="200000"/>
            <a:ext cx="2923372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Blended state-national rules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33"/>
          <p:cNvSpPr txBox="1"/>
          <p:nvPr/>
        </p:nvSpPr>
        <p:spPr>
          <a:xfrm>
            <a:off x="467236" y="1014350"/>
            <a:ext cx="2788800" cy="238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 report budget-filled performance: add rules in confidence order until 5% or 10% of caseload is flagged (filled to review capacity).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Deployment medians: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-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0.30 precision / 16% of error $ at 5%;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-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0.27 / 25% at 10% - vs 8-17% base rates.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Precision throughout = any-error precision: a flagged case counts if it has any payment error (error type-specific precision in the repo outputs).</a:t>
            </a:r>
            <a:endParaRPr/>
          </a:p>
        </p:txBody>
      </p:sp>
      <p:sp>
        <p:nvSpPr>
          <p:cNvPr id="171" name="Google Shape;171;p33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descr="blend_vs_state_vs_national_budget05.png" id="172" name="Google Shape;172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20440" y="164592"/>
            <a:ext cx="5440680" cy="47914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4"/>
          <p:cNvSpPr txBox="1"/>
          <p:nvPr/>
        </p:nvSpPr>
        <p:spPr>
          <a:xfrm>
            <a:off x="400000" y="200000"/>
            <a:ext cx="7271542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Blended: most widely used rules, by household size</a:t>
            </a:r>
            <a:endParaRPr/>
          </a:p>
        </p:txBody>
      </p:sp>
      <p:sp>
        <p:nvSpPr>
          <p:cNvPr id="178" name="Google Shape;178;p34"/>
          <p:cNvSpPr txBox="1"/>
          <p:nvPr/>
        </p:nvSpPr>
        <p:spPr>
          <a:xfrm>
            <a:off x="400000" y="760000"/>
            <a:ext cx="83440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three most widely deployed rules per household-size stratum (10% budget lists).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Benefit-near-maximum and deduction levels are the flags, not the diagnosis: every rule is scored against ALL error types - a hit is any payment error, not a deduction error specifically.</a:t>
            </a:r>
            <a:endParaRPr/>
          </a:p>
        </p:txBody>
      </p:sp>
      <p:sp>
        <p:nvSpPr>
          <p:cNvPr id="179" name="Google Shape;179;p34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graphicFrame>
        <p:nvGraphicFramePr>
          <p:cNvPr id="180" name="Google Shape;180;p34"/>
          <p:cNvGraphicFramePr/>
          <p:nvPr/>
        </p:nvGraphicFramePr>
        <p:xfrm>
          <a:off x="274319" y="157276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{E11BCCF0-E1D9-4781-8257-B1F1CAFEECCC}</a:tableStyleId>
              </a:tblPr>
              <a:tblGrid>
                <a:gridCol w="731525"/>
                <a:gridCol w="6766550"/>
                <a:gridCol w="1097275"/>
              </a:tblGrid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/>
                        <a:t>HH size</a:t>
                      </a:r>
                      <a:endParaRPr/>
                    </a:p>
                  </a:txBody>
                  <a:tcPr marT="12700" marB="1270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/>
                        <a:t>rule</a:t>
                      </a:r>
                      <a:endParaRPr/>
                    </a:p>
                  </a:txBody>
                  <a:tcPr marT="12700" marB="1270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/>
                        <a:t>states (of 18)</a:t>
                      </a:r>
                      <a:endParaRPr/>
                    </a:p>
                  </a:txBody>
                  <a:tcPr marT="12700" marB="12700" marR="91450" marL="91450"/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/>
                        <a:t>1</a:t>
                      </a:r>
                      <a:endParaRPr/>
                    </a:p>
                  </a:txBody>
                  <a:tcPr marT="12700" marB="1270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/>
                        <a:t>rawben_rel_max &gt;= 0.236 &amp; rawben_rel_max &lt; 1.000 &amp; total_deductions_by_hh_size &gt;= 511.000 &amp; utilities &lt; 249.000</a:t>
                      </a:r>
                      <a:endParaRPr/>
                    </a:p>
                  </a:txBody>
                  <a:tcPr marT="12700" marB="1270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/>
                        <a:t>12</a:t>
                      </a:r>
                      <a:endParaRPr/>
                    </a:p>
                  </a:txBody>
                  <a:tcPr marT="12700" marB="12700" marR="91450" marL="91450"/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/>
                        <a:t>1</a:t>
                      </a:r>
                      <a:endParaRPr/>
                    </a:p>
                  </a:txBody>
                  <a:tcPr marT="12700" marB="1270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/>
                        <a:t>total_deductions_by_hh_size &gt; 336.000 &amp; unc_rawben_rel_max &gt; 0.891 &amp; unc_rawben_rel_max &lt;= 0.991 &amp; utilities &lt;= 29.500</a:t>
                      </a:r>
                      <a:endParaRPr/>
                    </a:p>
                  </a:txBody>
                  <a:tcPr marT="12700" marB="1270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/>
                        <a:t>11</a:t>
                      </a:r>
                      <a:endParaRPr/>
                    </a:p>
                  </a:txBody>
                  <a:tcPr marT="12700" marB="12700" marR="91450" marL="91450"/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/>
                        <a:t>1</a:t>
                      </a:r>
                      <a:endParaRPr/>
                    </a:p>
                  </a:txBody>
                  <a:tcPr marT="12700" marB="1270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/>
                        <a:t>rawben_rel_max &lt;= 0.998 &amp; total_deductions_by_hh_size &gt; 602.000 &amp; utilities &lt;= 272.000</a:t>
                      </a:r>
                      <a:endParaRPr/>
                    </a:p>
                  </a:txBody>
                  <a:tcPr marT="12700" marB="1270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/>
                        <a:t>10</a:t>
                      </a:r>
                      <a:endParaRPr/>
                    </a:p>
                  </a:txBody>
                  <a:tcPr marT="12700" marB="12700" marR="91450" marL="91450"/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/>
                        <a:t>2-3</a:t>
                      </a:r>
                      <a:endParaRPr/>
                    </a:p>
                  </a:txBody>
                  <a:tcPr marT="12700" marB="1270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/>
                        <a:t>months_since_cert_n &lt;= 25 &amp; shelter_expenses_by_hh_size &gt; 499 &amp; shelter_expenses_by_hh_size &lt;= 679 &amp; total_deductions_by_hh_size &gt; 644</a:t>
                      </a:r>
                      <a:endParaRPr/>
                    </a:p>
                  </a:txBody>
                  <a:tcPr marT="12700" marB="1270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/>
                        <a:t>9</a:t>
                      </a:r>
                      <a:endParaRPr/>
                    </a:p>
                  </a:txBody>
                  <a:tcPr marT="12700" marB="12700" marR="91450" marL="91450"/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/>
                        <a:t>2-3</a:t>
                      </a:r>
                      <a:endParaRPr/>
                    </a:p>
                  </a:txBody>
                  <a:tcPr marT="12700" marB="1270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/>
                        <a:t>expedited_i &gt;= 1.000 &amp; months_since_cert_n &lt; 2.000 &amp; rawben_rel_max &gt;= 0.649 &amp; rawben_rel_max &lt; 0.901</a:t>
                      </a:r>
                      <a:endParaRPr/>
                    </a:p>
                  </a:txBody>
                  <a:tcPr marT="12700" marB="1270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/>
                        <a:t>9</a:t>
                      </a:r>
                      <a:endParaRPr/>
                    </a:p>
                  </a:txBody>
                  <a:tcPr marT="12700" marB="12700" marR="91450" marL="91450"/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/>
                        <a:t>2-3</a:t>
                      </a:r>
                      <a:endParaRPr/>
                    </a:p>
                  </a:txBody>
                  <a:tcPr marT="12700" marB="1270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/>
                        <a:t>elderly_disabled_i &gt; 0.500 &amp; married &lt;= 0.500 &amp; rawben_rel_max &gt; 0.996 &amp; unc_rawben_rel_max &gt; 1.550</a:t>
                      </a:r>
                      <a:endParaRPr/>
                    </a:p>
                  </a:txBody>
                  <a:tcPr marT="12700" marB="1270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/>
                        <a:t>8</a:t>
                      </a:r>
                      <a:endParaRPr/>
                    </a:p>
                  </a:txBody>
                  <a:tcPr marT="12700" marB="12700" marR="91450" marL="91450"/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/>
                        <a:t>4+</a:t>
                      </a:r>
                      <a:endParaRPr/>
                    </a:p>
                  </a:txBody>
                  <a:tcPr marT="12700" marB="1270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/>
                        <a:t>HH_size_n &gt; 4.500 &amp; rawben_rel_max &gt; 0.478 &amp; total_deductions_by_hh_size &gt; 233.000 &amp; unc_rawben_rel_max &lt;= 0.997</a:t>
                      </a:r>
                      <a:endParaRPr/>
                    </a:p>
                  </a:txBody>
                  <a:tcPr marT="12700" marB="1270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/>
                        <a:t>12</a:t>
                      </a:r>
                      <a:endParaRPr/>
                    </a:p>
                  </a:txBody>
                  <a:tcPr marT="12700" marB="12700" marR="91450" marL="91450"/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/>
                        <a:t>4+</a:t>
                      </a:r>
                      <a:endParaRPr/>
                    </a:p>
                  </a:txBody>
                  <a:tcPr marT="12700" marB="1270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/>
                        <a:t>months_since_cert_n &gt; 5.500 &amp; rawben_rel_max &lt;= 0.997 &amp; shelter_expenses_by_hh_size &lt;= 494.000 &amp; total_deductions_by_hh_size &gt; 227.000</a:t>
                      </a:r>
                      <a:endParaRPr/>
                    </a:p>
                  </a:txBody>
                  <a:tcPr marT="12700" marB="1270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/>
                        <a:t>9</a:t>
                      </a:r>
                      <a:endParaRPr/>
                    </a:p>
                  </a:txBody>
                  <a:tcPr marT="12700" marB="12700" marR="91450" marL="91450"/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/>
                        <a:t>4+</a:t>
                      </a:r>
                      <a:endParaRPr/>
                    </a:p>
                  </a:txBody>
                  <a:tcPr marT="12700" marB="1270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/>
                        <a:t>HH_size_n &gt; 4.500 &amp; months_since_cert_n &gt; 4.500 &amp; rawben_rel_max &lt;= 0.988 &amp; total_deductions_by_hh_size &gt; 206.000</a:t>
                      </a:r>
                      <a:endParaRPr/>
                    </a:p>
                  </a:txBody>
                  <a:tcPr marT="12700" marB="1270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/>
                        <a:t>9</a:t>
                      </a:r>
                      <a:endParaRPr/>
                    </a:p>
                  </a:txBody>
                  <a:tcPr marT="12700" marB="12700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5"/>
          <p:cNvSpPr txBox="1"/>
          <p:nvPr/>
        </p:nvSpPr>
        <p:spPr>
          <a:xfrm>
            <a:off x="731520" y="1748790"/>
            <a:ext cx="7680900" cy="125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777777"/>
                </a:solidFill>
                <a:latin typeface="Arial"/>
                <a:ea typeface="Arial"/>
                <a:cs typeface="Arial"/>
                <a:sym typeface="Arial"/>
              </a:rPr>
              <a:t>PART 4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2800"/>
              <a:t>On github: </a:t>
            </a: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blended list</a:t>
            </a:r>
            <a:r>
              <a:rPr b="1" lang="en-US" sz="2800"/>
              <a:t>s </a:t>
            </a: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per state at 5% and 10% workload</a:t>
            </a:r>
            <a:endParaRPr/>
          </a:p>
        </p:txBody>
      </p:sp>
      <p:sp>
        <p:nvSpPr>
          <p:cNvPr id="186" name="Google Shape;186;p35"/>
          <p:cNvSpPr/>
          <p:nvPr/>
        </p:nvSpPr>
        <p:spPr>
          <a:xfrm>
            <a:off x="3200400" y="1543050"/>
            <a:ext cx="2743200" cy="17780"/>
          </a:xfrm>
          <a:prstGeom prst="rect">
            <a:avLst/>
          </a:prstGeom>
          <a:solidFill>
            <a:srgbClr val="40404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6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deployed list is a few dozen rules, not thousands</a:t>
            </a:r>
            <a:endParaRPr/>
          </a:p>
        </p:txBody>
      </p:sp>
      <p:sp>
        <p:nvSpPr>
          <p:cNvPr id="192" name="Google Shape;192;p36"/>
          <p:cNvSpPr txBox="1"/>
          <p:nvPr/>
        </p:nvSpPr>
        <p:spPr>
          <a:xfrm>
            <a:off x="450449" y="1071714"/>
            <a:ext cx="8344000" cy="7745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state runs a few dozen rules: 16-39 build the union at a 5% budget (34-67 at 10%)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Examples:</a:t>
            </a:r>
            <a:endParaRPr/>
          </a:p>
        </p:txBody>
      </p:sp>
      <p:sp>
        <p:nvSpPr>
          <p:cNvPr id="193" name="Google Shape;193;p36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graphicFrame>
        <p:nvGraphicFramePr>
          <p:cNvPr id="194" name="Google Shape;194;p36"/>
          <p:cNvGraphicFramePr/>
          <p:nvPr/>
        </p:nvGraphicFramePr>
        <p:xfrm>
          <a:off x="2371134" y="1863799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{E11BCCF0-E1D9-4781-8257-B1F1CAFEECCC}</a:tableStyleId>
              </a:tblPr>
              <a:tblGrid>
                <a:gridCol w="1554475"/>
                <a:gridCol w="1554475"/>
                <a:gridCol w="1554475"/>
              </a:tblGrid>
              <a:tr h="25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/>
                        <a:t>state</a:t>
                      </a:r>
                      <a:endParaRPr/>
                    </a:p>
                  </a:txBody>
                  <a:tcPr marT="9150" marB="915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/>
                        <a:t>budget</a:t>
                      </a:r>
                      <a:endParaRPr/>
                    </a:p>
                  </a:txBody>
                  <a:tcPr marT="9150" marB="915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/>
                        <a:t>rules that build the union</a:t>
                      </a:r>
                      <a:endParaRPr/>
                    </a:p>
                  </a:txBody>
                  <a:tcPr marT="9150" marB="9150" marR="91450" marL="91450"/>
                </a:tc>
              </a:tr>
              <a:tr h="25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/>
                        <a:t>District of Columbia</a:t>
                      </a:r>
                      <a:endParaRPr/>
                    </a:p>
                  </a:txBody>
                  <a:tcPr marT="9150" marB="915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/>
                        <a:t>5%</a:t>
                      </a:r>
                      <a:endParaRPr/>
                    </a:p>
                  </a:txBody>
                  <a:tcPr marT="9150" marB="915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/>
                        <a:t>26</a:t>
                      </a:r>
                      <a:endParaRPr/>
                    </a:p>
                  </a:txBody>
                  <a:tcPr marT="9150" marB="9150" marR="91450" marL="91450"/>
                </a:tc>
              </a:tr>
              <a:tr h="25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/>
                        <a:t>District of Columbia</a:t>
                      </a:r>
                      <a:endParaRPr/>
                    </a:p>
                  </a:txBody>
                  <a:tcPr marT="9150" marB="915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/>
                        <a:t>10%</a:t>
                      </a:r>
                      <a:endParaRPr/>
                    </a:p>
                  </a:txBody>
                  <a:tcPr marT="9150" marB="915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/>
                        <a:t>53</a:t>
                      </a:r>
                      <a:endParaRPr/>
                    </a:p>
                  </a:txBody>
                  <a:tcPr marT="9150" marB="9150" marR="91450" marL="91450"/>
                </a:tc>
              </a:tr>
              <a:tr h="25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/>
                        <a:t>Louisiana</a:t>
                      </a:r>
                      <a:endParaRPr/>
                    </a:p>
                  </a:txBody>
                  <a:tcPr marT="9150" marB="915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/>
                        <a:t>5%</a:t>
                      </a:r>
                      <a:endParaRPr/>
                    </a:p>
                  </a:txBody>
                  <a:tcPr marT="9150" marB="915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/>
                        <a:t>27</a:t>
                      </a:r>
                      <a:endParaRPr/>
                    </a:p>
                  </a:txBody>
                  <a:tcPr marT="9150" marB="9150" marR="91450" marL="91450"/>
                </a:tc>
              </a:tr>
              <a:tr h="25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/>
                        <a:t>Louisiana</a:t>
                      </a:r>
                      <a:endParaRPr/>
                    </a:p>
                  </a:txBody>
                  <a:tcPr marT="9150" marB="915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/>
                        <a:t>10%</a:t>
                      </a:r>
                      <a:endParaRPr/>
                    </a:p>
                  </a:txBody>
                  <a:tcPr marT="9150" marB="915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/>
                        <a:t>54</a:t>
                      </a:r>
                      <a:endParaRPr/>
                    </a:p>
                  </a:txBody>
                  <a:tcPr marT="9150" marB="9150" marR="91450" marL="91450"/>
                </a:tc>
              </a:tr>
              <a:tr h="25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/>
                        <a:t>California</a:t>
                      </a:r>
                      <a:endParaRPr/>
                    </a:p>
                  </a:txBody>
                  <a:tcPr marT="9150" marB="915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/>
                        <a:t>5%</a:t>
                      </a:r>
                      <a:endParaRPr/>
                    </a:p>
                  </a:txBody>
                  <a:tcPr marT="9150" marB="915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/>
                        <a:t>26</a:t>
                      </a:r>
                      <a:endParaRPr/>
                    </a:p>
                  </a:txBody>
                  <a:tcPr marT="9150" marB="9150" marR="91450" marL="91450"/>
                </a:tc>
              </a:tr>
              <a:tr h="25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/>
                        <a:t>California</a:t>
                      </a:r>
                      <a:endParaRPr/>
                    </a:p>
                  </a:txBody>
                  <a:tcPr marT="9150" marB="915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/>
                        <a:t>10%</a:t>
                      </a:r>
                      <a:endParaRPr/>
                    </a:p>
                  </a:txBody>
                  <a:tcPr marT="9150" marB="9150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00" u="none" cap="none" strike="noStrike"/>
                        <a:t>43</a:t>
                      </a:r>
                      <a:endParaRPr/>
                    </a:p>
                  </a:txBody>
                  <a:tcPr marT="9150" marB="9150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7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What a state is handed under the blended approach</a:t>
            </a:r>
            <a:endParaRPr/>
          </a:p>
        </p:txBody>
      </p:sp>
      <p:sp>
        <p:nvSpPr>
          <p:cNvPr id="200" name="Google Shape;200;p37"/>
          <p:cNvSpPr txBox="1"/>
          <p:nvPr/>
        </p:nvSpPr>
        <p:spPr>
          <a:xfrm>
            <a:off x="400000" y="704736"/>
            <a:ext cx="83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One ranked, blended (state + national) list per state. Below: what it delivered on the state's 2024 cases at a 5% / 10% review budget. Compare precision to the base rate; error $ = share of 2024 error dollars caught at the 10% budget.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Own rules remain the FALLBACK regime: the public files show only 43-81% of a state's error cases, so where lists disagree, only the state's internal validation can settle which is better.</a:t>
            </a:r>
            <a:endParaRPr/>
          </a:p>
        </p:txBody>
      </p:sp>
      <p:sp>
        <p:nvSpPr>
          <p:cNvPr id="201" name="Google Shape;201;p37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graphicFrame>
        <p:nvGraphicFramePr>
          <p:cNvPr id="202" name="Google Shape;202;p37"/>
          <p:cNvGraphicFramePr/>
          <p:nvPr/>
        </p:nvGraphicFramePr>
        <p:xfrm>
          <a:off x="181294" y="179813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{E11BCCF0-E1D9-4781-8257-B1F1CAFEECCC}</a:tableStyleId>
              </a:tblPr>
              <a:tblGrid>
                <a:gridCol w="1082650"/>
                <a:gridCol w="735875"/>
                <a:gridCol w="909250"/>
                <a:gridCol w="909250"/>
                <a:gridCol w="909250"/>
              </a:tblGrid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/>
                        <a:t>state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/>
                        <a:t>base rate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/>
                        <a:t>prec (5%)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/>
                        <a:t>prec (10%)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/>
                        <a:t>error $ (10%)</a:t>
                      </a:r>
                      <a:endParaRPr/>
                    </a:p>
                  </a:txBody>
                  <a:tcPr marT="4575" marB="4575" marR="91450" marL="91450"/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Arizona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0.11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0.28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0.33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38%</a:t>
                      </a:r>
                      <a:endParaRPr/>
                    </a:p>
                  </a:txBody>
                  <a:tcPr marT="4575" marB="4575" marR="91450" marL="91450"/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California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0.13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0.28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0.25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29%</a:t>
                      </a:r>
                      <a:endParaRPr/>
                    </a:p>
                  </a:txBody>
                  <a:tcPr marT="4575" marB="4575" marR="91450" marL="91450"/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Colorado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0.12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0.53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0.36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26%</a:t>
                      </a:r>
                      <a:endParaRPr/>
                    </a:p>
                  </a:txBody>
                  <a:tcPr marT="4575" marB="4575" marR="91450" marL="91450"/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Connecticut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0.14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0.39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0.37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27%</a:t>
                      </a:r>
                      <a:endParaRPr/>
                    </a:p>
                  </a:txBody>
                  <a:tcPr marT="4575" marB="4575" marR="91450" marL="91450"/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District of Columbia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0.22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0.64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0.49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23%</a:t>
                      </a:r>
                      <a:endParaRPr/>
                    </a:p>
                  </a:txBody>
                  <a:tcPr marT="4575" marB="4575" marR="91450" marL="91450"/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Louisiana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0.11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0.21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0.21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23%</a:t>
                      </a:r>
                      <a:endParaRPr/>
                    </a:p>
                  </a:txBody>
                  <a:tcPr marT="4575" marB="4575" marR="91450" marL="91450"/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Maine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0.12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0.30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0.25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31%</a:t>
                      </a:r>
                      <a:endParaRPr/>
                    </a:p>
                  </a:txBody>
                  <a:tcPr marT="4575" marB="4575" marR="91450" marL="91450"/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Maryland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0.14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0.35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0.36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23%</a:t>
                      </a:r>
                      <a:endParaRPr/>
                    </a:p>
                  </a:txBody>
                  <a:tcPr marT="4575" marB="4575" marR="91450" marL="91450"/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Massachusetts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0.14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0.49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0.33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22%</a:t>
                      </a:r>
                      <a:endParaRPr/>
                    </a:p>
                  </a:txBody>
                  <a:tcPr marT="4575" marB="4575" marR="91450" marL="91450"/>
                </a:tc>
              </a:tr>
            </a:tbl>
          </a:graphicData>
        </a:graphic>
      </p:graphicFrame>
      <p:graphicFrame>
        <p:nvGraphicFramePr>
          <p:cNvPr id="203" name="Google Shape;203;p37"/>
          <p:cNvGraphicFramePr/>
          <p:nvPr/>
        </p:nvGraphicFramePr>
        <p:xfrm>
          <a:off x="4948260" y="1798119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{E11BCCF0-E1D9-4781-8257-B1F1CAFEECCC}</a:tableStyleId>
              </a:tblPr>
              <a:tblGrid>
                <a:gridCol w="857925"/>
                <a:gridCol w="787975"/>
                <a:gridCol w="822950"/>
                <a:gridCol w="822950"/>
                <a:gridCol w="822950"/>
              </a:tblGrid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/>
                        <a:t>state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/>
                        <a:t>base rate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/>
                        <a:t>prec (5%)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/>
                        <a:t>prec (10%)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/>
                        <a:t>error $ (10%)</a:t>
                      </a:r>
                      <a:endParaRPr/>
                    </a:p>
                  </a:txBody>
                  <a:tcPr marT="4575" marB="4575" marR="91450" marL="91450"/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Michigan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0.13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0.28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0.24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24%</a:t>
                      </a:r>
                      <a:endParaRPr/>
                    </a:p>
                  </a:txBody>
                  <a:tcPr marT="4575" marB="4575" marR="91450" marL="91450"/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Mississippi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0.12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0.42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0.37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26%</a:t>
                      </a:r>
                      <a:endParaRPr/>
                    </a:p>
                  </a:txBody>
                  <a:tcPr marT="4575" marB="4575" marR="91450" marL="91450"/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Missouri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0.09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0.35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0.25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29%</a:t>
                      </a:r>
                      <a:endParaRPr/>
                    </a:p>
                  </a:txBody>
                  <a:tcPr marT="4575" marB="4575" marR="91450" marL="91450"/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New Jersey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0.09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0.13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0.16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16%</a:t>
                      </a:r>
                      <a:endParaRPr/>
                    </a:p>
                  </a:txBody>
                  <a:tcPr marT="4575" marB="4575" marR="91450" marL="91450"/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North Carolina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0.13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0.29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0.23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15%</a:t>
                      </a:r>
                      <a:endParaRPr/>
                    </a:p>
                  </a:txBody>
                  <a:tcPr marT="4575" marB="4575" marR="91450" marL="91450"/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Tennessee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0.10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0.24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0.19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24%</a:t>
                      </a:r>
                      <a:endParaRPr/>
                    </a:p>
                  </a:txBody>
                  <a:tcPr marT="4575" marB="4575" marR="91450" marL="91450"/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Texas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0.15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0.29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0.25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18%</a:t>
                      </a:r>
                      <a:endParaRPr/>
                    </a:p>
                  </a:txBody>
                  <a:tcPr marT="4575" marB="4575" marR="91450" marL="91450"/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Virginia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0.17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0.34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0.33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20%</a:t>
                      </a:r>
                      <a:endParaRPr/>
                    </a:p>
                  </a:txBody>
                  <a:tcPr marT="4575" marB="4575" marR="91450" marL="91450"/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Washington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0.08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0.38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0.27</a:t>
                      </a:r>
                      <a:endParaRPr/>
                    </a:p>
                  </a:txBody>
                  <a:tcPr marT="4575" marB="457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/>
                        <a:t>35%</a:t>
                      </a:r>
                      <a:endParaRPr/>
                    </a:p>
                  </a:txBody>
                  <a:tcPr marT="4575" marB="457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8"/>
          <p:cNvSpPr txBox="1"/>
          <p:nvPr/>
        </p:nvSpPr>
        <p:spPr>
          <a:xfrm>
            <a:off x="400000" y="200000"/>
            <a:ext cx="7569701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deliverable: one ranked rule list per state, to % workload</a:t>
            </a:r>
            <a:endParaRPr b="1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38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One ranked list per state: fill to the budget on the state's own caseload (core), keep filling to 3x (buffer).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The state activates rules in order while capacity fits - no outcome data at any step.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Workload lands on budget as patterns drift (raw core drifted 2.3-12%; walked lists land on target in all 18).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Median activated: 23 rules at 5%, 42 at 10%.</a:t>
            </a:r>
            <a:endParaRPr/>
          </a:p>
        </p:txBody>
      </p:sp>
      <p:sp>
        <p:nvSpPr>
          <p:cNvPr id="210" name="Google Shape;210;p38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9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What we still don't know</a:t>
            </a:r>
            <a:endParaRPr/>
          </a:p>
        </p:txBody>
      </p:sp>
      <p:sp>
        <p:nvSpPr>
          <p:cNvPr id="216" name="Google Shape;216;p39"/>
          <p:cNvSpPr txBox="1"/>
          <p:nvPr/>
        </p:nvSpPr>
        <p:spPr>
          <a:xfrm>
            <a:off x="402336" y="868680"/>
            <a:ext cx="8229600" cy="38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Drift beyond one year: our longest forward test is one year ahead; FY25/26 performance is a forecast, not a measurement.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invisible errors: 19-57% of each state's error cases (ineligible determinations) never enter the public files - the rules have never seen them.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Uneven coverage by household type: the rule union catches 26.7% of errors in elderly/disabled households vs 7.2% elsewhere (precision inside elderly flags is slightly higher, 0.22 vs 0.19). Errors in non-elderly working households are the open gap.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Unaided review is our benchmark, but states already target: whether the list beats your CURRENT targeting is something only your internal check can measure.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blend's blind spot: a national rule's bound says nothing about transfer to your state (New Jersey's own rules never enter).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Engine frontier: constrained forests were the best periphery miner we tested, not the best possible one (uniform forests untested).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Each of these is answerable - mostly by the validation on the next slide.</a:t>
            </a:r>
            <a:endParaRPr/>
          </a:p>
        </p:txBody>
      </p:sp>
      <p:sp>
        <p:nvSpPr>
          <p:cNvPr id="217" name="Google Shape;217;p39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0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Validating on FY25/26: the protocol</a:t>
            </a:r>
            <a:endParaRPr/>
          </a:p>
        </p:txBody>
      </p:sp>
      <p:sp>
        <p:nvSpPr>
          <p:cNvPr id="223" name="Google Shape;223;p40"/>
          <p:cNvSpPr txBox="1"/>
          <p:nvPr/>
        </p:nvSpPr>
        <p:spPr>
          <a:xfrm>
            <a:off x="400000" y="758952"/>
            <a:ext cx="8138100" cy="26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What you need: 16 case-level fields (benefit relative to the household maximum, total deductions, shelter and utility amounts, months since certification, household size and composition, ...). A typical rule checks 3-4 of them; mapping the fields to your eligibility system is the main effort.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Freeze: the list is built on public data through FY24; nothing is re-fit on your data.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Apply: walk the ranked list against internal FY25/26 cases up to review capacity. Workload should land near the sized budget (on 2024 the walked lists landed at 4.9-5.0% / 9.3-10.0% in all 18 states).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Pre-registered bar: expect deflation of up to ~1/3 from the 2024 numbers (at state scale, train 0.33 -&gt; held-out 0.21). PASS: precision at or above 1.5x your base error rate (2024 delivered 1.5-3.4x). FAIL: at or below base rate - the own-pool list is the pre-agreed fallback.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Also score it against your current targeting: our benchmark is unaided review; only your files can show whether the list beats the reviews you would have run anyway.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Results back: one CSV - per rule: cases flagged, errors found, error dollars - at each budget. </a:t>
            </a:r>
            <a:endParaRPr/>
          </a:p>
        </p:txBody>
      </p:sp>
      <p:sp>
        <p:nvSpPr>
          <p:cNvPr id="224" name="Google Shape;224;p40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1"/>
          <p:cNvSpPr txBox="1"/>
          <p:nvPr/>
        </p:nvSpPr>
        <p:spPr>
          <a:xfrm>
            <a:off x="400000" y="200000"/>
            <a:ext cx="3029997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What’s live on github</a:t>
            </a:r>
            <a:endParaRPr b="1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41"/>
          <p:cNvSpPr txBox="1"/>
          <p:nvPr/>
        </p:nvSpPr>
        <p:spPr>
          <a:xfrm>
            <a:off x="400000" y="760000"/>
            <a:ext cx="8343900" cy="148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048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-"/>
            </a:pPr>
            <a:r>
              <a:rPr lang="en-US" sz="1200"/>
              <a:t>Rule lists for states in the workshop</a:t>
            </a:r>
            <a:endParaRPr sz="1200"/>
          </a:p>
          <a:p>
            <a:pPr indent="-3048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-US" sz="1200"/>
              <a:t>Code for generating rules using internal state data + national QC data</a:t>
            </a:r>
            <a:endParaRPr sz="1200"/>
          </a:p>
          <a:p>
            <a:pPr indent="-3048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-US" sz="1200"/>
              <a:t>Code for mining inclusion or exclusion rules</a:t>
            </a:r>
            <a:endParaRPr sz="1200"/>
          </a:p>
          <a:p>
            <a:pPr indent="-3048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-US" sz="1200"/>
              <a:t>Data viz for regression trees</a:t>
            </a:r>
            <a:endParaRPr sz="1200"/>
          </a:p>
          <a:p>
            <a:pPr indent="-3048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-US" sz="1200"/>
              <a:t>This presentation (shortly)</a:t>
            </a:r>
            <a:endParaRPr sz="1200"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/>
              <a:t>https://github.com/giannella/snap_qc/</a:t>
            </a:r>
            <a:endParaRPr sz="1200"/>
          </a:p>
        </p:txBody>
      </p:sp>
      <p:sp>
        <p:nvSpPr>
          <p:cNvPr id="231" name="Google Shape;231;p41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2"/>
          <p:cNvSpPr txBox="1"/>
          <p:nvPr/>
        </p:nvSpPr>
        <p:spPr>
          <a:xfrm>
            <a:off x="400000" y="200000"/>
            <a:ext cx="4240263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/>
              <a:t>Caveats</a:t>
            </a:r>
            <a:endParaRPr b="1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4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sp>
        <p:nvSpPr>
          <p:cNvPr id="238" name="Google Shape;238;p42"/>
          <p:cNvSpPr txBox="1"/>
          <p:nvPr/>
        </p:nvSpPr>
        <p:spPr>
          <a:xfrm>
            <a:off x="400000" y="760000"/>
            <a:ext cx="83439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en-US" sz="1300"/>
              <a:t>This may work better in a pre-auth context</a:t>
            </a:r>
            <a:endParaRPr sz="1300"/>
          </a:p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en-US" sz="1300"/>
              <a:t>Requires filtering of rules by experts - know this does not apply / cannot be fixed in pre-auth / QA</a:t>
            </a:r>
            <a:endParaRPr sz="1300"/>
          </a:p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en-US" sz="1300"/>
              <a:t>Could be made better by linking to a model of errors fixed in pre-auth / QA (as Yale has done in CT)</a:t>
            </a:r>
            <a:endParaRPr sz="1300"/>
          </a:p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b="0" i="0" lang="en-US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Main issue with state-generated rules is lack of data. 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b="0" i="0" lang="en-US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Could try to generate synthetic data for states based on very similar households in states with similar patterns of errors (latter tended to account for policy options). 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43"/>
          <p:cNvSpPr txBox="1"/>
          <p:nvPr/>
        </p:nvSpPr>
        <p:spPr>
          <a:xfrm>
            <a:off x="4166279" y="2246365"/>
            <a:ext cx="811441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Q&amp;A</a:t>
            </a:r>
            <a:endParaRPr b="1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44"/>
          <p:cNvSpPr txBox="1"/>
          <p:nvPr/>
        </p:nvSpPr>
        <p:spPr>
          <a:xfrm>
            <a:off x="400000" y="200000"/>
            <a:ext cx="774122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freeze each state's list in advance: it costs almost nothing</a:t>
            </a:r>
            <a:endParaRPr/>
          </a:p>
        </p:txBody>
      </p:sp>
      <p:sp>
        <p:nvSpPr>
          <p:cNvPr id="249" name="Google Shape;249;p44"/>
          <p:cNvSpPr txBox="1"/>
          <p:nvPr/>
        </p:nvSpPr>
        <p:spPr>
          <a:xfrm>
            <a:off x="400000" y="760000"/>
            <a:ext cx="3071705" cy="18056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The frozen list (built on 2022-23, walked to capacity on 2024) against the full national pool applied at once to the realized 2024 caseload - both at identical review volume.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Median precision 0.294 vs 0.301 (5% budget) and 0.270 vs 0.275 (10%); error dollars 12% vs 16% and 25% vs 25%. All 18 states clear their base rate.</a:t>
            </a:r>
            <a:endParaRPr/>
          </a:p>
        </p:txBody>
      </p:sp>
      <p:sp>
        <p:nvSpPr>
          <p:cNvPr id="250" name="Google Shape;250;p44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descr="frozen_lists_panels_budget05.png" id="251" name="Google Shape;25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61652" y="648643"/>
            <a:ext cx="4931848" cy="4334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45"/>
          <p:cNvSpPr txBox="1"/>
          <p:nvPr/>
        </p:nvSpPr>
        <p:spPr>
          <a:xfrm>
            <a:off x="400000" y="200000"/>
            <a:ext cx="6170279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What a rule looks like (example 2)</a:t>
            </a:r>
            <a:endParaRPr b="1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45"/>
          <p:cNvSpPr txBox="1"/>
          <p:nvPr/>
        </p:nvSpPr>
        <p:spPr>
          <a:xfrm>
            <a:off x="402336" y="758952"/>
            <a:ext cx="8321040" cy="235192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Every rule is a short checklist of case facts. The top-ranked rule on Connecticut's list (one-person households):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monthly deductions above $336,  AND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computed benefit at 89-99% of the one-person maximum,  AND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reported utilities of $29.50 or less      -&gt;   flag the case for review.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 2022-23 training data it flagged 74 cases; 66% had a payment error (99% lower bound: at least 53%). It’s on 11 of the 18 state lists.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 typical rule combines 3-4 conditions drawn from just 16 case variables, so program staff can read and challenge every rule before it runs.</a:t>
            </a:r>
            <a:endParaRPr/>
          </a:p>
        </p:txBody>
      </p:sp>
      <p:sp>
        <p:nvSpPr>
          <p:cNvPr id="258" name="Google Shape;258;p45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46"/>
          <p:cNvSpPr txBox="1"/>
          <p:nvPr/>
        </p:nvSpPr>
        <p:spPr>
          <a:xfrm>
            <a:off x="400000" y="200000"/>
            <a:ext cx="7523213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Blend vs national vs own rules, 10% budget</a:t>
            </a:r>
            <a:endParaRPr/>
          </a:p>
        </p:txBody>
      </p:sp>
      <p:pic>
        <p:nvPicPr>
          <p:cNvPr descr="blend_vs_state_vs_national_budget10.png" id="264" name="Google Shape;26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88232" y="758321"/>
            <a:ext cx="4849473" cy="42616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47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engine tuning - what moved held-out performance</a:t>
            </a:r>
            <a:endParaRPr/>
          </a:p>
        </p:txBody>
      </p:sp>
      <p:sp>
        <p:nvSpPr>
          <p:cNvPr id="270" name="Google Shape;270;p47"/>
          <p:cNvSpPr txBox="1"/>
          <p:nvPr/>
        </p:nvSpPr>
        <p:spPr>
          <a:xfrm>
            <a:off x="400000" y="760000"/>
            <a:ext cx="3689792" cy="26673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Engine PAIRING mattered: xgboost + random forest (ranger) beat either engine alone and beat bagged-CART + ranger, everything else held equal.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Random forests: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mtry = 2 beat mtry = 1 across the frontier; 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Xgboost: </a:t>
            </a:r>
            <a:endParaRPr/>
          </a:p>
          <a:p>
            <a:pPr indent="-171450" lvl="0" marL="17145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-"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slow learning (eta 0.02, 1000 rounds) beat fast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other knobs did not move the frontier - we verified by varying one setting at a time around the final configuration.</a:t>
            </a:r>
            <a:endParaRPr/>
          </a:p>
        </p:txBody>
      </p:sp>
      <p:sp>
        <p:nvSpPr>
          <p:cNvPr id="271" name="Google Shape;271;p47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descr="combo_sweeps.png" id="272" name="Google Shape;272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41504" y="661457"/>
            <a:ext cx="4912184" cy="38205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8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one-at-a-time xgboost sweep</a:t>
            </a:r>
            <a:endParaRPr/>
          </a:p>
        </p:txBody>
      </p:sp>
      <p:pic>
        <p:nvPicPr>
          <p:cNvPr descr="image.png" id="278" name="Google Shape;278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00814" y="800003"/>
            <a:ext cx="5160124" cy="40134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one-at-a-time ranger sweep</a:t>
            </a:r>
            <a:endParaRPr/>
          </a:p>
        </p:txBody>
      </p:sp>
      <p:pic>
        <p:nvPicPr>
          <p:cNvPr descr="v2_tuning_ranger.png" id="284" name="Google Shape;284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14426" y="756528"/>
            <a:ext cx="5175973" cy="4025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0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filter stringency sweep</a:t>
            </a:r>
            <a:endParaRPr/>
          </a:p>
        </p:txBody>
      </p:sp>
      <p:pic>
        <p:nvPicPr>
          <p:cNvPr descr="v2_lcbz_sweep.png" id="290" name="Google Shape;29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77403" y="1015755"/>
            <a:ext cx="6087075" cy="371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51"/>
          <p:cNvSpPr txBox="1"/>
          <p:nvPr/>
        </p:nvSpPr>
        <p:spPr>
          <a:xfrm>
            <a:off x="400000" y="200000"/>
            <a:ext cx="7411003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subsampling sweep (claim retired on 2024)</a:t>
            </a:r>
            <a:endParaRPr b="1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6" name="Google Shape;296;p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28897" y="709856"/>
            <a:ext cx="6748827" cy="412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52"/>
          <p:cNvSpPr txBox="1"/>
          <p:nvPr/>
        </p:nvSpPr>
        <p:spPr>
          <a:xfrm>
            <a:off x="400000" y="200000"/>
            <a:ext cx="4758034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single engines vs pairs</a:t>
            </a:r>
            <a:endParaRPr b="1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2" name="Google Shape;302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8548" y="797979"/>
            <a:ext cx="6065598" cy="3706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try_frontier.png" id="307" name="Google Shape;307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13727" y="766077"/>
            <a:ext cx="5872952" cy="4093277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3"/>
          <p:cNvSpPr txBox="1"/>
          <p:nvPr/>
        </p:nvSpPr>
        <p:spPr>
          <a:xfrm>
            <a:off x="400000" y="200000"/>
            <a:ext cx="77259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</a:t>
            </a:r>
            <a:r>
              <a:rPr b="1" lang="en-US" sz="2200"/>
              <a:t>RF contribution maximimzed at mtry=2</a:t>
            </a:r>
            <a:endParaRPr b="1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54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blend vs national vs own, 5% budget</a:t>
            </a:r>
            <a:endParaRPr/>
          </a:p>
        </p:txBody>
      </p:sp>
      <p:pic>
        <p:nvPicPr>
          <p:cNvPr descr="image.png" id="314" name="Google Shape;314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73573" y="674150"/>
            <a:ext cx="4836051" cy="424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2026-06-09T21:09:16Z</dcterms:created>
  <dc:creator>Better Government Lab</dc:creator>
</cp:coreProperties>
</file>