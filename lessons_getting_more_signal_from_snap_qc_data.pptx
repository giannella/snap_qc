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a:tc>
                <a:tc>
                  <a:txBody>
                    <a:bodyPr/>
                    <a:lstStyle/>
                    <a:p>
                      <a:r>
                        <a:rPr sz="1200" b="1"/>
                        <a:t>visible share of error cases</a:t>
                      </a:r>
                    </a:p>
                  </a:txBody>
                  <a:tcPr/>
                </a:tc>
              </a:tr>
              <a:tr h="292608">
                <a:tc>
                  <a:txBody>
                    <a:bodyPr/>
                    <a:lstStyle/>
                    <a:p>
                      <a:r>
                        <a:rPr sz="1200" b="0"/>
                        <a:t>New Jersey</a:t>
                      </a:r>
                    </a:p>
                  </a:txBody>
                  <a:tcPr/>
                </a:tc>
                <a:tc>
                  <a:txBody>
                    <a:bodyPr/>
                    <a:lstStyle/>
                    <a:p>
                      <a:r>
                        <a:rPr sz="1200" b="0"/>
                        <a:t>43%</a:t>
                      </a:r>
                    </a:p>
                  </a:txBody>
                  <a:tcPr/>
                </a:tc>
              </a:tr>
              <a:tr h="292608">
                <a:tc>
                  <a:txBody>
                    <a:bodyPr/>
                    <a:lstStyle/>
                    <a:p>
                      <a:r>
                        <a:rPr sz="1200" b="0"/>
                        <a:t>Tennessee</a:t>
                      </a:r>
                    </a:p>
                  </a:txBody>
                  <a:tcPr/>
                </a:tc>
                <a:tc>
                  <a:txBody>
                    <a:bodyPr/>
                    <a:lstStyle/>
                    <a:p>
                      <a:r>
                        <a:rPr sz="1200" b="0"/>
                        <a:t>51%</a:t>
                      </a:r>
                    </a:p>
                  </a:txBody>
                  <a:tcPr/>
                </a:tc>
              </a:tr>
              <a:tr h="292608">
                <a:tc>
                  <a:txBody>
                    <a:bodyPr/>
                    <a:lstStyle/>
                    <a:p>
                      <a:r>
                        <a:rPr sz="1200" b="0"/>
                        <a:t>Arkansas / Missouri / Utah</a:t>
                      </a:r>
                    </a:p>
                  </a:txBody>
                  <a:tcPr/>
                </a:tc>
                <a:tc>
                  <a:txBody>
                    <a:bodyPr/>
                    <a:lstStyle/>
                    <a:p>
                      <a:r>
                        <a:rPr sz="1200" b="0"/>
                        <a:t>~53%</a:t>
                      </a:r>
                    </a:p>
                  </a:txBody>
                  <a:tcPr/>
                </a:tc>
              </a:tr>
              <a:tr h="292608">
                <a:tc>
                  <a:txBody>
                    <a:bodyPr/>
                    <a:lstStyle/>
                    <a:p>
                      <a:r>
                        <a:rPr sz="1200" b="0"/>
                        <a:t>Washington / Virginia / Louisiana</a:t>
                      </a:r>
                    </a:p>
                  </a:txBody>
                  <a:tcPr/>
                </a:tc>
                <a:tc>
                  <a:txBody>
                    <a:bodyPr/>
                    <a:lstStyle/>
                    <a:p>
                      <a:r>
                        <a:rPr sz="1200" b="0"/>
                        <a:t>78-81%</a:t>
                      </a:r>
                    </a:p>
                  </a:txBody>
                  <a:tcPr/>
                </a:tc>
              </a:tr>
              <a:tr h="292608">
                <a:tc>
                  <a:txBody>
                    <a:bodyPr/>
                    <a:lstStyle/>
                    <a:p>
                      <a:r>
                        <a:rPr sz="1200" b="0"/>
                        <a:t>national</a:t>
                      </a:r>
                    </a:p>
                  </a:txBody>
                  <a:tcPr/>
                </a:tc>
                <a:tc>
                  <a:txBody>
                    <a:bodyPr/>
                    <a:lstStyle/>
                    <a:p>
                      <a:r>
                        <a:rPr sz="1200" b="0"/>
                        <a:t>71%</a:t>
                      </a:r>
                    </a:p>
                  </a:txBody>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Median across 12 states, out-of-state rules deliver 0.31-0.34 precision catching 12-16% of error dollars at a 5% budget, and 0.25-0.31 catching 22-30% at 10% - against 9-15% base rates.</a:t>
            </a:r>
          </a:p>
          <a:p>
            <a:pPr>
              <a:spcAft>
                <a:spcPts val="400"/>
              </a:spcAft>
            </a:pPr>
            <a:r>
              <a:rPr sz="1200"/>
              <a:t>- The budget lens also corrects floor artifacts: Mississippi's transferred rules stopped firing entirely at a 0.30 floor, yet delivered the best 5%-budget precision of any state (0.346)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Current work: choosing donor states by measured similarity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two ways: which risk patterns fire in a state's caseload (weighting rarely-firing patterns more heavily), and de facto policy-option profiles (categorical eligibility, reporting system, certification periods, deduction structures - all readable off the microdata, per era).</a:t>
            </a:r>
          </a:p>
          <a:p>
            <a:pPr>
              <a:spcAft>
                <a:spcPts val="400"/>
              </a:spcAft>
            </a:pPr>
            <a:r>
              <a:rPr sz="1200"/>
              <a:t>- The two definitions, built from different information, agree on Louisiana's 2022-24 donor pool - and reproduce the pool that worked above. Neighbor lists change sharply between 2017-19 and 2022-24, so we compute them per era.</a:t>
            </a:r>
          </a:p>
          <a:p>
            <a:pPr>
              <a:spcAft>
                <a:spcPts val="400"/>
              </a:spcAft>
            </a:pPr>
            <a:r>
              <a:rPr sz="1200"/>
              <a:t>- A leave-one-state-out benchmark (12 states x 4 similarity definitions vs national rules) is running now.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