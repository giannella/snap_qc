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4"/>
  </p:notesMasterIdLst>
  <p:sldIdLst>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25" roundtripDataSignature="AMtx7miQRICf23Bzy3Bs41KrA83+2K6/DA=="/>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5048AC8-0E75-455B-AB4F-AEF2A2D202BD}">
  <a:tblStyle styleId="{B5048AC8-0E75-455B-AB4F-AEF2A2D202BD}"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97" d="100"/>
          <a:sy n="197" d="100"/>
        </p:scale>
        <p:origin x="760"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customschemas.google.com/relationships/presentationmetadata" Target="metadata"/><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57400" y="685800"/>
            <a:ext cx="342915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514350" y="4343400"/>
            <a:ext cx="41148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
        <p:cNvGrpSpPr/>
        <p:nvPr/>
      </p:nvGrpSpPr>
      <p:grpSpPr>
        <a:xfrm>
          <a:off x="0" y="0"/>
          <a:ext cx="0" cy="0"/>
          <a:chOff x="0" y="0"/>
          <a:chExt cx="0" cy="0"/>
        </a:xfrm>
      </p:grpSpPr>
      <p:sp>
        <p:nvSpPr>
          <p:cNvPr id="8" name="Google Shape;8;p1: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 name="Google Shape;9;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10" name="Google Shape;10;p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b="0" i="0" u="none" strike="noStrike" cap="none">
                <a:solidFill>
                  <a:schemeClr val="dk1"/>
                </a:solidFill>
                <a:latin typeface="Arial"/>
                <a:ea typeface="Arial"/>
                <a:cs typeface="Arial"/>
                <a:sym typeface="Arial"/>
              </a:rPr>
              <a:t>1</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
        <p:cNvGrpSpPr/>
        <p:nvPr/>
      </p:nvGrpSpPr>
      <p:grpSpPr>
        <a:xfrm>
          <a:off x="0" y="0"/>
          <a:ext cx="0" cy="0"/>
          <a:chOff x="0" y="0"/>
          <a:chExt cx="0" cy="0"/>
        </a:xfrm>
      </p:grpSpPr>
      <p:sp>
        <p:nvSpPr>
          <p:cNvPr id="18" name="Google Shape;18;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 name="Google Shape;19;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0" name="Google Shape;20;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
        <p:cNvGrpSpPr/>
        <p:nvPr/>
      </p:nvGrpSpPr>
      <p:grpSpPr>
        <a:xfrm>
          <a:off x="0" y="0"/>
          <a:ext cx="0" cy="0"/>
          <a:chOff x="0" y="0"/>
          <a:chExt cx="0" cy="0"/>
        </a:xfrm>
      </p:grpSpPr>
      <p:sp>
        <p:nvSpPr>
          <p:cNvPr id="27" name="Google Shape;27;p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 name="Google Shape;28;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29" name="Google Shape;29;p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76250" y="685800"/>
            <a:ext cx="6096000" cy="3429000"/>
          </a:xfrm>
        </p:spPr>
      </p:sp>
      <p:sp>
        <p:nvSpPr>
          <p:cNvPr id="3" name="Notes Placeholder 2"/>
          <p:cNvSpPr>
            <a:spLocks noGrp="1"/>
          </p:cNvSpPr>
          <p:nvPr>
            <p:ph type="body" idx="1"/>
          </p:nvPr>
        </p:nvSpPr>
        <p:spPr/>
        <p:txBody>
          <a:bodyPr/>
          <a:lstStyle/>
          <a:p>
            <a:pPr marL="15875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1100" dirty="0"/>
              <a:t>- Also ~5x faster than the {pre} pipeline and runs on a 16 GB laptop (the old internal lasso needed 40+ GB at scale).</a:t>
            </a:r>
          </a:p>
          <a:p>
            <a:endParaRPr lang="en-US" dirty="0"/>
          </a:p>
        </p:txBody>
      </p:sp>
    </p:spTree>
    <p:extLst>
      <p:ext uri="{BB962C8B-B14F-4D97-AF65-F5344CB8AC3E}">
        <p14:creationId xmlns:p14="http://schemas.microsoft.com/office/powerpoint/2010/main" val="32287600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
        <p:cNvGrpSpPr/>
        <p:nvPr/>
      </p:nvGrpSpPr>
      <p:grpSpPr>
        <a:xfrm>
          <a:off x="0" y="0"/>
          <a:ext cx="0" cy="0"/>
          <a:chOff x="0" y="0"/>
          <a:chExt cx="0" cy="0"/>
        </a:xfrm>
      </p:grpSpPr>
      <p:sp>
        <p:nvSpPr>
          <p:cNvPr id="36" name="Google Shape;36;p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7" name="Google Shape;37;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38" name="Google Shape;38;p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7</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3" name="Google Shape;63;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4" name="Google Shape;64;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8</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5" name="Google Shape;75;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6" name="Google Shape;76;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9</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3" name="Google Shape;83;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4" name="Google Shape;84;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10</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3eae636d67f_0_57:notes"/>
          <p:cNvSpPr>
            <a:spLocks noGrp="1" noRot="1" noChangeAspect="1"/>
          </p:cNvSpPr>
          <p:nvPr>
            <p:ph type="sldImg" idx="2"/>
          </p:nvPr>
        </p:nvSpPr>
        <p:spPr>
          <a:xfrm>
            <a:off x="-47625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3eae636d67f_0_57:notes"/>
          <p:cNvSpPr txBox="1">
            <a:spLocks noGrp="1"/>
          </p:cNvSpPr>
          <p:nvPr>
            <p:ph type="body" idx="1"/>
          </p:nvPr>
        </p:nvSpPr>
        <p:spPr>
          <a:xfrm>
            <a:off x="514350" y="4343400"/>
            <a:ext cx="41148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github.com/giannella/snap_qc"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
        <p:cNvGrpSpPr/>
        <p:nvPr/>
      </p:nvGrpSpPr>
      <p:grpSpPr>
        <a:xfrm>
          <a:off x="0" y="0"/>
          <a:ext cx="0" cy="0"/>
          <a:chOff x="0" y="0"/>
          <a:chExt cx="0" cy="0"/>
        </a:xfrm>
      </p:grpSpPr>
      <p:sp>
        <p:nvSpPr>
          <p:cNvPr id="12" name="Google Shape;12;p1"/>
          <p:cNvSpPr/>
          <p:nvPr/>
        </p:nvSpPr>
        <p:spPr>
          <a:xfrm>
            <a:off x="457200" y="1371600"/>
            <a:ext cx="8229600" cy="100584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4000"/>
              <a:buFont typeface="Cambria"/>
              <a:buNone/>
            </a:pPr>
            <a:r>
              <a:rPr lang="en-US" sz="4000" b="1" i="0" u="none" strike="noStrike" cap="none" dirty="0">
                <a:solidFill>
                  <a:srgbClr val="000000"/>
                </a:solidFill>
                <a:latin typeface="Cambria"/>
                <a:ea typeface="Cambria"/>
                <a:cs typeface="Cambria"/>
                <a:sym typeface="Cambria"/>
              </a:rPr>
              <a:t>Finding Inclusion Rules </a:t>
            </a:r>
          </a:p>
        </p:txBody>
      </p:sp>
      <p:sp>
        <p:nvSpPr>
          <p:cNvPr id="13" name="Google Shape;13;p1"/>
          <p:cNvSpPr/>
          <p:nvPr/>
        </p:nvSpPr>
        <p:spPr>
          <a:xfrm>
            <a:off x="457200" y="2468870"/>
            <a:ext cx="8229600" cy="9135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Flagging SNAP cases for review — INCL_ scripts</a:t>
            </a:r>
            <a:endParaRPr sz="1800" b="0" i="0" u="none" strike="noStrike" cap="none">
              <a:solidFill>
                <a:srgbClr val="000000"/>
              </a:solidFill>
              <a:latin typeface="Arial"/>
              <a:ea typeface="Arial"/>
              <a:cs typeface="Arial"/>
              <a:sym typeface="Arial"/>
            </a:endParaRPr>
          </a:p>
          <a:p>
            <a:pPr marL="0" marR="0" lvl="0" indent="0" algn="l" rtl="0">
              <a:spcBef>
                <a:spcPts val="0"/>
              </a:spcBef>
              <a:spcAft>
                <a:spcPts val="0"/>
              </a:spcAft>
              <a:buClr>
                <a:srgbClr val="000000"/>
              </a:buClr>
              <a:buSzPts val="1800"/>
              <a:buFont typeface="Arial"/>
              <a:buNone/>
            </a:pPr>
            <a:endParaRPr sz="1800"/>
          </a:p>
          <a:p>
            <a:pPr marL="0" marR="0" lvl="0" indent="0" algn="l" rtl="0">
              <a:spcBef>
                <a:spcPts val="0"/>
              </a:spcBef>
              <a:spcAft>
                <a:spcPts val="0"/>
              </a:spcAft>
              <a:buClr>
                <a:srgbClr val="000000"/>
              </a:buClr>
              <a:buSzPts val="1800"/>
              <a:buFont typeface="Arial"/>
              <a:buNone/>
            </a:pPr>
            <a:r>
              <a:rPr lang="en-US" sz="1800" u="sng">
                <a:solidFill>
                  <a:schemeClr val="hlink"/>
                </a:solidFill>
                <a:hlinkClick r:id="rId3"/>
              </a:rPr>
              <a:t>https://github.com/giannella/snap_qc</a:t>
            </a:r>
            <a:endParaRPr sz="1800"/>
          </a:p>
        </p:txBody>
      </p:sp>
      <p:sp>
        <p:nvSpPr>
          <p:cNvPr id="14" name="Google Shape;14;p1"/>
          <p:cNvSpPr/>
          <p:nvPr/>
        </p:nvSpPr>
        <p:spPr>
          <a:xfrm>
            <a:off x="457200" y="3473805"/>
            <a:ext cx="8229600" cy="3657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300" b="0" i="1" u="none" strike="noStrike" cap="none">
                <a:solidFill>
                  <a:srgbClr val="5A5A5A"/>
                </a:solidFill>
                <a:latin typeface="Arial"/>
                <a:ea typeface="Arial"/>
                <a:cs typeface="Arial"/>
                <a:sym typeface="Arial"/>
              </a:rPr>
              <a:t>Version 2: rules found by machine learning, kept only when we can be confident in their accuracy, then tuned for each state</a:t>
            </a:r>
            <a:endParaRPr sz="1300" b="0" i="0" u="none" strike="noStrike" cap="none">
              <a:solidFill>
                <a:schemeClr val="dk1"/>
              </a:solidFill>
              <a:latin typeface="Calibri"/>
              <a:ea typeface="Calibri"/>
              <a:cs typeface="Calibri"/>
              <a:sym typeface="Calibri"/>
            </a:endParaRPr>
          </a:p>
        </p:txBody>
      </p:sp>
      <p:sp>
        <p:nvSpPr>
          <p:cNvPr id="15" name="Google Shape;15;p1"/>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Inclusion rules · INCL_ scripts</a:t>
            </a:r>
            <a:endParaRPr sz="900" b="0" i="0" u="none" strike="noStrike" cap="none">
              <a:solidFill>
                <a:schemeClr val="dk1"/>
              </a:solidFill>
              <a:latin typeface="Calibri"/>
              <a:ea typeface="Calibri"/>
              <a:cs typeface="Calibri"/>
              <a:sym typeface="Calibri"/>
            </a:endParaRPr>
          </a:p>
        </p:txBody>
      </p:sp>
      <p:sp>
        <p:nvSpPr>
          <p:cNvPr id="16" name="Google Shape;16;p1"/>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b="0" i="0" u="none" strike="noStrike" cap="none">
                <a:solidFill>
                  <a:srgbClr val="5A5A5A"/>
                </a:solidFill>
                <a:latin typeface="Arial"/>
                <a:ea typeface="Arial"/>
                <a:cs typeface="Arial"/>
                <a:sym typeface="Arial"/>
              </a:rPr>
              <a:t>1</a:t>
            </a:r>
            <a:endParaRPr sz="900" b="0" i="0" u="none" strike="noStrike" cap="non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
        <p:cNvGrpSpPr/>
        <p:nvPr/>
      </p:nvGrpSpPr>
      <p:grpSpPr>
        <a:xfrm>
          <a:off x="0" y="0"/>
          <a:ext cx="0" cy="0"/>
          <a:chOff x="0" y="0"/>
          <a:chExt cx="0" cy="0"/>
        </a:xfrm>
      </p:grpSpPr>
      <p:sp>
        <p:nvSpPr>
          <p:cNvPr id="22" name="Google Shape;22;p2"/>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solidFill>
                  <a:srgbClr val="000000"/>
                </a:solidFill>
                <a:latin typeface="Cambria"/>
                <a:ea typeface="Cambria"/>
                <a:cs typeface="Cambria"/>
                <a:sym typeface="Cambria"/>
              </a:rPr>
              <a:t>The problem</a:t>
            </a:r>
            <a:endParaRPr sz="2800">
              <a:solidFill>
                <a:schemeClr val="dk1"/>
              </a:solidFill>
              <a:latin typeface="Calibri"/>
              <a:ea typeface="Calibri"/>
              <a:cs typeface="Calibri"/>
              <a:sym typeface="Calibri"/>
            </a:endParaRPr>
          </a:p>
        </p:txBody>
      </p:sp>
      <p:sp>
        <p:nvSpPr>
          <p:cNvPr id="23" name="Google Shape;23;p2"/>
          <p:cNvSpPr/>
          <p:nvPr/>
        </p:nvSpPr>
        <p:spPr>
          <a:xfrm>
            <a:off x="457200" y="1234450"/>
            <a:ext cx="7835400" cy="3291900"/>
          </a:xfrm>
          <a:prstGeom prst="rect">
            <a:avLst/>
          </a:prstGeom>
          <a:noFill/>
          <a:ln>
            <a:noFill/>
          </a:ln>
        </p:spPr>
        <p:txBody>
          <a:bodyPr spcFirstLastPara="1" wrap="square" lIns="91425" tIns="45700" rIns="91425" bIns="45700" anchor="t" anchorCtr="0">
            <a:noAutofit/>
          </a:bodyPr>
          <a:lstStyle/>
          <a:p>
            <a:pPr marL="177800" marR="0" lvl="0" indent="-177800" algn="l" rtl="0">
              <a:spcBef>
                <a:spcPts val="0"/>
              </a:spcBef>
              <a:spcAft>
                <a:spcPts val="0"/>
              </a:spcAft>
              <a:buClr>
                <a:srgbClr val="000000"/>
              </a:buClr>
              <a:buSzPts val="1500"/>
              <a:buFont typeface="Arial"/>
              <a:buChar char="•"/>
            </a:pPr>
            <a:r>
              <a:rPr lang="en-US" sz="1500">
                <a:solidFill>
                  <a:srgbClr val="000000"/>
                </a:solidFill>
                <a:latin typeface="Arial"/>
                <a:ea typeface="Arial"/>
                <a:cs typeface="Arial"/>
                <a:sym typeface="Arial"/>
              </a:rPr>
              <a:t>Review capacity is limited; only a small fraction of cases can be examined.</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We want to flag the cases most likely to </a:t>
            </a:r>
            <a:r>
              <a:rPr lang="en-US" sz="1500"/>
              <a:t>have large, correctable payment </a:t>
            </a:r>
            <a:r>
              <a:rPr lang="en-US" sz="1500">
                <a:solidFill>
                  <a:srgbClr val="000000"/>
                </a:solidFill>
                <a:latin typeface="Arial"/>
                <a:ea typeface="Arial"/>
                <a:cs typeface="Arial"/>
                <a:sym typeface="Arial"/>
              </a:rPr>
              <a:t>errors.</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solidFill>
                  <a:srgbClr val="000000"/>
                </a:solidFill>
                <a:latin typeface="Arial"/>
                <a:ea typeface="Arial"/>
                <a:cs typeface="Arial"/>
                <a:sym typeface="Arial"/>
              </a:rPr>
              <a:t>An “inclusion” rule marks a case </a:t>
            </a:r>
            <a:r>
              <a:rPr lang="en-US" sz="1500"/>
              <a:t>as more likely to have one of these errors</a:t>
            </a:r>
            <a:r>
              <a:rPr lang="en-US" sz="1500">
                <a:solidFill>
                  <a:srgbClr val="000000"/>
                </a:solidFill>
                <a:latin typeface="Arial"/>
                <a:ea typeface="Arial"/>
                <a:cs typeface="Arial"/>
                <a:sym typeface="Arial"/>
              </a:rPr>
              <a:t>.</a:t>
            </a:r>
            <a:endParaRPr sz="1500">
              <a:solidFill>
                <a:schemeClr val="dk1"/>
              </a:solidFill>
              <a:latin typeface="Calibri"/>
              <a:ea typeface="Calibri"/>
              <a:cs typeface="Calibri"/>
              <a:sym typeface="Calibri"/>
            </a:endParaRPr>
          </a:p>
          <a:p>
            <a:pPr marL="177800" marR="0" lvl="0" indent="-177800" algn="l" rtl="0">
              <a:spcBef>
                <a:spcPts val="1000"/>
              </a:spcBef>
              <a:spcAft>
                <a:spcPts val="0"/>
              </a:spcAft>
              <a:buClr>
                <a:srgbClr val="000000"/>
              </a:buClr>
              <a:buSzPts val="1500"/>
              <a:buFont typeface="Arial"/>
              <a:buChar char="•"/>
            </a:pPr>
            <a:r>
              <a:rPr lang="en-US" sz="1500"/>
              <a:t>Designed to focus on </a:t>
            </a:r>
            <a:r>
              <a:rPr lang="en-US" sz="1500">
                <a:solidFill>
                  <a:srgbClr val="000000"/>
                </a:solidFill>
                <a:latin typeface="Arial"/>
                <a:ea typeface="Arial"/>
                <a:cs typeface="Arial"/>
                <a:sym typeface="Arial"/>
              </a:rPr>
              <a:t>high precision (maximize av</a:t>
            </a:r>
            <a:r>
              <a:rPr lang="en-US" sz="1500"/>
              <a:t>erage yield per reviewed case</a:t>
            </a:r>
            <a:r>
              <a:rPr lang="en-US" sz="1500">
                <a:solidFill>
                  <a:srgbClr val="000000"/>
                </a:solidFill>
                <a:latin typeface="Arial"/>
                <a:ea typeface="Arial"/>
                <a:cs typeface="Arial"/>
                <a:sym typeface="Arial"/>
              </a:rPr>
              <a:t>) while still </a:t>
            </a:r>
            <a:r>
              <a:rPr lang="en-US" sz="1500"/>
              <a:t>catching a predefined level of errors</a:t>
            </a:r>
            <a:r>
              <a:rPr lang="en-US" sz="1500">
                <a:solidFill>
                  <a:srgbClr val="000000"/>
                </a:solidFill>
                <a:latin typeface="Arial"/>
                <a:ea typeface="Arial"/>
                <a:cs typeface="Arial"/>
                <a:sym typeface="Arial"/>
              </a:rPr>
              <a:t> (recall).</a:t>
            </a:r>
            <a:endParaRPr sz="1500">
              <a:solidFill>
                <a:schemeClr val="dk1"/>
              </a:solidFill>
              <a:latin typeface="Calibri"/>
              <a:ea typeface="Calibri"/>
              <a:cs typeface="Calibri"/>
              <a:sym typeface="Calibri"/>
            </a:endParaRPr>
          </a:p>
        </p:txBody>
      </p:sp>
      <p:sp>
        <p:nvSpPr>
          <p:cNvPr id="24" name="Google Shape;24;p2"/>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25" name="Google Shape;25;p2"/>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2</a:t>
            </a:r>
            <a:endParaRPr sz="90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0"/>
        <p:cNvGrpSpPr/>
        <p:nvPr/>
      </p:nvGrpSpPr>
      <p:grpSpPr>
        <a:xfrm>
          <a:off x="0" y="0"/>
          <a:ext cx="0" cy="0"/>
          <a:chOff x="0" y="0"/>
          <a:chExt cx="0" cy="0"/>
        </a:xfrm>
      </p:grpSpPr>
      <p:sp>
        <p:nvSpPr>
          <p:cNvPr id="31" name="Google Shape;31;p3"/>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dirty="0">
                <a:solidFill>
                  <a:srgbClr val="000000"/>
                </a:solidFill>
                <a:latin typeface="Cambria"/>
                <a:ea typeface="Cambria"/>
                <a:cs typeface="Cambria"/>
                <a:sym typeface="Cambria"/>
              </a:rPr>
              <a:t>Key ideas</a:t>
            </a:r>
            <a:endParaRPr sz="2800" dirty="0">
              <a:solidFill>
                <a:schemeClr val="dk1"/>
              </a:solidFill>
              <a:latin typeface="Calibri"/>
              <a:ea typeface="Calibri"/>
              <a:cs typeface="Calibri"/>
              <a:sym typeface="Calibri"/>
            </a:endParaRPr>
          </a:p>
        </p:txBody>
      </p:sp>
      <p:sp>
        <p:nvSpPr>
          <p:cNvPr id="32" name="Google Shape;32;p3"/>
          <p:cNvSpPr/>
          <p:nvPr/>
        </p:nvSpPr>
        <p:spPr>
          <a:xfrm>
            <a:off x="457200" y="1234440"/>
            <a:ext cx="8229600" cy="338328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Precision </a:t>
            </a:r>
            <a:r>
              <a:rPr lang="en-US" sz="1450" dirty="0">
                <a:solidFill>
                  <a:srgbClr val="000000"/>
                </a:solidFill>
                <a:latin typeface="Arial"/>
                <a:ea typeface="Arial"/>
                <a:cs typeface="Arial"/>
                <a:sym typeface="Arial"/>
              </a:rPr>
              <a:t>— share of flagged cases that are true errors.</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Recall </a:t>
            </a:r>
            <a:r>
              <a:rPr lang="en-US" sz="1450" dirty="0">
                <a:solidFill>
                  <a:srgbClr val="000000"/>
                </a:solidFill>
                <a:latin typeface="Arial"/>
                <a:ea typeface="Arial"/>
                <a:cs typeface="Arial"/>
                <a:sym typeface="Arial"/>
              </a:rPr>
              <a:t>— share of all errors (or error dollars) that get flagged.</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Finding rules - </a:t>
            </a:r>
            <a:r>
              <a:rPr lang="en-US" sz="1450" dirty="0">
                <a:solidFill>
                  <a:srgbClr val="000000"/>
                </a:solidFill>
                <a:latin typeface="Arial"/>
                <a:ea typeface="Arial"/>
                <a:cs typeface="Arial"/>
                <a:sym typeface="Arial"/>
              </a:rPr>
              <a:t>two standard machine-learning methods (xgboost and ranger) grow thousands of decision trees on the data; every branch becomes a candidate if-then rule. The two methods find different rules, so we use both.</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Keeping rules </a:t>
            </a:r>
            <a:r>
              <a:rPr lang="en-US" sz="1450" dirty="0">
                <a:solidFill>
                  <a:srgbClr val="000000"/>
                </a:solidFill>
                <a:latin typeface="Arial"/>
                <a:ea typeface="Arial"/>
                <a:cs typeface="Arial"/>
                <a:sym typeface="Arial"/>
              </a:rPr>
              <a:t>- a rule tested on only a handful of cases can look great by luck. Before keeping a rule, we shrink its measured precision to what we can be statistically confident of, given how many cases it was tested on. Without this step, a rule list promising 20% precision delivered about 10% on new data.</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By household size </a:t>
            </a:r>
            <a:r>
              <a:rPr lang="en-US" sz="1450" dirty="0">
                <a:solidFill>
                  <a:srgbClr val="000000"/>
                </a:solidFill>
                <a:latin typeface="Arial"/>
                <a:ea typeface="Arial"/>
                <a:cs typeface="Arial"/>
                <a:sym typeface="Arial"/>
              </a:rPr>
              <a:t>- cases are split into sizes 1, 2-3, and 4+ and modeled separately, since benefits and error amounts scale with household size.</a:t>
            </a:r>
            <a:endParaRPr sz="145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1450"/>
              <a:buFont typeface="Arial"/>
              <a:buNone/>
            </a:pPr>
            <a:r>
              <a:rPr lang="en-US" sz="1450" b="1" dirty="0">
                <a:solidFill>
                  <a:srgbClr val="000000"/>
                </a:solidFill>
                <a:latin typeface="Arial"/>
                <a:ea typeface="Arial"/>
                <a:cs typeface="Arial"/>
                <a:sym typeface="Arial"/>
              </a:rPr>
              <a:t>Counting every error</a:t>
            </a:r>
            <a:r>
              <a:rPr lang="en-US" sz="1450" dirty="0">
                <a:solidFill>
                  <a:srgbClr val="000000"/>
                </a:solidFill>
                <a:latin typeface="Arial"/>
                <a:ea typeface="Arial"/>
                <a:cs typeface="Arial"/>
                <a:sym typeface="Arial"/>
              </a:rPr>
              <a:t> - when a flagged case turns out to have a different kind of error than the rule was built for, the review still succeeded. Counting only the original error type understates real-world accuracy by about half.</a:t>
            </a:r>
            <a:endParaRPr sz="1450" dirty="0">
              <a:solidFill>
                <a:schemeClr val="dk1"/>
              </a:solidFill>
              <a:latin typeface="Calibri"/>
              <a:ea typeface="Calibri"/>
              <a:cs typeface="Calibri"/>
              <a:sym typeface="Calibri"/>
            </a:endParaRPr>
          </a:p>
        </p:txBody>
      </p:sp>
      <p:sp>
        <p:nvSpPr>
          <p:cNvPr id="33" name="Google Shape;33;p3"/>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34" name="Google Shape;34;p3"/>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3</a:t>
            </a:r>
            <a:endParaRPr sz="9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7295587" cy="430887"/>
          </a:xfrm>
          <a:prstGeom prst="rect">
            <a:avLst/>
          </a:prstGeom>
          <a:noFill/>
        </p:spPr>
        <p:txBody>
          <a:bodyPr wrap="none">
            <a:spAutoFit/>
          </a:bodyPr>
          <a:lstStyle/>
          <a:p>
            <a:r>
              <a:rPr lang="en-US" sz="2200" b="1" dirty="0"/>
              <a:t>Finding rules: </a:t>
            </a:r>
            <a:r>
              <a:rPr sz="2200" b="1" dirty="0" err="1"/>
              <a:t>xgboost</a:t>
            </a:r>
            <a:r>
              <a:rPr sz="2200" b="1" dirty="0"/>
              <a:t> + </a:t>
            </a:r>
            <a:r>
              <a:rPr lang="en-US" sz="2200" b="1" dirty="0"/>
              <a:t>constrained random forests</a:t>
            </a:r>
          </a:p>
        </p:txBody>
      </p:sp>
      <p:sp>
        <p:nvSpPr>
          <p:cNvPr id="4" name="TextBox 3"/>
          <p:cNvSpPr txBox="1"/>
          <p:nvPr/>
        </p:nvSpPr>
        <p:spPr>
          <a:xfrm>
            <a:off x="400000" y="900000"/>
            <a:ext cx="3273434" cy="3046988"/>
          </a:xfrm>
          <a:prstGeom prst="rect">
            <a:avLst/>
          </a:prstGeom>
          <a:noFill/>
        </p:spPr>
        <p:txBody>
          <a:bodyPr wrap="square">
            <a:spAutoFit/>
          </a:bodyPr>
          <a:lstStyle/>
          <a:p>
            <a:pPr>
              <a:spcAft>
                <a:spcPts val="600"/>
              </a:spcAft>
            </a:pPr>
            <a:r>
              <a:rPr sz="1300" dirty="0"/>
              <a:t>- Head-to-head with everything else identical (same screens, </a:t>
            </a:r>
            <a:r>
              <a:rPr sz="1300" dirty="0" err="1"/>
              <a:t>dedup</a:t>
            </a:r>
            <a:r>
              <a:rPr sz="1300" dirty="0"/>
              <a:t>, filter): </a:t>
            </a:r>
            <a:r>
              <a:rPr sz="1300" dirty="0" err="1"/>
              <a:t>xgboost</a:t>
            </a:r>
            <a:r>
              <a:rPr sz="1300" dirty="0"/>
              <a:t> + ranger catches 55% of error dollars at the 0.20 filter floor vs 47% for bagged CART ({pre}'s rule generator), at slightly better precision at matched recall (+1.2pp).</a:t>
            </a:r>
          </a:p>
          <a:p>
            <a:pPr>
              <a:spcAft>
                <a:spcPts val="600"/>
              </a:spcAft>
            </a:pPr>
            <a:r>
              <a:rPr sz="1300" dirty="0"/>
              <a:t>- The </a:t>
            </a:r>
            <a:r>
              <a:rPr lang="en-US" sz="1300" dirty="0"/>
              <a:t>pair </a:t>
            </a:r>
            <a:r>
              <a:rPr sz="1300" dirty="0"/>
              <a:t>beats either engine alone - </a:t>
            </a:r>
            <a:r>
              <a:rPr lang="en-US" sz="1300" dirty="0"/>
              <a:t>they</a:t>
            </a:r>
            <a:r>
              <a:rPr sz="1300" dirty="0"/>
              <a:t> find complementary rules (engine pairs beat singles in every test).</a:t>
            </a:r>
            <a:endParaRPr lang="en-US" sz="1300" dirty="0"/>
          </a:p>
          <a:p>
            <a:pPr>
              <a:spcAft>
                <a:spcPts val="600"/>
              </a:spcAft>
            </a:pPr>
            <a:r>
              <a:rPr lang="en-US" sz="1300" dirty="0"/>
              <a:t>- Random forests can only choose between two variables in each split, forces coverage of key demographic variations such as elderly or disabled. </a:t>
            </a:r>
            <a:endParaRPr sz="1300" dirty="0"/>
          </a:p>
        </p:txBody>
      </p:sp>
      <p:pic>
        <p:nvPicPr>
          <p:cNvPr id="5" name="Picture 4" descr="combo_sweeps.png"/>
          <p:cNvPicPr>
            <a:picLocks noChangeAspect="1"/>
          </p:cNvPicPr>
          <p:nvPr/>
        </p:nvPicPr>
        <p:blipFill>
          <a:blip r:embed="rId3"/>
          <a:stretch>
            <a:fillRect/>
          </a:stretch>
        </p:blipFill>
        <p:spPr>
          <a:xfrm>
            <a:off x="3994343" y="1696755"/>
            <a:ext cx="4900000" cy="299444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Finding rules: M</a:t>
            </a:r>
            <a:r>
              <a:rPr lang="en-US" sz="2000" b="1" dirty="0">
                <a:solidFill>
                  <a:srgbClr val="000000"/>
                </a:solidFill>
                <a:latin typeface="Cambria"/>
                <a:ea typeface="Cambria"/>
                <a:cs typeface="Cambria"/>
                <a:sym typeface="Cambria"/>
              </a:rPr>
              <a:t>odeling by household size helps </a:t>
            </a: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7" name="Picture 6">
            <a:extLst>
              <a:ext uri="{FF2B5EF4-FFF2-40B4-BE49-F238E27FC236}">
                <a16:creationId xmlns:a16="http://schemas.microsoft.com/office/drawing/2014/main" id="{4F524269-74D9-2AC1-0B21-BA4281EE36E8}"/>
              </a:ext>
            </a:extLst>
          </p:cNvPr>
          <p:cNvPicPr>
            <a:picLocks noChangeAspect="1"/>
          </p:cNvPicPr>
          <p:nvPr/>
        </p:nvPicPr>
        <p:blipFill>
          <a:blip r:embed="rId2"/>
          <a:stretch>
            <a:fillRect/>
          </a:stretch>
        </p:blipFill>
        <p:spPr>
          <a:xfrm>
            <a:off x="1274729" y="897425"/>
            <a:ext cx="6145086" cy="3840678"/>
          </a:xfrm>
          <a:prstGeom prst="rect">
            <a:avLst/>
          </a:prstGeom>
        </p:spPr>
      </p:pic>
    </p:spTree>
    <p:extLst>
      <p:ext uri="{BB962C8B-B14F-4D97-AF65-F5344CB8AC3E}">
        <p14:creationId xmlns:p14="http://schemas.microsoft.com/office/powerpoint/2010/main" val="28789923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31;p3">
            <a:extLst>
              <a:ext uri="{FF2B5EF4-FFF2-40B4-BE49-F238E27FC236}">
                <a16:creationId xmlns:a16="http://schemas.microsoft.com/office/drawing/2014/main" id="{CF57E5D1-2C0A-A226-8EB3-7F70B6F1DB5C}"/>
              </a:ext>
            </a:extLst>
          </p:cNvPr>
          <p:cNvSpPr/>
          <p:nvPr/>
        </p:nvSpPr>
        <p:spPr>
          <a:xfrm>
            <a:off x="302221" y="181132"/>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000" b="1" dirty="0">
                <a:latin typeface="Cambria"/>
                <a:ea typeface="Cambria"/>
                <a:cs typeface="Cambria"/>
                <a:sym typeface="Cambria"/>
              </a:rPr>
              <a:t>But less so after we introduce constrained random forests (</a:t>
            </a:r>
            <a:r>
              <a:rPr lang="en-US" sz="2000" b="1" dirty="0" err="1">
                <a:latin typeface="Cambria"/>
                <a:ea typeface="Cambria"/>
                <a:cs typeface="Cambria"/>
                <a:sym typeface="Cambria"/>
              </a:rPr>
              <a:t>mtry</a:t>
            </a:r>
            <a:r>
              <a:rPr lang="en-US" sz="2000" b="1" dirty="0">
                <a:latin typeface="Cambria"/>
                <a:ea typeface="Cambria"/>
                <a:cs typeface="Cambria"/>
                <a:sym typeface="Cambria"/>
              </a:rPr>
              <a:t>=2)</a:t>
            </a:r>
            <a:endParaRPr lang="en-US" sz="2000" b="1" dirty="0">
              <a:solidFill>
                <a:srgbClr val="000000"/>
              </a:solidFill>
              <a:latin typeface="Cambria"/>
              <a:ea typeface="Cambria"/>
              <a:cs typeface="Cambria"/>
              <a:sym typeface="Cambria"/>
            </a:endParaRPr>
          </a:p>
        </p:txBody>
      </p:sp>
      <p:sp>
        <p:nvSpPr>
          <p:cNvPr id="5" name="Google Shape;71;p5">
            <a:extLst>
              <a:ext uri="{FF2B5EF4-FFF2-40B4-BE49-F238E27FC236}">
                <a16:creationId xmlns:a16="http://schemas.microsoft.com/office/drawing/2014/main" id="{372C75CB-DB81-ECB1-23DE-0515E0699FDE}"/>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2" name="Google Shape;34;p3">
            <a:extLst>
              <a:ext uri="{FF2B5EF4-FFF2-40B4-BE49-F238E27FC236}">
                <a16:creationId xmlns:a16="http://schemas.microsoft.com/office/drawing/2014/main" id="{9E147437-BD2A-6D0F-095C-298C1672722B}"/>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4</a:t>
            </a:r>
            <a:endParaRPr sz="900" dirty="0">
              <a:solidFill>
                <a:schemeClr val="dk1"/>
              </a:solidFill>
              <a:latin typeface="Calibri"/>
              <a:ea typeface="Calibri"/>
              <a:cs typeface="Calibri"/>
              <a:sym typeface="Calibri"/>
            </a:endParaRPr>
          </a:p>
        </p:txBody>
      </p:sp>
      <p:pic>
        <p:nvPicPr>
          <p:cNvPr id="6" name="Picture 5" descr="strata_sweeps.png"/>
          <p:cNvPicPr>
            <a:picLocks noChangeAspect="1"/>
          </p:cNvPicPr>
          <p:nvPr/>
        </p:nvPicPr>
        <p:blipFill>
          <a:blip r:embed="rId2"/>
          <a:stretch>
            <a:fillRect/>
          </a:stretch>
        </p:blipFill>
        <p:spPr>
          <a:xfrm>
            <a:off x="1317357" y="982787"/>
            <a:ext cx="6199328" cy="3788478"/>
          </a:xfrm>
          <a:prstGeom prst="rect">
            <a:avLst/>
          </a:prstGeom>
        </p:spPr>
      </p:pic>
    </p:spTree>
    <p:extLst>
      <p:ext uri="{BB962C8B-B14F-4D97-AF65-F5344CB8AC3E}">
        <p14:creationId xmlns:p14="http://schemas.microsoft.com/office/powerpoint/2010/main" val="33955495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39"/>
        <p:cNvGrpSpPr/>
        <p:nvPr/>
      </p:nvGrpSpPr>
      <p:grpSpPr>
        <a:xfrm>
          <a:off x="0" y="0"/>
          <a:ext cx="0" cy="0"/>
          <a:chOff x="0" y="0"/>
          <a:chExt cx="0" cy="0"/>
        </a:xfrm>
      </p:grpSpPr>
      <p:sp>
        <p:nvSpPr>
          <p:cNvPr id="40" name="Google Shape;40;p4"/>
          <p:cNvSpPr/>
          <p:nvPr/>
        </p:nvSpPr>
        <p:spPr>
          <a:xfrm>
            <a:off x="457200" y="310896"/>
            <a:ext cx="8229600" cy="6402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2800" b="1">
                <a:latin typeface="Cambria"/>
                <a:ea typeface="Cambria"/>
                <a:cs typeface="Cambria"/>
                <a:sym typeface="Cambria"/>
              </a:rPr>
              <a:t>How to use the scripts</a:t>
            </a:r>
            <a:endParaRPr sz="2800">
              <a:solidFill>
                <a:schemeClr val="dk1"/>
              </a:solidFill>
              <a:latin typeface="Calibri"/>
              <a:ea typeface="Calibri"/>
              <a:cs typeface="Calibri"/>
              <a:sym typeface="Calibri"/>
            </a:endParaRPr>
          </a:p>
        </p:txBody>
      </p:sp>
      <p:sp>
        <p:nvSpPr>
          <p:cNvPr id="41" name="Google Shape;41;p4"/>
          <p:cNvSpPr/>
          <p:nvPr/>
        </p:nvSpPr>
        <p:spPr>
          <a:xfrm>
            <a:off x="309966" y="2286000"/>
            <a:ext cx="1500534"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2" name="Google Shape;42;p4"/>
          <p:cNvSpPr/>
          <p:nvPr/>
        </p:nvSpPr>
        <p:spPr>
          <a:xfrm>
            <a:off x="421316"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INPUT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Labelled cases (errors + clean)</a:t>
            </a:r>
            <a:endParaRPr sz="1000" b="1">
              <a:solidFill>
                <a:srgbClr val="5A5A5A"/>
              </a:solidFill>
              <a:latin typeface="Arial"/>
              <a:ea typeface="Arial"/>
              <a:cs typeface="Arial"/>
              <a:sym typeface="Arial"/>
            </a:endParaRPr>
          </a:p>
        </p:txBody>
      </p:sp>
      <p:cxnSp>
        <p:nvCxnSpPr>
          <p:cNvPr id="43" name="Google Shape;43;p4"/>
          <p:cNvCxnSpPr>
            <a:cxnSpLocks/>
            <a:stCxn id="41" idx="3"/>
            <a:endCxn id="44" idx="1"/>
          </p:cNvCxnSpPr>
          <p:nvPr/>
        </p:nvCxnSpPr>
        <p:spPr>
          <a:xfrm>
            <a:off x="1810500" y="3000450"/>
            <a:ext cx="218538" cy="0"/>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44" name="Google Shape;44;p4"/>
          <p:cNvSpPr/>
          <p:nvPr/>
        </p:nvSpPr>
        <p:spPr>
          <a:xfrm>
            <a:off x="2029038" y="2286000"/>
            <a:ext cx="1500534"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5" name="Google Shape;45;p4"/>
          <p:cNvSpPr/>
          <p:nvPr/>
        </p:nvSpPr>
        <p:spPr>
          <a:xfrm>
            <a:off x="2140388" y="2381250"/>
            <a:ext cx="1297624" cy="1238400"/>
          </a:xfrm>
          <a:prstGeom prst="rect">
            <a:avLst/>
          </a:prstGeom>
          <a:solidFill>
            <a:srgbClr val="000000">
              <a:alpha val="0"/>
            </a:srgbClr>
          </a:solid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000" i="1" dirty="0">
                <a:solidFill>
                  <a:srgbClr val="5A5A5A"/>
                </a:solidFill>
                <a:latin typeface="Arial"/>
                <a:ea typeface="Arial"/>
                <a:cs typeface="Arial"/>
                <a:sym typeface="Arial"/>
              </a:rPr>
              <a:t>INCL_find_inclusion_rules_by_hh_size_v2.</a:t>
            </a:r>
          </a:p>
          <a:p>
            <a:pPr marL="0" lvl="0" indent="0" algn="ctr" rtl="0">
              <a:spcBef>
                <a:spcPts val="375"/>
              </a:spcBef>
              <a:spcAft>
                <a:spcPts val="0"/>
              </a:spcAft>
              <a:buNone/>
            </a:pPr>
            <a:r>
              <a:rPr lang="en-US" sz="1100" b="1" dirty="0">
                <a:solidFill>
                  <a:srgbClr val="000000"/>
                </a:solidFill>
                <a:latin typeface="Arial"/>
                <a:ea typeface="Arial"/>
                <a:cs typeface="Arial"/>
                <a:sym typeface="Arial"/>
              </a:rPr>
              <a:t>Find candidate rules; keep reliably accurate rules</a:t>
            </a:r>
            <a:endParaRPr sz="1000" b="1" dirty="0">
              <a:solidFill>
                <a:srgbClr val="5A5A5A"/>
              </a:solidFill>
              <a:latin typeface="Arial"/>
              <a:ea typeface="Arial"/>
              <a:cs typeface="Arial"/>
              <a:sym typeface="Arial"/>
            </a:endParaRPr>
          </a:p>
        </p:txBody>
      </p:sp>
      <p:cxnSp>
        <p:nvCxnSpPr>
          <p:cNvPr id="46" name="Google Shape;46;p4"/>
          <p:cNvCxnSpPr>
            <a:cxnSpLocks/>
            <a:stCxn id="44" idx="3"/>
            <a:endCxn id="47" idx="1"/>
          </p:cNvCxnSpPr>
          <p:nvPr/>
        </p:nvCxnSpPr>
        <p:spPr>
          <a:xfrm flipV="1">
            <a:off x="3529572" y="2143200"/>
            <a:ext cx="853556" cy="857250"/>
          </a:xfrm>
          <a:prstGeom prst="bentConnector3">
            <a:avLst>
              <a:gd name="adj1" fmla="val 50000"/>
            </a:avLst>
          </a:prstGeom>
          <a:solidFill>
            <a:srgbClr val="FFFFFF"/>
          </a:solidFill>
          <a:ln w="22225" cap="flat" cmpd="sng">
            <a:solidFill>
              <a:srgbClr val="000000"/>
            </a:solidFill>
            <a:prstDash val="solid"/>
            <a:round/>
            <a:headEnd type="none" w="sm" len="sm"/>
            <a:tailEnd type="triangle" w="med" len="med"/>
          </a:ln>
        </p:spPr>
      </p:cxnSp>
      <p:sp>
        <p:nvSpPr>
          <p:cNvPr id="47" name="Google Shape;47;p4"/>
          <p:cNvSpPr/>
          <p:nvPr/>
        </p:nvSpPr>
        <p:spPr>
          <a:xfrm>
            <a:off x="4383128" y="1428750"/>
            <a:ext cx="1546213" cy="1428900"/>
          </a:xfrm>
          <a:prstGeom prst="roundRect">
            <a:avLst>
              <a:gd name="adj" fmla="val 4053"/>
            </a:avLst>
          </a:prstGeom>
          <a:solidFill>
            <a:srgbClr val="EFEFE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48" name="Google Shape;48;p4"/>
          <p:cNvSpPr/>
          <p:nvPr/>
        </p:nvSpPr>
        <p:spPr>
          <a:xfrm>
            <a:off x="4474569" y="1524000"/>
            <a:ext cx="1337126" cy="1238400"/>
          </a:xfrm>
          <a:prstGeom prst="rect">
            <a:avLst/>
          </a:prstGeom>
          <a:solidFill>
            <a:srgbClr val="EFEFEF"/>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err="1">
                <a:solidFill>
                  <a:srgbClr val="5A5A5A"/>
                </a:solidFill>
                <a:latin typeface="Arial"/>
                <a:ea typeface="Arial"/>
                <a:cs typeface="Arial"/>
                <a:sym typeface="Arial"/>
              </a:rPr>
              <a:t>state_threshold_ gridsearch_v2</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Adjust rule cutoffs to your state's data</a:t>
            </a:r>
            <a:endParaRPr sz="1000" b="1" dirty="0">
              <a:solidFill>
                <a:srgbClr val="5A5A5A"/>
              </a:solidFill>
              <a:latin typeface="Arial"/>
              <a:ea typeface="Arial"/>
              <a:cs typeface="Arial"/>
              <a:sym typeface="Arial"/>
            </a:endParaRPr>
          </a:p>
        </p:txBody>
      </p:sp>
      <p:cxnSp>
        <p:nvCxnSpPr>
          <p:cNvPr id="49" name="Google Shape;49;p4"/>
          <p:cNvCxnSpPr>
            <a:cxnSpLocks/>
            <a:stCxn id="44" idx="3"/>
            <a:endCxn id="50" idx="1"/>
          </p:cNvCxnSpPr>
          <p:nvPr/>
        </p:nvCxnSpPr>
        <p:spPr>
          <a:xfrm>
            <a:off x="3529572" y="3000450"/>
            <a:ext cx="871831" cy="835538"/>
          </a:xfrm>
          <a:prstGeom prst="bentConnector3">
            <a:avLst>
              <a:gd name="adj1" fmla="val 48667"/>
            </a:avLst>
          </a:prstGeom>
          <a:solidFill>
            <a:srgbClr val="FFFFFF"/>
          </a:solidFill>
          <a:ln w="22225" cap="flat" cmpd="sng">
            <a:solidFill>
              <a:srgbClr val="000000"/>
            </a:solidFill>
            <a:prstDash val="solid"/>
            <a:round/>
            <a:headEnd type="none" w="sm" len="sm"/>
            <a:tailEnd type="triangle" w="med" len="med"/>
          </a:ln>
        </p:spPr>
      </p:cxnSp>
      <p:sp>
        <p:nvSpPr>
          <p:cNvPr id="50" name="Google Shape;50;p4"/>
          <p:cNvSpPr/>
          <p:nvPr/>
        </p:nvSpPr>
        <p:spPr>
          <a:xfrm>
            <a:off x="4401403" y="3121538"/>
            <a:ext cx="1546213" cy="1428900"/>
          </a:xfrm>
          <a:prstGeom prst="roundRect">
            <a:avLst>
              <a:gd name="adj" fmla="val 4053"/>
            </a:avLst>
          </a:prstGeom>
          <a:solidFill>
            <a:srgbClr val="F2F2F2"/>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1" name="Google Shape;51;p4"/>
          <p:cNvSpPr/>
          <p:nvPr/>
        </p:nvSpPr>
        <p:spPr>
          <a:xfrm>
            <a:off x="4474569"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Choose how many rules to use</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Pick the precision floor that matches your review capacity</a:t>
            </a:r>
            <a:endParaRPr sz="1000" b="1">
              <a:solidFill>
                <a:srgbClr val="5A5A5A"/>
              </a:solidFill>
              <a:latin typeface="Arial"/>
              <a:ea typeface="Arial"/>
              <a:cs typeface="Arial"/>
              <a:sym typeface="Arial"/>
            </a:endParaRPr>
          </a:p>
        </p:txBody>
      </p:sp>
      <p:cxnSp>
        <p:nvCxnSpPr>
          <p:cNvPr id="52" name="Google Shape;52;p4"/>
          <p:cNvCxnSpPr>
            <a:cxnSpLocks/>
            <a:stCxn id="50" idx="3"/>
            <a:endCxn id="53" idx="1"/>
          </p:cNvCxnSpPr>
          <p:nvPr/>
        </p:nvCxnSpPr>
        <p:spPr>
          <a:xfrm>
            <a:off x="5947616" y="3835988"/>
            <a:ext cx="383134"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3" name="Google Shape;53;p4"/>
          <p:cNvSpPr/>
          <p:nvPr/>
        </p:nvSpPr>
        <p:spPr>
          <a:xfrm>
            <a:off x="6330750" y="31215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4" name="Google Shape;54;p4"/>
          <p:cNvSpPr/>
          <p:nvPr/>
        </p:nvSpPr>
        <p:spPr>
          <a:xfrm>
            <a:off x="6422241" y="32385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a:solidFill>
                  <a:srgbClr val="5A5A5A"/>
                </a:solidFill>
                <a:latin typeface="Arial"/>
                <a:ea typeface="Arial"/>
                <a:cs typeface="Arial"/>
                <a:sym typeface="Arial"/>
              </a:rPr>
              <a:t>OUTPUT</a:t>
            </a:r>
            <a:endParaRPr sz="1000" b="1">
              <a:solidFill>
                <a:srgbClr val="5A5A5A"/>
              </a:solidFill>
              <a:latin typeface="Arial"/>
              <a:ea typeface="Arial"/>
              <a:cs typeface="Arial"/>
              <a:sym typeface="Arial"/>
            </a:endParaRPr>
          </a:p>
          <a:p>
            <a:pPr marL="0" lvl="0" indent="0" algn="ctr" rtl="0">
              <a:spcBef>
                <a:spcPts val="375"/>
              </a:spcBef>
              <a:spcAft>
                <a:spcPts val="0"/>
              </a:spcAft>
              <a:buNone/>
            </a:pPr>
            <a:r>
              <a:rPr lang="en-US" sz="1100" b="1">
                <a:solidFill>
                  <a:srgbClr val="000000"/>
                </a:solidFill>
                <a:latin typeface="Arial"/>
                <a:ea typeface="Arial"/>
                <a:cs typeface="Arial"/>
                <a:sym typeface="Arial"/>
              </a:rPr>
              <a:t>State rule set for testing on FY2025 and FY2026 data</a:t>
            </a:r>
            <a:endParaRPr sz="1100" b="1">
              <a:solidFill>
                <a:srgbClr val="000000"/>
              </a:solidFill>
              <a:latin typeface="Arial"/>
              <a:ea typeface="Arial"/>
              <a:cs typeface="Arial"/>
              <a:sym typeface="Arial"/>
            </a:endParaRPr>
          </a:p>
        </p:txBody>
      </p:sp>
      <p:sp>
        <p:nvSpPr>
          <p:cNvPr id="55" name="Google Shape;55;p4"/>
          <p:cNvSpPr/>
          <p:nvPr/>
        </p:nvSpPr>
        <p:spPr>
          <a:xfrm>
            <a:off x="421316" y="3862651"/>
            <a:ext cx="3913322" cy="1238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1300"/>
              <a:buFont typeface="Arial"/>
              <a:buNone/>
            </a:pPr>
            <a:r>
              <a:rPr lang="en-US" sz="1100" i="1" dirty="0">
                <a:solidFill>
                  <a:srgbClr val="5A5A5A"/>
                </a:solidFill>
                <a:latin typeface="Arial"/>
                <a:ea typeface="Arial"/>
                <a:cs typeface="Arial"/>
                <a:sym typeface="Arial"/>
              </a:rPr>
              <a:t>States with smaller samples and where national </a:t>
            </a:r>
            <a:r>
              <a:rPr lang="en-US" sz="1100" i="1" dirty="0">
                <a:solidFill>
                  <a:srgbClr val="5A5A5A"/>
                </a:solidFill>
              </a:rPr>
              <a:t>rules don’t perform well </a:t>
            </a:r>
            <a:r>
              <a:rPr lang="en-US" sz="1100" i="1" dirty="0">
                <a:solidFill>
                  <a:srgbClr val="5A5A5A"/>
                </a:solidFill>
                <a:latin typeface="Arial"/>
                <a:ea typeface="Arial"/>
                <a:cs typeface="Arial"/>
                <a:sym typeface="Arial"/>
              </a:rPr>
              <a:t>should use rules derived from similar states and test on their data.</a:t>
            </a:r>
            <a:endParaRPr sz="1100" dirty="0">
              <a:solidFill>
                <a:schemeClr val="dk1"/>
              </a:solidFill>
              <a:latin typeface="Calibri"/>
              <a:ea typeface="Calibri"/>
              <a:cs typeface="Calibri"/>
              <a:sym typeface="Calibri"/>
            </a:endParaRPr>
          </a:p>
        </p:txBody>
      </p:sp>
      <p:sp>
        <p:nvSpPr>
          <p:cNvPr id="56" name="Google Shape;56;p4"/>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a:solidFill>
                  <a:srgbClr val="5A5A5A"/>
                </a:solidFill>
                <a:latin typeface="Arial"/>
                <a:ea typeface="Arial"/>
                <a:cs typeface="Arial"/>
                <a:sym typeface="Arial"/>
              </a:rPr>
              <a:t>Inclusion rules · INCL_ scripts</a:t>
            </a:r>
            <a:endParaRPr sz="900">
              <a:solidFill>
                <a:schemeClr val="dk1"/>
              </a:solidFill>
              <a:latin typeface="Calibri"/>
              <a:ea typeface="Calibri"/>
              <a:cs typeface="Calibri"/>
              <a:sym typeface="Calibri"/>
            </a:endParaRPr>
          </a:p>
        </p:txBody>
      </p:sp>
      <p:sp>
        <p:nvSpPr>
          <p:cNvPr id="57" name="Google Shape;57;p4"/>
          <p:cNvSpPr/>
          <p:nvPr/>
        </p:nvSpPr>
        <p:spPr>
          <a:xfrm>
            <a:off x="8138160" y="4814316"/>
            <a:ext cx="54870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5</a:t>
            </a:r>
            <a:endParaRPr sz="900" dirty="0">
              <a:solidFill>
                <a:schemeClr val="dk1"/>
              </a:solidFill>
              <a:latin typeface="Calibri"/>
              <a:ea typeface="Calibri"/>
              <a:cs typeface="Calibri"/>
              <a:sym typeface="Calibri"/>
            </a:endParaRPr>
          </a:p>
        </p:txBody>
      </p:sp>
      <p:sp>
        <p:nvSpPr>
          <p:cNvPr id="58" name="Google Shape;58;p4"/>
          <p:cNvSpPr/>
          <p:nvPr/>
        </p:nvSpPr>
        <p:spPr>
          <a:xfrm>
            <a:off x="6330800" y="1428750"/>
            <a:ext cx="1546213" cy="1428900"/>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endParaRPr/>
          </a:p>
        </p:txBody>
      </p:sp>
      <p:sp>
        <p:nvSpPr>
          <p:cNvPr id="59" name="Google Shape;59;p4"/>
          <p:cNvSpPr/>
          <p:nvPr/>
        </p:nvSpPr>
        <p:spPr>
          <a:xfrm>
            <a:off x="6422241" y="1524000"/>
            <a:ext cx="1337126" cy="1238400"/>
          </a:xfrm>
          <a:prstGeom prst="rect">
            <a:avLst/>
          </a:prstGeom>
          <a:solidFill>
            <a:srgbClr val="000000">
              <a:alpha val="0"/>
            </a:srgbClr>
          </a:solidFill>
          <a:ln>
            <a:noFill/>
          </a:ln>
        </p:spPr>
        <p:txBody>
          <a:bodyPr spcFirstLastPara="1" wrap="square" lIns="0" tIns="0" rIns="0" bIns="0" anchor="ctr" anchorCtr="0">
            <a:noAutofit/>
          </a:bodyPr>
          <a:lstStyle/>
          <a:p>
            <a:pPr marL="0" lvl="0" indent="0" algn="ctr" rtl="0">
              <a:spcBef>
                <a:spcPts val="0"/>
              </a:spcBef>
              <a:spcAft>
                <a:spcPts val="0"/>
              </a:spcAft>
              <a:buNone/>
            </a:pPr>
            <a:r>
              <a:rPr lang="en-US" sz="1000" b="1" dirty="0">
                <a:solidFill>
                  <a:srgbClr val="5A5A5A"/>
                </a:solidFill>
                <a:latin typeface="Arial"/>
                <a:ea typeface="Arial"/>
                <a:cs typeface="Arial"/>
                <a:sym typeface="Arial"/>
              </a:rPr>
              <a:t>Add to existing curated rule set</a:t>
            </a:r>
            <a:endParaRPr sz="1000" b="1" dirty="0">
              <a:solidFill>
                <a:srgbClr val="5A5A5A"/>
              </a:solidFill>
              <a:latin typeface="Arial"/>
              <a:ea typeface="Arial"/>
              <a:cs typeface="Arial"/>
              <a:sym typeface="Arial"/>
            </a:endParaRPr>
          </a:p>
          <a:p>
            <a:pPr marL="0" lvl="0" indent="0" algn="ctr" rtl="0">
              <a:spcBef>
                <a:spcPts val="375"/>
              </a:spcBef>
              <a:spcAft>
                <a:spcPts val="0"/>
              </a:spcAft>
              <a:buNone/>
            </a:pPr>
            <a:r>
              <a:rPr lang="en-US" sz="1100" b="1" dirty="0">
                <a:solidFill>
                  <a:srgbClr val="000000"/>
                </a:solidFill>
                <a:latin typeface="Arial"/>
                <a:ea typeface="Arial"/>
                <a:cs typeface="Arial"/>
                <a:sym typeface="Arial"/>
              </a:rPr>
              <a:t>Test on hold-out (either FY25/26 or a predefined random sample)</a:t>
            </a:r>
            <a:endParaRPr sz="1100" b="1" dirty="0">
              <a:solidFill>
                <a:srgbClr val="000000"/>
              </a:solidFill>
              <a:latin typeface="Arial"/>
              <a:ea typeface="Arial"/>
              <a:cs typeface="Arial"/>
              <a:sym typeface="Arial"/>
            </a:endParaRPr>
          </a:p>
        </p:txBody>
      </p:sp>
      <p:cxnSp>
        <p:nvCxnSpPr>
          <p:cNvPr id="60" name="Google Shape;60;p4"/>
          <p:cNvCxnSpPr>
            <a:cxnSpLocks/>
            <a:stCxn id="47" idx="3"/>
          </p:cNvCxnSpPr>
          <p:nvPr/>
        </p:nvCxnSpPr>
        <p:spPr>
          <a:xfrm flipV="1">
            <a:off x="5929341" y="2143188"/>
            <a:ext cx="392275" cy="12"/>
          </a:xfrm>
          <a:prstGeom prst="straightConnector1">
            <a:avLst/>
          </a:prstGeom>
          <a:solidFill>
            <a:srgbClr val="FFFFFF"/>
          </a:solidFill>
          <a:ln w="22225" cap="flat" cmpd="sng">
            <a:solidFill>
              <a:srgbClr val="000000"/>
            </a:solidFill>
            <a:prstDash val="solid"/>
            <a:round/>
            <a:headEnd type="none" w="sm" len="sm"/>
            <a:tailEnd type="triangle" w="med" len="med"/>
          </a:ln>
        </p:spPr>
      </p:cxnSp>
      <p:sp>
        <p:nvSpPr>
          <p:cNvPr id="5" name="Google Shape;41;p4">
            <a:extLst>
              <a:ext uri="{FF2B5EF4-FFF2-40B4-BE49-F238E27FC236}">
                <a16:creationId xmlns:a16="http://schemas.microsoft.com/office/drawing/2014/main" id="{49ED0841-3C2D-56C1-B372-A1BF4250BC98}"/>
              </a:ext>
            </a:extLst>
          </p:cNvPr>
          <p:cNvSpPr/>
          <p:nvPr/>
        </p:nvSpPr>
        <p:spPr>
          <a:xfrm>
            <a:off x="2006199" y="906602"/>
            <a:ext cx="1546212" cy="1108499"/>
          </a:xfrm>
          <a:prstGeom prst="roundRect">
            <a:avLst>
              <a:gd name="adj" fmla="val 4053"/>
            </a:avLst>
          </a:prstGeom>
          <a:solidFill>
            <a:srgbClr val="FFFFFF"/>
          </a:solidFill>
          <a:ln w="19050" cap="flat" cmpd="sng">
            <a:solidFill>
              <a:srgbClr val="000000"/>
            </a:solidFill>
            <a:prstDash val="solid"/>
            <a:round/>
            <a:headEnd type="none" w="sm" len="sm"/>
            <a:tailEnd type="none" w="sm" len="sm"/>
          </a:ln>
        </p:spPr>
        <p:txBody>
          <a:bodyPr spcFirstLastPara="1" wrap="square" lIns="0" tIns="0" rIns="0" bIns="0" anchor="ctr" anchorCtr="0">
            <a:noAutofit/>
          </a:bodyPr>
          <a:lstStyle/>
          <a:p>
            <a:pPr marL="0" lvl="0" indent="0" algn="l" rtl="0">
              <a:spcBef>
                <a:spcPts val="0"/>
              </a:spcBef>
              <a:spcAft>
                <a:spcPts val="0"/>
              </a:spcAft>
              <a:buNone/>
            </a:pPr>
            <a:r>
              <a:rPr lang="en-US" sz="1200" b="1" dirty="0"/>
              <a:t>Input data for finding rules</a:t>
            </a:r>
          </a:p>
          <a:p>
            <a:pPr marL="285750" lvl="0" indent="-285750" algn="l" rtl="0">
              <a:spcBef>
                <a:spcPts val="0"/>
              </a:spcBef>
              <a:spcAft>
                <a:spcPts val="0"/>
              </a:spcAft>
              <a:buFont typeface="Arial" panose="020B0604020202020204" pitchFamily="34" charset="0"/>
              <a:buChar char="•"/>
            </a:pPr>
            <a:r>
              <a:rPr lang="en-US" sz="1200" dirty="0"/>
              <a:t>national OR  </a:t>
            </a:r>
          </a:p>
          <a:p>
            <a:pPr marL="285750" lvl="0" indent="-285750" algn="l" rtl="0">
              <a:spcBef>
                <a:spcPts val="0"/>
              </a:spcBef>
              <a:spcAft>
                <a:spcPts val="0"/>
              </a:spcAft>
              <a:buFont typeface="Arial" panose="020B0604020202020204" pitchFamily="34" charset="0"/>
              <a:buChar char="•"/>
            </a:pPr>
            <a:r>
              <a:rPr lang="en-US" sz="1200" dirty="0"/>
              <a:t>similar states OR </a:t>
            </a:r>
          </a:p>
          <a:p>
            <a:pPr marL="285750" lvl="0" indent="-285750" algn="l" rtl="0">
              <a:spcBef>
                <a:spcPts val="0"/>
              </a:spcBef>
              <a:spcAft>
                <a:spcPts val="0"/>
              </a:spcAft>
              <a:buFont typeface="Arial" panose="020B0604020202020204" pitchFamily="34" charset="0"/>
              <a:buChar char="•"/>
            </a:pPr>
            <a:r>
              <a:rPr lang="en-US" sz="1200" dirty="0"/>
              <a:t>your state</a:t>
            </a:r>
            <a:endParaRPr sz="1200" dirty="0"/>
          </a:p>
        </p:txBody>
      </p:sp>
      <p:cxnSp>
        <p:nvCxnSpPr>
          <p:cNvPr id="7" name="Straight Arrow Connector 6">
            <a:extLst>
              <a:ext uri="{FF2B5EF4-FFF2-40B4-BE49-F238E27FC236}">
                <a16:creationId xmlns:a16="http://schemas.microsoft.com/office/drawing/2014/main" id="{AE719576-0002-C02D-D44A-394556490E41}"/>
              </a:ext>
            </a:extLst>
          </p:cNvPr>
          <p:cNvCxnSpPr>
            <a:stCxn id="5" idx="2"/>
            <a:endCxn id="44" idx="0"/>
          </p:cNvCxnSpPr>
          <p:nvPr/>
        </p:nvCxnSpPr>
        <p:spPr>
          <a:xfrm>
            <a:off x="2779305" y="2015101"/>
            <a:ext cx="0" cy="270899"/>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65"/>
        <p:cNvGrpSpPr/>
        <p:nvPr/>
      </p:nvGrpSpPr>
      <p:grpSpPr>
        <a:xfrm>
          <a:off x="0" y="0"/>
          <a:ext cx="0" cy="0"/>
          <a:chOff x="0" y="0"/>
          <a:chExt cx="0" cy="0"/>
        </a:xfrm>
      </p:grpSpPr>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a:buSzPts val="2800"/>
            </a:pPr>
            <a:r>
              <a:rPr lang="en-US" sz="1800" b="1" dirty="0">
                <a:solidFill>
                  <a:srgbClr val="000000"/>
                </a:solidFill>
                <a:latin typeface="Cambria"/>
                <a:ea typeface="Cambria"/>
                <a:cs typeface="Cambria"/>
                <a:sym typeface="Cambria"/>
              </a:rPr>
              <a:t>Find and combine inclusion rules:</a:t>
            </a:r>
            <a:endParaRPr lang="en-US" sz="1800" dirty="0">
              <a:solidFill>
                <a:schemeClr val="dk1"/>
              </a:solidFill>
              <a:latin typeface="Calibri"/>
              <a:ea typeface="Calibri"/>
              <a:cs typeface="Calibri"/>
              <a:sym typeface="Calibri"/>
            </a:endParaRPr>
          </a:p>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INCL_find_inclusion_rules_by_hh_size_v2.R</a:t>
            </a:r>
            <a:endParaRPr lang="en-US" sz="1800" b="1" dirty="0">
              <a:solidFill>
                <a:srgbClr val="000000"/>
              </a:solidFill>
              <a:latin typeface="Cambria"/>
              <a:ea typeface="Cambria"/>
              <a:cs typeface="Cambria"/>
              <a:sym typeface="Cambria"/>
            </a:endParaRPr>
          </a:p>
        </p:txBody>
      </p:sp>
      <p:sp>
        <p:nvSpPr>
          <p:cNvPr id="67" name="Google Shape;67;p5"/>
          <p:cNvSpPr/>
          <p:nvPr/>
        </p:nvSpPr>
        <p:spPr>
          <a:xfrm>
            <a:off x="457200" y="1234440"/>
            <a:ext cx="5212080" cy="3291840"/>
          </a:xfrm>
          <a:prstGeom prst="rect">
            <a:avLst/>
          </a:prstGeom>
          <a:noFill/>
          <a:ln>
            <a:noFill/>
          </a:ln>
        </p:spPr>
        <p:txBody>
          <a:bodyPr spcFirstLastPara="1" wrap="square" lIns="91425" tIns="45700" rIns="91425" bIns="45700" anchor="t" anchorCtr="0">
            <a:noAutofit/>
          </a:bodyPr>
          <a:lstStyle/>
          <a:p>
            <a:pPr marR="0" lvl="0" algn="l" rtl="0">
              <a:spcBef>
                <a:spcPts val="0"/>
              </a:spcBef>
              <a:spcAft>
                <a:spcPts val="0"/>
              </a:spcAft>
              <a:buClr>
                <a:srgbClr val="000000"/>
              </a:buClr>
              <a:buSzPts val="1500"/>
            </a:pPr>
            <a:r>
              <a:rPr lang="en-US" sz="1200" b="1" dirty="0">
                <a:solidFill>
                  <a:srgbClr val="000000"/>
                </a:solidFill>
                <a:latin typeface="Arial"/>
                <a:ea typeface="Arial"/>
                <a:cs typeface="Arial"/>
                <a:sym typeface="Arial"/>
              </a:rPr>
              <a:t>Creating rules</a:t>
            </a:r>
            <a:r>
              <a:rPr lang="en-US" sz="1200" dirty="0">
                <a:solidFill>
                  <a:srgbClr val="000000"/>
                </a:solidFill>
                <a:latin typeface="Arial"/>
                <a:ea typeface="Arial"/>
                <a:cs typeface="Arial"/>
                <a:sym typeface="Arial"/>
              </a:rPr>
              <a:t>: For each error type (earned income, unearned income, underpayment, other) plus an all-errors category, and each household size, the two tree-growing methods propose rules that combine 1-4 variables.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Scoring rules: </a:t>
            </a:r>
            <a:r>
              <a:rPr lang="en-US" sz="1200" dirty="0">
                <a:solidFill>
                  <a:srgbClr val="000000"/>
                </a:solidFill>
                <a:latin typeface="Arial"/>
                <a:ea typeface="Arial"/>
                <a:cs typeface="Arial"/>
                <a:sym typeface="Arial"/>
              </a:rPr>
              <a:t>Every rule is scored three ways: on the data used to build it, on a year of data it never saw, and counting every kind of error it catches.</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solidFill>
                  <a:srgbClr val="000000"/>
                </a:solidFill>
                <a:latin typeface="Arial"/>
                <a:ea typeface="Arial"/>
                <a:cs typeface="Arial"/>
                <a:sym typeface="Arial"/>
              </a:rPr>
              <a:t>Selecting rules:</a:t>
            </a:r>
            <a:r>
              <a:rPr lang="en-US" sz="1200" dirty="0">
                <a:solidFill>
                  <a:srgbClr val="000000"/>
                </a:solidFill>
                <a:latin typeface="Arial"/>
                <a:ea typeface="Arial"/>
                <a:cs typeface="Arial"/>
                <a:sym typeface="Arial"/>
              </a:rPr>
              <a:t> A rule is kept only when we can be statistically confident its precision clears the bar (default: confident at the 99% level that at least 1 in 5 flagged cases has an error). Near-duplicate rules are removed.</a:t>
            </a:r>
            <a:endParaRPr sz="1200" dirty="0">
              <a:solidFill>
                <a:schemeClr val="dk1"/>
              </a:solidFill>
              <a:latin typeface="Calibri"/>
              <a:ea typeface="Calibri"/>
              <a:cs typeface="Calibri"/>
              <a:sym typeface="Calibri"/>
            </a:endParaRPr>
          </a:p>
          <a:p>
            <a:pPr marR="0" lvl="0" algn="l" rtl="0">
              <a:spcBef>
                <a:spcPts val="1000"/>
              </a:spcBef>
              <a:spcAft>
                <a:spcPts val="0"/>
              </a:spcAft>
              <a:buClr>
                <a:srgbClr val="000000"/>
              </a:buClr>
              <a:buSzPts val="1500"/>
            </a:pPr>
            <a:r>
              <a:rPr lang="en-US" sz="1200" b="1" dirty="0"/>
              <a:t>Measure overall potential</a:t>
            </a:r>
            <a:r>
              <a:rPr lang="en-US" sz="1200" dirty="0"/>
              <a:t>: Track, for each level of precision, what ALL the selected rules achieve together - how many cases they flag and what share of errors and error dollars they catch (a case flagged by several rules counts once).</a:t>
            </a:r>
            <a:endParaRPr sz="1200" dirty="0"/>
          </a:p>
        </p:txBody>
      </p:sp>
      <p:sp>
        <p:nvSpPr>
          <p:cNvPr id="68" name="Google Shape;68;p5"/>
          <p:cNvSpPr/>
          <p:nvPr/>
        </p:nvSpPr>
        <p:spPr>
          <a:xfrm>
            <a:off x="5989320" y="1280160"/>
            <a:ext cx="2697480" cy="3108960"/>
          </a:xfrm>
          <a:prstGeom prst="roundRect">
            <a:avLst>
              <a:gd name="adj" fmla="val 2034"/>
            </a:avLst>
          </a:prstGeom>
          <a:solidFill>
            <a:srgbClr val="F2F2F2"/>
          </a:solidFill>
          <a:ln w="12700" cap="flat" cmpd="sng">
            <a:solidFill>
              <a:srgbClr val="80808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Google Shape;69;p5"/>
          <p:cNvSpPr/>
          <p:nvPr/>
        </p:nvSpPr>
        <p:spPr>
          <a:xfrm>
            <a:off x="6172200" y="1463040"/>
            <a:ext cx="2331720" cy="36576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1300"/>
              <a:buFont typeface="Arial"/>
              <a:buNone/>
            </a:pPr>
            <a:r>
              <a:rPr lang="en-US" sz="1300" b="1" dirty="0">
                <a:solidFill>
                  <a:srgbClr val="000000"/>
                </a:solidFill>
                <a:latin typeface="Arial"/>
                <a:ea typeface="Arial"/>
                <a:cs typeface="Arial"/>
                <a:sym typeface="Arial"/>
              </a:rPr>
              <a:t>Output tables and charts</a:t>
            </a:r>
            <a:endParaRPr sz="1300" dirty="0">
              <a:solidFill>
                <a:schemeClr val="dk1"/>
              </a:solidFill>
              <a:latin typeface="Calibri"/>
              <a:ea typeface="Calibri"/>
              <a:cs typeface="Calibri"/>
              <a:sym typeface="Calibri"/>
            </a:endParaRPr>
          </a:p>
        </p:txBody>
      </p:sp>
      <p:sp>
        <p:nvSpPr>
          <p:cNvPr id="70" name="Google Shape;70;p5"/>
          <p:cNvSpPr/>
          <p:nvPr/>
        </p:nvSpPr>
        <p:spPr>
          <a:xfrm>
            <a:off x="6172200" y="1874520"/>
            <a:ext cx="2331720" cy="2423160"/>
          </a:xfrm>
          <a:prstGeom prst="rect">
            <a:avLst/>
          </a:prstGeom>
          <a:noFill/>
          <a:ln>
            <a:noFill/>
          </a:ln>
        </p:spPr>
        <p:txBody>
          <a:bodyPr spcFirstLastPara="1" wrap="square" lIns="91425" tIns="45700" rIns="91425" bIns="45700" anchor="t" anchorCtr="0">
            <a:noAutofit/>
          </a:bodyPr>
          <a:lstStyle/>
          <a:p>
            <a:pPr marL="152400" marR="0" lvl="0" indent="-152400" algn="l" rtl="0">
              <a:spcBef>
                <a:spcPts val="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Full rule table (scores on build data, on a new year, and against all error types)</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Shortlist of high-confidence rules (near-duplicates removed)</a:t>
            </a:r>
            <a:endParaRPr sz="1200" dirty="0">
              <a:solidFill>
                <a:schemeClr val="dk1"/>
              </a:solidFill>
              <a:latin typeface="Calibri"/>
              <a:ea typeface="Calibri"/>
              <a:cs typeface="Calibri"/>
              <a:sym typeface="Calibri"/>
            </a:endParaRPr>
          </a:p>
          <a:p>
            <a:pPr marL="152400" marR="0" lvl="0" indent="-152400" algn="l" rtl="0">
              <a:spcBef>
                <a:spcPts val="700"/>
              </a:spcBef>
              <a:spcAft>
                <a:spcPts val="0"/>
              </a:spcAft>
              <a:buClr>
                <a:srgbClr val="000000"/>
              </a:buClr>
              <a:buSzPts val="1200"/>
              <a:buFont typeface="Arial"/>
              <a:buChar char="•"/>
            </a:pPr>
            <a:r>
              <a:rPr lang="en-US" sz="1200" dirty="0">
                <a:solidFill>
                  <a:srgbClr val="000000"/>
                </a:solidFill>
                <a:latin typeface="Arial"/>
                <a:ea typeface="Arial"/>
                <a:cs typeface="Arial"/>
                <a:sym typeface="Arial"/>
              </a:rPr>
              <a:t>Summary table + chart: results at each precision floor</a:t>
            </a:r>
            <a:endParaRPr sz="1200" dirty="0">
              <a:solidFill>
                <a:schemeClr val="dk1"/>
              </a:solidFill>
              <a:latin typeface="Calibri"/>
              <a:ea typeface="Calibri"/>
              <a:cs typeface="Calibri"/>
              <a:sym typeface="Calibri"/>
            </a:endParaRPr>
          </a:p>
        </p:txBody>
      </p:sp>
      <p:sp>
        <p:nvSpPr>
          <p:cNvPr id="71" name="Google Shape;71;p5"/>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72" name="Google Shape;72;p5"/>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6</a:t>
            </a:r>
            <a:endParaRPr sz="900" dirty="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77"/>
        <p:cNvGrpSpPr/>
        <p:nvPr/>
      </p:nvGrpSpPr>
      <p:grpSpPr>
        <a:xfrm>
          <a:off x="0" y="0"/>
          <a:ext cx="0" cy="0"/>
          <a:chOff x="0" y="0"/>
          <a:chExt cx="0" cy="0"/>
        </a:xfrm>
      </p:grpSpPr>
      <p:sp>
        <p:nvSpPr>
          <p:cNvPr id="78" name="Google Shape;78;p6"/>
          <p:cNvSpPr/>
          <p:nvPr/>
        </p:nvSpPr>
        <p:spPr>
          <a:xfrm>
            <a:off x="457200" y="310896"/>
            <a:ext cx="8392332"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Example outputs from </a:t>
            </a:r>
            <a:r>
              <a:rPr lang="en-US" sz="1600" b="1" dirty="0" err="1">
                <a:solidFill>
                  <a:srgbClr val="000000"/>
                </a:solidFill>
                <a:latin typeface="Cambria"/>
                <a:ea typeface="Cambria"/>
                <a:cs typeface="Cambria"/>
                <a:sym typeface="Cambria"/>
              </a:rPr>
              <a:t>INCL_find</a:t>
            </a:r>
            <a:r>
              <a:rPr lang="en-US" sz="1600" b="1" dirty="0">
                <a:solidFill>
                  <a:srgbClr val="000000"/>
                </a:solidFill>
                <a:latin typeface="Cambria"/>
                <a:ea typeface="Cambria"/>
                <a:cs typeface="Cambria"/>
                <a:sym typeface="Cambria"/>
              </a:rPr>
              <a:t>_..._v2 output: filtered inclusion rules</a:t>
            </a:r>
          </a:p>
          <a:p>
            <a:pPr marL="0" marR="0" lvl="0" indent="0" algn="l" rtl="0">
              <a:spcBef>
                <a:spcPts val="0"/>
              </a:spcBef>
              <a:spcAft>
                <a:spcPts val="0"/>
              </a:spcAft>
              <a:buClr>
                <a:srgbClr val="000000"/>
              </a:buClr>
              <a:buSzPts val="2800"/>
              <a:buFont typeface="Cambria"/>
              <a:buNone/>
            </a:pPr>
            <a:r>
              <a:rPr lang="en-US" sz="1600" b="1" i="1" dirty="0">
                <a:solidFill>
                  <a:srgbClr val="000000"/>
                </a:solidFill>
                <a:latin typeface="Cambria"/>
                <a:ea typeface="Cambria"/>
                <a:cs typeface="Cambria"/>
                <a:sym typeface="Cambria"/>
              </a:rPr>
              <a:t>file: /inclusion_rules_by_hh_size_v2/final_rules_highprecision_all_frames.csv</a:t>
            </a:r>
          </a:p>
        </p:txBody>
      </p:sp>
      <p:graphicFrame>
        <p:nvGraphicFramePr>
          <p:cNvPr id="79" name="Google Shape;79;p6"/>
          <p:cNvGraphicFramePr/>
          <p:nvPr>
            <p:extLst>
              <p:ext uri="{D42A27DB-BD31-4B8C-83A1-F6EECF244321}">
                <p14:modId xmlns:p14="http://schemas.microsoft.com/office/powerpoint/2010/main" val="1963913017"/>
              </p:ext>
            </p:extLst>
          </p:nvPr>
        </p:nvGraphicFramePr>
        <p:xfrm>
          <a:off x="379086" y="1063986"/>
          <a:ext cx="8229600" cy="3978930"/>
        </p:xfrm>
        <a:graphic>
          <a:graphicData uri="http://schemas.openxmlformats.org/drawingml/2006/table">
            <a:tbl>
              <a:tblPr>
                <a:noFill/>
                <a:tableStyleId>{B5048AC8-0E75-455B-AB4F-AEF2A2D202BD}</a:tableStyleId>
              </a:tblPr>
              <a:tblGrid>
                <a:gridCol w="512899">
                  <a:extLst>
                    <a:ext uri="{9D8B030D-6E8A-4147-A177-3AD203B41FA5}">
                      <a16:colId xmlns:a16="http://schemas.microsoft.com/office/drawing/2014/main" val="20000"/>
                    </a:ext>
                  </a:extLst>
                </a:gridCol>
                <a:gridCol w="3267704">
                  <a:extLst>
                    <a:ext uri="{9D8B030D-6E8A-4147-A177-3AD203B41FA5}">
                      <a16:colId xmlns:a16="http://schemas.microsoft.com/office/drawing/2014/main" val="20001"/>
                    </a:ext>
                  </a:extLst>
                </a:gridCol>
                <a:gridCol w="612694">
                  <a:extLst>
                    <a:ext uri="{9D8B030D-6E8A-4147-A177-3AD203B41FA5}">
                      <a16:colId xmlns:a16="http://schemas.microsoft.com/office/drawing/2014/main" val="20002"/>
                    </a:ext>
                  </a:extLst>
                </a:gridCol>
                <a:gridCol w="1093103">
                  <a:extLst>
                    <a:ext uri="{9D8B030D-6E8A-4147-A177-3AD203B41FA5}">
                      <a16:colId xmlns:a16="http://schemas.microsoft.com/office/drawing/2014/main" val="20003"/>
                    </a:ext>
                  </a:extLst>
                </a:gridCol>
                <a:gridCol w="1371600">
                  <a:extLst>
                    <a:ext uri="{9D8B030D-6E8A-4147-A177-3AD203B41FA5}">
                      <a16:colId xmlns:a16="http://schemas.microsoft.com/office/drawing/2014/main" val="20004"/>
                    </a:ext>
                  </a:extLst>
                </a:gridCol>
                <a:gridCol w="1371600">
                  <a:extLst>
                    <a:ext uri="{9D8B030D-6E8A-4147-A177-3AD203B41FA5}">
                      <a16:colId xmlns:a16="http://schemas.microsoft.com/office/drawing/2014/main" val="20005"/>
                    </a:ext>
                  </a:extLst>
                </a:gridCol>
              </a:tblGrid>
              <a:tr h="457200">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HH size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rule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00000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a:solidFill>
                            <a:schemeClr val="dk1"/>
                          </a:solidFill>
                          <a:latin typeface="Arial"/>
                          <a:ea typeface="Arial"/>
                          <a:cs typeface="Arial"/>
                          <a:sym typeface="Arial"/>
                        </a:rPr>
                        <a:t>error type targeted</a:t>
                      </a:r>
                      <a:endParaRPr sz="1100" u="none" strike="noStrike" cap="none">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floor met in training (lower confidence bound)</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(same error type)</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tc>
                  <a:txBody>
                    <a:bodyPr/>
                    <a:lstStyle/>
                    <a:p>
                      <a:pPr marL="0" marR="0" lvl="0" indent="0" algn="l" rtl="0">
                        <a:spcBef>
                          <a:spcPts val="0"/>
                        </a:spcBef>
                        <a:spcAft>
                          <a:spcPts val="0"/>
                        </a:spcAft>
                        <a:buClr>
                          <a:srgbClr val="000000"/>
                        </a:buClr>
                        <a:buSzPts val="1200"/>
                        <a:buFont typeface="Arial"/>
                        <a:buNone/>
                      </a:pPr>
                      <a:r>
                        <a:rPr lang="en-US" sz="1100" b="1" u="none" strike="noStrike" cap="none" dirty="0">
                          <a:solidFill>
                            <a:schemeClr val="dk1"/>
                          </a:solidFill>
                          <a:latin typeface="Arial"/>
                          <a:ea typeface="Arial"/>
                          <a:cs typeface="Arial"/>
                          <a:sym typeface="Arial"/>
                        </a:rPr>
                        <a:t>precision, new year (any error)</a:t>
                      </a:r>
                      <a:endParaRPr sz="1100" u="none" strike="noStrike" cap="none" dirty="0">
                        <a:solidFill>
                          <a:schemeClr val="dk1"/>
                        </a:solidFill>
                        <a:latin typeface="Arial"/>
                        <a:ea typeface="Arial"/>
                        <a:cs typeface="Arial"/>
                        <a:sym typeface="Arial"/>
                      </a:endParaRPr>
                    </a:p>
                  </a:txBody>
                  <a:tcPr marL="91450" marR="91450" marT="45725" marB="45725" anchor="ctr">
                    <a:lnL w="12700" cap="flat" cmpd="sng">
                      <a:solidFill>
                        <a:srgbClr val="808080"/>
                      </a:solidFill>
                      <a:prstDash val="solid"/>
                      <a:round/>
                      <a:headEnd type="none" w="sm" len="sm"/>
                      <a:tailEnd type="none" w="sm" len="sm"/>
                    </a:lnL>
                    <a:lnR w="12700" cap="flat" cmpd="sng">
                      <a:solidFill>
                        <a:srgbClr val="808080"/>
                      </a:solidFill>
                      <a:prstDash val="solid"/>
                      <a:round/>
                      <a:headEnd type="none" w="sm" len="sm"/>
                      <a:tailEnd type="none" w="sm" len="sm"/>
                    </a:lnR>
                    <a:lnT w="12700"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solidFill>
                      <a:srgbClr val="E6E6E6"/>
                    </a:solidFill>
                  </a:tcPr>
                </a:tc>
                <a:extLst>
                  <a:ext uri="{0D108BD9-81ED-4DB2-BD59-A6C34878D82A}">
                    <a16:rowId xmlns:a16="http://schemas.microsoft.com/office/drawing/2014/main" val="10000"/>
                  </a:ext>
                </a:extLst>
              </a:tr>
              <a:tr h="8547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5.50 &amp; unc_rawben_rel_max &gt; 1.82 &amp; utilities &lt;= 340</a:t>
                      </a:r>
                      <a:endParaRPr sz="110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Earned income</a:t>
                      </a:r>
                      <a:endParaRPr sz="1100" dirty="0">
                        <a:solidFill>
                          <a:schemeClr val="dk1"/>
                        </a:solidFil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0.26</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0.43</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1"/>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2-3</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months_since_cert_n &gt; 1.50 &amp; months_since_cert_n &lt;= 15.50 &amp; unc_rawben_rel_max &gt; 1.69</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Unearned income</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0.28</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0.46</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2"/>
                  </a:ext>
                </a:extLst>
              </a:tr>
              <a:tr h="457200">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1</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lvl="0" indent="0" algn="l" rtl="0">
                        <a:spcBef>
                          <a:spcPts val="0"/>
                        </a:spcBef>
                        <a:spcAft>
                          <a:spcPts val="0"/>
                        </a:spcAft>
                        <a:buNone/>
                      </a:pPr>
                      <a:r>
                        <a:rPr lang="en-US" sz="1100">
                          <a:solidFill>
                            <a:schemeClr val="dk1"/>
                          </a:solidFill>
                        </a:rPr>
                        <a:t>shelter_expenses_by_hh_size &gt; 882 &amp; total_deductions_by_hh_size &gt; 714 &amp; utilities &lt;= 8</a:t>
                      </a:r>
                      <a:endParaRPr sz="1100">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Other (deductions, shelter, HH composition)</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00000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a:solidFill>
                            <a:schemeClr val="dk1"/>
                          </a:solidFill>
                        </a:rPr>
                        <a:t>0.25</a:t>
                      </a:r>
                      <a:endParaRPr sz="1100" u="none" strike="noStrike" cap="none">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0.24</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tc>
                  <a:txBody>
                    <a:bodyPr/>
                    <a:lstStyle/>
                    <a:p>
                      <a:pPr marL="0" marR="0" lvl="0" indent="0" algn="l" rtl="0">
                        <a:spcBef>
                          <a:spcPts val="0"/>
                        </a:spcBef>
                        <a:spcAft>
                          <a:spcPts val="0"/>
                        </a:spcAft>
                        <a:buClr>
                          <a:srgbClr val="5A5A5A"/>
                        </a:buClr>
                        <a:buSzPts val="1200"/>
                        <a:buFont typeface="Arial"/>
                        <a:buNone/>
                      </a:pPr>
                      <a:r>
                        <a:rPr lang="en-US" sz="1100" dirty="0">
                          <a:solidFill>
                            <a:schemeClr val="dk1"/>
                          </a:solidFill>
                        </a:rPr>
                        <a:t>0.38</a:t>
                      </a:r>
                      <a:endParaRPr sz="1100" u="none" strike="noStrike" cap="none" dirty="0">
                        <a:solidFill>
                          <a:schemeClr val="dk1"/>
                        </a:solidFill>
                        <a:latin typeface="Arial"/>
                        <a:ea typeface="Arial"/>
                        <a:cs typeface="Arial"/>
                        <a:sym typeface="Arial"/>
                      </a:endParaRPr>
                    </a:p>
                  </a:txBody>
                  <a:tcPr marL="91450" marR="91450" marT="45725" marB="45725" anchor="ctr">
                    <a:lnL w="9525" cap="flat" cmpd="sng">
                      <a:solidFill>
                        <a:srgbClr val="808080"/>
                      </a:solidFill>
                      <a:prstDash val="solid"/>
                      <a:round/>
                      <a:headEnd type="none" w="sm" len="sm"/>
                      <a:tailEnd type="none" w="sm" len="sm"/>
                    </a:lnL>
                    <a:lnR w="9525" cap="flat" cmpd="sng">
                      <a:solidFill>
                        <a:srgbClr val="808080"/>
                      </a:solidFill>
                      <a:prstDash val="solid"/>
                      <a:round/>
                      <a:headEnd type="none" w="sm" len="sm"/>
                      <a:tailEnd type="none" w="sm" len="sm"/>
                    </a:lnR>
                    <a:lnT w="9525" cap="flat" cmpd="sng">
                      <a:solidFill>
                        <a:srgbClr val="808080"/>
                      </a:solidFill>
                      <a:prstDash val="solid"/>
                      <a:round/>
                      <a:headEnd type="none" w="sm" len="sm"/>
                      <a:tailEnd type="none" w="sm" len="sm"/>
                    </a:lnT>
                    <a:lnB w="9525" cap="flat" cmpd="sng">
                      <a:solidFill>
                        <a:srgbClr val="80808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0" name="Google Shape;80;p6"/>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7</a:t>
            </a:r>
            <a:endParaRPr sz="900" dirty="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5"/>
        <p:cNvGrpSpPr/>
        <p:nvPr/>
      </p:nvGrpSpPr>
      <p:grpSpPr>
        <a:xfrm>
          <a:off x="0" y="0"/>
          <a:ext cx="0" cy="0"/>
          <a:chOff x="0" y="0"/>
          <a:chExt cx="0" cy="0"/>
        </a:xfrm>
      </p:grpSpPr>
      <p:sp>
        <p:nvSpPr>
          <p:cNvPr id="86" name="Google Shape;86;p7"/>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800" b="1" dirty="0" err="1">
                <a:solidFill>
                  <a:srgbClr val="000000"/>
                </a:solidFill>
                <a:latin typeface="Cambria"/>
                <a:ea typeface="Cambria"/>
                <a:cs typeface="Cambria"/>
                <a:sym typeface="Cambria"/>
              </a:rPr>
              <a:t>Output: what the kept rules achieve together, at each precision floor</a:t>
            </a:r>
            <a:endParaRPr sz="1800" dirty="0">
              <a:solidFill>
                <a:schemeClr val="dk1"/>
              </a:solidFill>
              <a:latin typeface="Calibri"/>
              <a:ea typeface="Calibri"/>
              <a:cs typeface="Calibri"/>
              <a:sym typeface="Calibri"/>
            </a:endParaRPr>
          </a:p>
        </p:txBody>
      </p:sp>
      <p:graphicFrame>
        <p:nvGraphicFramePr>
          <p:cNvPr id="88" name="Google Shape;88;p7"/>
          <p:cNvGraphicFramePr/>
          <p:nvPr>
            <p:extLst>
              <p:ext uri="{D42A27DB-BD31-4B8C-83A1-F6EECF244321}">
                <p14:modId xmlns:p14="http://schemas.microsoft.com/office/powerpoint/2010/main" val="1604718696"/>
              </p:ext>
            </p:extLst>
          </p:nvPr>
        </p:nvGraphicFramePr>
        <p:xfrm>
          <a:off x="585433" y="888358"/>
          <a:ext cx="7469560" cy="3941723"/>
        </p:xfrm>
        <a:graphic>
          <a:graphicData uri="http://schemas.openxmlformats.org/drawingml/2006/table">
            <a:tbl>
              <a:tblPr>
                <a:noFill/>
                <a:tableStyleId>{B5048AC8-0E75-455B-AB4F-AEF2A2D202BD}</a:tableStyleId>
              </a:tblPr>
              <a:tblGrid>
                <a:gridCol w="1067080">
                  <a:extLst>
                    <a:ext uri="{9D8B030D-6E8A-4147-A177-3AD203B41FA5}">
                      <a16:colId xmlns:a16="http://schemas.microsoft.com/office/drawing/2014/main" val="20000"/>
                    </a:ext>
                  </a:extLst>
                </a:gridCol>
                <a:gridCol w="1067080">
                  <a:extLst>
                    <a:ext uri="{9D8B030D-6E8A-4147-A177-3AD203B41FA5}">
                      <a16:colId xmlns:a16="http://schemas.microsoft.com/office/drawing/2014/main" val="1465495465"/>
                    </a:ext>
                  </a:extLst>
                </a:gridCol>
                <a:gridCol w="1067080">
                  <a:extLst>
                    <a:ext uri="{9D8B030D-6E8A-4147-A177-3AD203B41FA5}">
                      <a16:colId xmlns:a16="http://schemas.microsoft.com/office/drawing/2014/main" val="1336201734"/>
                    </a:ext>
                  </a:extLst>
                </a:gridCol>
                <a:gridCol w="1067080">
                  <a:extLst>
                    <a:ext uri="{9D8B030D-6E8A-4147-A177-3AD203B41FA5}">
                      <a16:colId xmlns:a16="http://schemas.microsoft.com/office/drawing/2014/main" val="3010606503"/>
                    </a:ext>
                  </a:extLst>
                </a:gridCol>
                <a:gridCol w="1067080">
                  <a:extLst>
                    <a:ext uri="{9D8B030D-6E8A-4147-A177-3AD203B41FA5}">
                      <a16:colId xmlns:a16="http://schemas.microsoft.com/office/drawing/2014/main" val="20001"/>
                    </a:ext>
                  </a:extLst>
                </a:gridCol>
                <a:gridCol w="1067080">
                  <a:extLst>
                    <a:ext uri="{9D8B030D-6E8A-4147-A177-3AD203B41FA5}">
                      <a16:colId xmlns:a16="http://schemas.microsoft.com/office/drawing/2014/main" val="20004"/>
                    </a:ext>
                  </a:extLst>
                </a:gridCol>
                <a:gridCol w="1067080">
                  <a:extLst>
                    <a:ext uri="{9D8B030D-6E8A-4147-A177-3AD203B41FA5}">
                      <a16:colId xmlns:a16="http://schemas.microsoft.com/office/drawing/2014/main" val="20005"/>
                    </a:ext>
                  </a:extLst>
                </a:gridCol>
              </a:tblGrid>
              <a:tr h="509950">
                <a:tc>
                  <a:txBody>
                    <a:bodyPr/>
                    <a:lstStyle/>
                    <a:p>
                      <a:pPr marL="0" lvl="0" indent="0" algn="ctr" rtl="0">
                        <a:lnSpc>
                          <a:spcPct val="115000"/>
                        </a:lnSpc>
                        <a:spcBef>
                          <a:spcPts val="0"/>
                        </a:spcBef>
                        <a:spcAft>
                          <a:spcPts val="0"/>
                        </a:spcAft>
                        <a:buNone/>
                      </a:pPr>
                      <a:r>
                        <a:rPr lang="en-US" sz="1000" b="1" dirty="0"/>
                        <a:t>precision floor</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error $ caught</a:t>
                      </a:r>
                      <a:endParaRPr sz="1000" b="1" dirty="0"/>
                    </a:p>
                  </a:txBody>
                  <a:tcPr marL="91425" marR="91425" marT="91425" marB="91425">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 of caseload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cases flagged</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rules kept</a:t>
                      </a:r>
                      <a:endParaRPr sz="1000" b="1" dirty="0"/>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dirty="0"/>
                        <a:t>Precision on held-out data</a:t>
                      </a:r>
                      <a:endParaRPr sz="1000" b="1" dirty="0">
                        <a:solidFill>
                          <a:schemeClr val="dk1"/>
                        </a:solidFill>
                      </a:endParaRPr>
                    </a:p>
                  </a:txBody>
                  <a:tcPr marL="91425" marR="91425" marT="91425" marB="91425">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US" sz="1000" b="1"/>
                        <a:t>% of errors caught</a:t>
                      </a:r>
                      <a:endParaRPr sz="1000" b="1">
                        <a:solidFill>
                          <a:schemeClr val="dk1"/>
                        </a:solidFill>
                      </a:endParaRPr>
                    </a:p>
                  </a:txBody>
                  <a:tcPr marL="91425" marR="91425" marT="91425" marB="91425">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212075">
                <a:tc>
                  <a:txBody>
                    <a:bodyPr/>
                    <a:lstStyle/>
                    <a:p>
                      <a:pPr marL="0" lvl="0" indent="0" algn="l" rtl="0">
                        <a:spcBef>
                          <a:spcPts val="0"/>
                        </a:spcBef>
                        <a:spcAft>
                          <a:spcPts val="0"/>
                        </a:spcAft>
                        <a:buNone/>
                      </a:pPr>
                      <a:r>
                        <a:rPr lang="en-US" sz="1400" b="1" dirty="0"/>
                        <a:t>0.20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83%</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51.6%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20,668</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15,335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sz="1400" dirty="0">
                          <a:solidFill>
                            <a:schemeClr val="dk1"/>
                          </a:solidFill>
                        </a:rPr>
                        <a:t>0.173</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Clr>
                          <a:schemeClr val="dk1"/>
                        </a:buClr>
                        <a:buSzPts val="1100"/>
                        <a:buFont typeface="Arial"/>
                        <a:buNone/>
                      </a:pPr>
                      <a:r>
                        <a:rPr lang="en-US" dirty="0"/>
                        <a:t>80%</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1212075">
                <a:tc>
                  <a:txBody>
                    <a:bodyPr/>
                    <a:lstStyle/>
                    <a:p>
                      <a:pPr marL="0" lvl="0" indent="0" algn="l" rtl="0">
                        <a:spcBef>
                          <a:spcPts val="0"/>
                        </a:spcBef>
                        <a:spcAft>
                          <a:spcPts val="0"/>
                        </a:spcAft>
                        <a:buNone/>
                      </a:pPr>
                      <a:r>
                        <a:rPr lang="en-US" sz="1400" b="1" dirty="0"/>
                        <a:t>0.30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32%</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12.5%</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5,017</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1,832</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0.256</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lgn="ctr">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29%</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999125">
                <a:tc>
                  <a:txBody>
                    <a:bodyPr/>
                    <a:lstStyle/>
                    <a:p>
                      <a:pPr marL="0" lvl="0" indent="0" algn="l" rtl="0">
                        <a:spcBef>
                          <a:spcPts val="0"/>
                        </a:spcBef>
                        <a:spcAft>
                          <a:spcPts val="0"/>
                        </a:spcAft>
                        <a:buNone/>
                      </a:pPr>
                      <a:r>
                        <a:rPr lang="en-US" sz="1400" b="1" dirty="0"/>
                        <a:t>0.40</a:t>
                      </a:r>
                      <a:endParaRPr sz="1400" b="1"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7%</a:t>
                      </a:r>
                      <a:endParaRPr sz="1400" dirty="0"/>
                    </a:p>
                  </a:txBody>
                  <a:tcPr marL="91425" marR="91425" marT="91425" marB="91425" anchor="ctr">
                    <a:lnL w="9525" cap="flat" cmpd="sng">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2.4%</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b="0" dirty="0"/>
                        <a:t>944</a:t>
                      </a:r>
                      <a:endParaRPr sz="1400" b="0" dirty="0"/>
                    </a:p>
                  </a:txBody>
                  <a:tcPr marL="91425" marR="91425" marT="91425" marB="91425" anchor="ctr">
                    <a:lnL w="9525" cap="flat" cmpd="sng" algn="ctr">
                      <a:solidFill>
                        <a:srgbClr val="000000"/>
                      </a:solidFill>
                      <a:prstDash val="solid"/>
                      <a:round/>
                      <a:headEnd type="none" w="sm" len="sm"/>
                      <a:tailEnd type="none" w="sm" len="sm"/>
                    </a:lnL>
                    <a:lnR w="9525" cap="flat" cmpd="sng" algn="ctr">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a:t>299</a:t>
                      </a:r>
                      <a:endParaRPr sz="140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sz="1400" dirty="0"/>
                        <a:t>0.339</a:t>
                      </a:r>
                      <a:endParaRPr sz="1400" dirty="0"/>
                    </a:p>
                  </a:txBody>
                  <a:tcPr marL="91425" marR="91425" marT="91425" marB="91425" anchor="ctr">
                    <a:lnL w="9525" cap="flat" cmpd="sng" algn="ctr">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lgn="ctr">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r>
                        <a:rPr lang="en-US" dirty="0"/>
                        <a:t>7%</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89" name="Google Shape;89;p7"/>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8</a:t>
            </a:r>
            <a:endParaRPr sz="900" dirty="0">
              <a:solidFill>
                <a:schemeClr val="dk1"/>
              </a:solidFill>
              <a:latin typeface="Calibri"/>
              <a:ea typeface="Calibri"/>
              <a:cs typeface="Calibri"/>
              <a:sym typeface="Calibri"/>
            </a:endParaRPr>
          </a:p>
        </p:txBody>
      </p:sp>
      <p:cxnSp>
        <p:nvCxnSpPr>
          <p:cNvPr id="90" name="Google Shape;90;p7"/>
          <p:cNvCxnSpPr/>
          <p:nvPr/>
        </p:nvCxnSpPr>
        <p:spPr>
          <a:xfrm flipH="1">
            <a:off x="319875" y="1740050"/>
            <a:ext cx="4200" cy="2982300"/>
          </a:xfrm>
          <a:prstGeom prst="straightConnector1">
            <a:avLst/>
          </a:prstGeom>
          <a:noFill/>
          <a:ln w="38100" cap="flat" cmpd="sng">
            <a:solidFill>
              <a:schemeClr val="dk2"/>
            </a:solidFill>
            <a:prstDash val="solid"/>
            <a:round/>
            <a:headEnd type="none" w="med" len="med"/>
            <a:tailEnd type="triangle" w="med" len="med"/>
          </a:ln>
        </p:spPr>
      </p:cxn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g3eae636d67f_0_57"/>
          <p:cNvSpPr txBox="1"/>
          <p:nvPr/>
        </p:nvSpPr>
        <p:spPr>
          <a:xfrm>
            <a:off x="457200" y="1050000"/>
            <a:ext cx="8229600" cy="3077735"/>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1800" b="1" dirty="0" err="1"/>
              <a:t>state_threshold_gridsearch_v2.R</a:t>
            </a:r>
            <a:endParaRPr sz="2400" dirty="0"/>
          </a:p>
          <a:p>
            <a:r>
              <a:rPr sz="1400" b="0" dirty="0"/>
              <a:t>Takes the national rule list and, for one state at a time: tries a range of cutoff values for every rule on the state's training years, keeps rules that meet the quality bar on the state's own data, and picks the version of each rule that captures the most error dollars.</a:t>
            </a:r>
          </a:p>
          <a:p>
            <a:endParaRPr sz="1400" b="0" dirty="0"/>
          </a:p>
          <a:p>
            <a:r>
              <a:rPr sz="1800" b="1" dirty="0" err="1"/>
              <a:t>Built-in honesty checks</a:t>
            </a:r>
            <a:endParaRPr sz="1800" b="1" dirty="0"/>
          </a:p>
          <a:p>
            <a:r>
              <a:rPr sz="1400" b="0" dirty="0"/>
              <a:t>Every rule is then tested on a year of data that was never used for tuning - under both its adjusted cutoffs and the original national ones - and the whole exercise is compared against simply using the national rules unchanged. In seven-state testing, tuning helped when roughly 30+ rules met the bar (Connecticut: 43% of errors and 49% of error dollars caught, with about 1 in 5 flagged cases having an error) and hurt below that - with little data, tuning just rewards lucky cutoffs. Smaller states: use the national rules as-is.</a:t>
            </a:r>
          </a:p>
          <a:p>
            <a:endParaRPr sz="1400" b="0" dirty="0"/>
          </a:p>
          <a:p>
            <a:r>
              <a:rPr sz="1200" b="0" dirty="0"/>
              <a:t>Writes per-state rule CSVs (national + tuned thresholds side by side) to state_rules_v2/</a:t>
            </a:r>
          </a:p>
        </p:txBody>
      </p:sp>
      <p:sp>
        <p:nvSpPr>
          <p:cNvPr id="66" name="Google Shape;66;p5"/>
          <p:cNvSpPr/>
          <p:nvPr/>
        </p:nvSpPr>
        <p:spPr>
          <a:xfrm>
            <a:off x="457200" y="310896"/>
            <a:ext cx="8229600" cy="64008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000000"/>
              </a:buClr>
              <a:buSzPts val="2800"/>
              <a:buFont typeface="Cambria"/>
              <a:buNone/>
            </a:pPr>
            <a:r>
              <a:rPr lang="en-US" sz="1600" b="1" dirty="0">
                <a:solidFill>
                  <a:srgbClr val="000000"/>
                </a:solidFill>
                <a:latin typeface="Cambria"/>
                <a:ea typeface="Cambria"/>
                <a:cs typeface="Cambria"/>
                <a:sym typeface="Cambria"/>
              </a:rPr>
              <a:t>Tuning rules for a specific state:</a:t>
            </a:r>
          </a:p>
          <a:p>
            <a:pPr marL="0" marR="0" lvl="0" indent="0" algn="l" rtl="0">
              <a:spcBef>
                <a:spcPts val="0"/>
              </a:spcBef>
              <a:spcAft>
                <a:spcPts val="0"/>
              </a:spcAft>
              <a:buClr>
                <a:srgbClr val="000000"/>
              </a:buClr>
              <a:buSzPts val="2800"/>
              <a:buFont typeface="Cambria"/>
              <a:buNone/>
            </a:pPr>
            <a:r>
              <a:rPr lang="en-US" sz="1600" b="1" dirty="0" err="1">
                <a:solidFill>
                  <a:srgbClr val="000000"/>
                </a:solidFill>
                <a:latin typeface="Cambria"/>
                <a:ea typeface="Cambria"/>
                <a:cs typeface="Cambria"/>
                <a:sym typeface="Cambria"/>
              </a:rPr>
              <a:t>state_threshold_gridsearch_v2.R</a:t>
            </a:r>
            <a:endParaRPr sz="1600" dirty="0">
              <a:solidFill>
                <a:schemeClr val="dk1"/>
              </a:solidFill>
              <a:latin typeface="Calibri"/>
              <a:ea typeface="Calibri"/>
              <a:cs typeface="Calibri"/>
              <a:sym typeface="Calibri"/>
            </a:endParaRPr>
          </a:p>
        </p:txBody>
      </p:sp>
      <p:sp>
        <p:nvSpPr>
          <p:cNvPr id="2" name="Google Shape;71;p5">
            <a:extLst>
              <a:ext uri="{FF2B5EF4-FFF2-40B4-BE49-F238E27FC236}">
                <a16:creationId xmlns:a16="http://schemas.microsoft.com/office/drawing/2014/main" id="{B0D642F2-6701-2B92-8D1B-5371BA2BAFB4}"/>
              </a:ext>
            </a:extLst>
          </p:cNvPr>
          <p:cNvSpPr/>
          <p:nvPr/>
        </p:nvSpPr>
        <p:spPr>
          <a:xfrm>
            <a:off x="457200" y="4814316"/>
            <a:ext cx="5486400" cy="2286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Inclusion rules · INCL_ scripts</a:t>
            </a:r>
            <a:endParaRPr sz="900" dirty="0">
              <a:solidFill>
                <a:schemeClr val="dk1"/>
              </a:solidFill>
              <a:latin typeface="Calibri"/>
              <a:ea typeface="Calibri"/>
              <a:cs typeface="Calibri"/>
              <a:sym typeface="Calibri"/>
            </a:endParaRPr>
          </a:p>
        </p:txBody>
      </p:sp>
      <p:sp>
        <p:nvSpPr>
          <p:cNvPr id="3" name="Google Shape;72;p5">
            <a:extLst>
              <a:ext uri="{FF2B5EF4-FFF2-40B4-BE49-F238E27FC236}">
                <a16:creationId xmlns:a16="http://schemas.microsoft.com/office/drawing/2014/main" id="{E3CAAEA4-E2AC-8019-F176-869DED338969}"/>
              </a:ext>
            </a:extLst>
          </p:cNvPr>
          <p:cNvSpPr/>
          <p:nvPr/>
        </p:nvSpPr>
        <p:spPr>
          <a:xfrm>
            <a:off x="8138160" y="4814316"/>
            <a:ext cx="548640" cy="228600"/>
          </a:xfrm>
          <a:prstGeom prst="rect">
            <a:avLst/>
          </a:prstGeom>
          <a:noFill/>
          <a:ln>
            <a:noFill/>
          </a:ln>
        </p:spPr>
        <p:txBody>
          <a:bodyPr spcFirstLastPara="1" wrap="square" lIns="0" tIns="0" rIns="0" bIns="0" anchor="ctr" anchorCtr="0">
            <a:noAutofit/>
          </a:bodyPr>
          <a:lstStyle/>
          <a:p>
            <a:pPr marL="0" marR="0" lvl="0" indent="0" algn="r" rtl="0">
              <a:spcBef>
                <a:spcPts val="0"/>
              </a:spcBef>
              <a:spcAft>
                <a:spcPts val="0"/>
              </a:spcAft>
              <a:buClr>
                <a:srgbClr val="5A5A5A"/>
              </a:buClr>
              <a:buSzPts val="900"/>
              <a:buFont typeface="Arial"/>
              <a:buNone/>
            </a:pPr>
            <a:r>
              <a:rPr lang="en-US" sz="900" dirty="0">
                <a:solidFill>
                  <a:srgbClr val="5A5A5A"/>
                </a:solidFill>
                <a:latin typeface="Arial"/>
                <a:ea typeface="Arial"/>
                <a:cs typeface="Arial"/>
                <a:sym typeface="Arial"/>
              </a:rPr>
              <a:t>9</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why we're cautious about a rule's measured accuracy</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50000"/>
            <a:ext cx="8344000" cy="3743500"/>
          </a:xfrm>
          <a:prstGeom prst="rect">
            <a:avLst/>
          </a:prstGeom>
          <a:noFill/>
        </p:spPr>
        <p:txBody>
          <a:bodyPr wrap="square">
            <a:spAutoFit/>
          </a:bodyPr>
          <a:lstStyle/>
          <a:p>
            <a:pPr>
              <a:spcAft>
                <a:spcPts val="600"/>
              </a:spcAft>
            </a:pPr>
            <a:r>
              <a:rPr sz="1400" dirty="0"/>
              <a:t>- The trap: generate 100,000 candidate rules and keep the ones with the best measured accuracy, and you mostly keep rules that got lucky. We measured it: a list promising 20% precision delivered about 10% on a year of new data.</a:t>
            </a:r>
          </a:p>
          <a:p>
            <a:pPr>
              <a:spcAft>
                <a:spcPts val="600"/>
              </a:spcAft>
            </a:pPr>
            <a:r>
              <a:rPr sz="1400" dirty="0"/>
              <a:t>- The fix, by example: a rule that flagged 20 cases and was right 4 times and a rule that flagged 200 and was right 40 both measure 20% - but only the second has real evidence behind it. We adjust each rule's score for how much evidence it has, and keep a rule only when the adjusted score clears the bar.</a:t>
            </a:r>
          </a:p>
          <a:p>
            <a:pPr>
              <a:spcAft>
                <a:spcPts val="600"/>
              </a:spcAft>
            </a:pPr>
            <a:r>
              <a:rPr sz="1400" dirty="0"/>
              <a:t>- Result: kept rules deliver roughly what they promise on new data, and at the same delivered accuracy - about 1 in 5 flagged cases having an error - we catch 12.8% of all errors instead of 8.2%.</a:t>
            </a:r>
          </a:p>
          <a:p>
            <a:pPr>
              <a:spcAft>
                <a:spcPts val="600"/>
              </a:spcAft>
            </a:pPr>
            <a:r>
              <a:rPr sz="1400" dirty="0"/>
              <a:t>- Caution for single states: with only a few hundred errors to learn from, the adjustment alone is not enough - also require each rule to have flagged at least ~30 cases, or rules will still disappoint on new data.</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20000"/>
            <a:ext cx="8344000" cy="650000"/>
          </a:xfrm>
          <a:prstGeom prst="rect">
            <a:avLst/>
          </a:prstGeom>
          <a:noFill/>
        </p:spPr>
        <p:txBody>
          <a:bodyPr wrap="none">
            <a:spAutoFit/>
          </a:bodyPr>
          <a:lstStyle/>
          <a:p>
            <a:r>
              <a:rPr sz="2200" b="1"/>
              <a:t>Appendix: settings that matter (and settings that don't)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900000"/>
            <a:ext cx="3200000" cy="3847207"/>
          </a:xfrm>
          <a:prstGeom prst="rect">
            <a:avLst/>
          </a:prstGeom>
          <a:noFill/>
        </p:spPr>
        <p:txBody>
          <a:bodyPr wrap="square">
            <a:spAutoFit/>
          </a:bodyPr>
          <a:lstStyle/>
          <a:p>
            <a:pPr>
              <a:spcAft>
                <a:spcPts val="600"/>
              </a:spcAft>
            </a:pPr>
            <a:r>
              <a:rPr sz="1300" dirty="0"/>
              <a:t>- We varied one setting at a time and judged each version on a year of unseen data. What helped: letting each tree split consider two variables instead of one; learning slowly; and showing each tree a small random slice of the data (15-30%) rather than most of it.</a:t>
            </a:r>
          </a:p>
          <a:p>
            <a:pPr>
              <a:spcAft>
                <a:spcPts val="600"/>
              </a:spcAft>
            </a:pPr>
            <a:r>
              <a:rPr sz="1300" dirty="0"/>
              <a:t>- Growing more trees does not make the kept rules more accurate - the two curves below sit on top of each other. It makes the MENU bigger: several times more rules pass any precision floor, so states have alternatives when their experts want to drop a rule.</a:t>
            </a:r>
          </a:p>
          <a:p>
            <a:pPr>
              <a:spcAft>
                <a:spcPts val="600"/>
              </a:spcAft>
            </a:pPr>
            <a:r>
              <a:rPr sz="1300" dirty="0"/>
              <a:t>- Final settings: 1,000 rounds/trees for each method, with the 99%-confidence quality bar.</a:t>
            </a:r>
          </a:p>
        </p:txBody>
      </p:sp>
      <p:pic>
        <p:nvPicPr>
          <p:cNvPr id="5" name="Picture 4" descr="mine_big_filter_stringently.png"/>
          <p:cNvPicPr>
            <a:picLocks noChangeAspect="1"/>
          </p:cNvPicPr>
          <p:nvPr/>
        </p:nvPicPr>
        <p:blipFill>
          <a:blip r:embed="rId2"/>
          <a:stretch>
            <a:fillRect/>
          </a:stretch>
        </p:blipFill>
        <p:spPr>
          <a:xfrm>
            <a:off x="3663618" y="1122545"/>
            <a:ext cx="5381374" cy="334841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boosted-tree method (xgboost)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Each panel varies one setting around our final choice; curves show accuracy vs share of error dollars caught, on a year of unseen data.</a:t>
            </a:r>
          </a:p>
          <a:p>
            <a:pPr>
              <a:spcAft>
                <a:spcPts val="400"/>
              </a:spcAft>
            </a:pPr>
            <a:r>
              <a:rPr sz="1200"/>
              <a:t>- Learning slowly beats learning fast; trees 4-5 questions deep beat shallower ones; more rounds mainly add rules (see previous slide).</a:t>
            </a:r>
          </a:p>
        </p:txBody>
      </p:sp>
      <p:pic>
        <p:nvPicPr>
          <p:cNvPr id="5" name="Picture 4" descr="v2_tuning_xgboost.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the random-forest method (ranger)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Letting each split choose between two variables beats forcing a single random variable - a little guidance beats pure randomness.</a:t>
            </a:r>
          </a:p>
          <a:p>
            <a:pPr>
              <a:spcAft>
                <a:spcPts val="400"/>
              </a:spcAft>
            </a:pPr>
            <a:r>
              <a:rPr sz="1200"/>
              <a:t>- Beyond ~500 trees, more trees neither help nor hurt accuracy; other settings barely matter.</a:t>
            </a:r>
          </a:p>
        </p:txBody>
      </p:sp>
      <p:pic>
        <p:nvPicPr>
          <p:cNvPr id="5" name="Picture 4" descr="v2_tuning_ranger.png"/>
          <p:cNvPicPr>
            <a:picLocks noChangeAspect="1"/>
          </p:cNvPicPr>
          <p:nvPr/>
        </p:nvPicPr>
        <p:blipFill>
          <a:blip r:embed="rId2"/>
          <a:stretch>
            <a:fillRect/>
          </a:stretch>
        </p:blipFill>
        <p:spPr>
          <a:xfrm>
            <a:off x="2583321" y="1580000"/>
            <a:ext cx="3977357" cy="30935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tuning detail - how much data each tree sees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80000"/>
            <a:ext cx="8344000" cy="760000"/>
          </a:xfrm>
          <a:prstGeom prst="rect">
            <a:avLst/>
          </a:prstGeom>
          <a:noFill/>
        </p:spPr>
        <p:txBody>
          <a:bodyPr wrap="square">
            <a:spAutoFit/>
          </a:bodyPr>
          <a:lstStyle/>
          <a:p>
            <a:pPr>
              <a:spcAft>
                <a:spcPts val="400"/>
              </a:spcAft>
            </a:pPr>
            <a:r>
              <a:rPr sz="1200"/>
              <a:t>- Showing each tree a small random slice of the data (15-30%) works better than showing it most of the data (60-80%) - small slices make the trees more varied, and varied trees find sharper rules.</a:t>
            </a:r>
          </a:p>
          <a:p>
            <a:pPr>
              <a:spcAft>
                <a:spcPts val="400"/>
              </a:spcAft>
            </a:pPr>
            <a:r>
              <a:rPr sz="1200"/>
              <a:t>- Anywhere in the 15-30% range performs the same; we use 20%.</a:t>
            </a:r>
          </a:p>
        </p:txBody>
      </p:sp>
      <p:pic>
        <p:nvPicPr>
          <p:cNvPr id="5" name="Picture 4" descr="v2_subsample_fine.png"/>
          <p:cNvPicPr>
            <a:picLocks noChangeAspect="1"/>
          </p:cNvPicPr>
          <p:nvPr/>
        </p:nvPicPr>
        <p:blipFill>
          <a:blip r:embed="rId2"/>
          <a:stretch>
            <a:fillRect/>
          </a:stretch>
        </p:blipFill>
        <p:spPr>
          <a:xfrm>
            <a:off x="2081864" y="1620000"/>
            <a:ext cx="4980272" cy="30435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lucky rules, measured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Same candidate rules, chosen two ways, then scored on a year of data they never saw. Choosing by raw measured accuracy over-promises; choosing by the evidence-adjusted score keeps its promises.</a:t>
            </a:r>
          </a:p>
        </p:txBody>
      </p:sp>
      <p:pic>
        <p:nvPicPr>
          <p:cNvPr id="5" name="Picture 4" descr="winners_curse_raw_vs_lcb.png"/>
          <p:cNvPicPr>
            <a:picLocks noChangeAspect="1"/>
          </p:cNvPicPr>
          <p:nvPr/>
        </p:nvPicPr>
        <p:blipFill>
          <a:blip r:embed="rId2"/>
          <a:stretch>
            <a:fillRect/>
          </a:stretch>
        </p:blipFill>
        <p:spPr>
          <a:xfrm>
            <a:off x="2748971" y="1230000"/>
            <a:ext cx="3646058" cy="3646058"/>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621271" cy="430887"/>
          </a:xfrm>
          <a:prstGeom prst="rect">
            <a:avLst/>
          </a:prstGeom>
          <a:noFill/>
        </p:spPr>
        <p:txBody>
          <a:bodyPr wrap="none">
            <a:spAutoFit/>
          </a:bodyPr>
          <a:lstStyle/>
          <a:p>
            <a:r>
              <a:rPr sz="2200" b="1" dirty="0"/>
              <a:t>Appendix: why </a:t>
            </a:r>
            <a:r>
              <a:rPr lang="en-US" sz="2200" b="1" dirty="0"/>
              <a:t>we use the 99% lower </a:t>
            </a:r>
            <a:r>
              <a:rPr sz="2200" b="1" dirty="0"/>
              <a:t>bound, not </a:t>
            </a:r>
            <a:r>
              <a:rPr lang="en-US" sz="2200" b="1" dirty="0"/>
              <a:t>raw </a:t>
            </a:r>
            <a:r>
              <a:rPr sz="2200" b="1" dirty="0"/>
              <a:t>precision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5" name="Picture 4" descr="floor_definitions_educational.png"/>
          <p:cNvPicPr>
            <a:picLocks noChangeAspect="1"/>
          </p:cNvPicPr>
          <p:nvPr/>
        </p:nvPicPr>
        <p:blipFill>
          <a:blip r:embed="rId2"/>
          <a:stretch>
            <a:fillRect/>
          </a:stretch>
        </p:blipFill>
        <p:spPr>
          <a:xfrm>
            <a:off x="1366684" y="628229"/>
            <a:ext cx="5785185" cy="422636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build rules per error type AND for all errors together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Rules built for specific error types and rules built on all errors together find different things - combining both catches 3-6 percentage points more errors at any precision floor, for a small accuracy cost. If you need just one simple model, the all-errors version gets you ~95% of the way.</a:t>
            </a:r>
          </a:p>
        </p:txBody>
      </p:sp>
      <p:pic>
        <p:nvPicPr>
          <p:cNvPr id="5" name="Picture 4" descr="anyerror_vs_typed_sweep.png"/>
          <p:cNvPicPr>
            <a:picLocks noChangeAspect="1"/>
          </p:cNvPicPr>
          <p:nvPr/>
        </p:nvPicPr>
        <p:blipFill>
          <a:blip r:embed="rId2"/>
          <a:stretch>
            <a:fillRect/>
          </a:stretch>
        </p:blipFill>
        <p:spPr>
          <a:xfrm>
            <a:off x="1746428" y="1462732"/>
            <a:ext cx="5503909" cy="33635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8344000" cy="600000"/>
          </a:xfrm>
          <a:prstGeom prst="rect">
            <a:avLst/>
          </a:prstGeom>
          <a:noFill/>
        </p:spPr>
        <p:txBody>
          <a:bodyPr wrap="none">
            <a:spAutoFit/>
          </a:bodyPr>
          <a:lstStyle/>
          <a:p>
            <a:r>
              <a:rPr sz="2200" b="1"/>
              <a:t>Appendix: count every error a rule catches, not just the intended kind</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500000"/>
          </a:xfrm>
          <a:prstGeom prst="rect">
            <a:avLst/>
          </a:prstGeom>
          <a:noFill/>
        </p:spPr>
        <p:txBody>
          <a:bodyPr wrap="square">
            <a:spAutoFit/>
          </a:bodyPr>
          <a:lstStyle/>
          <a:p>
            <a:pPr>
              <a:spcAft>
                <a:spcPts val="400"/>
              </a:spcAft>
            </a:pPr>
            <a:r>
              <a:rPr sz="1200"/>
              <a:t>- A rule built to find earned-income errors also flags cases with other kinds of errors - and those reviews succeed too. Counting only the intended error type, these rules score 8%; counting every error they actually catch, 19%. Report the second number - it is what reviewers will experience (dashed vs solid lines below).</a:t>
            </a:r>
          </a:p>
        </p:txBody>
      </p:sp>
      <p:pic>
        <p:nvPicPr>
          <p:cNvPr id="5" name="Picture 4" descr="image.png"/>
          <p:cNvPicPr>
            <a:picLocks noChangeAspect="1"/>
          </p:cNvPicPr>
          <p:nvPr/>
        </p:nvPicPr>
        <p:blipFill>
          <a:blip r:embed="rId2"/>
          <a:stretch>
            <a:fillRect/>
          </a:stretch>
        </p:blipFill>
        <p:spPr>
          <a:xfrm>
            <a:off x="1881200" y="1636350"/>
            <a:ext cx="5381600" cy="26908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6314549" cy="430887"/>
          </a:xfrm>
          <a:prstGeom prst="rect">
            <a:avLst/>
          </a:prstGeom>
          <a:noFill/>
        </p:spPr>
        <p:txBody>
          <a:bodyPr wrap="none">
            <a:spAutoFit/>
          </a:bodyPr>
          <a:lstStyle/>
          <a:p>
            <a:r>
              <a:rPr sz="2200" b="1" dirty="0"/>
              <a:t>Appendix:</a:t>
            </a:r>
            <a:r>
              <a:rPr lang="en-US" sz="2200" b="1" dirty="0"/>
              <a:t> added “other” (mostly deductions)</a:t>
            </a:r>
            <a:endParaRPr sz="2200" b="1" dirty="0"/>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sp>
        <p:nvSpPr>
          <p:cNvPr id="4" name="TextBox 3"/>
          <p:cNvSpPr txBox="1"/>
          <p:nvPr/>
        </p:nvSpPr>
        <p:spPr>
          <a:xfrm>
            <a:off x="400000" y="760000"/>
            <a:ext cx="8344000" cy="646331"/>
          </a:xfrm>
          <a:prstGeom prst="rect">
            <a:avLst/>
          </a:prstGeom>
          <a:noFill/>
        </p:spPr>
        <p:txBody>
          <a:bodyPr wrap="square">
            <a:spAutoFit/>
          </a:bodyPr>
          <a:lstStyle/>
          <a:p>
            <a:pPr>
              <a:spcAft>
                <a:spcPts val="400"/>
              </a:spcAft>
            </a:pPr>
            <a:r>
              <a:rPr sz="1200" dirty="0"/>
              <a:t>- Errors in deductions, shelter costs, and household composition ('other') are the LARGEST error category - 2,007 of 4,460 errors in 2023. They turn out to be </a:t>
            </a:r>
            <a:r>
              <a:rPr lang="en-US" sz="1200" dirty="0"/>
              <a:t>somewhat </a:t>
            </a:r>
            <a:r>
              <a:rPr sz="1200" dirty="0"/>
              <a:t>learnable: this category now contributes the largest block of high-confidence rules (1,700 rules, about 1 in 5 flagged cases having an error on new data).</a:t>
            </a:r>
          </a:p>
        </p:txBody>
      </p:sp>
      <p:pic>
        <p:nvPicPr>
          <p:cNvPr id="5" name="Picture 4" descr="image.png"/>
          <p:cNvPicPr>
            <a:picLocks noChangeAspect="1"/>
          </p:cNvPicPr>
          <p:nvPr/>
        </p:nvPicPr>
        <p:blipFill>
          <a:blip r:embed="rId2"/>
          <a:stretch>
            <a:fillRect/>
          </a:stretch>
        </p:blipFill>
        <p:spPr>
          <a:xfrm>
            <a:off x="1602623" y="1532409"/>
            <a:ext cx="5702181" cy="2851091"/>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00000" y="200000"/>
            <a:ext cx="9990235" cy="430887"/>
          </a:xfrm>
          <a:prstGeom prst="rect">
            <a:avLst/>
          </a:prstGeom>
          <a:noFill/>
        </p:spPr>
        <p:txBody>
          <a:bodyPr wrap="none">
            <a:spAutoFit/>
          </a:bodyPr>
          <a:lstStyle/>
          <a:p>
            <a:r>
              <a:rPr sz="2200" b="1" dirty="0"/>
              <a:t>Appendix: elderly/disabled households - one model works for everyone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Appendix - v2 pipeline evidence</a:t>
            </a:r>
          </a:p>
        </p:txBody>
      </p:sp>
      <p:pic>
        <p:nvPicPr>
          <p:cNvPr id="4" name="Picture 3" descr="esap_error_mix.png"/>
          <p:cNvPicPr>
            <a:picLocks noChangeAspect="1"/>
          </p:cNvPicPr>
          <p:nvPr/>
        </p:nvPicPr>
        <p:blipFill>
          <a:blip r:embed="rId2"/>
          <a:stretch>
            <a:fillRect/>
          </a:stretch>
        </p:blipFill>
        <p:spPr>
          <a:xfrm>
            <a:off x="1139850" y="850000"/>
            <a:ext cx="6864300" cy="38135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Getting more signal out of SNAP QC data: modeling lessons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What we learned from building, tuning, and stress-testing an error-mining pipeline on the public QC files.</a:t>
            </a:r>
          </a:p>
          <a:p>
            <a:pPr>
              <a:spcAft>
                <a:spcPts val="400"/>
              </a:spcAft>
            </a:pPr>
            <a:r>
              <a:rPr sz="1200"/>
              <a:t>Every claim below is backed by a measurement from our own runs - configurations tried head-to-head on held-out years.</a:t>
            </a:r>
          </a:p>
          <a:p>
            <a:pPr>
              <a:spcAft>
                <a:spcPts val="400"/>
              </a:spcAft>
            </a:pPr>
            <a:r>
              <a:rPr sz="1200"/>
              <a:t>Code and full evidence: https://github.com/giannella/snap_qc (methods/modeling_findings.md)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What we ran</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Task: mine interpretable rules that flag high-error-risk cases; judge every configuration on a year of data it never saw (train 2022+2024, test 2023).</a:t>
            </a:r>
          </a:p>
          <a:p>
            <a:pPr>
              <a:spcAft>
                <a:spcPts val="400"/>
              </a:spcAft>
            </a:pPr>
            <a:r>
              <a:rPr sz="1200"/>
              <a:t>- Compared head-to-head: tree engines and their pairings, ensemble sizes, learning rates, subsampling, tree depth, split randomness, stratification schemes, selection statistics, filter stringencies, and state-level deployment strategies.</a:t>
            </a:r>
          </a:p>
          <a:p>
            <a:pPr>
              <a:spcAft>
                <a:spcPts val="400"/>
              </a:spcAft>
            </a:pPr>
            <a:r>
              <a:rPr sz="1200"/>
              <a:t>- The lessons below are the settings and practices that moved held-out performance - and the ones that didn't.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Two data-build choices changed results more than any tuning</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Cases whose review found a second error element did not fit our single-error reconstruction and were being dropped: 31% of all above-threshold error cases. Keeping them (with a flag) raised qualifying rules from 3,741 to 11,018 at the same filter - more error data tightens every statistical bound.</a:t>
            </a:r>
          </a:p>
          <a:p>
            <a:pPr>
              <a:spcAft>
                <a:spcPts val="400"/>
              </a:spcAft>
            </a:pPr>
            <a:r>
              <a:rPr sz="1200"/>
              <a:t>- The fix did not rewrite the rules' content: 93% of the previous rule set survived the rebuild - 63% as the same variables and directions with shifted cutpoints, 29% matched by a new rule flagging a highly overlapping case set (Jaccard &gt;= 0.5 on the test year), 1% exact; only 7% dropped with no counterpart.</a:t>
            </a:r>
          </a:p>
          <a:p>
            <a:pPr>
              <a:spcAft>
                <a:spcPts val="400"/>
              </a:spcAft>
            </a:pPr>
            <a:r>
              <a:rPr sz="1200"/>
              <a:t>- Nor did the restored cases add a new pattern type: brand-new rules' catches were 34% restored-case vs a 32% base - the gain was statistical power, not different signal.</a:t>
            </a:r>
          </a:p>
          <a:p>
            <a:pPr>
              <a:spcAft>
                <a:spcPts val="400"/>
              </a:spcAft>
            </a:pPr>
            <a:r>
              <a:rPr sz="1200"/>
              <a:t>- Rows with blank optional-deduction fields were also being dropped: ~16% of Washington's caseload. Zero-filling with an imputed-flag kept them.</a:t>
            </a:r>
          </a:p>
          <a:p>
            <a:pPr>
              <a:spcAft>
                <a:spcPts val="400"/>
              </a:spcAft>
            </a:pPr>
            <a:r>
              <a:rPr sz="1200"/>
              <a:t>- Both defects were invisible in model metrics and found only by reconciling row and error counts against the raw files, state by state. We now diff mined-rule sets across data builds (exact / shifted / overlapping / dropped / new) to audit any data change.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Check how much of the error population your data can see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We reconciled the public files against the QC technical documentation's exclusion counts, per state and year (2022-24).</a:t>
            </a:r>
          </a:p>
          <a:p>
            <a:pPr>
              <a:spcAft>
                <a:spcPts val="400"/>
              </a:spcAft>
            </a:pPr>
            <a:r>
              <a:rPr sz="1200"/>
              <a:t>- The public files' share of each state's error cases ranges from 43% to 81% - the excluded cases are the ineligible determinations.</a:t>
            </a:r>
          </a:p>
          <a:p>
            <a:pPr>
              <a:spcAft>
                <a:spcPts val="400"/>
              </a:spcAft>
            </a:pPr>
            <a:r>
              <a:rPr sz="1200"/>
              <a:t>- This bounds what any public-data model can deliver per state; we quote it alongside every state result.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1600200" y="2240280"/>
          <a:ext cx="5943600" cy="1755648"/>
        </p:xfrm>
        <a:graphic>
          <a:graphicData uri="http://schemas.openxmlformats.org/drawingml/2006/table">
            <a:tbl>
              <a:tblPr firstRow="1" bandRow="1">
                <a:tableStyleId>{5C22544A-7EE6-4342-B048-85BDC9FD1C3A}</a:tableStyleId>
              </a:tblPr>
              <a:tblGrid>
                <a:gridCol w="2971800"/>
                <a:gridCol w="2971800"/>
              </a:tblGrid>
              <a:tr h="292608">
                <a:tc>
                  <a:txBody>
                    <a:bodyPr/>
                    <a:lstStyle/>
                    <a:p>
                      <a:r>
                        <a:rPr sz="1200" b="1"/>
                        <a:t>state</a:t>
                      </a:r>
                    </a:p>
                  </a:txBody>
                  <a:tcPr marT="9144" marB="9144"/>
                </a:tc>
                <a:tc>
                  <a:txBody>
                    <a:bodyPr/>
                    <a:lstStyle/>
                    <a:p>
                      <a:r>
                        <a:rPr sz="1200" b="1"/>
                        <a:t>visible share of error cases</a:t>
                      </a:r>
                    </a:p>
                  </a:txBody>
                  <a:tcPr marT="9144" marB="9144"/>
                </a:tc>
              </a:tr>
              <a:tr h="292608">
                <a:tc>
                  <a:txBody>
                    <a:bodyPr/>
                    <a:lstStyle/>
                    <a:p>
                      <a:r>
                        <a:rPr sz="1200" b="0"/>
                        <a:t>New Jersey</a:t>
                      </a:r>
                    </a:p>
                  </a:txBody>
                  <a:tcPr marT="9144" marB="9144"/>
                </a:tc>
                <a:tc>
                  <a:txBody>
                    <a:bodyPr/>
                    <a:lstStyle/>
                    <a:p>
                      <a:r>
                        <a:rPr sz="1200" b="0"/>
                        <a:t>43%</a:t>
                      </a:r>
                    </a:p>
                  </a:txBody>
                  <a:tcPr marT="9144" marB="9144"/>
                </a:tc>
              </a:tr>
              <a:tr h="292608">
                <a:tc>
                  <a:txBody>
                    <a:bodyPr/>
                    <a:lstStyle/>
                    <a:p>
                      <a:r>
                        <a:rPr sz="1200" b="0"/>
                        <a:t>Tennessee</a:t>
                      </a:r>
                    </a:p>
                  </a:txBody>
                  <a:tcPr marT="9144" marB="9144"/>
                </a:tc>
                <a:tc>
                  <a:txBody>
                    <a:bodyPr/>
                    <a:lstStyle/>
                    <a:p>
                      <a:r>
                        <a:rPr sz="1200" b="0"/>
                        <a:t>51%</a:t>
                      </a:r>
                    </a:p>
                  </a:txBody>
                  <a:tcPr marT="9144" marB="9144"/>
                </a:tc>
              </a:tr>
              <a:tr h="292608">
                <a:tc>
                  <a:txBody>
                    <a:bodyPr/>
                    <a:lstStyle/>
                    <a:p>
                      <a:r>
                        <a:rPr sz="1200" b="0"/>
                        <a:t>Arkansas / Missouri / Utah</a:t>
                      </a:r>
                    </a:p>
                  </a:txBody>
                  <a:tcPr marT="9144" marB="9144"/>
                </a:tc>
                <a:tc>
                  <a:txBody>
                    <a:bodyPr/>
                    <a:lstStyle/>
                    <a:p>
                      <a:r>
                        <a:rPr sz="1200" b="0"/>
                        <a:t>~53%</a:t>
                      </a:r>
                    </a:p>
                  </a:txBody>
                  <a:tcPr marT="9144" marB="9144"/>
                </a:tc>
              </a:tr>
              <a:tr h="292608">
                <a:tc>
                  <a:txBody>
                    <a:bodyPr/>
                    <a:lstStyle/>
                    <a:p>
                      <a:r>
                        <a:rPr sz="1200" b="0"/>
                        <a:t>Washington / Virginia / Louisiana</a:t>
                      </a:r>
                    </a:p>
                  </a:txBody>
                  <a:tcPr marT="9144" marB="9144"/>
                </a:tc>
                <a:tc>
                  <a:txBody>
                    <a:bodyPr/>
                    <a:lstStyle/>
                    <a:p>
                      <a:r>
                        <a:rPr sz="1200" b="0"/>
                        <a:t>78-81%</a:t>
                      </a:r>
                    </a:p>
                  </a:txBody>
                  <a:tcPr marT="9144" marB="9144"/>
                </a:tc>
              </a:tr>
              <a:tr h="292608">
                <a:tc>
                  <a:txBody>
                    <a:bodyPr/>
                    <a:lstStyle/>
                    <a:p>
                      <a:r>
                        <a:rPr sz="1200" b="0"/>
                        <a:t>national</a:t>
                      </a:r>
                    </a:p>
                  </a:txBody>
                  <a:tcPr marT="9144" marB="9144"/>
                </a:tc>
                <a:tc>
                  <a:txBody>
                    <a:bodyPr/>
                    <a:lstStyle/>
                    <a:p>
                      <a:r>
                        <a:rPr sz="1200" b="0"/>
                        <a:t>71%</a:t>
                      </a:r>
                    </a:p>
                  </a:txBody>
                  <a:tcPr marT="9144" marB="9144"/>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Selecting rules on raw training precision delivered half of it</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Our 'train precision &gt;= 0.20' shortlist delivered ~0.10 on the held-out year. Before any selection, train precision was nearly unbiased for holdout (median gap -0.003, r = 0.83); rules selected on the HOLDOUT &gt;= 0.20 showed median train precision 0.116.</a:t>
            </a:r>
          </a:p>
          <a:p>
            <a:pPr>
              <a:spcAft>
                <a:spcPts val="400"/>
              </a:spcAft>
            </a:pPr>
            <a:r>
              <a:rPr sz="1200"/>
              <a:t>- So the decay is selection noise (regression to the mean), not overfitting or year drift - the same rules held ~3.9x lift on 2018-19 vs ~3.5x on 2023.</a:t>
            </a:r>
          </a:p>
          <a:p>
            <a:pPr>
              <a:spcAft>
                <a:spcPts val="400"/>
              </a:spcAft>
            </a:pPr>
            <a:r>
              <a:rPr sz="1200"/>
              <a:t>- Any 'generate many candidates, keep the best-measured' step has this problem, whatever the model class.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511296" y="2496312"/>
            <a:ext cx="2121407" cy="2121407"/>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Filter on a lower confidence bound of training precision</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Keep a rule only if the one-sided 99% Wilson lower bound of its training precision clears the floor. At matched delivered precision (~0.20), lower-bound selection caught 12.8% of errors vs 8.2% for raw-precision selection.</a:t>
            </a:r>
          </a:p>
          <a:p>
            <a:pPr>
              <a:spcAft>
                <a:spcPts val="400"/>
              </a:spcAft>
            </a:pPr>
            <a:r>
              <a:rPr sz="1200"/>
              <a:t>- Same rule pool, measured three ways: raw floors overpromise even after a lower-bound gate (floor 0.50 delivers 0.34); lower-bound floors deliver at or above their number (floor 0.30 delivers 0.38, floor 0.40 delivers 0.51).</a:t>
            </a:r>
          </a:p>
          <a:p>
            <a:pPr>
              <a:spcAft>
                <a:spcPts val="400"/>
              </a:spcAft>
            </a:pPr>
            <a:r>
              <a:rPr sz="1200"/>
              <a:t>- The lower bound is the only selection statistic we tested whose value survives contact with a new year.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295690" y="2752344"/>
            <a:ext cx="2552619" cy="1865375"/>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Bigger ensembles widen the menu, not the frontier</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- 1000-round/1000-tree ensembles traced the SAME precision-recall frontier as small ones - but produced several times more distinct rules clearing any given floor (~2.6-5x the filtered inventory).</a:t>
            </a:r>
          </a:p>
          <a:p>
            <a:pPr>
              <a:spcAft>
                <a:spcPts val="400"/>
              </a:spcAft>
            </a:pPr>
            <a:r>
              <a:rPr sz="1200"/>
              <a:t>- That inventory is what states use: reviewers veto rules they distrust and need substitutes.</a:t>
            </a:r>
          </a:p>
          <a:p>
            <a:pPr>
              <a:spcAft>
                <a:spcPts val="400"/>
              </a:spcAft>
            </a:pPr>
            <a:r>
              <a:rPr sz="1200"/>
              <a:t>- The stringent lower-bound filter is what keeps large pools safe: it removes the extra selection noise that more candidates would otherwise inject.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670048" y="2240280"/>
            <a:ext cx="3803903" cy="2377439"/>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Tuning: what moved held-out performance and what didn't</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Engine PAIRING mattered: xgboost + random forest (ranger) beat either engine alone and beat bagged-CART + ranger, everything else held equal.</a:t>
            </a:r>
          </a:p>
          <a:p>
            <a:pPr>
              <a:spcAft>
                <a:spcPts val="400"/>
              </a:spcAft>
            </a:pPr>
            <a:r>
              <a:rPr sz="1200"/>
              <a:t>- Within engines: mtry = 2 beat mtry = 1 across the frontier; slow learning (eta 0.02, 1000 rounds) beat fast; depth 4 sufficed; subsample barely matters (see the replication on the next slide).</a:t>
            </a:r>
          </a:p>
          <a:p>
            <a:pPr>
              <a:spcAft>
                <a:spcPts val="400"/>
              </a:spcAft>
            </a:pPr>
            <a:r>
              <a:rPr sz="1200"/>
              <a:t>- Most other knobs did not move the frontier - we verified by varying one setting at a time around the final configuration.</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3208237" y="2496312"/>
            <a:ext cx="2727524" cy="2121407"/>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Re-test your selection choices on a year that never judged them</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Every configuration choice above was judged on the same held-out year (2023), so the selection PROCEDURE itself could be overfit to one year. We re-ran the decisive comparisons with the year roles swapped (train 2022+2023, test 2024), with expected outcomes and failure criteria written down BEFORE the run.</a:t>
            </a:r>
          </a:p>
          <a:p>
            <a:pPr>
              <a:spcAft>
                <a:spcPts val="400"/>
              </a:spcAft>
            </a:pPr>
            <a:r>
              <a:rPr sz="1200"/>
              <a:t>- Three of four claims replicated: the engine pairing still leads recall (margin thinner, 2.1pp vs 3pp+), stringency still buys precision monotonically, big ensembles still widen the menu ~7x at ~0.02 precision cost.</a:t>
            </a:r>
          </a:p>
          <a:p>
            <a:pPr>
              <a:spcAft>
                <a:spcPts val="400"/>
              </a:spcAft>
            </a:pPr>
            <a:r>
              <a:rPr sz="1200"/>
              <a:t>- One claim failed and is retired: 'low subsampling beats high' - on 2024 all nine settings from 0.15 to 0.80 land within 0.005 (right panel). The retraction is what makes the survivors credible: the procedure demonstrably can say no.</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replication_selection_studies.png"/>
          <p:cNvPicPr>
            <a:picLocks noChangeAspect="1"/>
          </p:cNvPicPr>
          <p:nvPr/>
        </p:nvPicPr>
        <p:blipFill>
          <a:blip r:embed="rId2"/>
          <a:stretch>
            <a:fillRect/>
          </a:stretch>
        </p:blipFill>
        <p:spPr>
          <a:xfrm>
            <a:off x="2880360" y="3264408"/>
            <a:ext cx="3383279" cy="1353311"/>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Score rules against all error types, not just the mined type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Rules mined for one error type also flag cases carrying other types. Scored only against the mined type, our earned-income rules measured 8% precision on the held-out year; scored against any above-threshold error on the same flags, 19%.</a:t>
            </a:r>
          </a:p>
          <a:p>
            <a:pPr>
              <a:spcAft>
                <a:spcPts val="400"/>
              </a:spcAft>
            </a:pPr>
            <a:r>
              <a:rPr sz="1200"/>
              <a:t>- The gap was similar across frames (~2x). Reporting only the narrow metric understates what reviewers would actually find.</a:t>
            </a:r>
          </a:p>
          <a:p>
            <a:pPr>
              <a:spcAft>
                <a:spcPts val="400"/>
              </a:spcAft>
            </a:pPr>
            <a:r>
              <a:rPr sz="1200"/>
              <a:t>- We now compute both in every run (dashed vs solid below).</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450592" y="2496312"/>
            <a:ext cx="4242815" cy="2121407"/>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Split by coarse household-size strata (1 / 2-3 / 4+)</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Household-size strata 1 / 2-3 / 4+ beat pooled modeling on recall reach and filtered inventory (~5x); a 5-way split was worse on the same test year.</a:t>
            </a:r>
          </a:p>
          <a:p>
            <a:pPr>
              <a:spcAft>
                <a:spcPts val="400"/>
              </a:spcAft>
            </a:pPr>
            <a:r>
              <a:rPr sz="1200"/>
              <a:t>- Adding an elderly/disabled STRATUM on top bought nothing: an indicator variable achieved the same held-out frontier and the same coverage of those households - we checked coverage parity explicitly.</a:t>
            </a:r>
          </a:p>
          <a:p>
            <a:pPr>
              <a:spcAft>
                <a:spcPts val="400"/>
              </a:spcAft>
            </a:pPr>
            <a:r>
              <a:rPr sz="1200"/>
              <a:t>- We test 'new stratum vs new variable' empirically before adding strata; strata cost data and the variable usually suffices.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image.png"/>
          <p:cNvPicPr>
            <a:picLocks noChangeAspect="1"/>
          </p:cNvPicPr>
          <p:nvPr/>
        </p:nvPicPr>
        <p:blipFill>
          <a:blip r:embed="rId2"/>
          <a:stretch>
            <a:fillRect/>
          </a:stretch>
        </p:blipFill>
        <p:spPr>
          <a:xfrm>
            <a:off x="2836302" y="2496312"/>
            <a:ext cx="3471394" cy="2121407"/>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At state scale, confidence bounds alone were not enough</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Mining directly on one state's data (~2,000-3,000 cases/year), rules passing the same 99% lower-bound filter with small support had median HOLDOUT precision of zero at support &gt;= 5.</a:t>
            </a:r>
          </a:p>
          <a:p>
            <a:pPr>
              <a:spcAft>
                <a:spcPts val="400"/>
              </a:spcAft>
            </a:pPr>
            <a:r>
              <a:rPr sz="1200"/>
              <a:t>- Requiring each rule to flag &gt;= 30 training cases changed the failure mode from collapse to gentle deflation (~1/3 below training estimates).</a:t>
            </a:r>
          </a:p>
          <a:p>
            <a:pPr>
              <a:spcAft>
                <a:spcPts val="400"/>
              </a:spcAft>
            </a:pPr>
            <a:r>
              <a:rPr sz="1200"/>
              <a:t>- National scale hides this: with 100k+ cases the bound rarely admits tiny-support rules in the first place.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For thin states, same-era neighbor data beat more own-state data</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Louisiana's own 2022-24 mining collapsed on holdout. Adding its 2017-19 data made it WORSE (median holdout precision fell to zero).</a:t>
            </a:r>
          </a:p>
          <a:p>
            <a:pPr>
              <a:spcAft>
                <a:spcPts val="400"/>
              </a:spcAft>
            </a:pPr>
            <a:r>
              <a:rPr sz="1200"/>
              <a:t>- Training on five similar states' 2022-24 data - never touching Louisiana - delivered 14% precision at 49% of error dollars on Louisiana 2022-24.</a:t>
            </a:r>
          </a:p>
          <a:p>
            <a:pPr>
              <a:spcAft>
                <a:spcPts val="400"/>
              </a:spcAft>
            </a:pPr>
            <a:r>
              <a:rPr sz="1200"/>
              <a:t>- Both comparisons used identical engines and filters; the only differences were WHERE and WHEN the training data came from.</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Evaluate at review budgets, not just statistical floors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Confidence floors produce whatever workload they produce: on the rebuilt data, the 0.20 floor's rule union flags ~half the caseload (which is how 'catch 79% of error dollars' happens). States plan around review capacity, not floors.</a:t>
            </a:r>
          </a:p>
          <a:p>
            <a:pPr>
              <a:spcAft>
                <a:spcPts val="400"/>
              </a:spcAft>
            </a:pPr>
            <a:r>
              <a:rPr sz="1200"/>
              <a:t>- So we also report budget-filled performance: add rules in descending lower-bound order until 5% or 10% of the caseload is flagged. In the deployment test (trained on 2022-23 only, scored on each state's 2024), the national rules deliver median 0.30 precision catching 16% of error dollars at a 5% budget, and 0.27 catching 25% at 10% - against 8-17% base rates.</a:t>
            </a:r>
          </a:p>
          <a:p>
            <a:pPr>
              <a:spcAft>
                <a:spcPts val="400"/>
              </a:spcAft>
            </a:pPr>
            <a:r>
              <a:rPr sz="1200"/>
              <a:t>- The budget lens also corrects floor artifacts: Mississippi's transferred rules stopped firing entirely at a 0.30 floor, yet delivered among the best 5%-budget precision of any state - the rules were fine, the floor wasn't.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best_pool_pr_by_budget.png"/>
          <p:cNvPicPr>
            <a:picLocks noChangeAspect="1"/>
          </p:cNvPicPr>
          <p:nvPr/>
        </p:nvPicPr>
        <p:blipFill>
          <a:blip r:embed="rId2"/>
          <a:stretch>
            <a:fillRect/>
          </a:stretch>
        </p:blipFill>
        <p:spPr>
          <a:xfrm>
            <a:off x="3626068" y="3520440"/>
            <a:ext cx="1891862" cy="1097279"/>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The national rules, deployed a year ahead, state by state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deployment test: rules mined on all states' 2022-23 data, applied in national-confidence order until 10% of the state's caseload is flagged, scored on the state's 2024 cases - a year no rule ever saw.</a:t>
            </a:r>
          </a:p>
          <a:p>
            <a:pPr>
              <a:spcAft>
                <a:spcPts val="400"/>
              </a:spcAft>
            </a:pPr>
            <a:r>
              <a:rPr sz="1200"/>
              <a:t>- Every state clears its base rate: precision 0.18-0.37 against 8-17% base rates, a 1.5-3.4x lift over random review.</a:t>
            </a:r>
          </a:p>
          <a:p>
            <a:pPr>
              <a:spcAft>
                <a:spcPts val="400"/>
              </a:spcAft>
            </a:pPr>
            <a:r>
              <a:rPr sz="1200"/>
              <a:t>- Including the state's own 2022-23 rows in the mining changes little vs holding the state out entirely (median difference ~0.00; per state -0.08 to +0.06): with a truly unseen test year, the national numbers a state is quoted are already honest.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deploy_national_dotplot_budget10.png"/>
          <p:cNvPicPr>
            <a:picLocks noChangeAspect="1"/>
          </p:cNvPicPr>
          <p:nvPr/>
        </p:nvPicPr>
        <p:blipFill>
          <a:blip r:embed="rId2"/>
          <a:stretch>
            <a:fillRect/>
          </a:stretch>
        </p:blipFill>
        <p:spPr>
          <a:xfrm>
            <a:off x="3172968" y="2752344"/>
            <a:ext cx="2798063" cy="1865375"/>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Donor-state similarity: tested, and the national pool held up</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We compute state similarity from the QC microdata itself (which risk patterns fire in a state's caseload; rarely-firing patterns weighted more heavily) and pick each state's 5 nearest donors. Neighbor lists change sharply between 2017-19 and 2022-24, so we compute them per era.</a:t>
            </a:r>
          </a:p>
          <a:p>
            <a:pPr>
              <a:spcAft>
                <a:spcPts val="400"/>
              </a:spcAft>
            </a:pPr>
            <a:r>
              <a:rPr sz="1200"/>
              <a:t>- Scored within the same era, 5-donor pools matched or beat the held-out national pool in 6 of 12 states at a 10% budget (median 0.278 vs 0.245). Re-tested as a deployment (train 2022-23, score 2024), the advantage did not survive: national median 0.27-0.30 vs transfer 0.25-0.26 across budgets.</a:t>
            </a:r>
          </a:p>
          <a:p>
            <a:pPr>
              <a:spcAft>
                <a:spcPts val="400"/>
              </a:spcAft>
            </a:pPr>
            <a:r>
              <a:rPr sz="1200"/>
              <a:t>- Mining a state's own data alone is the high-variance option: the best single results anywhere (Connecticut 0.416, Virginia 0.371 at 10%) but also the worst - Washington's own rules delivered 0.05-0.08 precision on 2024, BELOW its 8.5% base rate. Neighbor pools are the fallback where own-state mining fails, not the default.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Adapting the national rules to a state: three schemes we tested</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filtered - keep the national rules exactly as they are, but re-qualify each on the state's own 2022-23 data: deploy only rules whose 90% lower-bound precision clears 0.20 with &gt;= 30 flagged cases, applied in state-confidence order.</a:t>
            </a:r>
          </a:p>
          <a:p>
            <a:pPr>
              <a:spcAft>
                <a:spcPts val="400"/>
              </a:spcAft>
            </a:pPr>
            <a:r>
              <a:rPr sz="1200"/>
              <a:t>- tuned - grid-search each rule's thresholds (+/-10-25%) on the state's data; qualify variants at the same bar (90% lower bound &gt;= 0.20, &gt;= 30 flagged); deploy each rule's highest-lower-bound variant - the most statistically defensible version.</a:t>
            </a:r>
          </a:p>
          <a:p>
            <a:pPr>
              <a:spcAft>
                <a:spcPts val="400"/>
              </a:spcAft>
            </a:pPr>
            <a:r>
              <a:rPr sz="1200"/>
              <a:t>- hybrid - the scheme our July grid-search study settled on: qualify variants at 90% lower bound &gt;= 0.20 with &gt;= 5 flagged, then deploy the qualifying variant catching the most error DOLLARS on state training data - a careful gate with an aggressive pick.</a:t>
            </a:r>
          </a:p>
          <a:p>
            <a:pPr>
              <a:spcAft>
                <a:spcPts val="400"/>
              </a:spcAft>
            </a:pPr>
            <a:r>
              <a:rPr sz="1200"/>
              <a:t>- All arms are budget-filled on the state's 2024 cases: rules added in descending confidence order until 5% or 10% of the caseload is flagged. The state's 2024 data is never used to pick rules, only to count flags.</a:t>
            </a:r>
          </a:p>
          <a:p>
            <a:pPr>
              <a:spcAft>
                <a:spcPts val="400"/>
              </a:spcAft>
            </a:pPr>
            <a:r>
              <a:rPr sz="1200"/>
              <a:t>- Note: tuning arms search the top 500 national rules by confidence; the national and filtered arms draw from the full ~45k-rule pool.</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Median across 18 states: adaptation does not beat the national order</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No adaptation scheme beats deploying the national list in national-confidence order on the median state; national as-is takes the most per-state precision wins at both budgets (9 of 18 at 5%, 7 of 18 at 10%).</a:t>
            </a:r>
          </a:p>
          <a:p>
            <a:pPr>
              <a:spcAft>
                <a:spcPts val="400"/>
              </a:spcAft>
            </a:pPr>
            <a:r>
              <a:rPr sz="1200"/>
              <a:t>- Adaptation pays where the national list underperforms (New Jersey 0.10 -&gt; 0.27, Mississippi 0.25 -&gt; 0.42 at 5%) and hurts where it is already strong (Michigan 0.40 -&gt; 0.19, Washington 0.30 -&gt; 0.08 at 5%): small-sample qualification re-introduces the selection noise the national bound removed.</a:t>
            </a:r>
          </a:p>
          <a:p>
            <a:pPr>
              <a:spcAft>
                <a:spcPts val="400"/>
              </a:spcAft>
            </a:pPr>
            <a:r>
              <a:rPr sz="1200"/>
              <a:t>- The tuned arm is too conservative to deploy: 1-125 rules survive per state and 11 of its 36 runs cannot fill even half their budget. Cells: median precision / median share of error dollars, on 2024.</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1600200" y="2752344"/>
          <a:ext cx="5943600" cy="1463040"/>
        </p:xfrm>
        <a:graphic>
          <a:graphicData uri="http://schemas.openxmlformats.org/drawingml/2006/table">
            <a:tbl>
              <a:tblPr firstRow="1" bandRow="1">
                <a:tableStyleId>{5C22544A-7EE6-4342-B048-85BDC9FD1C3A}</a:tableStyleId>
              </a:tblPr>
              <a:tblGrid>
                <a:gridCol w="1981200"/>
                <a:gridCol w="1981200"/>
                <a:gridCol w="1981200"/>
              </a:tblGrid>
              <a:tr h="292608">
                <a:tc>
                  <a:txBody>
                    <a:bodyPr/>
                    <a:lstStyle/>
                    <a:p>
                      <a:r>
                        <a:rPr sz="1200" b="1"/>
                        <a:t>scheme</a:t>
                      </a:r>
                    </a:p>
                  </a:txBody>
                  <a:tcPr marT="9144" marB="9144"/>
                </a:tc>
                <a:tc>
                  <a:txBody>
                    <a:bodyPr/>
                    <a:lstStyle/>
                    <a:p>
                      <a:r>
                        <a:rPr sz="1200" b="1"/>
                        <a:t>5% budget</a:t>
                      </a:r>
                    </a:p>
                  </a:txBody>
                  <a:tcPr marT="9144" marB="9144"/>
                </a:tc>
                <a:tc>
                  <a:txBody>
                    <a:bodyPr/>
                    <a:lstStyle/>
                    <a:p>
                      <a:r>
                        <a:rPr sz="1200" b="1"/>
                        <a:t>10% budget</a:t>
                      </a:r>
                    </a:p>
                  </a:txBody>
                  <a:tcPr marT="9144" marB="9144"/>
                </a:tc>
              </a:tr>
              <a:tr h="292608">
                <a:tc>
                  <a:txBody>
                    <a:bodyPr/>
                    <a:lstStyle/>
                    <a:p>
                      <a:r>
                        <a:rPr sz="1200" b="0"/>
                        <a:t>national as-is</a:t>
                      </a:r>
                    </a:p>
                  </a:txBody>
                  <a:tcPr marT="9144" marB="9144"/>
                </a:tc>
                <a:tc>
                  <a:txBody>
                    <a:bodyPr/>
                    <a:lstStyle/>
                    <a:p>
                      <a:r>
                        <a:rPr sz="1200" b="0"/>
                        <a:t>0.301 / 16%</a:t>
                      </a:r>
                    </a:p>
                  </a:txBody>
                  <a:tcPr marT="9144" marB="9144"/>
                </a:tc>
                <a:tc>
                  <a:txBody>
                    <a:bodyPr/>
                    <a:lstStyle/>
                    <a:p>
                      <a:r>
                        <a:rPr sz="1200" b="0"/>
                        <a:t>0.275 / 25%</a:t>
                      </a:r>
                    </a:p>
                  </a:txBody>
                  <a:tcPr marT="9144" marB="9144"/>
                </a:tc>
              </a:tr>
              <a:tr h="292608">
                <a:tc>
                  <a:txBody>
                    <a:bodyPr/>
                    <a:lstStyle/>
                    <a:p>
                      <a:r>
                        <a:rPr sz="1200" b="0"/>
                        <a:t>filtered</a:t>
                      </a:r>
                    </a:p>
                  </a:txBody>
                  <a:tcPr marT="9144" marB="9144"/>
                </a:tc>
                <a:tc>
                  <a:txBody>
                    <a:bodyPr/>
                    <a:lstStyle/>
                    <a:p>
                      <a:r>
                        <a:rPr sz="1200" b="0"/>
                        <a:t>0.273 / 13%</a:t>
                      </a:r>
                    </a:p>
                  </a:txBody>
                  <a:tcPr marT="9144" marB="9144"/>
                </a:tc>
                <a:tc>
                  <a:txBody>
                    <a:bodyPr/>
                    <a:lstStyle/>
                    <a:p>
                      <a:r>
                        <a:rPr sz="1200" b="0"/>
                        <a:t>0.261 / 24%</a:t>
                      </a:r>
                    </a:p>
                  </a:txBody>
                  <a:tcPr marT="9144" marB="9144"/>
                </a:tc>
              </a:tr>
              <a:tr h="292608">
                <a:tc>
                  <a:txBody>
                    <a:bodyPr/>
                    <a:lstStyle/>
                    <a:p>
                      <a:r>
                        <a:rPr sz="1200" b="0"/>
                        <a:t>tuned</a:t>
                      </a:r>
                    </a:p>
                  </a:txBody>
                  <a:tcPr marT="9144" marB="9144"/>
                </a:tc>
                <a:tc>
                  <a:txBody>
                    <a:bodyPr/>
                    <a:lstStyle/>
                    <a:p>
                      <a:r>
                        <a:rPr sz="1200" b="0"/>
                        <a:t>0.235 / 7%</a:t>
                      </a:r>
                    </a:p>
                  </a:txBody>
                  <a:tcPr marT="9144" marB="9144"/>
                </a:tc>
                <a:tc>
                  <a:txBody>
                    <a:bodyPr/>
                    <a:lstStyle/>
                    <a:p>
                      <a:r>
                        <a:rPr sz="1200" b="0"/>
                        <a:t>0.237 / 14%</a:t>
                      </a:r>
                    </a:p>
                  </a:txBody>
                  <a:tcPr marT="9144" marB="9144"/>
                </a:tc>
              </a:tr>
              <a:tr h="292608">
                <a:tc>
                  <a:txBody>
                    <a:bodyPr/>
                    <a:lstStyle/>
                    <a:p>
                      <a:r>
                        <a:rPr sz="1200" b="0"/>
                        <a:t>hybrid</a:t>
                      </a:r>
                    </a:p>
                  </a:txBody>
                  <a:tcPr marT="9144" marB="9144"/>
                </a:tc>
                <a:tc>
                  <a:txBody>
                    <a:bodyPr/>
                    <a:lstStyle/>
                    <a:p>
                      <a:r>
                        <a:rPr sz="1200" b="0"/>
                        <a:t>0.292 / 14%</a:t>
                      </a:r>
                    </a:p>
                  </a:txBody>
                  <a:tcPr marT="9144" marB="9144"/>
                </a:tc>
                <a:tc>
                  <a:txBody>
                    <a:bodyPr/>
                    <a:lstStyle/>
                    <a:p>
                      <a:r>
                        <a:rPr sz="1200" b="0"/>
                        <a:t>0.259 / 26%</a:t>
                      </a:r>
                    </a:p>
                  </a:txBody>
                  <a:tcPr marT="9144" marB="9144"/>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State by state, 5% review budget: national as-is vs adapted</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precision @ recall (share of error dollars) on the state's 2024 cases, trained on 2022-23 only. 'Rules qualified' counts RULES from the national pool clearing the state's bar (rules overlap heavily, so counts can exceed the state's caseload; a high base rate makes the 0.20 bar easy to clear). Tuning arms search the top 500 national rules by confidence; the national and filtered arms draw from the full ~45k-rule pool.</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365760" y="2240280"/>
          <a:ext cx="8412480" cy="3995928"/>
        </p:xfrm>
        <a:graphic>
          <a:graphicData uri="http://schemas.openxmlformats.org/drawingml/2006/table">
            <a:tbl>
              <a:tblPr firstRow="1" bandRow="1">
                <a:tableStyleId>{5C22544A-7EE6-4342-B048-85BDC9FD1C3A}</a:tableStyleId>
              </a:tblPr>
              <a:tblGrid>
                <a:gridCol w="1402080"/>
                <a:gridCol w="1402080"/>
                <a:gridCol w="1402080"/>
                <a:gridCol w="1402080"/>
                <a:gridCol w="1402080"/>
                <a:gridCol w="1402080"/>
              </a:tblGrid>
              <a:tr h="210312">
                <a:tc>
                  <a:txBody>
                    <a:bodyPr/>
                    <a:lstStyle/>
                    <a:p>
                      <a:r>
                        <a:rPr sz="900" b="1"/>
                        <a:t>state</a:t>
                      </a:r>
                    </a:p>
                  </a:txBody>
                  <a:tcPr marT="9144" marB="9144"/>
                </a:tc>
                <a:tc>
                  <a:txBody>
                    <a:bodyPr/>
                    <a:lstStyle/>
                    <a:p>
                      <a:r>
                        <a:rPr sz="900" b="1"/>
                        <a:t>rules qualified (f/t/h)</a:t>
                      </a:r>
                    </a:p>
                  </a:txBody>
                  <a:tcPr marT="9144" marB="9144"/>
                </a:tc>
                <a:tc>
                  <a:txBody>
                    <a:bodyPr/>
                    <a:lstStyle/>
                    <a:p>
                      <a:r>
                        <a:rPr sz="900" b="1"/>
                        <a:t>national as-is</a:t>
                      </a:r>
                    </a:p>
                  </a:txBody>
                  <a:tcPr marT="9144" marB="9144"/>
                </a:tc>
                <a:tc>
                  <a:txBody>
                    <a:bodyPr/>
                    <a:lstStyle/>
                    <a:p>
                      <a:r>
                        <a:rPr sz="900" b="1"/>
                        <a:t>filtered</a:t>
                      </a:r>
                    </a:p>
                  </a:txBody>
                  <a:tcPr marT="9144" marB="9144"/>
                </a:tc>
                <a:tc>
                  <a:txBody>
                    <a:bodyPr/>
                    <a:lstStyle/>
                    <a:p>
                      <a:r>
                        <a:rPr sz="900" b="1"/>
                        <a:t>tuned</a:t>
                      </a:r>
                    </a:p>
                  </a:txBody>
                  <a:tcPr marT="9144" marB="9144"/>
                </a:tc>
                <a:tc>
                  <a:txBody>
                    <a:bodyPr/>
                    <a:lstStyle/>
                    <a:p>
                      <a:r>
                        <a:rPr sz="900" b="1"/>
                        <a:t>hybrid</a:t>
                      </a:r>
                    </a:p>
                  </a:txBody>
                  <a:tcPr marT="9144" marB="9144"/>
                </a:tc>
              </a:tr>
              <a:tr h="210312">
                <a:tc>
                  <a:txBody>
                    <a:bodyPr/>
                    <a:lstStyle/>
                    <a:p>
                      <a:r>
                        <a:rPr sz="900" b="0"/>
                        <a:t>Massachusetts</a:t>
                      </a:r>
                    </a:p>
                  </a:txBody>
                  <a:tcPr marT="9144" marB="9144"/>
                </a:tc>
                <a:tc>
                  <a:txBody>
                    <a:bodyPr/>
                    <a:lstStyle/>
                    <a:p>
                      <a:r>
                        <a:rPr sz="900" b="0"/>
                        <a:t>475/18/265</a:t>
                      </a:r>
                    </a:p>
                  </a:txBody>
                  <a:tcPr marT="9144" marB="9144"/>
                </a:tc>
                <a:tc>
                  <a:txBody>
                    <a:bodyPr/>
                    <a:lstStyle/>
                    <a:p>
                      <a:r>
                        <a:rPr sz="900" b="0"/>
                        <a:t>0.535 @ 19% ($16%)</a:t>
                      </a:r>
                    </a:p>
                  </a:txBody>
                  <a:tcPr marT="9144" marB="9144"/>
                </a:tc>
                <a:tc>
                  <a:txBody>
                    <a:bodyPr/>
                    <a:lstStyle/>
                    <a:p>
                      <a:r>
                        <a:rPr sz="900" b="0"/>
                        <a:t>0.233 @ 8% ($4%)</a:t>
                      </a:r>
                    </a:p>
                  </a:txBody>
                  <a:tcPr marT="9144" marB="9144"/>
                </a:tc>
                <a:tc>
                  <a:txBody>
                    <a:bodyPr/>
                    <a:lstStyle/>
                    <a:p>
                      <a:r>
                        <a:rPr sz="900" b="0"/>
                        <a:t>0.309 @ 11% ($11%)</a:t>
                      </a:r>
                    </a:p>
                  </a:txBody>
                  <a:tcPr marT="9144" marB="9144"/>
                </a:tc>
                <a:tc>
                  <a:txBody>
                    <a:bodyPr/>
                    <a:lstStyle/>
                    <a:p>
                      <a:r>
                        <a:rPr sz="900" b="0"/>
                        <a:t>0.372 @ 13% ($12%)</a:t>
                      </a:r>
                    </a:p>
                  </a:txBody>
                  <a:tcPr marT="9144" marB="9144"/>
                </a:tc>
              </a:tr>
              <a:tr h="210312">
                <a:tc>
                  <a:txBody>
                    <a:bodyPr/>
                    <a:lstStyle/>
                    <a:p>
                      <a:r>
                        <a:rPr sz="900" b="0"/>
                        <a:t>Colorado</a:t>
                      </a:r>
                    </a:p>
                  </a:txBody>
                  <a:tcPr marT="9144" marB="9144"/>
                </a:tc>
                <a:tc>
                  <a:txBody>
                    <a:bodyPr/>
                    <a:lstStyle/>
                    <a:p>
                      <a:r>
                        <a:rPr sz="900" b="0"/>
                        <a:t>1061/8/49</a:t>
                      </a:r>
                    </a:p>
                  </a:txBody>
                  <a:tcPr marT="9144" marB="9144"/>
                </a:tc>
                <a:tc>
                  <a:txBody>
                    <a:bodyPr/>
                    <a:lstStyle/>
                    <a:p>
                      <a:r>
                        <a:rPr sz="900" b="0"/>
                        <a:t>0.500 @ 21% ($20%)</a:t>
                      </a:r>
                    </a:p>
                  </a:txBody>
                  <a:tcPr marT="9144" marB="9144"/>
                </a:tc>
                <a:tc>
                  <a:txBody>
                    <a:bodyPr/>
                    <a:lstStyle/>
                    <a:p>
                      <a:r>
                        <a:rPr sz="900" b="0"/>
                        <a:t>0.300 @ 12% ($18%)</a:t>
                      </a:r>
                    </a:p>
                  </a:txBody>
                  <a:tcPr marT="9144" marB="9144"/>
                </a:tc>
                <a:tc>
                  <a:txBody>
                    <a:bodyPr/>
                    <a:lstStyle/>
                    <a:p>
                      <a:r>
                        <a:rPr sz="900" b="0"/>
                        <a:t>0.210 @ 8% ($8%)</a:t>
                      </a:r>
                    </a:p>
                  </a:txBody>
                  <a:tcPr marT="9144" marB="9144"/>
                </a:tc>
                <a:tc>
                  <a:txBody>
                    <a:bodyPr/>
                    <a:lstStyle/>
                    <a:p>
                      <a:r>
                        <a:rPr sz="900" b="0"/>
                        <a:t>0.500 @ 21% ($23%)</a:t>
                      </a:r>
                    </a:p>
                  </a:txBody>
                  <a:tcPr marT="9144" marB="9144"/>
                </a:tc>
              </a:tr>
              <a:tr h="210312">
                <a:tc>
                  <a:txBody>
                    <a:bodyPr/>
                    <a:lstStyle/>
                    <a:p>
                      <a:r>
                        <a:rPr sz="900" b="0"/>
                        <a:t>District of Columbia</a:t>
                      </a:r>
                    </a:p>
                  </a:txBody>
                  <a:tcPr marT="9144" marB="9144"/>
                </a:tc>
                <a:tc>
                  <a:txBody>
                    <a:bodyPr/>
                    <a:lstStyle/>
                    <a:p>
                      <a:r>
                        <a:rPr sz="900" b="0"/>
                        <a:t>8111/125/271</a:t>
                      </a:r>
                    </a:p>
                  </a:txBody>
                  <a:tcPr marT="9144" marB="9144"/>
                </a:tc>
                <a:tc>
                  <a:txBody>
                    <a:bodyPr/>
                    <a:lstStyle/>
                    <a:p>
                      <a:r>
                        <a:rPr sz="900" b="0"/>
                        <a:t>0.417 @ 9% ($11%)</a:t>
                      </a:r>
                    </a:p>
                  </a:txBody>
                  <a:tcPr marT="9144" marB="9144"/>
                </a:tc>
                <a:tc>
                  <a:txBody>
                    <a:bodyPr/>
                    <a:lstStyle/>
                    <a:p>
                      <a:r>
                        <a:rPr sz="900" b="0"/>
                        <a:t>0.604 @ 14% ($13%)</a:t>
                      </a:r>
                    </a:p>
                  </a:txBody>
                  <a:tcPr marT="9144" marB="9144"/>
                </a:tc>
                <a:tc>
                  <a:txBody>
                    <a:bodyPr/>
                    <a:lstStyle/>
                    <a:p>
                      <a:r>
                        <a:rPr sz="900" b="0"/>
                        <a:t>0.188 @ 4% ($4%)</a:t>
                      </a:r>
                    </a:p>
                  </a:txBody>
                  <a:tcPr marT="9144" marB="9144"/>
                </a:tc>
                <a:tc>
                  <a:txBody>
                    <a:bodyPr/>
                    <a:lstStyle/>
                    <a:p>
                      <a:r>
                        <a:rPr sz="900" b="0"/>
                        <a:t>0.458 @ 10% ($10%)</a:t>
                      </a:r>
                    </a:p>
                  </a:txBody>
                  <a:tcPr marT="9144" marB="9144"/>
                </a:tc>
              </a:tr>
              <a:tr h="210312">
                <a:tc>
                  <a:txBody>
                    <a:bodyPr/>
                    <a:lstStyle/>
                    <a:p>
                      <a:r>
                        <a:rPr sz="900" b="0"/>
                        <a:t>Virginia</a:t>
                      </a:r>
                    </a:p>
                  </a:txBody>
                  <a:tcPr marT="9144" marB="9144"/>
                </a:tc>
                <a:tc>
                  <a:txBody>
                    <a:bodyPr/>
                    <a:lstStyle/>
                    <a:p>
                      <a:r>
                        <a:rPr sz="900" b="0"/>
                        <a:t>4156/17/75</a:t>
                      </a:r>
                    </a:p>
                  </a:txBody>
                  <a:tcPr marT="9144" marB="9144"/>
                </a:tc>
                <a:tc>
                  <a:txBody>
                    <a:bodyPr/>
                    <a:lstStyle/>
                    <a:p>
                      <a:r>
                        <a:rPr sz="900" b="0"/>
                        <a:t>0.400 @ 12% ($12%)</a:t>
                      </a:r>
                    </a:p>
                  </a:txBody>
                  <a:tcPr marT="9144" marB="9144"/>
                </a:tc>
                <a:tc>
                  <a:txBody>
                    <a:bodyPr/>
                    <a:lstStyle/>
                    <a:p>
                      <a:r>
                        <a:rPr sz="900" b="0"/>
                        <a:t>0.371 @ 11% ($14%)</a:t>
                      </a:r>
                    </a:p>
                  </a:txBody>
                  <a:tcPr marT="9144" marB="9144"/>
                </a:tc>
                <a:tc>
                  <a:txBody>
                    <a:bodyPr/>
                    <a:lstStyle/>
                    <a:p>
                      <a:r>
                        <a:rPr sz="900" b="0"/>
                        <a:t>0.229 @ 7% ($5%)</a:t>
                      </a:r>
                    </a:p>
                  </a:txBody>
                  <a:tcPr marT="9144" marB="9144"/>
                </a:tc>
                <a:tc>
                  <a:txBody>
                    <a:bodyPr/>
                    <a:lstStyle/>
                    <a:p>
                      <a:r>
                        <a:rPr sz="900" b="0"/>
                        <a:t>0.371 @ 11% ($14%)</a:t>
                      </a:r>
                    </a:p>
                  </a:txBody>
                  <a:tcPr marT="9144" marB="9144"/>
                </a:tc>
              </a:tr>
              <a:tr h="210312">
                <a:tc>
                  <a:txBody>
                    <a:bodyPr/>
                    <a:lstStyle/>
                    <a:p>
                      <a:r>
                        <a:rPr sz="900" b="0"/>
                        <a:t>Michigan</a:t>
                      </a:r>
                    </a:p>
                  </a:txBody>
                  <a:tcPr marT="9144" marB="9144"/>
                </a:tc>
                <a:tc>
                  <a:txBody>
                    <a:bodyPr/>
                    <a:lstStyle/>
                    <a:p>
                      <a:r>
                        <a:rPr sz="900" b="0"/>
                        <a:t>4699/8/99</a:t>
                      </a:r>
                    </a:p>
                  </a:txBody>
                  <a:tcPr marT="9144" marB="9144"/>
                </a:tc>
                <a:tc>
                  <a:txBody>
                    <a:bodyPr/>
                    <a:lstStyle/>
                    <a:p>
                      <a:r>
                        <a:rPr sz="900" b="0"/>
                        <a:t>0.395 @ 15% ($16%)</a:t>
                      </a:r>
                    </a:p>
                  </a:txBody>
                  <a:tcPr marT="9144" marB="9144"/>
                </a:tc>
                <a:tc>
                  <a:txBody>
                    <a:bodyPr/>
                    <a:lstStyle/>
                    <a:p>
                      <a:r>
                        <a:rPr sz="900" b="0"/>
                        <a:t>0.186 @ 7% ($13%)</a:t>
                      </a:r>
                    </a:p>
                  </a:txBody>
                  <a:tcPr marT="9144" marB="9144"/>
                </a:tc>
                <a:tc>
                  <a:txBody>
                    <a:bodyPr/>
                    <a:lstStyle/>
                    <a:p>
                      <a:r>
                        <a:rPr sz="900" b="0"/>
                        <a:t>0.146 @ 5% ($3%)</a:t>
                      </a:r>
                    </a:p>
                  </a:txBody>
                  <a:tcPr marT="9144" marB="9144"/>
                </a:tc>
                <a:tc>
                  <a:txBody>
                    <a:bodyPr/>
                    <a:lstStyle/>
                    <a:p>
                      <a:r>
                        <a:rPr sz="900" b="0"/>
                        <a:t>0.302 @ 12% ($11%)</a:t>
                      </a:r>
                    </a:p>
                  </a:txBody>
                  <a:tcPr marT="9144" marB="9144"/>
                </a:tc>
              </a:tr>
              <a:tr h="210312">
                <a:tc>
                  <a:txBody>
                    <a:bodyPr/>
                    <a:lstStyle/>
                    <a:p>
                      <a:r>
                        <a:rPr sz="900" b="0"/>
                        <a:t>Connecticut</a:t>
                      </a:r>
                    </a:p>
                  </a:txBody>
                  <a:tcPr marT="9144" marB="9144"/>
                </a:tc>
                <a:tc>
                  <a:txBody>
                    <a:bodyPr/>
                    <a:lstStyle/>
                    <a:p>
                      <a:r>
                        <a:rPr sz="900" b="0"/>
                        <a:t>3721/13/92</a:t>
                      </a:r>
                    </a:p>
                  </a:txBody>
                  <a:tcPr marT="9144" marB="9144"/>
                </a:tc>
                <a:tc>
                  <a:txBody>
                    <a:bodyPr/>
                    <a:lstStyle/>
                    <a:p>
                      <a:r>
                        <a:rPr sz="900" b="0"/>
                        <a:t>0.341 @ 12% ($16%)</a:t>
                      </a:r>
                    </a:p>
                  </a:txBody>
                  <a:tcPr marT="9144" marB="9144"/>
                </a:tc>
                <a:tc>
                  <a:txBody>
                    <a:bodyPr/>
                    <a:lstStyle/>
                    <a:p>
                      <a:r>
                        <a:rPr sz="900" b="0"/>
                        <a:t>0.364 @ 12% ($17%)</a:t>
                      </a:r>
                    </a:p>
                  </a:txBody>
                  <a:tcPr marT="9144" marB="9144"/>
                </a:tc>
                <a:tc>
                  <a:txBody>
                    <a:bodyPr/>
                    <a:lstStyle/>
                    <a:p>
                      <a:r>
                        <a:rPr sz="900" b="0"/>
                        <a:t>0.405 @ 13% ($16%)</a:t>
                      </a:r>
                    </a:p>
                  </a:txBody>
                  <a:tcPr marT="9144" marB="9144"/>
                </a:tc>
                <a:tc>
                  <a:txBody>
                    <a:bodyPr/>
                    <a:lstStyle/>
                    <a:p>
                      <a:r>
                        <a:rPr sz="900" b="0"/>
                        <a:t>0.409 @ 14% ($18%)</a:t>
                      </a:r>
                    </a:p>
                  </a:txBody>
                  <a:tcPr marT="9144" marB="9144"/>
                </a:tc>
              </a:tr>
              <a:tr h="210312">
                <a:tc>
                  <a:txBody>
                    <a:bodyPr/>
                    <a:lstStyle/>
                    <a:p>
                      <a:r>
                        <a:rPr sz="900" b="0"/>
                        <a:t>Missouri</a:t>
                      </a:r>
                    </a:p>
                  </a:txBody>
                  <a:tcPr marT="9144" marB="9144"/>
                </a:tc>
                <a:tc>
                  <a:txBody>
                    <a:bodyPr/>
                    <a:lstStyle/>
                    <a:p>
                      <a:r>
                        <a:rPr sz="900" b="0"/>
                        <a:t>1498/3/113</a:t>
                      </a:r>
                    </a:p>
                  </a:txBody>
                  <a:tcPr marT="9144" marB="9144"/>
                </a:tc>
                <a:tc>
                  <a:txBody>
                    <a:bodyPr/>
                    <a:lstStyle/>
                    <a:p>
                      <a:r>
                        <a:rPr sz="900" b="0"/>
                        <a:t>0.324 @ 18% ($15%)</a:t>
                      </a:r>
                    </a:p>
                  </a:txBody>
                  <a:tcPr marT="9144" marB="9144"/>
                </a:tc>
                <a:tc>
                  <a:txBody>
                    <a:bodyPr/>
                    <a:lstStyle/>
                    <a:p>
                      <a:r>
                        <a:rPr sz="900" b="0"/>
                        <a:t>0.270 @ 15% ($22%)</a:t>
                      </a:r>
                    </a:p>
                  </a:txBody>
                  <a:tcPr marT="9144" marB="9144"/>
                </a:tc>
                <a:tc>
                  <a:txBody>
                    <a:bodyPr/>
                    <a:lstStyle/>
                    <a:p>
                      <a:r>
                        <a:rPr sz="900" b="0"/>
                        <a:t>0.200 @ 4% ($6%)</a:t>
                      </a:r>
                    </a:p>
                  </a:txBody>
                  <a:tcPr marT="9144" marB="9144"/>
                </a:tc>
                <a:tc>
                  <a:txBody>
                    <a:bodyPr/>
                    <a:lstStyle/>
                    <a:p>
                      <a:r>
                        <a:rPr sz="900" b="0"/>
                        <a:t>0.270 @ 15% ($17%)</a:t>
                      </a:r>
                    </a:p>
                  </a:txBody>
                  <a:tcPr marT="9144" marB="9144"/>
                </a:tc>
              </a:tr>
              <a:tr h="210312">
                <a:tc>
                  <a:txBody>
                    <a:bodyPr/>
                    <a:lstStyle/>
                    <a:p>
                      <a:r>
                        <a:rPr sz="900" b="0"/>
                        <a:t>Maine</a:t>
                      </a:r>
                    </a:p>
                  </a:txBody>
                  <a:tcPr marT="9144" marB="9144"/>
                </a:tc>
                <a:tc>
                  <a:txBody>
                    <a:bodyPr/>
                    <a:lstStyle/>
                    <a:p>
                      <a:r>
                        <a:rPr sz="900" b="0"/>
                        <a:t>4453/25/99</a:t>
                      </a:r>
                    </a:p>
                  </a:txBody>
                  <a:tcPr marT="9144" marB="9144"/>
                </a:tc>
                <a:tc>
                  <a:txBody>
                    <a:bodyPr/>
                    <a:lstStyle/>
                    <a:p>
                      <a:r>
                        <a:rPr sz="900" b="0"/>
                        <a:t>0.304 @ 12% ($19%)</a:t>
                      </a:r>
                    </a:p>
                  </a:txBody>
                  <a:tcPr marT="9144" marB="9144"/>
                </a:tc>
                <a:tc>
                  <a:txBody>
                    <a:bodyPr/>
                    <a:lstStyle/>
                    <a:p>
                      <a:r>
                        <a:rPr sz="900" b="0"/>
                        <a:t>0.283 @ 11% ($20%)</a:t>
                      </a:r>
                    </a:p>
                  </a:txBody>
                  <a:tcPr marT="9144" marB="9144"/>
                </a:tc>
                <a:tc>
                  <a:txBody>
                    <a:bodyPr/>
                    <a:lstStyle/>
                    <a:p>
                      <a:r>
                        <a:rPr sz="900" b="0"/>
                        <a:t>0.283 @ 11% ($20%)</a:t>
                      </a:r>
                    </a:p>
                  </a:txBody>
                  <a:tcPr marT="9144" marB="9144"/>
                </a:tc>
                <a:tc>
                  <a:txBody>
                    <a:bodyPr/>
                    <a:lstStyle/>
                    <a:p>
                      <a:r>
                        <a:rPr sz="900" b="0"/>
                        <a:t>0.326 @ 13% ($22%)</a:t>
                      </a:r>
                    </a:p>
                  </a:txBody>
                  <a:tcPr marT="9144" marB="9144"/>
                </a:tc>
              </a:tr>
              <a:tr h="210312">
                <a:tc>
                  <a:txBody>
                    <a:bodyPr/>
                    <a:lstStyle/>
                    <a:p>
                      <a:r>
                        <a:rPr sz="900" b="0"/>
                        <a:t>Arizona</a:t>
                      </a:r>
                    </a:p>
                  </a:txBody>
                  <a:tcPr marT="9144" marB="9144"/>
                </a:tc>
                <a:tc>
                  <a:txBody>
                    <a:bodyPr/>
                    <a:lstStyle/>
                    <a:p>
                      <a:r>
                        <a:rPr sz="900" b="0"/>
                        <a:t>5333/102/391</a:t>
                      </a:r>
                    </a:p>
                  </a:txBody>
                  <a:tcPr marT="9144" marB="9144"/>
                </a:tc>
                <a:tc>
                  <a:txBody>
                    <a:bodyPr/>
                    <a:lstStyle/>
                    <a:p>
                      <a:r>
                        <a:rPr sz="900" b="0"/>
                        <a:t>0.302 @ 13% ($18%)</a:t>
                      </a:r>
                    </a:p>
                  </a:txBody>
                  <a:tcPr marT="9144" marB="9144"/>
                </a:tc>
                <a:tc>
                  <a:txBody>
                    <a:bodyPr/>
                    <a:lstStyle/>
                    <a:p>
                      <a:r>
                        <a:rPr sz="900" b="0"/>
                        <a:t>0.233 @ 10% ($19%)</a:t>
                      </a:r>
                    </a:p>
                  </a:txBody>
                  <a:tcPr marT="9144" marB="9144"/>
                </a:tc>
                <a:tc>
                  <a:txBody>
                    <a:bodyPr/>
                    <a:lstStyle/>
                    <a:p>
                      <a:r>
                        <a:rPr sz="900" b="0"/>
                        <a:t>0.244 @ 10% ($15%)</a:t>
                      </a:r>
                    </a:p>
                  </a:txBody>
                  <a:tcPr marT="9144" marB="9144"/>
                </a:tc>
                <a:tc>
                  <a:txBody>
                    <a:bodyPr/>
                    <a:lstStyle/>
                    <a:p>
                      <a:r>
                        <a:rPr sz="900" b="0"/>
                        <a:t>0.256 @ 11% ($21%)</a:t>
                      </a:r>
                    </a:p>
                  </a:txBody>
                  <a:tcPr marT="9144" marB="9144"/>
                </a:tc>
              </a:tr>
              <a:tr h="210312">
                <a:tc>
                  <a:txBody>
                    <a:bodyPr/>
                    <a:lstStyle/>
                    <a:p>
                      <a:r>
                        <a:rPr sz="900" b="0"/>
                        <a:t>Washington</a:t>
                      </a:r>
                    </a:p>
                  </a:txBody>
                  <a:tcPr marT="9144" marB="9144"/>
                </a:tc>
                <a:tc>
                  <a:txBody>
                    <a:bodyPr/>
                    <a:lstStyle/>
                    <a:p>
                      <a:r>
                        <a:rPr sz="900" b="0"/>
                        <a:t>200/1/58</a:t>
                      </a:r>
                    </a:p>
                  </a:txBody>
                  <a:tcPr marT="9144" marB="9144"/>
                </a:tc>
                <a:tc>
                  <a:txBody>
                    <a:bodyPr/>
                    <a:lstStyle/>
                    <a:p>
                      <a:r>
                        <a:rPr sz="900" b="0"/>
                        <a:t>0.300 @ 17% ($24%)</a:t>
                      </a:r>
                    </a:p>
                  </a:txBody>
                  <a:tcPr marT="9144" marB="9144"/>
                </a:tc>
                <a:tc>
                  <a:txBody>
                    <a:bodyPr/>
                    <a:lstStyle/>
                    <a:p>
                      <a:r>
                        <a:rPr sz="900" b="0"/>
                        <a:t>0.075 @ 4% ($2%)</a:t>
                      </a:r>
                    </a:p>
                  </a:txBody>
                  <a:tcPr marT="9144" marB="9144"/>
                </a:tc>
                <a:tc>
                  <a:txBody>
                    <a:bodyPr/>
                    <a:lstStyle/>
                    <a:p>
                      <a:r>
                        <a:rPr sz="900" b="0"/>
                        <a:t>0.118 @ 3% ($5%)</a:t>
                      </a:r>
                    </a:p>
                  </a:txBody>
                  <a:tcPr marT="9144" marB="9144"/>
                </a:tc>
                <a:tc>
                  <a:txBody>
                    <a:bodyPr/>
                    <a:lstStyle/>
                    <a:p>
                      <a:r>
                        <a:rPr sz="900" b="0"/>
                        <a:t>0.282 @ 16% ($20%)</a:t>
                      </a:r>
                    </a:p>
                  </a:txBody>
                  <a:tcPr marT="9144" marB="9144"/>
                </a:tc>
              </a:tr>
              <a:tr h="210312">
                <a:tc>
                  <a:txBody>
                    <a:bodyPr/>
                    <a:lstStyle/>
                    <a:p>
                      <a:r>
                        <a:rPr sz="900" b="0"/>
                        <a:t>California</a:t>
                      </a:r>
                    </a:p>
                  </a:txBody>
                  <a:tcPr marT="9144" marB="9144"/>
                </a:tc>
                <a:tc>
                  <a:txBody>
                    <a:bodyPr/>
                    <a:lstStyle/>
                    <a:p>
                      <a:r>
                        <a:rPr sz="900" b="0"/>
                        <a:t>1478/16/297</a:t>
                      </a:r>
                    </a:p>
                  </a:txBody>
                  <a:tcPr marT="9144" marB="9144"/>
                </a:tc>
                <a:tc>
                  <a:txBody>
                    <a:bodyPr/>
                    <a:lstStyle/>
                    <a:p>
                      <a:r>
                        <a:rPr sz="900" b="0"/>
                        <a:t>0.300 @ 11% ($21%)</a:t>
                      </a:r>
                    </a:p>
                  </a:txBody>
                  <a:tcPr marT="9144" marB="9144"/>
                </a:tc>
                <a:tc>
                  <a:txBody>
                    <a:bodyPr/>
                    <a:lstStyle/>
                    <a:p>
                      <a:r>
                        <a:rPr sz="900" b="0"/>
                        <a:t>0.275 @ 10% ($18%)</a:t>
                      </a:r>
                    </a:p>
                  </a:txBody>
                  <a:tcPr marT="9144" marB="9144"/>
                </a:tc>
                <a:tc>
                  <a:txBody>
                    <a:bodyPr/>
                    <a:lstStyle/>
                    <a:p>
                      <a:r>
                        <a:rPr sz="900" b="0"/>
                        <a:t>0.229 @ 8% ($5%)</a:t>
                      </a:r>
                    </a:p>
                  </a:txBody>
                  <a:tcPr marT="9144" marB="9144"/>
                </a:tc>
                <a:tc>
                  <a:txBody>
                    <a:bodyPr/>
                    <a:lstStyle/>
                    <a:p>
                      <a:r>
                        <a:rPr sz="900" b="0"/>
                        <a:t>0.175 @ 7% ($12%)</a:t>
                      </a:r>
                    </a:p>
                  </a:txBody>
                  <a:tcPr marT="9144" marB="9144"/>
                </a:tc>
              </a:tr>
              <a:tr h="210312">
                <a:tc>
                  <a:txBody>
                    <a:bodyPr/>
                    <a:lstStyle/>
                    <a:p>
                      <a:r>
                        <a:rPr sz="900" b="0"/>
                        <a:t>Maryland</a:t>
                      </a:r>
                    </a:p>
                  </a:txBody>
                  <a:tcPr marT="9144" marB="9144"/>
                </a:tc>
                <a:tc>
                  <a:txBody>
                    <a:bodyPr/>
                    <a:lstStyle/>
                    <a:p>
                      <a:r>
                        <a:rPr sz="900" b="0"/>
                        <a:t>6405/7/183</a:t>
                      </a:r>
                    </a:p>
                  </a:txBody>
                  <a:tcPr marT="9144" marB="9144"/>
                </a:tc>
                <a:tc>
                  <a:txBody>
                    <a:bodyPr/>
                    <a:lstStyle/>
                    <a:p>
                      <a:r>
                        <a:rPr sz="900" b="0"/>
                        <a:t>0.286 @ 10% ($11%)</a:t>
                      </a:r>
                    </a:p>
                  </a:txBody>
                  <a:tcPr marT="9144" marB="9144"/>
                </a:tc>
                <a:tc>
                  <a:txBody>
                    <a:bodyPr/>
                    <a:lstStyle/>
                    <a:p>
                      <a:r>
                        <a:rPr sz="900" b="0"/>
                        <a:t>0.286 @ 10% ($11%)</a:t>
                      </a:r>
                    </a:p>
                  </a:txBody>
                  <a:tcPr marT="9144" marB="9144"/>
                </a:tc>
                <a:tc>
                  <a:txBody>
                    <a:bodyPr/>
                    <a:lstStyle/>
                    <a:p>
                      <a:r>
                        <a:rPr sz="900" b="0"/>
                        <a:t>0.241 @ 7% ($8%)</a:t>
                      </a:r>
                    </a:p>
                  </a:txBody>
                  <a:tcPr marT="9144" marB="9144"/>
                </a:tc>
                <a:tc>
                  <a:txBody>
                    <a:bodyPr/>
                    <a:lstStyle/>
                    <a:p>
                      <a:r>
                        <a:rPr sz="900" b="0"/>
                        <a:t>0.257 @ 9% ($16%)</a:t>
                      </a:r>
                    </a:p>
                  </a:txBody>
                  <a:tcPr marT="9144" marB="9144"/>
                </a:tc>
              </a:tr>
              <a:tr h="210312">
                <a:tc>
                  <a:txBody>
                    <a:bodyPr/>
                    <a:lstStyle/>
                    <a:p>
                      <a:r>
                        <a:rPr sz="900" b="0"/>
                        <a:t>Louisiana</a:t>
                      </a:r>
                    </a:p>
                  </a:txBody>
                  <a:tcPr marT="9144" marB="9144"/>
                </a:tc>
                <a:tc>
                  <a:txBody>
                    <a:bodyPr/>
                    <a:lstStyle/>
                    <a:p>
                      <a:r>
                        <a:rPr sz="900" b="0"/>
                        <a:t>203/2/47</a:t>
                      </a:r>
                    </a:p>
                  </a:txBody>
                  <a:tcPr marT="9144" marB="9144"/>
                </a:tc>
                <a:tc>
                  <a:txBody>
                    <a:bodyPr/>
                    <a:lstStyle/>
                    <a:p>
                      <a:r>
                        <a:rPr sz="900" b="0"/>
                        <a:t>0.279 @ 12% ($18%)</a:t>
                      </a:r>
                    </a:p>
                  </a:txBody>
                  <a:tcPr marT="9144" marB="9144"/>
                </a:tc>
                <a:tc>
                  <a:txBody>
                    <a:bodyPr/>
                    <a:lstStyle/>
                    <a:p>
                      <a:r>
                        <a:rPr sz="900" b="0"/>
                        <a:t>0.209 @ 9% ($9%)</a:t>
                      </a:r>
                    </a:p>
                  </a:txBody>
                  <a:tcPr marT="9144" marB="9144"/>
                </a:tc>
                <a:tc>
                  <a:txBody>
                    <a:bodyPr/>
                    <a:lstStyle/>
                    <a:p>
                      <a:r>
                        <a:rPr sz="900" b="0"/>
                        <a:t>0.357 @ 5% ($4%)</a:t>
                      </a:r>
                    </a:p>
                  </a:txBody>
                  <a:tcPr marT="9144" marB="9144"/>
                </a:tc>
                <a:tc>
                  <a:txBody>
                    <a:bodyPr/>
                    <a:lstStyle/>
                    <a:p>
                      <a:r>
                        <a:rPr sz="900" b="0"/>
                        <a:t>0.256 @ 11% ($14%)</a:t>
                      </a:r>
                    </a:p>
                  </a:txBody>
                  <a:tcPr marT="9144" marB="9144"/>
                </a:tc>
              </a:tr>
              <a:tr h="210312">
                <a:tc>
                  <a:txBody>
                    <a:bodyPr/>
                    <a:lstStyle/>
                    <a:p>
                      <a:r>
                        <a:rPr sz="900" b="0"/>
                        <a:t>Mississippi</a:t>
                      </a:r>
                    </a:p>
                  </a:txBody>
                  <a:tcPr marT="9144" marB="9144"/>
                </a:tc>
                <a:tc>
                  <a:txBody>
                    <a:bodyPr/>
                    <a:lstStyle/>
                    <a:p>
                      <a:r>
                        <a:rPr sz="900" b="0"/>
                        <a:t>2486/4/80</a:t>
                      </a:r>
                    </a:p>
                  </a:txBody>
                  <a:tcPr marT="9144" marB="9144"/>
                </a:tc>
                <a:tc>
                  <a:txBody>
                    <a:bodyPr/>
                    <a:lstStyle/>
                    <a:p>
                      <a:r>
                        <a:rPr sz="900" b="0"/>
                        <a:t>0.245 @ 10% ($9%)</a:t>
                      </a:r>
                    </a:p>
                  </a:txBody>
                  <a:tcPr marT="9144" marB="9144"/>
                </a:tc>
                <a:tc>
                  <a:txBody>
                    <a:bodyPr/>
                    <a:lstStyle/>
                    <a:p>
                      <a:r>
                        <a:rPr sz="900" b="0"/>
                        <a:t>0.377 @ 15% ($14%)</a:t>
                      </a:r>
                    </a:p>
                  </a:txBody>
                  <a:tcPr marT="9144" marB="9144"/>
                </a:tc>
                <a:tc>
                  <a:txBody>
                    <a:bodyPr/>
                    <a:lstStyle/>
                    <a:p>
                      <a:r>
                        <a:rPr sz="900" b="0"/>
                        <a:t>0.468 @ 17% ($15%)</a:t>
                      </a:r>
                    </a:p>
                  </a:txBody>
                  <a:tcPr marT="9144" marB="9144"/>
                </a:tc>
                <a:tc>
                  <a:txBody>
                    <a:bodyPr/>
                    <a:lstStyle/>
                    <a:p>
                      <a:r>
                        <a:rPr sz="900" b="0"/>
                        <a:t>0.415 @ 17% ($15%)</a:t>
                      </a:r>
                    </a:p>
                  </a:txBody>
                  <a:tcPr marT="9144" marB="9144"/>
                </a:tc>
              </a:tr>
              <a:tr h="210312">
                <a:tc>
                  <a:txBody>
                    <a:bodyPr/>
                    <a:lstStyle/>
                    <a:p>
                      <a:r>
                        <a:rPr sz="900" b="0"/>
                        <a:t>North Carolina</a:t>
                      </a:r>
                    </a:p>
                  </a:txBody>
                  <a:tcPr marT="9144" marB="9144"/>
                </a:tc>
                <a:tc>
                  <a:txBody>
                    <a:bodyPr/>
                    <a:lstStyle/>
                    <a:p>
                      <a:r>
                        <a:rPr sz="900" b="0"/>
                        <a:t>1153/5/293</a:t>
                      </a:r>
                    </a:p>
                  </a:txBody>
                  <a:tcPr marT="9144" marB="9144"/>
                </a:tc>
                <a:tc>
                  <a:txBody>
                    <a:bodyPr/>
                    <a:lstStyle/>
                    <a:p>
                      <a:r>
                        <a:rPr sz="900" b="0"/>
                        <a:t>0.244 @ 10% ($9%)</a:t>
                      </a:r>
                    </a:p>
                  </a:txBody>
                  <a:tcPr marT="9144" marB="9144"/>
                </a:tc>
                <a:tc>
                  <a:txBody>
                    <a:bodyPr/>
                    <a:lstStyle/>
                    <a:p>
                      <a:r>
                        <a:rPr sz="900" b="0"/>
                        <a:t>0.289 @ 11% ($8%)</a:t>
                      </a:r>
                    </a:p>
                  </a:txBody>
                  <a:tcPr marT="9144" marB="9144"/>
                </a:tc>
                <a:tc>
                  <a:txBody>
                    <a:bodyPr/>
                    <a:lstStyle/>
                    <a:p>
                      <a:r>
                        <a:rPr sz="900" b="0"/>
                        <a:t>0.000 @ 0% ($0%)</a:t>
                      </a:r>
                    </a:p>
                  </a:txBody>
                  <a:tcPr marT="9144" marB="9144"/>
                </a:tc>
                <a:tc>
                  <a:txBody>
                    <a:bodyPr/>
                    <a:lstStyle/>
                    <a:p>
                      <a:r>
                        <a:rPr sz="900" b="0"/>
                        <a:t>0.311 @ 12% ($13%)</a:t>
                      </a:r>
                    </a:p>
                  </a:txBody>
                  <a:tcPr marT="9144" marB="9144"/>
                </a:tc>
              </a:tr>
              <a:tr h="210312">
                <a:tc>
                  <a:txBody>
                    <a:bodyPr/>
                    <a:lstStyle/>
                    <a:p>
                      <a:r>
                        <a:rPr sz="900" b="0"/>
                        <a:t>Tennessee</a:t>
                      </a:r>
                    </a:p>
                  </a:txBody>
                  <a:tcPr marT="9144" marB="9144"/>
                </a:tc>
                <a:tc>
                  <a:txBody>
                    <a:bodyPr/>
                    <a:lstStyle/>
                    <a:p>
                      <a:r>
                        <a:rPr sz="900" b="0"/>
                        <a:t>2214/12/92</a:t>
                      </a:r>
                    </a:p>
                  </a:txBody>
                  <a:tcPr marT="9144" marB="9144"/>
                </a:tc>
                <a:tc>
                  <a:txBody>
                    <a:bodyPr/>
                    <a:lstStyle/>
                    <a:p>
                      <a:r>
                        <a:rPr sz="900" b="0"/>
                        <a:t>0.239 @ 12% ($11%)</a:t>
                      </a:r>
                    </a:p>
                  </a:txBody>
                  <a:tcPr marT="9144" marB="9144"/>
                </a:tc>
                <a:tc>
                  <a:txBody>
                    <a:bodyPr/>
                    <a:lstStyle/>
                    <a:p>
                      <a:r>
                        <a:rPr sz="900" b="0"/>
                        <a:t>0.196 @ 10% ($10%)</a:t>
                      </a:r>
                    </a:p>
                  </a:txBody>
                  <a:tcPr marT="9144" marB="9144"/>
                </a:tc>
                <a:tc>
                  <a:txBody>
                    <a:bodyPr/>
                    <a:lstStyle/>
                    <a:p>
                      <a:r>
                        <a:rPr sz="900" b="0"/>
                        <a:t>0.256 @ 11% ($13%)</a:t>
                      </a:r>
                    </a:p>
                  </a:txBody>
                  <a:tcPr marT="9144" marB="9144"/>
                </a:tc>
                <a:tc>
                  <a:txBody>
                    <a:bodyPr/>
                    <a:lstStyle/>
                    <a:p>
                      <a:r>
                        <a:rPr sz="900" b="0"/>
                        <a:t>0.130 @ 6% ($8%)</a:t>
                      </a:r>
                    </a:p>
                  </a:txBody>
                  <a:tcPr marT="9144" marB="9144"/>
                </a:tc>
              </a:tr>
              <a:tr h="210312">
                <a:tc>
                  <a:txBody>
                    <a:bodyPr/>
                    <a:lstStyle/>
                    <a:p>
                      <a:r>
                        <a:rPr sz="900" b="0"/>
                        <a:t>Texas</a:t>
                      </a:r>
                    </a:p>
                  </a:txBody>
                  <a:tcPr marT="9144" marB="9144"/>
                </a:tc>
                <a:tc>
                  <a:txBody>
                    <a:bodyPr/>
                    <a:lstStyle/>
                    <a:p>
                      <a:r>
                        <a:rPr sz="900" b="0"/>
                        <a:t>3590/12/106</a:t>
                      </a:r>
                    </a:p>
                  </a:txBody>
                  <a:tcPr marT="9144" marB="9144"/>
                </a:tc>
                <a:tc>
                  <a:txBody>
                    <a:bodyPr/>
                    <a:lstStyle/>
                    <a:p>
                      <a:r>
                        <a:rPr sz="900" b="0"/>
                        <a:t>0.214 @ 7% ($8%)</a:t>
                      </a:r>
                    </a:p>
                  </a:txBody>
                  <a:tcPr marT="9144" marB="9144"/>
                </a:tc>
                <a:tc>
                  <a:txBody>
                    <a:bodyPr/>
                    <a:lstStyle/>
                    <a:p>
                      <a:r>
                        <a:rPr sz="900" b="0"/>
                        <a:t>0.238 @ 8% ($9%)</a:t>
                      </a:r>
                    </a:p>
                  </a:txBody>
                  <a:tcPr marT="9144" marB="9144"/>
                </a:tc>
                <a:tc>
                  <a:txBody>
                    <a:bodyPr/>
                    <a:lstStyle/>
                    <a:p>
                      <a:r>
                        <a:rPr sz="900" b="0"/>
                        <a:t>0.171 @ 5% ($3%)</a:t>
                      </a:r>
                    </a:p>
                  </a:txBody>
                  <a:tcPr marT="9144" marB="9144"/>
                </a:tc>
                <a:tc>
                  <a:txBody>
                    <a:bodyPr/>
                    <a:lstStyle/>
                    <a:p>
                      <a:r>
                        <a:rPr sz="900" b="0"/>
                        <a:t>0.214 @ 7% ($6%)</a:t>
                      </a:r>
                    </a:p>
                  </a:txBody>
                  <a:tcPr marT="9144" marB="9144"/>
                </a:tc>
              </a:tr>
              <a:tr h="210312">
                <a:tc>
                  <a:txBody>
                    <a:bodyPr/>
                    <a:lstStyle/>
                    <a:p>
                      <a:r>
                        <a:rPr sz="900" b="0"/>
                        <a:t>New Jersey</a:t>
                      </a:r>
                    </a:p>
                  </a:txBody>
                  <a:tcPr marT="9144" marB="9144"/>
                </a:tc>
                <a:tc>
                  <a:txBody>
                    <a:bodyPr/>
                    <a:lstStyle/>
                    <a:p>
                      <a:r>
                        <a:rPr sz="900" b="0"/>
                        <a:t>221/1/24</a:t>
                      </a:r>
                    </a:p>
                  </a:txBody>
                  <a:tcPr marT="9144" marB="9144"/>
                </a:tc>
                <a:tc>
                  <a:txBody>
                    <a:bodyPr/>
                    <a:lstStyle/>
                    <a:p>
                      <a:r>
                        <a:rPr sz="900" b="0"/>
                        <a:t>0.097 @ 5% ($7%)</a:t>
                      </a:r>
                    </a:p>
                  </a:txBody>
                  <a:tcPr marT="9144" marB="9144"/>
                </a:tc>
                <a:tc>
                  <a:txBody>
                    <a:bodyPr/>
                    <a:lstStyle/>
                    <a:p>
                      <a:r>
                        <a:rPr sz="900" b="0"/>
                        <a:t>0.241 @ 12% ($14%)</a:t>
                      </a:r>
                    </a:p>
                  </a:txBody>
                  <a:tcPr marT="9144" marB="9144"/>
                </a:tc>
                <a:tc>
                  <a:txBody>
                    <a:bodyPr/>
                    <a:lstStyle/>
                    <a:p>
                      <a:r>
                        <a:rPr sz="900" b="0"/>
                        <a:t>0.273 @ 10% ($18%)</a:t>
                      </a:r>
                    </a:p>
                  </a:txBody>
                  <a:tcPr marT="9144" marB="9144"/>
                </a:tc>
                <a:tc>
                  <a:txBody>
                    <a:bodyPr/>
                    <a:lstStyle/>
                    <a:p>
                      <a:r>
                        <a:rPr sz="900" b="0"/>
                        <a:t>0.194 @ 10% ($10%)</a:t>
                      </a:r>
                    </a:p>
                  </a:txBody>
                  <a:tcPr marT="9144" marB="9144"/>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State by state, 10% review budget: national as-is vs adapted</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precision @ recall (share of error dollars) on the state's 2024 cases, trained on 2022-23 only. 'Rules qualified' counts RULES from the national pool clearing the state's bar (rules overlap heavily, so counts can exceed the state's caseload; a high base rate makes the 0.20 bar easy to clear). Tuning arms search the top 500 national rules by confidence; the national and filtered arms draw from the full ~45k-rule pool.</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365760" y="2240280"/>
          <a:ext cx="8412480" cy="3995928"/>
        </p:xfrm>
        <a:graphic>
          <a:graphicData uri="http://schemas.openxmlformats.org/drawingml/2006/table">
            <a:tbl>
              <a:tblPr firstRow="1" bandRow="1">
                <a:tableStyleId>{5C22544A-7EE6-4342-B048-85BDC9FD1C3A}</a:tableStyleId>
              </a:tblPr>
              <a:tblGrid>
                <a:gridCol w="1402080"/>
                <a:gridCol w="1402080"/>
                <a:gridCol w="1402080"/>
                <a:gridCol w="1402080"/>
                <a:gridCol w="1402080"/>
                <a:gridCol w="1402080"/>
              </a:tblGrid>
              <a:tr h="210312">
                <a:tc>
                  <a:txBody>
                    <a:bodyPr/>
                    <a:lstStyle/>
                    <a:p>
                      <a:r>
                        <a:rPr sz="900" b="1"/>
                        <a:t>state</a:t>
                      </a:r>
                    </a:p>
                  </a:txBody>
                  <a:tcPr marT="9144" marB="9144"/>
                </a:tc>
                <a:tc>
                  <a:txBody>
                    <a:bodyPr/>
                    <a:lstStyle/>
                    <a:p>
                      <a:r>
                        <a:rPr sz="900" b="1"/>
                        <a:t>rules qualified (f/t/h)</a:t>
                      </a:r>
                    </a:p>
                  </a:txBody>
                  <a:tcPr marT="9144" marB="9144"/>
                </a:tc>
                <a:tc>
                  <a:txBody>
                    <a:bodyPr/>
                    <a:lstStyle/>
                    <a:p>
                      <a:r>
                        <a:rPr sz="900" b="1"/>
                        <a:t>national as-is</a:t>
                      </a:r>
                    </a:p>
                  </a:txBody>
                  <a:tcPr marT="9144" marB="9144"/>
                </a:tc>
                <a:tc>
                  <a:txBody>
                    <a:bodyPr/>
                    <a:lstStyle/>
                    <a:p>
                      <a:r>
                        <a:rPr sz="900" b="1"/>
                        <a:t>filtered</a:t>
                      </a:r>
                    </a:p>
                  </a:txBody>
                  <a:tcPr marT="9144" marB="9144"/>
                </a:tc>
                <a:tc>
                  <a:txBody>
                    <a:bodyPr/>
                    <a:lstStyle/>
                    <a:p>
                      <a:r>
                        <a:rPr sz="900" b="1"/>
                        <a:t>tuned</a:t>
                      </a:r>
                    </a:p>
                  </a:txBody>
                  <a:tcPr marT="9144" marB="9144"/>
                </a:tc>
                <a:tc>
                  <a:txBody>
                    <a:bodyPr/>
                    <a:lstStyle/>
                    <a:p>
                      <a:r>
                        <a:rPr sz="900" b="1"/>
                        <a:t>hybrid</a:t>
                      </a:r>
                    </a:p>
                  </a:txBody>
                  <a:tcPr marT="9144" marB="9144"/>
                </a:tc>
              </a:tr>
              <a:tr h="210312">
                <a:tc>
                  <a:txBody>
                    <a:bodyPr/>
                    <a:lstStyle/>
                    <a:p>
                      <a:r>
                        <a:rPr sz="900" b="0"/>
                        <a:t>District of Columbia</a:t>
                      </a:r>
                    </a:p>
                  </a:txBody>
                  <a:tcPr marT="9144" marB="9144"/>
                </a:tc>
                <a:tc>
                  <a:txBody>
                    <a:bodyPr/>
                    <a:lstStyle/>
                    <a:p>
                      <a:r>
                        <a:rPr sz="900" b="0"/>
                        <a:t>8111/125/271</a:t>
                      </a:r>
                    </a:p>
                  </a:txBody>
                  <a:tcPr marT="9144" marB="9144"/>
                </a:tc>
                <a:tc>
                  <a:txBody>
                    <a:bodyPr/>
                    <a:lstStyle/>
                    <a:p>
                      <a:r>
                        <a:rPr sz="900" b="0"/>
                        <a:t>0.433 @ 20% ($23%)</a:t>
                      </a:r>
                    </a:p>
                  </a:txBody>
                  <a:tcPr marT="9144" marB="9144"/>
                </a:tc>
                <a:tc>
                  <a:txBody>
                    <a:bodyPr/>
                    <a:lstStyle/>
                    <a:p>
                      <a:r>
                        <a:rPr sz="900" b="0"/>
                        <a:t>0.546 @ 25% ($23%)</a:t>
                      </a:r>
                    </a:p>
                  </a:txBody>
                  <a:tcPr marT="9144" marB="9144"/>
                </a:tc>
                <a:tc>
                  <a:txBody>
                    <a:bodyPr/>
                    <a:lstStyle/>
                    <a:p>
                      <a:r>
                        <a:rPr sz="900" b="0"/>
                        <a:t>0.210 @ 9% ($9%)</a:t>
                      </a:r>
                    </a:p>
                  </a:txBody>
                  <a:tcPr marT="9144" marB="9144"/>
                </a:tc>
                <a:tc>
                  <a:txBody>
                    <a:bodyPr/>
                    <a:lstStyle/>
                    <a:p>
                      <a:r>
                        <a:rPr sz="900" b="0"/>
                        <a:t>0.412 @ 19% ($21%)</a:t>
                      </a:r>
                    </a:p>
                  </a:txBody>
                  <a:tcPr marT="9144" marB="9144"/>
                </a:tc>
              </a:tr>
              <a:tr h="210312">
                <a:tc>
                  <a:txBody>
                    <a:bodyPr/>
                    <a:lstStyle/>
                    <a:p>
                      <a:r>
                        <a:rPr sz="900" b="0"/>
                        <a:t>Massachusetts</a:t>
                      </a:r>
                    </a:p>
                  </a:txBody>
                  <a:tcPr marT="9144" marB="9144"/>
                </a:tc>
                <a:tc>
                  <a:txBody>
                    <a:bodyPr/>
                    <a:lstStyle/>
                    <a:p>
                      <a:r>
                        <a:rPr sz="900" b="0"/>
                        <a:t>475/18/265</a:t>
                      </a:r>
                    </a:p>
                  </a:txBody>
                  <a:tcPr marT="9144" marB="9144"/>
                </a:tc>
                <a:tc>
                  <a:txBody>
                    <a:bodyPr/>
                    <a:lstStyle/>
                    <a:p>
                      <a:r>
                        <a:rPr sz="900" b="0"/>
                        <a:t>0.391 @ 29% ($28%)</a:t>
                      </a:r>
                    </a:p>
                  </a:txBody>
                  <a:tcPr marT="9144" marB="9144"/>
                </a:tc>
                <a:tc>
                  <a:txBody>
                    <a:bodyPr/>
                    <a:lstStyle/>
                    <a:p>
                      <a:r>
                        <a:rPr sz="900" b="0"/>
                        <a:t>0.287 @ 21% ($17%)</a:t>
                      </a:r>
                    </a:p>
                  </a:txBody>
                  <a:tcPr marT="9144" marB="9144"/>
                </a:tc>
                <a:tc>
                  <a:txBody>
                    <a:bodyPr/>
                    <a:lstStyle/>
                    <a:p>
                      <a:r>
                        <a:rPr sz="900" b="0"/>
                        <a:t>0.268 @ 18% ($17%)</a:t>
                      </a:r>
                    </a:p>
                  </a:txBody>
                  <a:tcPr marT="9144" marB="9144"/>
                </a:tc>
                <a:tc>
                  <a:txBody>
                    <a:bodyPr/>
                    <a:lstStyle/>
                    <a:p>
                      <a:r>
                        <a:rPr sz="900" b="0"/>
                        <a:t>0.356 @ 26% ($26%)</a:t>
                      </a:r>
                    </a:p>
                  </a:txBody>
                  <a:tcPr marT="9144" marB="9144"/>
                </a:tc>
              </a:tr>
              <a:tr h="210312">
                <a:tc>
                  <a:txBody>
                    <a:bodyPr/>
                    <a:lstStyle/>
                    <a:p>
                      <a:r>
                        <a:rPr sz="900" b="0"/>
                        <a:t>Connecticut</a:t>
                      </a:r>
                    </a:p>
                  </a:txBody>
                  <a:tcPr marT="9144" marB="9144"/>
                </a:tc>
                <a:tc>
                  <a:txBody>
                    <a:bodyPr/>
                    <a:lstStyle/>
                    <a:p>
                      <a:r>
                        <a:rPr sz="900" b="0"/>
                        <a:t>3721/13/92</a:t>
                      </a:r>
                    </a:p>
                  </a:txBody>
                  <a:tcPr marT="9144" marB="9144"/>
                </a:tc>
                <a:tc>
                  <a:txBody>
                    <a:bodyPr/>
                    <a:lstStyle/>
                    <a:p>
                      <a:r>
                        <a:rPr sz="900" b="0"/>
                        <a:t>0.371 @ 25% ($31%)</a:t>
                      </a:r>
                    </a:p>
                  </a:txBody>
                  <a:tcPr marT="9144" marB="9144"/>
                </a:tc>
                <a:tc>
                  <a:txBody>
                    <a:bodyPr/>
                    <a:lstStyle/>
                    <a:p>
                      <a:r>
                        <a:rPr sz="900" b="0"/>
                        <a:t>0.416 @ 28% ($29%)</a:t>
                      </a:r>
                    </a:p>
                  </a:txBody>
                  <a:tcPr marT="9144" marB="9144"/>
                </a:tc>
                <a:tc>
                  <a:txBody>
                    <a:bodyPr/>
                    <a:lstStyle/>
                    <a:p>
                      <a:r>
                        <a:rPr sz="900" b="0"/>
                        <a:t>0.306 @ 20% ($24%)</a:t>
                      </a:r>
                    </a:p>
                  </a:txBody>
                  <a:tcPr marT="9144" marB="9144"/>
                </a:tc>
                <a:tc>
                  <a:txBody>
                    <a:bodyPr/>
                    <a:lstStyle/>
                    <a:p>
                      <a:r>
                        <a:rPr sz="900" b="0"/>
                        <a:t>0.348 @ 24% ($29%)</a:t>
                      </a:r>
                    </a:p>
                  </a:txBody>
                  <a:tcPr marT="9144" marB="9144"/>
                </a:tc>
              </a:tr>
              <a:tr h="210312">
                <a:tc>
                  <a:txBody>
                    <a:bodyPr/>
                    <a:lstStyle/>
                    <a:p>
                      <a:r>
                        <a:rPr sz="900" b="0"/>
                        <a:t>Colorado</a:t>
                      </a:r>
                    </a:p>
                  </a:txBody>
                  <a:tcPr marT="9144" marB="9144"/>
                </a:tc>
                <a:tc>
                  <a:txBody>
                    <a:bodyPr/>
                    <a:lstStyle/>
                    <a:p>
                      <a:r>
                        <a:rPr sz="900" b="0"/>
                        <a:t>1061/8/49</a:t>
                      </a:r>
                    </a:p>
                  </a:txBody>
                  <a:tcPr marT="9144" marB="9144"/>
                </a:tc>
                <a:tc>
                  <a:txBody>
                    <a:bodyPr/>
                    <a:lstStyle/>
                    <a:p>
                      <a:r>
                        <a:rPr sz="900" b="0"/>
                        <a:t>0.362 @ 30% ($27%)</a:t>
                      </a:r>
                    </a:p>
                  </a:txBody>
                  <a:tcPr marT="9144" marB="9144"/>
                </a:tc>
                <a:tc>
                  <a:txBody>
                    <a:bodyPr/>
                    <a:lstStyle/>
                    <a:p>
                      <a:r>
                        <a:rPr sz="900" b="0"/>
                        <a:t>0.263 @ 22% ($25%)</a:t>
                      </a:r>
                    </a:p>
                  </a:txBody>
                  <a:tcPr marT="9144" marB="9144"/>
                </a:tc>
                <a:tc>
                  <a:txBody>
                    <a:bodyPr/>
                    <a:lstStyle/>
                    <a:p>
                      <a:r>
                        <a:rPr sz="900" b="0"/>
                        <a:t>0.288 @ 22% ($24%)</a:t>
                      </a:r>
                    </a:p>
                  </a:txBody>
                  <a:tcPr marT="9144" marB="9144"/>
                </a:tc>
                <a:tc>
                  <a:txBody>
                    <a:bodyPr/>
                    <a:lstStyle/>
                    <a:p>
                      <a:r>
                        <a:rPr sz="900" b="0"/>
                        <a:t>0.367 @ 30% ($32%)</a:t>
                      </a:r>
                    </a:p>
                  </a:txBody>
                  <a:tcPr marT="9144" marB="9144"/>
                </a:tc>
              </a:tr>
              <a:tr h="210312">
                <a:tc>
                  <a:txBody>
                    <a:bodyPr/>
                    <a:lstStyle/>
                    <a:p>
                      <a:r>
                        <a:rPr sz="900" b="0"/>
                        <a:t>Virginia</a:t>
                      </a:r>
                    </a:p>
                  </a:txBody>
                  <a:tcPr marT="9144" marB="9144"/>
                </a:tc>
                <a:tc>
                  <a:txBody>
                    <a:bodyPr/>
                    <a:lstStyle/>
                    <a:p>
                      <a:r>
                        <a:rPr sz="900" b="0"/>
                        <a:t>4156/17/75</a:t>
                      </a:r>
                    </a:p>
                  </a:txBody>
                  <a:tcPr marT="9144" marB="9144"/>
                </a:tc>
                <a:tc>
                  <a:txBody>
                    <a:bodyPr/>
                    <a:lstStyle/>
                    <a:p>
                      <a:r>
                        <a:rPr sz="900" b="0"/>
                        <a:t>0.329 @ 19% ($20%)</a:t>
                      </a:r>
                    </a:p>
                  </a:txBody>
                  <a:tcPr marT="9144" marB="9144"/>
                </a:tc>
                <a:tc>
                  <a:txBody>
                    <a:bodyPr/>
                    <a:lstStyle/>
                    <a:p>
                      <a:r>
                        <a:rPr sz="900" b="0"/>
                        <a:t>0.300 @ 18% ($22%)</a:t>
                      </a:r>
                    </a:p>
                  </a:txBody>
                  <a:tcPr marT="9144" marB="9144"/>
                </a:tc>
                <a:tc>
                  <a:txBody>
                    <a:bodyPr/>
                    <a:lstStyle/>
                    <a:p>
                      <a:r>
                        <a:rPr sz="900" b="0"/>
                        <a:t>0.243 @ 14% ($11%)</a:t>
                      </a:r>
                    </a:p>
                  </a:txBody>
                  <a:tcPr marT="9144" marB="9144"/>
                </a:tc>
                <a:tc>
                  <a:txBody>
                    <a:bodyPr/>
                    <a:lstStyle/>
                    <a:p>
                      <a:r>
                        <a:rPr sz="900" b="0"/>
                        <a:t>0.286 @ 17% ($21%)</a:t>
                      </a:r>
                    </a:p>
                  </a:txBody>
                  <a:tcPr marT="9144" marB="9144"/>
                </a:tc>
              </a:tr>
              <a:tr h="210312">
                <a:tc>
                  <a:txBody>
                    <a:bodyPr/>
                    <a:lstStyle/>
                    <a:p>
                      <a:r>
                        <a:rPr sz="900" b="0"/>
                        <a:t>Mississippi</a:t>
                      </a:r>
                    </a:p>
                  </a:txBody>
                  <a:tcPr marT="9144" marB="9144"/>
                </a:tc>
                <a:tc>
                  <a:txBody>
                    <a:bodyPr/>
                    <a:lstStyle/>
                    <a:p>
                      <a:r>
                        <a:rPr sz="900" b="0"/>
                        <a:t>2486/4/80</a:t>
                      </a:r>
                    </a:p>
                  </a:txBody>
                  <a:tcPr marT="9144" marB="9144"/>
                </a:tc>
                <a:tc>
                  <a:txBody>
                    <a:bodyPr/>
                    <a:lstStyle/>
                    <a:p>
                      <a:r>
                        <a:rPr sz="900" b="0"/>
                        <a:t>0.308 @ 25% ($25%)</a:t>
                      </a:r>
                    </a:p>
                  </a:txBody>
                  <a:tcPr marT="9144" marB="9144"/>
                </a:tc>
                <a:tc>
                  <a:txBody>
                    <a:bodyPr/>
                    <a:lstStyle/>
                    <a:p>
                      <a:r>
                        <a:rPr sz="900" b="0"/>
                        <a:t>0.346 @ 28% ($25%)</a:t>
                      </a:r>
                    </a:p>
                  </a:txBody>
                  <a:tcPr marT="9144" marB="9144"/>
                </a:tc>
                <a:tc>
                  <a:txBody>
                    <a:bodyPr/>
                    <a:lstStyle/>
                    <a:p>
                      <a:r>
                        <a:rPr sz="900" b="0"/>
                        <a:t>0.468 @ 17% ($15%)</a:t>
                      </a:r>
                    </a:p>
                  </a:txBody>
                  <a:tcPr marT="9144" marB="9144"/>
                </a:tc>
                <a:tc>
                  <a:txBody>
                    <a:bodyPr/>
                    <a:lstStyle/>
                    <a:p>
                      <a:r>
                        <a:rPr sz="900" b="0"/>
                        <a:t>0.407 @ 28% ($27%)</a:t>
                      </a:r>
                    </a:p>
                  </a:txBody>
                  <a:tcPr marT="9144" marB="9144"/>
                </a:tc>
              </a:tr>
              <a:tr h="210312">
                <a:tc>
                  <a:txBody>
                    <a:bodyPr/>
                    <a:lstStyle/>
                    <a:p>
                      <a:r>
                        <a:rPr sz="900" b="0"/>
                        <a:t>Maryland</a:t>
                      </a:r>
                    </a:p>
                  </a:txBody>
                  <a:tcPr marT="9144" marB="9144"/>
                </a:tc>
                <a:tc>
                  <a:txBody>
                    <a:bodyPr/>
                    <a:lstStyle/>
                    <a:p>
                      <a:r>
                        <a:rPr sz="900" b="0"/>
                        <a:t>6405/7/183</a:t>
                      </a:r>
                    </a:p>
                  </a:txBody>
                  <a:tcPr marT="9144" marB="9144"/>
                </a:tc>
                <a:tc>
                  <a:txBody>
                    <a:bodyPr/>
                    <a:lstStyle/>
                    <a:p>
                      <a:r>
                        <a:rPr sz="900" b="0"/>
                        <a:t>0.300 @ 21% ($21%)</a:t>
                      </a:r>
                    </a:p>
                  </a:txBody>
                  <a:tcPr marT="9144" marB="9144"/>
                </a:tc>
                <a:tc>
                  <a:txBody>
                    <a:bodyPr/>
                    <a:lstStyle/>
                    <a:p>
                      <a:r>
                        <a:rPr sz="900" b="0"/>
                        <a:t>0.271 @ 19% ($19%)</a:t>
                      </a:r>
                    </a:p>
                  </a:txBody>
                  <a:tcPr marT="9144" marB="9144"/>
                </a:tc>
                <a:tc>
                  <a:txBody>
                    <a:bodyPr/>
                    <a:lstStyle/>
                    <a:p>
                      <a:r>
                        <a:rPr sz="900" b="0"/>
                        <a:t>0.241 @ 7% ($8%)</a:t>
                      </a:r>
                    </a:p>
                  </a:txBody>
                  <a:tcPr marT="9144" marB="9144"/>
                </a:tc>
                <a:tc>
                  <a:txBody>
                    <a:bodyPr/>
                    <a:lstStyle/>
                    <a:p>
                      <a:r>
                        <a:rPr sz="900" b="0"/>
                        <a:t>0.171 @ 12% ($19%)</a:t>
                      </a:r>
                    </a:p>
                  </a:txBody>
                  <a:tcPr marT="9144" marB="9144"/>
                </a:tc>
              </a:tr>
              <a:tr h="210312">
                <a:tc>
                  <a:txBody>
                    <a:bodyPr/>
                    <a:lstStyle/>
                    <a:p>
                      <a:r>
                        <a:rPr sz="900" b="0"/>
                        <a:t>Washington</a:t>
                      </a:r>
                    </a:p>
                  </a:txBody>
                  <a:tcPr marT="9144" marB="9144"/>
                </a:tc>
                <a:tc>
                  <a:txBody>
                    <a:bodyPr/>
                    <a:lstStyle/>
                    <a:p>
                      <a:r>
                        <a:rPr sz="900" b="0"/>
                        <a:t>200/1/58</a:t>
                      </a:r>
                    </a:p>
                  </a:txBody>
                  <a:tcPr marT="9144" marB="9144"/>
                </a:tc>
                <a:tc>
                  <a:txBody>
                    <a:bodyPr/>
                    <a:lstStyle/>
                    <a:p>
                      <a:r>
                        <a:rPr sz="900" b="0"/>
                        <a:t>0.284 @ 33% ($35%)</a:t>
                      </a:r>
                    </a:p>
                  </a:txBody>
                  <a:tcPr marT="9144" marB="9144"/>
                </a:tc>
                <a:tc>
                  <a:txBody>
                    <a:bodyPr/>
                    <a:lstStyle/>
                    <a:p>
                      <a:r>
                        <a:rPr sz="900" b="0"/>
                        <a:t>0.148 @ 17% ($13%)</a:t>
                      </a:r>
                    </a:p>
                  </a:txBody>
                  <a:tcPr marT="9144" marB="9144"/>
                </a:tc>
                <a:tc>
                  <a:txBody>
                    <a:bodyPr/>
                    <a:lstStyle/>
                    <a:p>
                      <a:r>
                        <a:rPr sz="900" b="0"/>
                        <a:t>0.118 @ 3% ($5%)</a:t>
                      </a:r>
                    </a:p>
                  </a:txBody>
                  <a:tcPr marT="9144" marB="9144"/>
                </a:tc>
                <a:tc>
                  <a:txBody>
                    <a:bodyPr/>
                    <a:lstStyle/>
                    <a:p>
                      <a:r>
                        <a:rPr sz="900" b="0"/>
                        <a:t>0.198 @ 23% ($27%)</a:t>
                      </a:r>
                    </a:p>
                  </a:txBody>
                  <a:tcPr marT="9144" marB="9144"/>
                </a:tc>
              </a:tr>
              <a:tr h="210312">
                <a:tc>
                  <a:txBody>
                    <a:bodyPr/>
                    <a:lstStyle/>
                    <a:p>
                      <a:r>
                        <a:rPr sz="900" b="0"/>
                        <a:t>Michigan</a:t>
                      </a:r>
                    </a:p>
                  </a:txBody>
                  <a:tcPr marT="9144" marB="9144"/>
                </a:tc>
                <a:tc>
                  <a:txBody>
                    <a:bodyPr/>
                    <a:lstStyle/>
                    <a:p>
                      <a:r>
                        <a:rPr sz="900" b="0"/>
                        <a:t>4699/8/99</a:t>
                      </a:r>
                    </a:p>
                  </a:txBody>
                  <a:tcPr marT="9144" marB="9144"/>
                </a:tc>
                <a:tc>
                  <a:txBody>
                    <a:bodyPr/>
                    <a:lstStyle/>
                    <a:p>
                      <a:r>
                        <a:rPr sz="900" b="0"/>
                        <a:t>0.279 @ 21% ($22%)</a:t>
                      </a:r>
                    </a:p>
                  </a:txBody>
                  <a:tcPr marT="9144" marB="9144"/>
                </a:tc>
                <a:tc>
                  <a:txBody>
                    <a:bodyPr/>
                    <a:lstStyle/>
                    <a:p>
                      <a:r>
                        <a:rPr sz="900" b="0"/>
                        <a:t>0.233 @ 18% ($28%)</a:t>
                      </a:r>
                    </a:p>
                  </a:txBody>
                  <a:tcPr marT="9144" marB="9144"/>
                </a:tc>
                <a:tc>
                  <a:txBody>
                    <a:bodyPr/>
                    <a:lstStyle/>
                    <a:p>
                      <a:r>
                        <a:rPr sz="900" b="0"/>
                        <a:t>0.200 @ 14% ($15%)</a:t>
                      </a:r>
                    </a:p>
                  </a:txBody>
                  <a:tcPr marT="9144" marB="9144"/>
                </a:tc>
                <a:tc>
                  <a:txBody>
                    <a:bodyPr/>
                    <a:lstStyle/>
                    <a:p>
                      <a:r>
                        <a:rPr sz="900" b="0"/>
                        <a:t>0.221 @ 17% ($18%)</a:t>
                      </a:r>
                    </a:p>
                  </a:txBody>
                  <a:tcPr marT="9144" marB="9144"/>
                </a:tc>
              </a:tr>
              <a:tr h="210312">
                <a:tc>
                  <a:txBody>
                    <a:bodyPr/>
                    <a:lstStyle/>
                    <a:p>
                      <a:r>
                        <a:rPr sz="900" b="0"/>
                        <a:t>Maine</a:t>
                      </a:r>
                    </a:p>
                  </a:txBody>
                  <a:tcPr marT="9144" marB="9144"/>
                </a:tc>
                <a:tc>
                  <a:txBody>
                    <a:bodyPr/>
                    <a:lstStyle/>
                    <a:p>
                      <a:r>
                        <a:rPr sz="900" b="0"/>
                        <a:t>4453/25/99</a:t>
                      </a:r>
                    </a:p>
                  </a:txBody>
                  <a:tcPr marT="9144" marB="9144"/>
                </a:tc>
                <a:tc>
                  <a:txBody>
                    <a:bodyPr/>
                    <a:lstStyle/>
                    <a:p>
                      <a:r>
                        <a:rPr sz="900" b="0"/>
                        <a:t>0.272 @ 22% ($32%)</a:t>
                      </a:r>
                    </a:p>
                  </a:txBody>
                  <a:tcPr marT="9144" marB="9144"/>
                </a:tc>
                <a:tc>
                  <a:txBody>
                    <a:bodyPr/>
                    <a:lstStyle/>
                    <a:p>
                      <a:r>
                        <a:rPr sz="900" b="0"/>
                        <a:t>0.239 @ 19% ($28%)</a:t>
                      </a:r>
                    </a:p>
                  </a:txBody>
                  <a:tcPr marT="9144" marB="9144"/>
                </a:tc>
                <a:tc>
                  <a:txBody>
                    <a:bodyPr/>
                    <a:lstStyle/>
                    <a:p>
                      <a:r>
                        <a:rPr sz="900" b="0"/>
                        <a:t>0.274 @ 20% ($29%)</a:t>
                      </a:r>
                    </a:p>
                  </a:txBody>
                  <a:tcPr marT="9144" marB="9144"/>
                </a:tc>
                <a:tc>
                  <a:txBody>
                    <a:bodyPr/>
                    <a:lstStyle/>
                    <a:p>
                      <a:r>
                        <a:rPr sz="900" b="0"/>
                        <a:t>0.272 @ 22% ($31%)</a:t>
                      </a:r>
                    </a:p>
                  </a:txBody>
                  <a:tcPr marT="9144" marB="9144"/>
                </a:tc>
              </a:tr>
              <a:tr h="210312">
                <a:tc>
                  <a:txBody>
                    <a:bodyPr/>
                    <a:lstStyle/>
                    <a:p>
                      <a:r>
                        <a:rPr sz="900" b="0"/>
                        <a:t>Arizona</a:t>
                      </a:r>
                    </a:p>
                  </a:txBody>
                  <a:tcPr marT="9144" marB="9144"/>
                </a:tc>
                <a:tc>
                  <a:txBody>
                    <a:bodyPr/>
                    <a:lstStyle/>
                    <a:p>
                      <a:r>
                        <a:rPr sz="900" b="0"/>
                        <a:t>5333/102/391</a:t>
                      </a:r>
                    </a:p>
                  </a:txBody>
                  <a:tcPr marT="9144" marB="9144"/>
                </a:tc>
                <a:tc>
                  <a:txBody>
                    <a:bodyPr/>
                    <a:lstStyle/>
                    <a:p>
                      <a:r>
                        <a:rPr sz="900" b="0"/>
                        <a:t>0.267 @ 24% ($29%)</a:t>
                      </a:r>
                    </a:p>
                  </a:txBody>
                  <a:tcPr marT="9144" marB="9144"/>
                </a:tc>
                <a:tc>
                  <a:txBody>
                    <a:bodyPr/>
                    <a:lstStyle/>
                    <a:p>
                      <a:r>
                        <a:rPr sz="900" b="0"/>
                        <a:t>0.302 @ 27% ($33%)</a:t>
                      </a:r>
                    </a:p>
                  </a:txBody>
                  <a:tcPr marT="9144" marB="9144"/>
                </a:tc>
                <a:tc>
                  <a:txBody>
                    <a:bodyPr/>
                    <a:lstStyle/>
                    <a:p>
                      <a:r>
                        <a:rPr sz="900" b="0"/>
                        <a:t>0.209 @ 19% ($24%)</a:t>
                      </a:r>
                    </a:p>
                  </a:txBody>
                  <a:tcPr marT="9144" marB="9144"/>
                </a:tc>
                <a:tc>
                  <a:txBody>
                    <a:bodyPr/>
                    <a:lstStyle/>
                    <a:p>
                      <a:r>
                        <a:rPr sz="900" b="0"/>
                        <a:t>0.279 @ 25% ($34%)</a:t>
                      </a:r>
                    </a:p>
                  </a:txBody>
                  <a:tcPr marT="9144" marB="9144"/>
                </a:tc>
              </a:tr>
              <a:tr h="210312">
                <a:tc>
                  <a:txBody>
                    <a:bodyPr/>
                    <a:lstStyle/>
                    <a:p>
                      <a:r>
                        <a:rPr sz="900" b="0"/>
                        <a:t>Missouri</a:t>
                      </a:r>
                    </a:p>
                  </a:txBody>
                  <a:tcPr marT="9144" marB="9144"/>
                </a:tc>
                <a:tc>
                  <a:txBody>
                    <a:bodyPr/>
                    <a:lstStyle/>
                    <a:p>
                      <a:r>
                        <a:rPr sz="900" b="0"/>
                        <a:t>1498/3/113</a:t>
                      </a:r>
                    </a:p>
                  </a:txBody>
                  <a:tcPr marT="9144" marB="9144"/>
                </a:tc>
                <a:tc>
                  <a:txBody>
                    <a:bodyPr/>
                    <a:lstStyle/>
                    <a:p>
                      <a:r>
                        <a:rPr sz="900" b="0"/>
                        <a:t>0.267 @ 29% ($29%)</a:t>
                      </a:r>
                    </a:p>
                  </a:txBody>
                  <a:tcPr marT="9144" marB="9144"/>
                </a:tc>
                <a:tc>
                  <a:txBody>
                    <a:bodyPr/>
                    <a:lstStyle/>
                    <a:p>
                      <a:r>
                        <a:rPr sz="900" b="0"/>
                        <a:t>0.187 @ 21% ($27%)</a:t>
                      </a:r>
                    </a:p>
                  </a:txBody>
                  <a:tcPr marT="9144" marB="9144"/>
                </a:tc>
                <a:tc>
                  <a:txBody>
                    <a:bodyPr/>
                    <a:lstStyle/>
                    <a:p>
                      <a:r>
                        <a:rPr sz="900" b="0"/>
                        <a:t>0.200 @ 4% ($6%)</a:t>
                      </a:r>
                    </a:p>
                  </a:txBody>
                  <a:tcPr marT="9144" marB="9144"/>
                </a:tc>
                <a:tc>
                  <a:txBody>
                    <a:bodyPr/>
                    <a:lstStyle/>
                    <a:p>
                      <a:r>
                        <a:rPr sz="900" b="0"/>
                        <a:t>0.211 @ 22% ($26%)</a:t>
                      </a:r>
                    </a:p>
                  </a:txBody>
                  <a:tcPr marT="9144" marB="9144"/>
                </a:tc>
              </a:tr>
              <a:tr h="210312">
                <a:tc>
                  <a:txBody>
                    <a:bodyPr/>
                    <a:lstStyle/>
                    <a:p>
                      <a:r>
                        <a:rPr sz="900" b="0"/>
                        <a:t>North Carolina</a:t>
                      </a:r>
                    </a:p>
                  </a:txBody>
                  <a:tcPr marT="9144" marB="9144"/>
                </a:tc>
                <a:tc>
                  <a:txBody>
                    <a:bodyPr/>
                    <a:lstStyle/>
                    <a:p>
                      <a:r>
                        <a:rPr sz="900" b="0"/>
                        <a:t>1153/5/293</a:t>
                      </a:r>
                    </a:p>
                  </a:txBody>
                  <a:tcPr marT="9144" marB="9144"/>
                </a:tc>
                <a:tc>
                  <a:txBody>
                    <a:bodyPr/>
                    <a:lstStyle/>
                    <a:p>
                      <a:r>
                        <a:rPr sz="900" b="0"/>
                        <a:t>0.244 @ 19% ($17%)</a:t>
                      </a:r>
                    </a:p>
                  </a:txBody>
                  <a:tcPr marT="9144" marB="9144"/>
                </a:tc>
                <a:tc>
                  <a:txBody>
                    <a:bodyPr/>
                    <a:lstStyle/>
                    <a:p>
                      <a:r>
                        <a:rPr sz="900" b="0"/>
                        <a:t>0.289 @ 23% ($18%)</a:t>
                      </a:r>
                    </a:p>
                  </a:txBody>
                  <a:tcPr marT="9144" marB="9144"/>
                </a:tc>
                <a:tc>
                  <a:txBody>
                    <a:bodyPr/>
                    <a:lstStyle/>
                    <a:p>
                      <a:r>
                        <a:rPr sz="900" b="0"/>
                        <a:t>0.000 @ 0% ($0%)</a:t>
                      </a:r>
                    </a:p>
                  </a:txBody>
                  <a:tcPr marT="9144" marB="9144"/>
                </a:tc>
                <a:tc>
                  <a:txBody>
                    <a:bodyPr/>
                    <a:lstStyle/>
                    <a:p>
                      <a:r>
                        <a:rPr sz="900" b="0"/>
                        <a:t>0.284 @ 18% ($21%)</a:t>
                      </a:r>
                    </a:p>
                  </a:txBody>
                  <a:tcPr marT="9144" marB="9144"/>
                </a:tc>
              </a:tr>
              <a:tr h="210312">
                <a:tc>
                  <a:txBody>
                    <a:bodyPr/>
                    <a:lstStyle/>
                    <a:p>
                      <a:r>
                        <a:rPr sz="900" b="0"/>
                        <a:t>California</a:t>
                      </a:r>
                    </a:p>
                  </a:txBody>
                  <a:tcPr marT="9144" marB="9144"/>
                </a:tc>
                <a:tc>
                  <a:txBody>
                    <a:bodyPr/>
                    <a:lstStyle/>
                    <a:p>
                      <a:r>
                        <a:rPr sz="900" b="0"/>
                        <a:t>1478/16/297</a:t>
                      </a:r>
                    </a:p>
                  </a:txBody>
                  <a:tcPr marT="9144" marB="9144"/>
                </a:tc>
                <a:tc>
                  <a:txBody>
                    <a:bodyPr/>
                    <a:lstStyle/>
                    <a:p>
                      <a:r>
                        <a:rPr sz="900" b="0"/>
                        <a:t>0.235 @ 18% ($28%)</a:t>
                      </a:r>
                    </a:p>
                  </a:txBody>
                  <a:tcPr marT="9144" marB="9144"/>
                </a:tc>
                <a:tc>
                  <a:txBody>
                    <a:bodyPr/>
                    <a:lstStyle/>
                    <a:p>
                      <a:r>
                        <a:rPr sz="900" b="0"/>
                        <a:t>0.259 @ 20% ($29%)</a:t>
                      </a:r>
                    </a:p>
                  </a:txBody>
                  <a:tcPr marT="9144" marB="9144"/>
                </a:tc>
                <a:tc>
                  <a:txBody>
                    <a:bodyPr/>
                    <a:lstStyle/>
                    <a:p>
                      <a:r>
                        <a:rPr sz="900" b="0"/>
                        <a:t>0.210 @ 15% ($14%)</a:t>
                      </a:r>
                    </a:p>
                  </a:txBody>
                  <a:tcPr marT="9144" marB="9144"/>
                </a:tc>
                <a:tc>
                  <a:txBody>
                    <a:bodyPr/>
                    <a:lstStyle/>
                    <a:p>
                      <a:r>
                        <a:rPr sz="900" b="0"/>
                        <a:t>0.210 @ 16% ($27%)</a:t>
                      </a:r>
                    </a:p>
                  </a:txBody>
                  <a:tcPr marT="9144" marB="9144"/>
                </a:tc>
              </a:tr>
              <a:tr h="210312">
                <a:tc>
                  <a:txBody>
                    <a:bodyPr/>
                    <a:lstStyle/>
                    <a:p>
                      <a:r>
                        <a:rPr sz="900" b="0"/>
                        <a:t>Texas</a:t>
                      </a:r>
                    </a:p>
                  </a:txBody>
                  <a:tcPr marT="9144" marB="9144"/>
                </a:tc>
                <a:tc>
                  <a:txBody>
                    <a:bodyPr/>
                    <a:lstStyle/>
                    <a:p>
                      <a:r>
                        <a:rPr sz="900" b="0"/>
                        <a:t>3590/12/106</a:t>
                      </a:r>
                    </a:p>
                  </a:txBody>
                  <a:tcPr marT="9144" marB="9144"/>
                </a:tc>
                <a:tc>
                  <a:txBody>
                    <a:bodyPr/>
                    <a:lstStyle/>
                    <a:p>
                      <a:r>
                        <a:rPr sz="900" b="0"/>
                        <a:t>0.224 @ 15% ($14%)</a:t>
                      </a:r>
                    </a:p>
                  </a:txBody>
                  <a:tcPr marT="9144" marB="9144"/>
                </a:tc>
                <a:tc>
                  <a:txBody>
                    <a:bodyPr/>
                    <a:lstStyle/>
                    <a:p>
                      <a:r>
                        <a:rPr sz="900" b="0"/>
                        <a:t>0.235 @ 16% ($18%)</a:t>
                      </a:r>
                    </a:p>
                  </a:txBody>
                  <a:tcPr marT="9144" marB="9144"/>
                </a:tc>
                <a:tc>
                  <a:txBody>
                    <a:bodyPr/>
                    <a:lstStyle/>
                    <a:p>
                      <a:r>
                        <a:rPr sz="900" b="0"/>
                        <a:t>0.232 @ 10% ($12%)</a:t>
                      </a:r>
                    </a:p>
                  </a:txBody>
                  <a:tcPr marT="9144" marB="9144"/>
                </a:tc>
                <a:tc>
                  <a:txBody>
                    <a:bodyPr/>
                    <a:lstStyle/>
                    <a:p>
                      <a:r>
                        <a:rPr sz="900" b="0"/>
                        <a:t>0.241 @ 16% ($15%)</a:t>
                      </a:r>
                    </a:p>
                  </a:txBody>
                  <a:tcPr marT="9144" marB="9144"/>
                </a:tc>
              </a:tr>
              <a:tr h="210312">
                <a:tc>
                  <a:txBody>
                    <a:bodyPr/>
                    <a:lstStyle/>
                    <a:p>
                      <a:r>
                        <a:rPr sz="900" b="0"/>
                        <a:t>Tennessee</a:t>
                      </a:r>
                    </a:p>
                  </a:txBody>
                  <a:tcPr marT="9144" marB="9144"/>
                </a:tc>
                <a:tc>
                  <a:txBody>
                    <a:bodyPr/>
                    <a:lstStyle/>
                    <a:p>
                      <a:r>
                        <a:rPr sz="900" b="0"/>
                        <a:t>2214/12/92</a:t>
                      </a:r>
                    </a:p>
                  </a:txBody>
                  <a:tcPr marT="9144" marB="9144"/>
                </a:tc>
                <a:tc>
                  <a:txBody>
                    <a:bodyPr/>
                    <a:lstStyle/>
                    <a:p>
                      <a:r>
                        <a:rPr sz="900" b="0"/>
                        <a:t>0.215 @ 22% ($21%)</a:t>
                      </a:r>
                    </a:p>
                  </a:txBody>
                  <a:tcPr marT="9144" marB="9144"/>
                </a:tc>
                <a:tc>
                  <a:txBody>
                    <a:bodyPr/>
                    <a:lstStyle/>
                    <a:p>
                      <a:r>
                        <a:rPr sz="900" b="0"/>
                        <a:t>0.215 @ 22% ($28%)</a:t>
                      </a:r>
                    </a:p>
                  </a:txBody>
                  <a:tcPr marT="9144" marB="9144"/>
                </a:tc>
                <a:tc>
                  <a:txBody>
                    <a:bodyPr/>
                    <a:lstStyle/>
                    <a:p>
                      <a:r>
                        <a:rPr sz="900" b="0"/>
                        <a:t>0.182 @ 15% ($19%)</a:t>
                      </a:r>
                    </a:p>
                  </a:txBody>
                  <a:tcPr marT="9144" marB="9144"/>
                </a:tc>
                <a:tc>
                  <a:txBody>
                    <a:bodyPr/>
                    <a:lstStyle/>
                    <a:p>
                      <a:r>
                        <a:rPr sz="900" b="0"/>
                        <a:t>0.192 @ 16% ($17%)</a:t>
                      </a:r>
                    </a:p>
                  </a:txBody>
                  <a:tcPr marT="9144" marB="9144"/>
                </a:tc>
              </a:tr>
              <a:tr h="210312">
                <a:tc>
                  <a:txBody>
                    <a:bodyPr/>
                    <a:lstStyle/>
                    <a:p>
                      <a:r>
                        <a:rPr sz="900" b="0"/>
                        <a:t>Louisiana</a:t>
                      </a:r>
                    </a:p>
                  </a:txBody>
                  <a:tcPr marT="9144" marB="9144"/>
                </a:tc>
                <a:tc>
                  <a:txBody>
                    <a:bodyPr/>
                    <a:lstStyle/>
                    <a:p>
                      <a:r>
                        <a:rPr sz="900" b="0"/>
                        <a:t>203/2/47</a:t>
                      </a:r>
                    </a:p>
                  </a:txBody>
                  <a:tcPr marT="9144" marB="9144"/>
                </a:tc>
                <a:tc>
                  <a:txBody>
                    <a:bodyPr/>
                    <a:lstStyle/>
                    <a:p>
                      <a:r>
                        <a:rPr sz="900" b="0"/>
                        <a:t>0.207 @ 19% ($26%)</a:t>
                      </a:r>
                    </a:p>
                  </a:txBody>
                  <a:tcPr marT="9144" marB="9144"/>
                </a:tc>
                <a:tc>
                  <a:txBody>
                    <a:bodyPr/>
                    <a:lstStyle/>
                    <a:p>
                      <a:r>
                        <a:rPr sz="900" b="0"/>
                        <a:t>0.184 @ 17% ($13%)</a:t>
                      </a:r>
                    </a:p>
                  </a:txBody>
                  <a:tcPr marT="9144" marB="9144"/>
                </a:tc>
                <a:tc>
                  <a:txBody>
                    <a:bodyPr/>
                    <a:lstStyle/>
                    <a:p>
                      <a:r>
                        <a:rPr sz="900" b="0"/>
                        <a:t>0.357 @ 5% ($4%)</a:t>
                      </a:r>
                    </a:p>
                  </a:txBody>
                  <a:tcPr marT="9144" marB="9144"/>
                </a:tc>
                <a:tc>
                  <a:txBody>
                    <a:bodyPr/>
                    <a:lstStyle/>
                    <a:p>
                      <a:r>
                        <a:rPr sz="900" b="0"/>
                        <a:t>0.247 @ 22% ($25%)</a:t>
                      </a:r>
                    </a:p>
                  </a:txBody>
                  <a:tcPr marT="9144" marB="9144"/>
                </a:tc>
              </a:tr>
              <a:tr h="210312">
                <a:tc>
                  <a:txBody>
                    <a:bodyPr/>
                    <a:lstStyle/>
                    <a:p>
                      <a:r>
                        <a:rPr sz="900" b="0"/>
                        <a:t>New Jersey</a:t>
                      </a:r>
                    </a:p>
                  </a:txBody>
                  <a:tcPr marT="9144" marB="9144"/>
                </a:tc>
                <a:tc>
                  <a:txBody>
                    <a:bodyPr/>
                    <a:lstStyle/>
                    <a:p>
                      <a:r>
                        <a:rPr sz="900" b="0"/>
                        <a:t>221/1/24</a:t>
                      </a:r>
                    </a:p>
                  </a:txBody>
                  <a:tcPr marT="9144" marB="9144"/>
                </a:tc>
                <a:tc>
                  <a:txBody>
                    <a:bodyPr/>
                    <a:lstStyle/>
                    <a:p>
                      <a:r>
                        <a:rPr sz="900" b="0"/>
                        <a:t>0.177 @ 19% ($20%)</a:t>
                      </a:r>
                    </a:p>
                  </a:txBody>
                  <a:tcPr marT="9144" marB="9144"/>
                </a:tc>
                <a:tc>
                  <a:txBody>
                    <a:bodyPr/>
                    <a:lstStyle/>
                    <a:p>
                      <a:r>
                        <a:rPr sz="900" b="0"/>
                        <a:t>0.177 @ 19% ($23%)</a:t>
                      </a:r>
                    </a:p>
                  </a:txBody>
                  <a:tcPr marT="9144" marB="9144"/>
                </a:tc>
                <a:tc>
                  <a:txBody>
                    <a:bodyPr/>
                    <a:lstStyle/>
                    <a:p>
                      <a:r>
                        <a:rPr sz="900" b="0"/>
                        <a:t>0.273 @ 10% ($18%)</a:t>
                      </a:r>
                    </a:p>
                  </a:txBody>
                  <a:tcPr marT="9144" marB="9144"/>
                </a:tc>
                <a:tc>
                  <a:txBody>
                    <a:bodyPr/>
                    <a:lstStyle/>
                    <a:p>
                      <a:r>
                        <a:rPr sz="900" b="0"/>
                        <a:t>0.233 @ 17% ($22%)</a:t>
                      </a:r>
                    </a:p>
                  </a:txBody>
                  <a:tcPr marT="9144" marB="9144"/>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The deployed list is a few dozen rules, not thousands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budget fill scans the whole ~45k national pool in confidence order and admits any rule whose newly flagged cases still fit under the review cap - it does not stop at a rule count.</a:t>
            </a:r>
          </a:p>
          <a:p>
            <a:pPr>
              <a:spcAft>
                <a:spcPts val="400"/>
              </a:spcAft>
            </a:pPr>
            <a:r>
              <a:rPr sz="1200"/>
              <a:t>- A rule whose cases are all already flagged adds zero and always 'fits', so admitted-rule counts run 10-20k. The union is actually built by the rules adding at least one new case: 26-54 rules at these budgets. Deploying exactly those reproduces the identical flagged set.</a:t>
            </a:r>
          </a:p>
          <a:p>
            <a:pPr>
              <a:spcAft>
                <a:spcPts val="400"/>
              </a:spcAft>
            </a:pPr>
            <a:r>
              <a:rPr sz="1200"/>
              <a:t>- Which rules those are depends only on the ranked list (trained on 2022-23) and the state's incoming caseload - no error outcomes - so a state reproduces the short list the moment it applies the ranking to its own cases.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685800" y="3008376"/>
          <a:ext cx="7772400" cy="1792224"/>
        </p:xfrm>
        <a:graphic>
          <a:graphicData uri="http://schemas.openxmlformats.org/drawingml/2006/table">
            <a:tbl>
              <a:tblPr firstRow="1" bandRow="1">
                <a:tableStyleId>{5C22544A-7EE6-4342-B048-85BDC9FD1C3A}</a:tableStyleId>
              </a:tblPr>
              <a:tblGrid>
                <a:gridCol w="1554480"/>
                <a:gridCol w="1554480"/>
                <a:gridCol w="1554480"/>
                <a:gridCol w="1554480"/>
                <a:gridCol w="1554480"/>
              </a:tblGrid>
              <a:tr h="256032">
                <a:tc>
                  <a:txBody>
                    <a:bodyPr/>
                    <a:lstStyle/>
                    <a:p>
                      <a:r>
                        <a:rPr sz="1100" b="1"/>
                        <a:t>state</a:t>
                      </a:r>
                    </a:p>
                  </a:txBody>
                  <a:tcPr marT="9144" marB="9144"/>
                </a:tc>
                <a:tc>
                  <a:txBody>
                    <a:bodyPr/>
                    <a:lstStyle/>
                    <a:p>
                      <a:r>
                        <a:rPr sz="1100" b="1"/>
                        <a:t>budget</a:t>
                      </a:r>
                    </a:p>
                  </a:txBody>
                  <a:tcPr marT="9144" marB="9144"/>
                </a:tc>
                <a:tc>
                  <a:txBody>
                    <a:bodyPr/>
                    <a:lstStyle/>
                    <a:p>
                      <a:r>
                        <a:rPr sz="1100" b="1"/>
                        <a:t>review cap (cases)</a:t>
                      </a:r>
                    </a:p>
                  </a:txBody>
                  <a:tcPr marT="9144" marB="9144"/>
                </a:tc>
                <a:tc>
                  <a:txBody>
                    <a:bodyPr/>
                    <a:lstStyle/>
                    <a:p>
                      <a:r>
                        <a:rPr sz="1100" b="1"/>
                        <a:t>rules admitted by the scan</a:t>
                      </a:r>
                    </a:p>
                  </a:txBody>
                  <a:tcPr marT="9144" marB="9144"/>
                </a:tc>
                <a:tc>
                  <a:txBody>
                    <a:bodyPr/>
                    <a:lstStyle/>
                    <a:p>
                      <a:r>
                        <a:rPr sz="1100" b="1"/>
                        <a:t>rules that build the union</a:t>
                      </a:r>
                    </a:p>
                  </a:txBody>
                  <a:tcPr marT="9144" marB="9144"/>
                </a:tc>
              </a:tr>
              <a:tr h="256032">
                <a:tc>
                  <a:txBody>
                    <a:bodyPr/>
                    <a:lstStyle/>
                    <a:p>
                      <a:r>
                        <a:rPr sz="1100" b="0"/>
                        <a:t>District of Columbia</a:t>
                      </a:r>
                    </a:p>
                  </a:txBody>
                  <a:tcPr marT="9144" marB="9144"/>
                </a:tc>
                <a:tc>
                  <a:txBody>
                    <a:bodyPr/>
                    <a:lstStyle/>
                    <a:p>
                      <a:r>
                        <a:rPr sz="1100" b="0"/>
                        <a:t>5%</a:t>
                      </a:r>
                    </a:p>
                  </a:txBody>
                  <a:tcPr marT="9144" marB="9144"/>
                </a:tc>
                <a:tc>
                  <a:txBody>
                    <a:bodyPr/>
                    <a:lstStyle/>
                    <a:p>
                      <a:r>
                        <a:rPr sz="1100" b="0"/>
                        <a:t>48</a:t>
                      </a:r>
                    </a:p>
                  </a:txBody>
                  <a:tcPr marT="9144" marB="9144"/>
                </a:tc>
                <a:tc>
                  <a:txBody>
                    <a:bodyPr/>
                    <a:lstStyle/>
                    <a:p>
                      <a:r>
                        <a:rPr sz="1100" b="0"/>
                        <a:t>14416</a:t>
                      </a:r>
                    </a:p>
                  </a:txBody>
                  <a:tcPr marT="9144" marB="9144"/>
                </a:tc>
                <a:tc>
                  <a:txBody>
                    <a:bodyPr/>
                    <a:lstStyle/>
                    <a:p>
                      <a:r>
                        <a:rPr sz="1100" b="0"/>
                        <a:t>26</a:t>
                      </a:r>
                    </a:p>
                  </a:txBody>
                  <a:tcPr marT="9144" marB="9144"/>
                </a:tc>
              </a:tr>
              <a:tr h="256032">
                <a:tc>
                  <a:txBody>
                    <a:bodyPr/>
                    <a:lstStyle/>
                    <a:p>
                      <a:r>
                        <a:rPr sz="1100" b="0"/>
                        <a:t>District of Columbia</a:t>
                      </a:r>
                    </a:p>
                  </a:txBody>
                  <a:tcPr marT="9144" marB="9144"/>
                </a:tc>
                <a:tc>
                  <a:txBody>
                    <a:bodyPr/>
                    <a:lstStyle/>
                    <a:p>
                      <a:r>
                        <a:rPr sz="1100" b="0"/>
                        <a:t>10%</a:t>
                      </a:r>
                    </a:p>
                  </a:txBody>
                  <a:tcPr marT="9144" marB="9144"/>
                </a:tc>
                <a:tc>
                  <a:txBody>
                    <a:bodyPr/>
                    <a:lstStyle/>
                    <a:p>
                      <a:r>
                        <a:rPr sz="1100" b="0"/>
                        <a:t>97</a:t>
                      </a:r>
                    </a:p>
                  </a:txBody>
                  <a:tcPr marT="9144" marB="9144"/>
                </a:tc>
                <a:tc>
                  <a:txBody>
                    <a:bodyPr/>
                    <a:lstStyle/>
                    <a:p>
                      <a:r>
                        <a:rPr sz="1100" b="0"/>
                        <a:t>16912</a:t>
                      </a:r>
                    </a:p>
                  </a:txBody>
                  <a:tcPr marT="9144" marB="9144"/>
                </a:tc>
                <a:tc>
                  <a:txBody>
                    <a:bodyPr/>
                    <a:lstStyle/>
                    <a:p>
                      <a:r>
                        <a:rPr sz="1100" b="0"/>
                        <a:t>53</a:t>
                      </a:r>
                    </a:p>
                  </a:txBody>
                  <a:tcPr marT="9144" marB="9144"/>
                </a:tc>
              </a:tr>
              <a:tr h="256032">
                <a:tc>
                  <a:txBody>
                    <a:bodyPr/>
                    <a:lstStyle/>
                    <a:p>
                      <a:r>
                        <a:rPr sz="1100" b="0"/>
                        <a:t>Louisiana</a:t>
                      </a:r>
                    </a:p>
                  </a:txBody>
                  <a:tcPr marT="9144" marB="9144"/>
                </a:tc>
                <a:tc>
                  <a:txBody>
                    <a:bodyPr/>
                    <a:lstStyle/>
                    <a:p>
                      <a:r>
                        <a:rPr sz="1100" b="0"/>
                        <a:t>5%</a:t>
                      </a:r>
                    </a:p>
                  </a:txBody>
                  <a:tcPr marT="9144" marB="9144"/>
                </a:tc>
                <a:tc>
                  <a:txBody>
                    <a:bodyPr/>
                    <a:lstStyle/>
                    <a:p>
                      <a:r>
                        <a:rPr sz="1100" b="0"/>
                        <a:t>43</a:t>
                      </a:r>
                    </a:p>
                  </a:txBody>
                  <a:tcPr marT="9144" marB="9144"/>
                </a:tc>
                <a:tc>
                  <a:txBody>
                    <a:bodyPr/>
                    <a:lstStyle/>
                    <a:p>
                      <a:r>
                        <a:rPr sz="1100" b="0"/>
                        <a:t>12273</a:t>
                      </a:r>
                    </a:p>
                  </a:txBody>
                  <a:tcPr marT="9144" marB="9144"/>
                </a:tc>
                <a:tc>
                  <a:txBody>
                    <a:bodyPr/>
                    <a:lstStyle/>
                    <a:p>
                      <a:r>
                        <a:rPr sz="1100" b="0"/>
                        <a:t>27</a:t>
                      </a:r>
                    </a:p>
                  </a:txBody>
                  <a:tcPr marT="9144" marB="9144"/>
                </a:tc>
              </a:tr>
              <a:tr h="256032">
                <a:tc>
                  <a:txBody>
                    <a:bodyPr/>
                    <a:lstStyle/>
                    <a:p>
                      <a:r>
                        <a:rPr sz="1100" b="0"/>
                        <a:t>Louisiana</a:t>
                      </a:r>
                    </a:p>
                  </a:txBody>
                  <a:tcPr marT="9144" marB="9144"/>
                </a:tc>
                <a:tc>
                  <a:txBody>
                    <a:bodyPr/>
                    <a:lstStyle/>
                    <a:p>
                      <a:r>
                        <a:rPr sz="1100" b="0"/>
                        <a:t>10%</a:t>
                      </a:r>
                    </a:p>
                  </a:txBody>
                  <a:tcPr marT="9144" marB="9144"/>
                </a:tc>
                <a:tc>
                  <a:txBody>
                    <a:bodyPr/>
                    <a:lstStyle/>
                    <a:p>
                      <a:r>
                        <a:rPr sz="1100" b="0"/>
                        <a:t>87</a:t>
                      </a:r>
                    </a:p>
                  </a:txBody>
                  <a:tcPr marT="9144" marB="9144"/>
                </a:tc>
                <a:tc>
                  <a:txBody>
                    <a:bodyPr/>
                    <a:lstStyle/>
                    <a:p>
                      <a:r>
                        <a:rPr sz="1100" b="0"/>
                        <a:t>13831</a:t>
                      </a:r>
                    </a:p>
                  </a:txBody>
                  <a:tcPr marT="9144" marB="9144"/>
                </a:tc>
                <a:tc>
                  <a:txBody>
                    <a:bodyPr/>
                    <a:lstStyle/>
                    <a:p>
                      <a:r>
                        <a:rPr sz="1100" b="0"/>
                        <a:t>54</a:t>
                      </a:r>
                    </a:p>
                  </a:txBody>
                  <a:tcPr marT="9144" marB="9144"/>
                </a:tc>
              </a:tr>
              <a:tr h="256032">
                <a:tc>
                  <a:txBody>
                    <a:bodyPr/>
                    <a:lstStyle/>
                    <a:p>
                      <a:r>
                        <a:rPr sz="1100" b="0"/>
                        <a:t>California</a:t>
                      </a:r>
                    </a:p>
                  </a:txBody>
                  <a:tcPr marT="9144" marB="9144"/>
                </a:tc>
                <a:tc>
                  <a:txBody>
                    <a:bodyPr/>
                    <a:lstStyle/>
                    <a:p>
                      <a:r>
                        <a:rPr sz="1100" b="0"/>
                        <a:t>5%</a:t>
                      </a:r>
                    </a:p>
                  </a:txBody>
                  <a:tcPr marT="9144" marB="9144"/>
                </a:tc>
                <a:tc>
                  <a:txBody>
                    <a:bodyPr/>
                    <a:lstStyle/>
                    <a:p>
                      <a:r>
                        <a:rPr sz="1100" b="0"/>
                        <a:t>40</a:t>
                      </a:r>
                    </a:p>
                  </a:txBody>
                  <a:tcPr marT="9144" marB="9144"/>
                </a:tc>
                <a:tc>
                  <a:txBody>
                    <a:bodyPr/>
                    <a:lstStyle/>
                    <a:p>
                      <a:r>
                        <a:rPr sz="1100" b="0"/>
                        <a:t>9459</a:t>
                      </a:r>
                    </a:p>
                  </a:txBody>
                  <a:tcPr marT="9144" marB="9144"/>
                </a:tc>
                <a:tc>
                  <a:txBody>
                    <a:bodyPr/>
                    <a:lstStyle/>
                    <a:p>
                      <a:r>
                        <a:rPr sz="1100" b="0"/>
                        <a:t>26</a:t>
                      </a:r>
                    </a:p>
                  </a:txBody>
                  <a:tcPr marT="9144" marB="9144"/>
                </a:tc>
              </a:tr>
              <a:tr h="256032">
                <a:tc>
                  <a:txBody>
                    <a:bodyPr/>
                    <a:lstStyle/>
                    <a:p>
                      <a:r>
                        <a:rPr sz="1100" b="0"/>
                        <a:t>California</a:t>
                      </a:r>
                    </a:p>
                  </a:txBody>
                  <a:tcPr marT="9144" marB="9144"/>
                </a:tc>
                <a:tc>
                  <a:txBody>
                    <a:bodyPr/>
                    <a:lstStyle/>
                    <a:p>
                      <a:r>
                        <a:rPr sz="1100" b="0"/>
                        <a:t>10%</a:t>
                      </a:r>
                    </a:p>
                  </a:txBody>
                  <a:tcPr marT="9144" marB="9144"/>
                </a:tc>
                <a:tc>
                  <a:txBody>
                    <a:bodyPr/>
                    <a:lstStyle/>
                    <a:p>
                      <a:r>
                        <a:rPr sz="1100" b="0"/>
                        <a:t>81</a:t>
                      </a:r>
                    </a:p>
                  </a:txBody>
                  <a:tcPr marT="9144" marB="9144"/>
                </a:tc>
                <a:tc>
                  <a:txBody>
                    <a:bodyPr/>
                    <a:lstStyle/>
                    <a:p>
                      <a:r>
                        <a:rPr sz="1100" b="0"/>
                        <a:t>10593</a:t>
                      </a:r>
                    </a:p>
                  </a:txBody>
                  <a:tcPr marT="9144" marB="9144"/>
                </a:tc>
                <a:tc>
                  <a:txBody>
                    <a:bodyPr/>
                    <a:lstStyle/>
                    <a:p>
                      <a:r>
                        <a:rPr sz="1100" b="0"/>
                        <a:t>43</a:t>
                      </a:r>
                    </a:p>
                  </a:txBody>
                  <a:tcPr marT="9144" marB="9144"/>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The most widely deployed rules, by household size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three rules deployed by the most states (of 18) in each household-size stratum, from the 10%-budget national deployment. Each is a plain checkable condition. Benefit amounts relative to the household maximum appear in 8 of the 9 rules and deduction levels relative to household size in 7; certification timing, utilities, and shelter levels fill out the rest.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274319" y="1984248"/>
          <a:ext cx="8595360" cy="3840480"/>
        </p:xfrm>
        <a:graphic>
          <a:graphicData uri="http://schemas.openxmlformats.org/drawingml/2006/table">
            <a:tbl>
              <a:tblPr firstRow="1" bandRow="1">
                <a:tableStyleId>{5C22544A-7EE6-4342-B048-85BDC9FD1C3A}</a:tableStyleId>
              </a:tblPr>
              <a:tblGrid>
                <a:gridCol w="731520"/>
                <a:gridCol w="6766560"/>
                <a:gridCol w="1097280"/>
              </a:tblGrid>
              <a:tr h="384048">
                <a:tc>
                  <a:txBody>
                    <a:bodyPr/>
                    <a:lstStyle/>
                    <a:p>
                      <a:r>
                        <a:rPr sz="900" b="1"/>
                        <a:t>HH size</a:t>
                      </a:r>
                    </a:p>
                  </a:txBody>
                  <a:tcPr marT="9144" marB="9144"/>
                </a:tc>
                <a:tc>
                  <a:txBody>
                    <a:bodyPr/>
                    <a:lstStyle/>
                    <a:p>
                      <a:r>
                        <a:rPr sz="900" b="1"/>
                        <a:t>rule</a:t>
                      </a:r>
                    </a:p>
                  </a:txBody>
                  <a:tcPr marT="9144" marB="9144"/>
                </a:tc>
                <a:tc>
                  <a:txBody>
                    <a:bodyPr/>
                    <a:lstStyle/>
                    <a:p>
                      <a:r>
                        <a:rPr sz="900" b="1"/>
                        <a:t>states (of 18)</a:t>
                      </a:r>
                    </a:p>
                  </a:txBody>
                  <a:tcPr marT="9144" marB="9144"/>
                </a:tc>
              </a:tr>
              <a:tr h="384048">
                <a:tc>
                  <a:txBody>
                    <a:bodyPr/>
                    <a:lstStyle/>
                    <a:p>
                      <a:r>
                        <a:rPr sz="900" b="0"/>
                        <a:t>1</a:t>
                      </a:r>
                    </a:p>
                  </a:txBody>
                  <a:tcPr marT="9144" marB="9144"/>
                </a:tc>
                <a:tc>
                  <a:txBody>
                    <a:bodyPr/>
                    <a:lstStyle/>
                    <a:p>
                      <a:r>
                        <a:rPr sz="900" b="0"/>
                        <a:t>rawben_rel_max &gt;= 0.236 &amp; rawben_rel_max &lt; 1.000 &amp; total_deductions_by_hh_size &gt;= 511.000 &amp; utilities &lt; 249.000</a:t>
                      </a:r>
                    </a:p>
                  </a:txBody>
                  <a:tcPr marT="9144" marB="9144"/>
                </a:tc>
                <a:tc>
                  <a:txBody>
                    <a:bodyPr/>
                    <a:lstStyle/>
                    <a:p>
                      <a:r>
                        <a:rPr sz="900" b="0"/>
                        <a:t>12</a:t>
                      </a:r>
                    </a:p>
                  </a:txBody>
                  <a:tcPr marT="9144" marB="9144"/>
                </a:tc>
              </a:tr>
              <a:tr h="384048">
                <a:tc>
                  <a:txBody>
                    <a:bodyPr/>
                    <a:lstStyle/>
                    <a:p>
                      <a:r>
                        <a:rPr sz="900" b="0"/>
                        <a:t>1</a:t>
                      </a:r>
                    </a:p>
                  </a:txBody>
                  <a:tcPr marT="9144" marB="9144"/>
                </a:tc>
                <a:tc>
                  <a:txBody>
                    <a:bodyPr/>
                    <a:lstStyle/>
                    <a:p>
                      <a:r>
                        <a:rPr sz="900" b="0"/>
                        <a:t>total_deductions_by_hh_size &gt; 336.000 &amp; unc_rawben_rel_max &gt; 0.891 &amp; unc_rawben_rel_max &lt;= 0.991 &amp; utilities &lt;= 29.500</a:t>
                      </a:r>
                    </a:p>
                  </a:txBody>
                  <a:tcPr marT="9144" marB="9144"/>
                </a:tc>
                <a:tc>
                  <a:txBody>
                    <a:bodyPr/>
                    <a:lstStyle/>
                    <a:p>
                      <a:r>
                        <a:rPr sz="900" b="0"/>
                        <a:t>11</a:t>
                      </a:r>
                    </a:p>
                  </a:txBody>
                  <a:tcPr marT="9144" marB="9144"/>
                </a:tc>
              </a:tr>
              <a:tr h="384048">
                <a:tc>
                  <a:txBody>
                    <a:bodyPr/>
                    <a:lstStyle/>
                    <a:p>
                      <a:r>
                        <a:rPr sz="900" b="0"/>
                        <a:t>1</a:t>
                      </a:r>
                    </a:p>
                  </a:txBody>
                  <a:tcPr marT="9144" marB="9144"/>
                </a:tc>
                <a:tc>
                  <a:txBody>
                    <a:bodyPr/>
                    <a:lstStyle/>
                    <a:p>
                      <a:r>
                        <a:rPr sz="900" b="0"/>
                        <a:t>rawben_rel_max &lt;= 0.998 &amp; total_deductions_by_hh_size &gt; 602.000 &amp; utilities &lt;= 272.000</a:t>
                      </a:r>
                    </a:p>
                  </a:txBody>
                  <a:tcPr marT="9144" marB="9144"/>
                </a:tc>
                <a:tc>
                  <a:txBody>
                    <a:bodyPr/>
                    <a:lstStyle/>
                    <a:p>
                      <a:r>
                        <a:rPr sz="900" b="0"/>
                        <a:t>10</a:t>
                      </a:r>
                    </a:p>
                  </a:txBody>
                  <a:tcPr marT="9144" marB="9144"/>
                </a:tc>
              </a:tr>
              <a:tr h="384048">
                <a:tc>
                  <a:txBody>
                    <a:bodyPr/>
                    <a:lstStyle/>
                    <a:p>
                      <a:r>
                        <a:rPr sz="900" b="0"/>
                        <a:t>2-3</a:t>
                      </a:r>
                    </a:p>
                  </a:txBody>
                  <a:tcPr marT="9144" marB="9144"/>
                </a:tc>
                <a:tc>
                  <a:txBody>
                    <a:bodyPr/>
                    <a:lstStyle/>
                    <a:p>
                      <a:r>
                        <a:rPr sz="900" b="0"/>
                        <a:t>months_since_cert_n &lt;= 25 &amp; shelter_expenses_by_hh_size &gt; 499 &amp; shelter_expenses_by_hh_size &lt;= 679 &amp; total_deductions_by_hh_size &gt; 644</a:t>
                      </a:r>
                    </a:p>
                  </a:txBody>
                  <a:tcPr marT="9144" marB="9144"/>
                </a:tc>
                <a:tc>
                  <a:txBody>
                    <a:bodyPr/>
                    <a:lstStyle/>
                    <a:p>
                      <a:r>
                        <a:rPr sz="900" b="0"/>
                        <a:t>9</a:t>
                      </a:r>
                    </a:p>
                  </a:txBody>
                  <a:tcPr marT="9144" marB="9144"/>
                </a:tc>
              </a:tr>
              <a:tr h="384048">
                <a:tc>
                  <a:txBody>
                    <a:bodyPr/>
                    <a:lstStyle/>
                    <a:p>
                      <a:r>
                        <a:rPr sz="900" b="0"/>
                        <a:t>2-3</a:t>
                      </a:r>
                    </a:p>
                  </a:txBody>
                  <a:tcPr marT="9144" marB="9144"/>
                </a:tc>
                <a:tc>
                  <a:txBody>
                    <a:bodyPr/>
                    <a:lstStyle/>
                    <a:p>
                      <a:r>
                        <a:rPr sz="900" b="0"/>
                        <a:t>expedited_i &gt;= 1.000 &amp; months_since_cert_n &lt; 2.000 &amp; rawben_rel_max &gt;= 0.649 &amp; rawben_rel_max &lt; 0.901</a:t>
                      </a:r>
                    </a:p>
                  </a:txBody>
                  <a:tcPr marT="9144" marB="9144"/>
                </a:tc>
                <a:tc>
                  <a:txBody>
                    <a:bodyPr/>
                    <a:lstStyle/>
                    <a:p>
                      <a:r>
                        <a:rPr sz="900" b="0"/>
                        <a:t>9</a:t>
                      </a:r>
                    </a:p>
                  </a:txBody>
                  <a:tcPr marT="9144" marB="9144"/>
                </a:tc>
              </a:tr>
              <a:tr h="384048">
                <a:tc>
                  <a:txBody>
                    <a:bodyPr/>
                    <a:lstStyle/>
                    <a:p>
                      <a:r>
                        <a:rPr sz="900" b="0"/>
                        <a:t>2-3</a:t>
                      </a:r>
                    </a:p>
                  </a:txBody>
                  <a:tcPr marT="9144" marB="9144"/>
                </a:tc>
                <a:tc>
                  <a:txBody>
                    <a:bodyPr/>
                    <a:lstStyle/>
                    <a:p>
                      <a:r>
                        <a:rPr sz="900" b="0"/>
                        <a:t>elderly_disabled_i &gt; 0.500 &amp; married &lt;= 0.500 &amp; rawben_rel_max &gt; 0.996 &amp; unc_rawben_rel_max &gt; 1.550</a:t>
                      </a:r>
                    </a:p>
                  </a:txBody>
                  <a:tcPr marT="9144" marB="9144"/>
                </a:tc>
                <a:tc>
                  <a:txBody>
                    <a:bodyPr/>
                    <a:lstStyle/>
                    <a:p>
                      <a:r>
                        <a:rPr sz="900" b="0"/>
                        <a:t>8</a:t>
                      </a:r>
                    </a:p>
                  </a:txBody>
                  <a:tcPr marT="9144" marB="9144"/>
                </a:tc>
              </a:tr>
              <a:tr h="384048">
                <a:tc>
                  <a:txBody>
                    <a:bodyPr/>
                    <a:lstStyle/>
                    <a:p>
                      <a:r>
                        <a:rPr sz="900" b="0"/>
                        <a:t>4+</a:t>
                      </a:r>
                    </a:p>
                  </a:txBody>
                  <a:tcPr marT="9144" marB="9144"/>
                </a:tc>
                <a:tc>
                  <a:txBody>
                    <a:bodyPr/>
                    <a:lstStyle/>
                    <a:p>
                      <a:r>
                        <a:rPr sz="900" b="0"/>
                        <a:t>HH_size_n &gt; 4.500 &amp; rawben_rel_max &gt; 0.478 &amp; total_deductions_by_hh_size &gt; 233.000 &amp; unc_rawben_rel_max &lt;= 0.997</a:t>
                      </a:r>
                    </a:p>
                  </a:txBody>
                  <a:tcPr marT="9144" marB="9144"/>
                </a:tc>
                <a:tc>
                  <a:txBody>
                    <a:bodyPr/>
                    <a:lstStyle/>
                    <a:p>
                      <a:r>
                        <a:rPr sz="900" b="0"/>
                        <a:t>12</a:t>
                      </a:r>
                    </a:p>
                  </a:txBody>
                  <a:tcPr marT="9144" marB="9144"/>
                </a:tc>
              </a:tr>
              <a:tr h="384048">
                <a:tc>
                  <a:txBody>
                    <a:bodyPr/>
                    <a:lstStyle/>
                    <a:p>
                      <a:r>
                        <a:rPr sz="900" b="0"/>
                        <a:t>4+</a:t>
                      </a:r>
                    </a:p>
                  </a:txBody>
                  <a:tcPr marT="9144" marB="9144"/>
                </a:tc>
                <a:tc>
                  <a:txBody>
                    <a:bodyPr/>
                    <a:lstStyle/>
                    <a:p>
                      <a:r>
                        <a:rPr sz="900" b="0"/>
                        <a:t>months_since_cert_n &gt; 5.500 &amp; rawben_rel_max &lt;= 0.997 &amp; shelter_expenses_by_hh_size &lt;= 494.000 &amp; total_deductions_by_hh_size &gt; 227.000</a:t>
                      </a:r>
                    </a:p>
                  </a:txBody>
                  <a:tcPr marT="9144" marB="9144"/>
                </a:tc>
                <a:tc>
                  <a:txBody>
                    <a:bodyPr/>
                    <a:lstStyle/>
                    <a:p>
                      <a:r>
                        <a:rPr sz="900" b="0"/>
                        <a:t>9</a:t>
                      </a:r>
                    </a:p>
                  </a:txBody>
                  <a:tcPr marT="9144" marB="9144"/>
                </a:tc>
              </a:tr>
              <a:tr h="384048">
                <a:tc>
                  <a:txBody>
                    <a:bodyPr/>
                    <a:lstStyle/>
                    <a:p>
                      <a:r>
                        <a:rPr sz="900" b="0"/>
                        <a:t>4+</a:t>
                      </a:r>
                    </a:p>
                  </a:txBody>
                  <a:tcPr marT="9144" marB="9144"/>
                </a:tc>
                <a:tc>
                  <a:txBody>
                    <a:bodyPr/>
                    <a:lstStyle/>
                    <a:p>
                      <a:r>
                        <a:rPr sz="900" b="0"/>
                        <a:t>HH_size_n &gt; 4.500 &amp; months_since_cert_n &gt; 4.500 &amp; rawben_rel_max &lt;= 0.988 &amp; total_deductions_by_hh_size &gt; 206.000</a:t>
                      </a:r>
                    </a:p>
                  </a:txBody>
                  <a:tcPr marT="9144" marB="9144"/>
                </a:tc>
                <a:tc>
                  <a:txBody>
                    <a:bodyPr/>
                    <a:lstStyle/>
                    <a:p>
                      <a:r>
                        <a:rPr sz="900" b="0"/>
                        <a:t>9</a:t>
                      </a:r>
                    </a:p>
                  </a:txBody>
                  <a:tcPr marT="9144" marB="9144"/>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The deliverable: one ranked rule list per state, walked to capacity</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Built in advance from public data alone: fill the national pool (mined on all states' 2022-23) against the state's own 2022-23 caseload, in confidence order, until the review budget is reached - then keep filling to 3x that depth. The extra rules are ranked BUFFER rules, shipped in the same list.</a:t>
            </a:r>
          </a:p>
          <a:p>
            <a:pPr>
              <a:spcAft>
                <a:spcPts val="400"/>
              </a:spcAft>
            </a:pPr>
            <a:r>
              <a:rPr sz="1200"/>
              <a:t>- To use it, the state activates rules in order, checking only its own flag counts: keep adding while reviews fit capacity. No error outcomes are needed at any step.</a:t>
            </a:r>
          </a:p>
          <a:p>
            <a:pPr>
              <a:spcAft>
                <a:spcPts val="400"/>
              </a:spcAft>
            </a:pPr>
            <a:r>
              <a:rPr sz="1200"/>
              <a:t>- The buffer is what makes the workload land on budget as patterns change: a state never stops reviewing because a list ran dry, and an over-firing list trims the same way. Raw core lists drifted to 2.3-12% of caseload on 2024; the walked lists land at 4.9-5.0% and 9.3-10.0% in all 18 states.</a:t>
            </a:r>
          </a:p>
          <a:p>
            <a:pPr>
              <a:spcAft>
                <a:spcPts val="400"/>
              </a:spcAft>
            </a:pPr>
            <a:r>
              <a:rPr sz="1200"/>
              <a:t>- Median rules actually activated: 23 at a 5% budget, 42 at 10%. Validation recipe: we freeze on public data through the latest year; the state validates on its own newer internal data before relying on it.</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Freeze each state's list in advance: it costs almost nothing</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The frozen list (built on 2022-23, walked to capacity on 2024) against the full national pool applied at once to the realized 2024 caseload - both at identical review volume.</a:t>
            </a:r>
          </a:p>
          <a:p>
            <a:pPr>
              <a:spcAft>
                <a:spcPts val="400"/>
              </a:spcAft>
            </a:pPr>
            <a:r>
              <a:rPr sz="1200"/>
              <a:t>- Median precision 0.294 vs 0.301 (5% budget) and 0.270 vs 0.275 (10%); error dollars 12% vs 16% and 25% vs 25%. All 18 states clear their base rate.</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pic>
        <p:nvPicPr>
          <p:cNvPr id="5" name="Picture 4" descr="frozen_lists_panels_budget10.png"/>
          <p:cNvPicPr>
            <a:picLocks noChangeAspect="1"/>
          </p:cNvPicPr>
          <p:nvPr/>
        </p:nvPicPr>
        <p:blipFill>
          <a:blip r:embed="rId2"/>
          <a:stretch>
            <a:fillRect/>
          </a:stretch>
        </p:blipFill>
        <p:spPr>
          <a:xfrm>
            <a:off x="3073645" y="1984248"/>
            <a:ext cx="2996709" cy="2633471"/>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What a state is handed under the two-regime rule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One ranked list per state (core sized to the budget + buffer to 3x depth), from the national pool by default or the state's own mined pool where its own rules win on 2024. 'Typically run' = rules actually activated before 2024 capacity filled.</a:t>
            </a:r>
          </a:p>
          <a:p>
            <a:pPr>
              <a:spcAft>
                <a:spcPts val="400"/>
              </a:spcAft>
            </a:pPr>
            <a:r>
              <a:rPr sz="1200"/>
              <a:t>- Own rules are the FALLBACK regime, not a co-equal choice: the public files show only 43-81% of a state's error cases, so where they disagree with the national list, only the state's own internal validation can settle which is really better.</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365760" y="2496312"/>
          <a:ext cx="8412480" cy="3648456"/>
        </p:xfrm>
        <a:graphic>
          <a:graphicData uri="http://schemas.openxmlformats.org/drawingml/2006/table">
            <a:tbl>
              <a:tblPr firstRow="1" bandRow="1">
                <a:tableStyleId>{5C22544A-7EE6-4342-B048-85BDC9FD1C3A}</a:tableStyleId>
              </a:tblPr>
              <a:tblGrid>
                <a:gridCol w="1201782"/>
                <a:gridCol w="1201782"/>
                <a:gridCol w="1201782"/>
                <a:gridCol w="1201782"/>
                <a:gridCol w="1201782"/>
                <a:gridCol w="1201782"/>
                <a:gridCol w="1201788"/>
              </a:tblGrid>
              <a:tr h="192024">
                <a:tc>
                  <a:txBody>
                    <a:bodyPr/>
                    <a:lstStyle/>
                    <a:p>
                      <a:r>
                        <a:rPr sz="900" b="1"/>
                        <a:t>state</a:t>
                      </a:r>
                    </a:p>
                  </a:txBody>
                  <a:tcPr marT="9144" marB="9144"/>
                </a:tc>
                <a:tc>
                  <a:txBody>
                    <a:bodyPr/>
                    <a:lstStyle/>
                    <a:p>
                      <a:r>
                        <a:rPr sz="900" b="1"/>
                        <a:t>regime (5%)</a:t>
                      </a:r>
                    </a:p>
                  </a:txBody>
                  <a:tcPr marT="9144" marB="9144"/>
                </a:tc>
                <a:tc>
                  <a:txBody>
                    <a:bodyPr/>
                    <a:lstStyle/>
                    <a:p>
                      <a:r>
                        <a:rPr sz="900" b="1"/>
                        <a:t>rules handed (5%)</a:t>
                      </a:r>
                    </a:p>
                  </a:txBody>
                  <a:tcPr marT="9144" marB="9144"/>
                </a:tc>
                <a:tc>
                  <a:txBody>
                    <a:bodyPr/>
                    <a:lstStyle/>
                    <a:p>
                      <a:r>
                        <a:rPr sz="900" b="1"/>
                        <a:t>typically run (5%)</a:t>
                      </a:r>
                    </a:p>
                  </a:txBody>
                  <a:tcPr marT="9144" marB="9144"/>
                </a:tc>
                <a:tc>
                  <a:txBody>
                    <a:bodyPr/>
                    <a:lstStyle/>
                    <a:p>
                      <a:r>
                        <a:rPr sz="900" b="1"/>
                        <a:t>regime (10%)</a:t>
                      </a:r>
                    </a:p>
                  </a:txBody>
                  <a:tcPr marT="9144" marB="9144"/>
                </a:tc>
                <a:tc>
                  <a:txBody>
                    <a:bodyPr/>
                    <a:lstStyle/>
                    <a:p>
                      <a:r>
                        <a:rPr sz="900" b="1"/>
                        <a:t>rules handed (10%)</a:t>
                      </a:r>
                    </a:p>
                  </a:txBody>
                  <a:tcPr marT="9144" marB="9144"/>
                </a:tc>
                <a:tc>
                  <a:txBody>
                    <a:bodyPr/>
                    <a:lstStyle/>
                    <a:p>
                      <a:r>
                        <a:rPr sz="900" b="1"/>
                        <a:t>typically run (10%)</a:t>
                      </a:r>
                    </a:p>
                  </a:txBody>
                  <a:tcPr marT="9144" marB="9144"/>
                </a:tc>
              </a:tr>
              <a:tr h="192024">
                <a:tc>
                  <a:txBody>
                    <a:bodyPr/>
                    <a:lstStyle/>
                    <a:p>
                      <a:r>
                        <a:rPr sz="900" b="0"/>
                        <a:t>Arizona</a:t>
                      </a:r>
                    </a:p>
                  </a:txBody>
                  <a:tcPr marT="9144" marB="9144"/>
                </a:tc>
                <a:tc>
                  <a:txBody>
                    <a:bodyPr/>
                    <a:lstStyle/>
                    <a:p>
                      <a:r>
                        <a:rPr sz="900" b="0"/>
                        <a:t>national</a:t>
                      </a:r>
                    </a:p>
                  </a:txBody>
                  <a:tcPr marT="9144" marB="9144"/>
                </a:tc>
                <a:tc>
                  <a:txBody>
                    <a:bodyPr/>
                    <a:lstStyle/>
                    <a:p>
                      <a:r>
                        <a:rPr sz="900" b="0"/>
                        <a:t>99</a:t>
                      </a:r>
                    </a:p>
                  </a:txBody>
                  <a:tcPr marT="9144" marB="9144"/>
                </a:tc>
                <a:tc>
                  <a:txBody>
                    <a:bodyPr/>
                    <a:lstStyle/>
                    <a:p>
                      <a:r>
                        <a:rPr sz="900" b="0"/>
                        <a:t>18</a:t>
                      </a:r>
                    </a:p>
                  </a:txBody>
                  <a:tcPr marT="9144" marB="9144"/>
                </a:tc>
                <a:tc>
                  <a:txBody>
                    <a:bodyPr/>
                    <a:lstStyle/>
                    <a:p>
                      <a:r>
                        <a:rPr sz="900" b="0"/>
                        <a:t>own rules</a:t>
                      </a:r>
                    </a:p>
                  </a:txBody>
                  <a:tcPr marT="9144" marB="9144"/>
                </a:tc>
                <a:tc>
                  <a:txBody>
                    <a:bodyPr/>
                    <a:lstStyle/>
                    <a:p>
                      <a:r>
                        <a:rPr sz="900" b="0"/>
                        <a:t>147</a:t>
                      </a:r>
                    </a:p>
                  </a:txBody>
                  <a:tcPr marT="9144" marB="9144"/>
                </a:tc>
                <a:tc>
                  <a:txBody>
                    <a:bodyPr/>
                    <a:lstStyle/>
                    <a:p>
                      <a:r>
                        <a:rPr sz="900" b="0"/>
                        <a:t>29</a:t>
                      </a:r>
                    </a:p>
                  </a:txBody>
                  <a:tcPr marT="9144" marB="9144"/>
                </a:tc>
              </a:tr>
              <a:tr h="192024">
                <a:tc>
                  <a:txBody>
                    <a:bodyPr/>
                    <a:lstStyle/>
                    <a:p>
                      <a:r>
                        <a:rPr sz="900" b="0"/>
                        <a:t>California</a:t>
                      </a:r>
                    </a:p>
                  </a:txBody>
                  <a:tcPr marT="9144" marB="9144"/>
                </a:tc>
                <a:tc>
                  <a:txBody>
                    <a:bodyPr/>
                    <a:lstStyle/>
                    <a:p>
                      <a:r>
                        <a:rPr sz="900" b="0"/>
                        <a:t>national</a:t>
                      </a:r>
                    </a:p>
                  </a:txBody>
                  <a:tcPr marT="9144" marB="9144"/>
                </a:tc>
                <a:tc>
                  <a:txBody>
                    <a:bodyPr/>
                    <a:lstStyle/>
                    <a:p>
                      <a:r>
                        <a:rPr sz="900" b="0"/>
                        <a:t>93</a:t>
                      </a:r>
                    </a:p>
                  </a:txBody>
                  <a:tcPr marT="9144" marB="9144"/>
                </a:tc>
                <a:tc>
                  <a:txBody>
                    <a:bodyPr/>
                    <a:lstStyle/>
                    <a:p>
                      <a:r>
                        <a:rPr sz="900" b="0"/>
                        <a:t>20</a:t>
                      </a:r>
                    </a:p>
                  </a:txBody>
                  <a:tcPr marT="9144" marB="9144"/>
                </a:tc>
                <a:tc>
                  <a:txBody>
                    <a:bodyPr/>
                    <a:lstStyle/>
                    <a:p>
                      <a:r>
                        <a:rPr sz="900" b="0"/>
                        <a:t>own rules</a:t>
                      </a:r>
                    </a:p>
                  </a:txBody>
                  <a:tcPr marT="9144" marB="9144"/>
                </a:tc>
                <a:tc>
                  <a:txBody>
                    <a:bodyPr/>
                    <a:lstStyle/>
                    <a:p>
                      <a:r>
                        <a:rPr sz="900" b="0"/>
                        <a:t>81</a:t>
                      </a:r>
                    </a:p>
                  </a:txBody>
                  <a:tcPr marT="9144" marB="9144"/>
                </a:tc>
                <a:tc>
                  <a:txBody>
                    <a:bodyPr/>
                    <a:lstStyle/>
                    <a:p>
                      <a:r>
                        <a:rPr sz="900" b="0"/>
                        <a:t>14</a:t>
                      </a:r>
                    </a:p>
                  </a:txBody>
                  <a:tcPr marT="9144" marB="9144"/>
                </a:tc>
              </a:tr>
              <a:tr h="192024">
                <a:tc>
                  <a:txBody>
                    <a:bodyPr/>
                    <a:lstStyle/>
                    <a:p>
                      <a:r>
                        <a:rPr sz="900" b="0"/>
                        <a:t>Colorado</a:t>
                      </a:r>
                    </a:p>
                  </a:txBody>
                  <a:tcPr marT="9144" marB="9144"/>
                </a:tc>
                <a:tc>
                  <a:txBody>
                    <a:bodyPr/>
                    <a:lstStyle/>
                    <a:p>
                      <a:r>
                        <a:rPr sz="900" b="0"/>
                        <a:t>national</a:t>
                      </a:r>
                    </a:p>
                  </a:txBody>
                  <a:tcPr marT="9144" marB="9144"/>
                </a:tc>
                <a:tc>
                  <a:txBody>
                    <a:bodyPr/>
                    <a:lstStyle/>
                    <a:p>
                      <a:r>
                        <a:rPr sz="900" b="0"/>
                        <a:t>136</a:t>
                      </a:r>
                    </a:p>
                  </a:txBody>
                  <a:tcPr marT="9144" marB="9144"/>
                </a:tc>
                <a:tc>
                  <a:txBody>
                    <a:bodyPr/>
                    <a:lstStyle/>
                    <a:p>
                      <a:r>
                        <a:rPr sz="900" b="0"/>
                        <a:t>26</a:t>
                      </a:r>
                    </a:p>
                  </a:txBody>
                  <a:tcPr marT="9144" marB="9144"/>
                </a:tc>
                <a:tc>
                  <a:txBody>
                    <a:bodyPr/>
                    <a:lstStyle/>
                    <a:p>
                      <a:r>
                        <a:rPr sz="900" b="0"/>
                        <a:t>national</a:t>
                      </a:r>
                    </a:p>
                  </a:txBody>
                  <a:tcPr marT="9144" marB="9144"/>
                </a:tc>
                <a:tc>
                  <a:txBody>
                    <a:bodyPr/>
                    <a:lstStyle/>
                    <a:p>
                      <a:r>
                        <a:rPr sz="900" b="0"/>
                        <a:t>264</a:t>
                      </a:r>
                    </a:p>
                  </a:txBody>
                  <a:tcPr marT="9144" marB="9144"/>
                </a:tc>
                <a:tc>
                  <a:txBody>
                    <a:bodyPr/>
                    <a:lstStyle/>
                    <a:p>
                      <a:r>
                        <a:rPr sz="900" b="0"/>
                        <a:t>44</a:t>
                      </a:r>
                    </a:p>
                  </a:txBody>
                  <a:tcPr marT="9144" marB="9144"/>
                </a:tc>
              </a:tr>
              <a:tr h="192024">
                <a:tc>
                  <a:txBody>
                    <a:bodyPr/>
                    <a:lstStyle/>
                    <a:p>
                      <a:r>
                        <a:rPr sz="900" b="0"/>
                        <a:t>Connecticut</a:t>
                      </a:r>
                    </a:p>
                  </a:txBody>
                  <a:tcPr marT="9144" marB="9144"/>
                </a:tc>
                <a:tc>
                  <a:txBody>
                    <a:bodyPr/>
                    <a:lstStyle/>
                    <a:p>
                      <a:r>
                        <a:rPr sz="900" b="0"/>
                        <a:t>own rules</a:t>
                      </a:r>
                    </a:p>
                  </a:txBody>
                  <a:tcPr marT="9144" marB="9144"/>
                </a:tc>
                <a:tc>
                  <a:txBody>
                    <a:bodyPr/>
                    <a:lstStyle/>
                    <a:p>
                      <a:r>
                        <a:rPr sz="900" b="0"/>
                        <a:t>45</a:t>
                      </a:r>
                    </a:p>
                  </a:txBody>
                  <a:tcPr marT="9144" marB="9144"/>
                </a:tc>
                <a:tc>
                  <a:txBody>
                    <a:bodyPr/>
                    <a:lstStyle/>
                    <a:p>
                      <a:r>
                        <a:rPr sz="900" b="0"/>
                        <a:t>8</a:t>
                      </a:r>
                    </a:p>
                  </a:txBody>
                  <a:tcPr marT="9144" marB="9144"/>
                </a:tc>
                <a:tc>
                  <a:txBody>
                    <a:bodyPr/>
                    <a:lstStyle/>
                    <a:p>
                      <a:r>
                        <a:rPr sz="900" b="0"/>
                        <a:t>own rules</a:t>
                      </a:r>
                    </a:p>
                  </a:txBody>
                  <a:tcPr marT="9144" marB="9144"/>
                </a:tc>
                <a:tc>
                  <a:txBody>
                    <a:bodyPr/>
                    <a:lstStyle/>
                    <a:p>
                      <a:r>
                        <a:rPr sz="900" b="0"/>
                        <a:t>107</a:t>
                      </a:r>
                    </a:p>
                  </a:txBody>
                  <a:tcPr marT="9144" marB="9144"/>
                </a:tc>
                <a:tc>
                  <a:txBody>
                    <a:bodyPr/>
                    <a:lstStyle/>
                    <a:p>
                      <a:r>
                        <a:rPr sz="900" b="0"/>
                        <a:t>17</a:t>
                      </a:r>
                    </a:p>
                  </a:txBody>
                  <a:tcPr marT="9144" marB="9144"/>
                </a:tc>
              </a:tr>
              <a:tr h="192024">
                <a:tc>
                  <a:txBody>
                    <a:bodyPr/>
                    <a:lstStyle/>
                    <a:p>
                      <a:r>
                        <a:rPr sz="900" b="0"/>
                        <a:t>District of Columbia</a:t>
                      </a:r>
                    </a:p>
                  </a:txBody>
                  <a:tcPr marT="9144" marB="9144"/>
                </a:tc>
                <a:tc>
                  <a:txBody>
                    <a:bodyPr/>
                    <a:lstStyle/>
                    <a:p>
                      <a:r>
                        <a:rPr sz="900" b="0"/>
                        <a:t>own rules</a:t>
                      </a:r>
                    </a:p>
                  </a:txBody>
                  <a:tcPr marT="9144" marB="9144"/>
                </a:tc>
                <a:tc>
                  <a:txBody>
                    <a:bodyPr/>
                    <a:lstStyle/>
                    <a:p>
                      <a:r>
                        <a:rPr sz="900" b="0"/>
                        <a:t>31</a:t>
                      </a:r>
                    </a:p>
                  </a:txBody>
                  <a:tcPr marT="9144" marB="9144"/>
                </a:tc>
                <a:tc>
                  <a:txBody>
                    <a:bodyPr/>
                    <a:lstStyle/>
                    <a:p>
                      <a:r>
                        <a:rPr sz="900" b="0"/>
                        <a:t>5</a:t>
                      </a:r>
                    </a:p>
                  </a:txBody>
                  <a:tcPr marT="9144" marB="9144"/>
                </a:tc>
                <a:tc>
                  <a:txBody>
                    <a:bodyPr/>
                    <a:lstStyle/>
                    <a:p>
                      <a:r>
                        <a:rPr sz="900" b="0"/>
                        <a:t>own rules</a:t>
                      </a:r>
                    </a:p>
                  </a:txBody>
                  <a:tcPr marT="9144" marB="9144"/>
                </a:tc>
                <a:tc>
                  <a:txBody>
                    <a:bodyPr/>
                    <a:lstStyle/>
                    <a:p>
                      <a:r>
                        <a:rPr sz="900" b="0"/>
                        <a:t>66</a:t>
                      </a:r>
                    </a:p>
                  </a:txBody>
                  <a:tcPr marT="9144" marB="9144"/>
                </a:tc>
                <a:tc>
                  <a:txBody>
                    <a:bodyPr/>
                    <a:lstStyle/>
                    <a:p>
                      <a:r>
                        <a:rPr sz="900" b="0"/>
                        <a:t>19</a:t>
                      </a:r>
                    </a:p>
                  </a:txBody>
                  <a:tcPr marT="9144" marB="9144"/>
                </a:tc>
              </a:tr>
              <a:tr h="192024">
                <a:tc>
                  <a:txBody>
                    <a:bodyPr/>
                    <a:lstStyle/>
                    <a:p>
                      <a:r>
                        <a:rPr sz="900" b="0"/>
                        <a:t>Louisiana</a:t>
                      </a:r>
                    </a:p>
                  </a:txBody>
                  <a:tcPr marT="9144" marB="9144"/>
                </a:tc>
                <a:tc>
                  <a:txBody>
                    <a:bodyPr/>
                    <a:lstStyle/>
                    <a:p>
                      <a:r>
                        <a:rPr sz="900" b="0"/>
                        <a:t>national</a:t>
                      </a:r>
                    </a:p>
                  </a:txBody>
                  <a:tcPr marT="9144" marB="9144"/>
                </a:tc>
                <a:tc>
                  <a:txBody>
                    <a:bodyPr/>
                    <a:lstStyle/>
                    <a:p>
                      <a:r>
                        <a:rPr sz="900" b="0"/>
                        <a:t>112</a:t>
                      </a:r>
                    </a:p>
                  </a:txBody>
                  <a:tcPr marT="9144" marB="9144"/>
                </a:tc>
                <a:tc>
                  <a:txBody>
                    <a:bodyPr/>
                    <a:lstStyle/>
                    <a:p>
                      <a:r>
                        <a:rPr sz="900" b="0"/>
                        <a:t>23</a:t>
                      </a:r>
                    </a:p>
                  </a:txBody>
                  <a:tcPr marT="9144" marB="9144"/>
                </a:tc>
                <a:tc>
                  <a:txBody>
                    <a:bodyPr/>
                    <a:lstStyle/>
                    <a:p>
                      <a:r>
                        <a:rPr sz="900" b="0"/>
                        <a:t>national</a:t>
                      </a:r>
                    </a:p>
                  </a:txBody>
                  <a:tcPr marT="9144" marB="9144"/>
                </a:tc>
                <a:tc>
                  <a:txBody>
                    <a:bodyPr/>
                    <a:lstStyle/>
                    <a:p>
                      <a:r>
                        <a:rPr sz="900" b="0"/>
                        <a:t>223</a:t>
                      </a:r>
                    </a:p>
                  </a:txBody>
                  <a:tcPr marT="9144" marB="9144"/>
                </a:tc>
                <a:tc>
                  <a:txBody>
                    <a:bodyPr/>
                    <a:lstStyle/>
                    <a:p>
                      <a:r>
                        <a:rPr sz="900" b="0"/>
                        <a:t>42</a:t>
                      </a:r>
                    </a:p>
                  </a:txBody>
                  <a:tcPr marT="9144" marB="9144"/>
                </a:tc>
              </a:tr>
              <a:tr h="192024">
                <a:tc>
                  <a:txBody>
                    <a:bodyPr/>
                    <a:lstStyle/>
                    <a:p>
                      <a:r>
                        <a:rPr sz="900" b="0"/>
                        <a:t>Maine</a:t>
                      </a:r>
                    </a:p>
                  </a:txBody>
                  <a:tcPr marT="9144" marB="9144"/>
                </a:tc>
                <a:tc>
                  <a:txBody>
                    <a:bodyPr/>
                    <a:lstStyle/>
                    <a:p>
                      <a:r>
                        <a:rPr sz="900" b="0"/>
                        <a:t>own rules</a:t>
                      </a:r>
                    </a:p>
                  </a:txBody>
                  <a:tcPr marT="9144" marB="9144"/>
                </a:tc>
                <a:tc>
                  <a:txBody>
                    <a:bodyPr/>
                    <a:lstStyle/>
                    <a:p>
                      <a:r>
                        <a:rPr sz="900" b="0"/>
                        <a:t>58</a:t>
                      </a:r>
                    </a:p>
                  </a:txBody>
                  <a:tcPr marT="9144" marB="9144"/>
                </a:tc>
                <a:tc>
                  <a:txBody>
                    <a:bodyPr/>
                    <a:lstStyle/>
                    <a:p>
                      <a:r>
                        <a:rPr sz="900" b="0"/>
                        <a:t>7</a:t>
                      </a:r>
                    </a:p>
                  </a:txBody>
                  <a:tcPr marT="9144" marB="9144"/>
                </a:tc>
                <a:tc>
                  <a:txBody>
                    <a:bodyPr/>
                    <a:lstStyle/>
                    <a:p>
                      <a:r>
                        <a:rPr sz="900" b="0"/>
                        <a:t>national</a:t>
                      </a:r>
                    </a:p>
                  </a:txBody>
                  <a:tcPr marT="9144" marB="9144"/>
                </a:tc>
                <a:tc>
                  <a:txBody>
                    <a:bodyPr/>
                    <a:lstStyle/>
                    <a:p>
                      <a:r>
                        <a:rPr sz="900" b="0"/>
                        <a:t>276</a:t>
                      </a:r>
                    </a:p>
                  </a:txBody>
                  <a:tcPr marT="9144" marB="9144"/>
                </a:tc>
                <a:tc>
                  <a:txBody>
                    <a:bodyPr/>
                    <a:lstStyle/>
                    <a:p>
                      <a:r>
                        <a:rPr sz="900" b="0"/>
                        <a:t>42</a:t>
                      </a:r>
                    </a:p>
                  </a:txBody>
                  <a:tcPr marT="9144" marB="9144"/>
                </a:tc>
              </a:tr>
              <a:tr h="192024">
                <a:tc>
                  <a:txBody>
                    <a:bodyPr/>
                    <a:lstStyle/>
                    <a:p>
                      <a:r>
                        <a:rPr sz="900" b="0"/>
                        <a:t>Maryland</a:t>
                      </a:r>
                    </a:p>
                  </a:txBody>
                  <a:tcPr marT="9144" marB="9144"/>
                </a:tc>
                <a:tc>
                  <a:txBody>
                    <a:bodyPr/>
                    <a:lstStyle/>
                    <a:p>
                      <a:r>
                        <a:rPr sz="900" b="0"/>
                        <a:t>own rules</a:t>
                      </a:r>
                    </a:p>
                  </a:txBody>
                  <a:tcPr marT="9144" marB="9144"/>
                </a:tc>
                <a:tc>
                  <a:txBody>
                    <a:bodyPr/>
                    <a:lstStyle/>
                    <a:p>
                      <a:r>
                        <a:rPr sz="900" b="0"/>
                        <a:t>13</a:t>
                      </a:r>
                    </a:p>
                  </a:txBody>
                  <a:tcPr marT="9144" marB="9144"/>
                </a:tc>
                <a:tc>
                  <a:txBody>
                    <a:bodyPr/>
                    <a:lstStyle/>
                    <a:p>
                      <a:r>
                        <a:rPr sz="900" b="0"/>
                        <a:t>4</a:t>
                      </a:r>
                    </a:p>
                  </a:txBody>
                  <a:tcPr marT="9144" marB="9144"/>
                </a:tc>
                <a:tc>
                  <a:txBody>
                    <a:bodyPr/>
                    <a:lstStyle/>
                    <a:p>
                      <a:r>
                        <a:rPr sz="900" b="0"/>
                        <a:t>own rules</a:t>
                      </a:r>
                    </a:p>
                  </a:txBody>
                  <a:tcPr marT="9144" marB="9144"/>
                </a:tc>
                <a:tc>
                  <a:txBody>
                    <a:bodyPr/>
                    <a:lstStyle/>
                    <a:p>
                      <a:r>
                        <a:rPr sz="900" b="0"/>
                        <a:t>72</a:t>
                      </a:r>
                    </a:p>
                  </a:txBody>
                  <a:tcPr marT="9144" marB="9144"/>
                </a:tc>
                <a:tc>
                  <a:txBody>
                    <a:bodyPr/>
                    <a:lstStyle/>
                    <a:p>
                      <a:r>
                        <a:rPr sz="900" b="0"/>
                        <a:t>8</a:t>
                      </a:r>
                    </a:p>
                  </a:txBody>
                  <a:tcPr marT="9144" marB="9144"/>
                </a:tc>
              </a:tr>
              <a:tr h="192024">
                <a:tc>
                  <a:txBody>
                    <a:bodyPr/>
                    <a:lstStyle/>
                    <a:p>
                      <a:r>
                        <a:rPr sz="900" b="0"/>
                        <a:t>Massachusetts</a:t>
                      </a:r>
                    </a:p>
                  </a:txBody>
                  <a:tcPr marT="9144" marB="9144"/>
                </a:tc>
                <a:tc>
                  <a:txBody>
                    <a:bodyPr/>
                    <a:lstStyle/>
                    <a:p>
                      <a:r>
                        <a:rPr sz="900" b="0"/>
                        <a:t>national</a:t>
                      </a:r>
                    </a:p>
                  </a:txBody>
                  <a:tcPr marT="9144" marB="9144"/>
                </a:tc>
                <a:tc>
                  <a:txBody>
                    <a:bodyPr/>
                    <a:lstStyle/>
                    <a:p>
                      <a:r>
                        <a:rPr sz="900" b="0"/>
                        <a:t>137</a:t>
                      </a:r>
                    </a:p>
                  </a:txBody>
                  <a:tcPr marT="9144" marB="9144"/>
                </a:tc>
                <a:tc>
                  <a:txBody>
                    <a:bodyPr/>
                    <a:lstStyle/>
                    <a:p>
                      <a:r>
                        <a:rPr sz="900" b="0"/>
                        <a:t>20</a:t>
                      </a:r>
                    </a:p>
                  </a:txBody>
                  <a:tcPr marT="9144" marB="9144"/>
                </a:tc>
                <a:tc>
                  <a:txBody>
                    <a:bodyPr/>
                    <a:lstStyle/>
                    <a:p>
                      <a:r>
                        <a:rPr sz="900" b="0"/>
                        <a:t>national</a:t>
                      </a:r>
                    </a:p>
                  </a:txBody>
                  <a:tcPr marT="9144" marB="9144"/>
                </a:tc>
                <a:tc>
                  <a:txBody>
                    <a:bodyPr/>
                    <a:lstStyle/>
                    <a:p>
                      <a:r>
                        <a:rPr sz="900" b="0"/>
                        <a:t>262</a:t>
                      </a:r>
                    </a:p>
                  </a:txBody>
                  <a:tcPr marT="9144" marB="9144"/>
                </a:tc>
                <a:tc>
                  <a:txBody>
                    <a:bodyPr/>
                    <a:lstStyle/>
                    <a:p>
                      <a:r>
                        <a:rPr sz="900" b="0"/>
                        <a:t>38</a:t>
                      </a:r>
                    </a:p>
                  </a:txBody>
                  <a:tcPr marT="9144" marB="9144"/>
                </a:tc>
              </a:tr>
              <a:tr h="192024">
                <a:tc>
                  <a:txBody>
                    <a:bodyPr/>
                    <a:lstStyle/>
                    <a:p>
                      <a:r>
                        <a:rPr sz="900" b="0"/>
                        <a:t>Michigan</a:t>
                      </a:r>
                    </a:p>
                  </a:txBody>
                  <a:tcPr marT="9144" marB="9144"/>
                </a:tc>
                <a:tc>
                  <a:txBody>
                    <a:bodyPr/>
                    <a:lstStyle/>
                    <a:p>
                      <a:r>
                        <a:rPr sz="900" b="0"/>
                        <a:t>national</a:t>
                      </a:r>
                    </a:p>
                  </a:txBody>
                  <a:tcPr marT="9144" marB="9144"/>
                </a:tc>
                <a:tc>
                  <a:txBody>
                    <a:bodyPr/>
                    <a:lstStyle/>
                    <a:p>
                      <a:r>
                        <a:rPr sz="900" b="0"/>
                        <a:t>125</a:t>
                      </a:r>
                    </a:p>
                  </a:txBody>
                  <a:tcPr marT="9144" marB="9144"/>
                </a:tc>
                <a:tc>
                  <a:txBody>
                    <a:bodyPr/>
                    <a:lstStyle/>
                    <a:p>
                      <a:r>
                        <a:rPr sz="900" b="0"/>
                        <a:t>25</a:t>
                      </a:r>
                    </a:p>
                  </a:txBody>
                  <a:tcPr marT="9144" marB="9144"/>
                </a:tc>
                <a:tc>
                  <a:txBody>
                    <a:bodyPr/>
                    <a:lstStyle/>
                    <a:p>
                      <a:r>
                        <a:rPr sz="900" b="0"/>
                        <a:t>national</a:t>
                      </a:r>
                    </a:p>
                  </a:txBody>
                  <a:tcPr marT="9144" marB="9144"/>
                </a:tc>
                <a:tc>
                  <a:txBody>
                    <a:bodyPr/>
                    <a:lstStyle/>
                    <a:p>
                      <a:r>
                        <a:rPr sz="900" b="0"/>
                        <a:t>238</a:t>
                      </a:r>
                    </a:p>
                  </a:txBody>
                  <a:tcPr marT="9144" marB="9144"/>
                </a:tc>
                <a:tc>
                  <a:txBody>
                    <a:bodyPr/>
                    <a:lstStyle/>
                    <a:p>
                      <a:r>
                        <a:rPr sz="900" b="0"/>
                        <a:t>42</a:t>
                      </a:r>
                    </a:p>
                  </a:txBody>
                  <a:tcPr marT="9144" marB="9144"/>
                </a:tc>
              </a:tr>
              <a:tr h="192024">
                <a:tc>
                  <a:txBody>
                    <a:bodyPr/>
                    <a:lstStyle/>
                    <a:p>
                      <a:r>
                        <a:rPr sz="900" b="0"/>
                        <a:t>Mississippi</a:t>
                      </a:r>
                    </a:p>
                  </a:txBody>
                  <a:tcPr marT="9144" marB="9144"/>
                </a:tc>
                <a:tc>
                  <a:txBody>
                    <a:bodyPr/>
                    <a:lstStyle/>
                    <a:p>
                      <a:r>
                        <a:rPr sz="900" b="0"/>
                        <a:t>own rules</a:t>
                      </a:r>
                    </a:p>
                  </a:txBody>
                  <a:tcPr marT="9144" marB="9144"/>
                </a:tc>
                <a:tc>
                  <a:txBody>
                    <a:bodyPr/>
                    <a:lstStyle/>
                    <a:p>
                      <a:r>
                        <a:rPr sz="900" b="0"/>
                        <a:t>43</a:t>
                      </a:r>
                    </a:p>
                  </a:txBody>
                  <a:tcPr marT="9144" marB="9144"/>
                </a:tc>
                <a:tc>
                  <a:txBody>
                    <a:bodyPr/>
                    <a:lstStyle/>
                    <a:p>
                      <a:r>
                        <a:rPr sz="900" b="0"/>
                        <a:t>6</a:t>
                      </a:r>
                    </a:p>
                  </a:txBody>
                  <a:tcPr marT="9144" marB="9144"/>
                </a:tc>
                <a:tc>
                  <a:txBody>
                    <a:bodyPr/>
                    <a:lstStyle/>
                    <a:p>
                      <a:r>
                        <a:rPr sz="900" b="0"/>
                        <a:t>own rules</a:t>
                      </a:r>
                    </a:p>
                  </a:txBody>
                  <a:tcPr marT="9144" marB="9144"/>
                </a:tc>
                <a:tc>
                  <a:txBody>
                    <a:bodyPr/>
                    <a:lstStyle/>
                    <a:p>
                      <a:r>
                        <a:rPr sz="900" b="0"/>
                        <a:t>107</a:t>
                      </a:r>
                    </a:p>
                  </a:txBody>
                  <a:tcPr marT="9144" marB="9144"/>
                </a:tc>
                <a:tc>
                  <a:txBody>
                    <a:bodyPr/>
                    <a:lstStyle/>
                    <a:p>
                      <a:r>
                        <a:rPr sz="900" b="0"/>
                        <a:t>20</a:t>
                      </a:r>
                    </a:p>
                  </a:txBody>
                  <a:tcPr marT="9144" marB="9144"/>
                </a:tc>
              </a:tr>
              <a:tr h="192024">
                <a:tc>
                  <a:txBody>
                    <a:bodyPr/>
                    <a:lstStyle/>
                    <a:p>
                      <a:r>
                        <a:rPr sz="900" b="0"/>
                        <a:t>Missouri</a:t>
                      </a:r>
                    </a:p>
                  </a:txBody>
                  <a:tcPr marT="9144" marB="9144"/>
                </a:tc>
                <a:tc>
                  <a:txBody>
                    <a:bodyPr/>
                    <a:lstStyle/>
                    <a:p>
                      <a:r>
                        <a:rPr sz="900" b="0"/>
                        <a:t>national</a:t>
                      </a:r>
                    </a:p>
                  </a:txBody>
                  <a:tcPr marT="9144" marB="9144"/>
                </a:tc>
                <a:tc>
                  <a:txBody>
                    <a:bodyPr/>
                    <a:lstStyle/>
                    <a:p>
                      <a:r>
                        <a:rPr sz="900" b="0"/>
                        <a:t>107</a:t>
                      </a:r>
                    </a:p>
                  </a:txBody>
                  <a:tcPr marT="9144" marB="9144"/>
                </a:tc>
                <a:tc>
                  <a:txBody>
                    <a:bodyPr/>
                    <a:lstStyle/>
                    <a:p>
                      <a:r>
                        <a:rPr sz="900" b="0"/>
                        <a:t>23</a:t>
                      </a:r>
                    </a:p>
                  </a:txBody>
                  <a:tcPr marT="9144" marB="9144"/>
                </a:tc>
                <a:tc>
                  <a:txBody>
                    <a:bodyPr/>
                    <a:lstStyle/>
                    <a:p>
                      <a:r>
                        <a:rPr sz="900" b="0"/>
                        <a:t>national</a:t>
                      </a:r>
                    </a:p>
                  </a:txBody>
                  <a:tcPr marT="9144" marB="9144"/>
                </a:tc>
                <a:tc>
                  <a:txBody>
                    <a:bodyPr/>
                    <a:lstStyle/>
                    <a:p>
                      <a:r>
                        <a:rPr sz="900" b="0"/>
                        <a:t>203</a:t>
                      </a:r>
                    </a:p>
                  </a:txBody>
                  <a:tcPr marT="9144" marB="9144"/>
                </a:tc>
                <a:tc>
                  <a:txBody>
                    <a:bodyPr/>
                    <a:lstStyle/>
                    <a:p>
                      <a:r>
                        <a:rPr sz="900" b="0"/>
                        <a:t>44</a:t>
                      </a:r>
                    </a:p>
                  </a:txBody>
                  <a:tcPr marT="9144" marB="9144"/>
                </a:tc>
              </a:tr>
              <a:tr h="192024">
                <a:tc>
                  <a:txBody>
                    <a:bodyPr/>
                    <a:lstStyle/>
                    <a:p>
                      <a:r>
                        <a:rPr sz="900" b="0"/>
                        <a:t>New Jersey</a:t>
                      </a:r>
                    </a:p>
                  </a:txBody>
                  <a:tcPr marT="9144" marB="9144"/>
                </a:tc>
                <a:tc>
                  <a:txBody>
                    <a:bodyPr/>
                    <a:lstStyle/>
                    <a:p>
                      <a:r>
                        <a:rPr sz="900" b="0"/>
                        <a:t>own rules</a:t>
                      </a:r>
                    </a:p>
                  </a:txBody>
                  <a:tcPr marT="9144" marB="9144"/>
                </a:tc>
                <a:tc>
                  <a:txBody>
                    <a:bodyPr/>
                    <a:lstStyle/>
                    <a:p>
                      <a:r>
                        <a:rPr sz="900" b="0"/>
                        <a:t>20</a:t>
                      </a:r>
                    </a:p>
                  </a:txBody>
                  <a:tcPr marT="9144" marB="9144"/>
                </a:tc>
                <a:tc>
                  <a:txBody>
                    <a:bodyPr/>
                    <a:lstStyle/>
                    <a:p>
                      <a:r>
                        <a:rPr sz="900" b="0"/>
                        <a:t>2</a:t>
                      </a:r>
                    </a:p>
                  </a:txBody>
                  <a:tcPr marT="9144" marB="9144"/>
                </a:tc>
                <a:tc>
                  <a:txBody>
                    <a:bodyPr/>
                    <a:lstStyle/>
                    <a:p>
                      <a:r>
                        <a:rPr sz="900" b="0"/>
                        <a:t>own rules</a:t>
                      </a:r>
                    </a:p>
                  </a:txBody>
                  <a:tcPr marT="9144" marB="9144"/>
                </a:tc>
                <a:tc>
                  <a:txBody>
                    <a:bodyPr/>
                    <a:lstStyle/>
                    <a:p>
                      <a:r>
                        <a:rPr sz="900" b="0"/>
                        <a:t>72</a:t>
                      </a:r>
                    </a:p>
                  </a:txBody>
                  <a:tcPr marT="9144" marB="9144"/>
                </a:tc>
                <a:tc>
                  <a:txBody>
                    <a:bodyPr/>
                    <a:lstStyle/>
                    <a:p>
                      <a:r>
                        <a:rPr sz="900" b="0"/>
                        <a:t>4</a:t>
                      </a:r>
                    </a:p>
                  </a:txBody>
                  <a:tcPr marT="9144" marB="9144"/>
                </a:tc>
              </a:tr>
              <a:tr h="192024">
                <a:tc>
                  <a:txBody>
                    <a:bodyPr/>
                    <a:lstStyle/>
                    <a:p>
                      <a:r>
                        <a:rPr sz="900" b="0"/>
                        <a:t>North Carolina</a:t>
                      </a:r>
                    </a:p>
                  </a:txBody>
                  <a:tcPr marT="9144" marB="9144"/>
                </a:tc>
                <a:tc>
                  <a:txBody>
                    <a:bodyPr/>
                    <a:lstStyle/>
                    <a:p>
                      <a:r>
                        <a:rPr sz="900" b="0"/>
                        <a:t>national</a:t>
                      </a:r>
                    </a:p>
                  </a:txBody>
                  <a:tcPr marT="9144" marB="9144"/>
                </a:tc>
                <a:tc>
                  <a:txBody>
                    <a:bodyPr/>
                    <a:lstStyle/>
                    <a:p>
                      <a:r>
                        <a:rPr sz="900" b="0"/>
                        <a:t>148</a:t>
                      </a:r>
                    </a:p>
                  </a:txBody>
                  <a:tcPr marT="9144" marB="9144"/>
                </a:tc>
                <a:tc>
                  <a:txBody>
                    <a:bodyPr/>
                    <a:lstStyle/>
                    <a:p>
                      <a:r>
                        <a:rPr sz="900" b="0"/>
                        <a:t>27</a:t>
                      </a:r>
                    </a:p>
                  </a:txBody>
                  <a:tcPr marT="9144" marB="9144"/>
                </a:tc>
                <a:tc>
                  <a:txBody>
                    <a:bodyPr/>
                    <a:lstStyle/>
                    <a:p>
                      <a:r>
                        <a:rPr sz="900" b="0"/>
                        <a:t>own rules</a:t>
                      </a:r>
                    </a:p>
                  </a:txBody>
                  <a:tcPr marT="9144" marB="9144"/>
                </a:tc>
                <a:tc>
                  <a:txBody>
                    <a:bodyPr/>
                    <a:lstStyle/>
                    <a:p>
                      <a:r>
                        <a:rPr sz="900" b="0"/>
                        <a:t>70</a:t>
                      </a:r>
                    </a:p>
                  </a:txBody>
                  <a:tcPr marT="9144" marB="9144"/>
                </a:tc>
                <a:tc>
                  <a:txBody>
                    <a:bodyPr/>
                    <a:lstStyle/>
                    <a:p>
                      <a:r>
                        <a:rPr sz="900" b="0"/>
                        <a:t>12</a:t>
                      </a:r>
                    </a:p>
                  </a:txBody>
                  <a:tcPr marT="9144" marB="9144"/>
                </a:tc>
              </a:tr>
              <a:tr h="192024">
                <a:tc>
                  <a:txBody>
                    <a:bodyPr/>
                    <a:lstStyle/>
                    <a:p>
                      <a:r>
                        <a:rPr sz="900" b="0"/>
                        <a:t>Tennessee</a:t>
                      </a:r>
                    </a:p>
                  </a:txBody>
                  <a:tcPr marT="9144" marB="9144"/>
                </a:tc>
                <a:tc>
                  <a:txBody>
                    <a:bodyPr/>
                    <a:lstStyle/>
                    <a:p>
                      <a:r>
                        <a:rPr sz="900" b="0"/>
                        <a:t>national</a:t>
                      </a:r>
                    </a:p>
                  </a:txBody>
                  <a:tcPr marT="9144" marB="9144"/>
                </a:tc>
                <a:tc>
                  <a:txBody>
                    <a:bodyPr/>
                    <a:lstStyle/>
                    <a:p>
                      <a:r>
                        <a:rPr sz="900" b="0"/>
                        <a:t>143</a:t>
                      </a:r>
                    </a:p>
                  </a:txBody>
                  <a:tcPr marT="9144" marB="9144"/>
                </a:tc>
                <a:tc>
                  <a:txBody>
                    <a:bodyPr/>
                    <a:lstStyle/>
                    <a:p>
                      <a:r>
                        <a:rPr sz="900" b="0"/>
                        <a:t>26</a:t>
                      </a:r>
                    </a:p>
                  </a:txBody>
                  <a:tcPr marT="9144" marB="9144"/>
                </a:tc>
                <a:tc>
                  <a:txBody>
                    <a:bodyPr/>
                    <a:lstStyle/>
                    <a:p>
                      <a:r>
                        <a:rPr sz="900" b="0"/>
                        <a:t>national</a:t>
                      </a:r>
                    </a:p>
                  </a:txBody>
                  <a:tcPr marT="9144" marB="9144"/>
                </a:tc>
                <a:tc>
                  <a:txBody>
                    <a:bodyPr/>
                    <a:lstStyle/>
                    <a:p>
                      <a:r>
                        <a:rPr sz="900" b="0"/>
                        <a:t>281</a:t>
                      </a:r>
                    </a:p>
                  </a:txBody>
                  <a:tcPr marT="9144" marB="9144"/>
                </a:tc>
                <a:tc>
                  <a:txBody>
                    <a:bodyPr/>
                    <a:lstStyle/>
                    <a:p>
                      <a:r>
                        <a:rPr sz="900" b="0"/>
                        <a:t>49</a:t>
                      </a:r>
                    </a:p>
                  </a:txBody>
                  <a:tcPr marT="9144" marB="9144"/>
                </a:tc>
              </a:tr>
              <a:tr h="192024">
                <a:tc>
                  <a:txBody>
                    <a:bodyPr/>
                    <a:lstStyle/>
                    <a:p>
                      <a:r>
                        <a:rPr sz="900" b="0"/>
                        <a:t>Texas</a:t>
                      </a:r>
                    </a:p>
                  </a:txBody>
                  <a:tcPr marT="9144" marB="9144"/>
                </a:tc>
                <a:tc>
                  <a:txBody>
                    <a:bodyPr/>
                    <a:lstStyle/>
                    <a:p>
                      <a:r>
                        <a:rPr sz="900" b="0"/>
                        <a:t>own rules</a:t>
                      </a:r>
                    </a:p>
                  </a:txBody>
                  <a:tcPr marT="9144" marB="9144"/>
                </a:tc>
                <a:tc>
                  <a:txBody>
                    <a:bodyPr/>
                    <a:lstStyle/>
                    <a:p>
                      <a:r>
                        <a:rPr sz="900" b="0"/>
                        <a:t>50</a:t>
                      </a:r>
                    </a:p>
                  </a:txBody>
                  <a:tcPr marT="9144" marB="9144"/>
                </a:tc>
                <a:tc>
                  <a:txBody>
                    <a:bodyPr/>
                    <a:lstStyle/>
                    <a:p>
                      <a:r>
                        <a:rPr sz="900" b="0"/>
                        <a:t>2</a:t>
                      </a:r>
                    </a:p>
                  </a:txBody>
                  <a:tcPr marT="9144" marB="9144"/>
                </a:tc>
                <a:tc>
                  <a:txBody>
                    <a:bodyPr/>
                    <a:lstStyle/>
                    <a:p>
                      <a:r>
                        <a:rPr sz="900" b="0"/>
                        <a:t>own rules</a:t>
                      </a:r>
                    </a:p>
                  </a:txBody>
                  <a:tcPr marT="9144" marB="9144"/>
                </a:tc>
                <a:tc>
                  <a:txBody>
                    <a:bodyPr/>
                    <a:lstStyle/>
                    <a:p>
                      <a:r>
                        <a:rPr sz="900" b="0"/>
                        <a:t>102</a:t>
                      </a:r>
                    </a:p>
                  </a:txBody>
                  <a:tcPr marT="9144" marB="9144"/>
                </a:tc>
                <a:tc>
                  <a:txBody>
                    <a:bodyPr/>
                    <a:lstStyle/>
                    <a:p>
                      <a:r>
                        <a:rPr sz="900" b="0"/>
                        <a:t>10</a:t>
                      </a:r>
                    </a:p>
                  </a:txBody>
                  <a:tcPr marT="9144" marB="9144"/>
                </a:tc>
              </a:tr>
              <a:tr h="192024">
                <a:tc>
                  <a:txBody>
                    <a:bodyPr/>
                    <a:lstStyle/>
                    <a:p>
                      <a:r>
                        <a:rPr sz="900" b="0"/>
                        <a:t>Virginia</a:t>
                      </a:r>
                    </a:p>
                  </a:txBody>
                  <a:tcPr marT="9144" marB="9144"/>
                </a:tc>
                <a:tc>
                  <a:txBody>
                    <a:bodyPr/>
                    <a:lstStyle/>
                    <a:p>
                      <a:r>
                        <a:rPr sz="900" b="0"/>
                        <a:t>national</a:t>
                      </a:r>
                    </a:p>
                  </a:txBody>
                  <a:tcPr marT="9144" marB="9144"/>
                </a:tc>
                <a:tc>
                  <a:txBody>
                    <a:bodyPr/>
                    <a:lstStyle/>
                    <a:p>
                      <a:r>
                        <a:rPr sz="900" b="0"/>
                        <a:t>90</a:t>
                      </a:r>
                    </a:p>
                  </a:txBody>
                  <a:tcPr marT="9144" marB="9144"/>
                </a:tc>
                <a:tc>
                  <a:txBody>
                    <a:bodyPr/>
                    <a:lstStyle/>
                    <a:p>
                      <a:r>
                        <a:rPr sz="900" b="0"/>
                        <a:t>23</a:t>
                      </a:r>
                    </a:p>
                  </a:txBody>
                  <a:tcPr marT="9144" marB="9144"/>
                </a:tc>
                <a:tc>
                  <a:txBody>
                    <a:bodyPr/>
                    <a:lstStyle/>
                    <a:p>
                      <a:r>
                        <a:rPr sz="900" b="0"/>
                        <a:t>own rules</a:t>
                      </a:r>
                    </a:p>
                  </a:txBody>
                  <a:tcPr marT="9144" marB="9144"/>
                </a:tc>
                <a:tc>
                  <a:txBody>
                    <a:bodyPr/>
                    <a:lstStyle/>
                    <a:p>
                      <a:r>
                        <a:rPr sz="900" b="0"/>
                        <a:t>50</a:t>
                      </a:r>
                    </a:p>
                  </a:txBody>
                  <a:tcPr marT="9144" marB="9144"/>
                </a:tc>
                <a:tc>
                  <a:txBody>
                    <a:bodyPr/>
                    <a:lstStyle/>
                    <a:p>
                      <a:r>
                        <a:rPr sz="900" b="0"/>
                        <a:t>8</a:t>
                      </a:r>
                    </a:p>
                  </a:txBody>
                  <a:tcPr marT="9144" marB="9144"/>
                </a:tc>
              </a:tr>
              <a:tr h="192024">
                <a:tc>
                  <a:txBody>
                    <a:bodyPr/>
                    <a:lstStyle/>
                    <a:p>
                      <a:r>
                        <a:rPr sz="900" b="0"/>
                        <a:t>Washington</a:t>
                      </a:r>
                    </a:p>
                  </a:txBody>
                  <a:tcPr marT="9144" marB="9144"/>
                </a:tc>
                <a:tc>
                  <a:txBody>
                    <a:bodyPr/>
                    <a:lstStyle/>
                    <a:p>
                      <a:r>
                        <a:rPr sz="900" b="0"/>
                        <a:t>national</a:t>
                      </a:r>
                    </a:p>
                  </a:txBody>
                  <a:tcPr marT="9144" marB="9144"/>
                </a:tc>
                <a:tc>
                  <a:txBody>
                    <a:bodyPr/>
                    <a:lstStyle/>
                    <a:p>
                      <a:r>
                        <a:rPr sz="900" b="0"/>
                        <a:t>127</a:t>
                      </a:r>
                    </a:p>
                  </a:txBody>
                  <a:tcPr marT="9144" marB="9144"/>
                </a:tc>
                <a:tc>
                  <a:txBody>
                    <a:bodyPr/>
                    <a:lstStyle/>
                    <a:p>
                      <a:r>
                        <a:rPr sz="900" b="0"/>
                        <a:t>22</a:t>
                      </a:r>
                    </a:p>
                  </a:txBody>
                  <a:tcPr marT="9144" marB="9144"/>
                </a:tc>
                <a:tc>
                  <a:txBody>
                    <a:bodyPr/>
                    <a:lstStyle/>
                    <a:p>
                      <a:r>
                        <a:rPr sz="900" b="0"/>
                        <a:t>national</a:t>
                      </a:r>
                    </a:p>
                  </a:txBody>
                  <a:tcPr marT="9144" marB="9144"/>
                </a:tc>
                <a:tc>
                  <a:txBody>
                    <a:bodyPr/>
                    <a:lstStyle/>
                    <a:p>
                      <a:r>
                        <a:rPr sz="900" b="0"/>
                        <a:t>249</a:t>
                      </a:r>
                    </a:p>
                  </a:txBody>
                  <a:tcPr marT="9144" marB="9144"/>
                </a:tc>
                <a:tc>
                  <a:txBody>
                    <a:bodyPr/>
                    <a:lstStyle/>
                    <a:p>
                      <a:r>
                        <a:rPr sz="900" b="0"/>
                        <a:t>49</a:t>
                      </a:r>
                    </a:p>
                  </a:txBody>
                  <a:tcPr marT="9144" marB="9144"/>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Blending state and national rules onto one confidence scale</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Merge the state's own mined pool into the national pool and rank EVERY rule by its own 99% lower-bound precision - national rules bounded on national training data, state rules on the state's own. Both read 'at least this, with 99% confidence', and the bound applies the certainty discount automatically: a small-support state rule outranks national rules only when its precision overcomes the penalty.</a:t>
            </a:r>
          </a:p>
          <a:p>
            <a:pPr>
              <a:spcAft>
                <a:spcPts val="400"/>
              </a:spcAft>
            </a:pPr>
            <a:r>
              <a:rPr sz="1200"/>
              <a:t>- As a single recipe with no regime decision, the blend beats the national-only frozen list at a 5% budget (median 0.324 vs 0.294 precision, 15% vs 12% of error dollars) and ties it at 10%. Where state rules clear the bar, interleaving beats either pool alone: Arizona 0.326 (vs 0.291 best single), DC 0.495 (vs 0.464), Mississippi 0.374 (vs 0.355).</a:t>
            </a:r>
          </a:p>
          <a:p>
            <a:pPr>
              <a:spcAft>
                <a:spcPts val="400"/>
              </a:spcAft>
            </a:pPr>
            <a:r>
              <a:rPr sz="1200"/>
              <a:t>- The known blind spot: a national rule's bound describes its precision on the national mix and is silent about transfer, so in states where the national mix fits worst the scale over-trusts national rules - New Jersey's own rules never enter and the blend under-delivers there (0.161 vs 0.230 for its own list at 10%).</a:t>
            </a:r>
          </a:p>
          <a:p>
            <a:pPr>
              <a:spcAft>
                <a:spcPts val="400"/>
              </a:spcAft>
            </a:pPr>
            <a:r>
              <a:rPr sz="1200"/>
              <a:t>- Deployment: blend as the default; the own-pool list stays available as the fallback where a state's internal validation shows the blend under-performing. In low-visibility states (New Jersey: 43% of error cases visible) the public data cannot settle the question - the state's internal check decides.</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graphicFrame>
        <p:nvGraphicFramePr>
          <p:cNvPr id="5" name="Table 4"/>
          <p:cNvGraphicFramePr>
            <a:graphicFrameLocks noGrp="1"/>
          </p:cNvGraphicFramePr>
          <p:nvPr/>
        </p:nvGraphicFramePr>
        <p:xfrm>
          <a:off x="1600200" y="4800600"/>
          <a:ext cx="5943600" cy="1170432"/>
        </p:xfrm>
        <a:graphic>
          <a:graphicData uri="http://schemas.openxmlformats.org/drawingml/2006/table">
            <a:tbl>
              <a:tblPr firstRow="1" bandRow="1">
                <a:tableStyleId>{5C22544A-7EE6-4342-B048-85BDC9FD1C3A}</a:tableStyleId>
              </a:tblPr>
              <a:tblGrid>
                <a:gridCol w="1981200"/>
                <a:gridCol w="1981200"/>
                <a:gridCol w="1981200"/>
              </a:tblGrid>
              <a:tr h="292608">
                <a:tc>
                  <a:txBody>
                    <a:bodyPr/>
                    <a:lstStyle/>
                    <a:p>
                      <a:r>
                        <a:rPr sz="1200" b="1"/>
                        <a:t>option (single recipe)</a:t>
                      </a:r>
                    </a:p>
                  </a:txBody>
                  <a:tcPr marT="9144" marB="9144"/>
                </a:tc>
                <a:tc>
                  <a:txBody>
                    <a:bodyPr/>
                    <a:lstStyle/>
                    <a:p>
                      <a:r>
                        <a:rPr sz="1200" b="1"/>
                        <a:t>5% budget</a:t>
                      </a:r>
                    </a:p>
                  </a:txBody>
                  <a:tcPr marT="9144" marB="9144"/>
                </a:tc>
                <a:tc>
                  <a:txBody>
                    <a:bodyPr/>
                    <a:lstStyle/>
                    <a:p>
                      <a:r>
                        <a:rPr sz="1200" b="1"/>
                        <a:t>10% budget</a:t>
                      </a:r>
                    </a:p>
                  </a:txBody>
                  <a:tcPr marT="9144" marB="9144"/>
                </a:tc>
              </a:tr>
              <a:tr h="292608">
                <a:tc>
                  <a:txBody>
                    <a:bodyPr/>
                    <a:lstStyle/>
                    <a:p>
                      <a:r>
                        <a:rPr sz="1200" b="0"/>
                        <a:t>national-only frozen list</a:t>
                      </a:r>
                    </a:p>
                  </a:txBody>
                  <a:tcPr marT="9144" marB="9144"/>
                </a:tc>
                <a:tc>
                  <a:txBody>
                    <a:bodyPr/>
                    <a:lstStyle/>
                    <a:p>
                      <a:r>
                        <a:rPr sz="1200" b="0"/>
                        <a:t>0.294 / 12%</a:t>
                      </a:r>
                    </a:p>
                  </a:txBody>
                  <a:tcPr marT="9144" marB="9144"/>
                </a:tc>
                <a:tc>
                  <a:txBody>
                    <a:bodyPr/>
                    <a:lstStyle/>
                    <a:p>
                      <a:r>
                        <a:rPr sz="1200" b="0"/>
                        <a:t>0.270 / 25%</a:t>
                      </a:r>
                    </a:p>
                  </a:txBody>
                  <a:tcPr marT="9144" marB="9144"/>
                </a:tc>
              </a:tr>
              <a:tr h="292608">
                <a:tc>
                  <a:txBody>
                    <a:bodyPr/>
                    <a:lstStyle/>
                    <a:p>
                      <a:r>
                        <a:rPr sz="1200" b="0"/>
                        <a:t>blended frozen list (99% bound)</a:t>
                      </a:r>
                    </a:p>
                  </a:txBody>
                  <a:tcPr marT="9144" marB="9144"/>
                </a:tc>
                <a:tc>
                  <a:txBody>
                    <a:bodyPr/>
                    <a:lstStyle/>
                    <a:p>
                      <a:r>
                        <a:rPr sz="1200" b="0"/>
                        <a:t>0.324 / 15%</a:t>
                      </a:r>
                    </a:p>
                  </a:txBody>
                  <a:tcPr marT="9144" marB="9144"/>
                </a:tc>
                <a:tc>
                  <a:txBody>
                    <a:bodyPr/>
                    <a:lstStyle/>
                    <a:p>
                      <a:r>
                        <a:rPr sz="1200" b="0"/>
                        <a:t>0.262 / 24%</a:t>
                      </a:r>
                    </a:p>
                  </a:txBody>
                  <a:tcPr marT="9144" marB="9144"/>
                </a:tc>
              </a:tr>
              <a:tr h="292608">
                <a:tc>
                  <a:txBody>
                    <a:bodyPr/>
                    <a:lstStyle/>
                    <a:p>
                      <a:r>
                        <a:rPr sz="1200" b="0"/>
                        <a:t>state's own pool only</a:t>
                      </a:r>
                    </a:p>
                  </a:txBody>
                  <a:tcPr marT="9144" marB="9144"/>
                </a:tc>
                <a:tc>
                  <a:txBody>
                    <a:bodyPr/>
                    <a:lstStyle/>
                    <a:p>
                      <a:r>
                        <a:rPr sz="1200" b="0"/>
                        <a:t>0.256 / 13%</a:t>
                      </a:r>
                    </a:p>
                  </a:txBody>
                  <a:tcPr marT="9144" marB="9144"/>
                </a:tc>
                <a:tc>
                  <a:txBody>
                    <a:bodyPr/>
                    <a:lstStyle/>
                    <a:p>
                      <a:r>
                        <a:rPr sz="1200" b="0"/>
                        <a:t>0.236 / 25%</a:t>
                      </a:r>
                    </a:p>
                  </a:txBody>
                  <a:tcPr marT="9144" marB="9144"/>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00000" y="200000"/>
            <a:ext cx="8344000" cy="600000"/>
          </a:xfrm>
          <a:prstGeom prst="rect">
            <a:avLst/>
          </a:prstGeom>
          <a:noFill/>
        </p:spPr>
        <p:txBody>
          <a:bodyPr wrap="none">
            <a:spAutoFit/>
          </a:bodyPr>
          <a:lstStyle/>
          <a:p>
            <a:r>
              <a:rPr sz="2200" b="1"/>
              <a:t>Takeaways</a:t>
            </a:r>
          </a:p>
        </p:txBody>
      </p:sp>
      <p:sp>
        <p:nvSpPr>
          <p:cNvPr id="4" name="TextBox 3"/>
          <p:cNvSpPr txBox="1"/>
          <p:nvPr/>
        </p:nvSpPr>
        <p:spPr>
          <a:xfrm>
            <a:off x="400000" y="760000"/>
            <a:ext cx="8344000" cy="430000"/>
          </a:xfrm>
          <a:prstGeom prst="rect">
            <a:avLst/>
          </a:prstGeom>
          <a:noFill/>
        </p:spPr>
        <p:txBody>
          <a:bodyPr wrap="square">
            <a:spAutoFit/>
          </a:bodyPr>
          <a:lstStyle/>
          <a:p>
            <a:pPr>
              <a:spcAft>
                <a:spcPts val="400"/>
              </a:spcAft>
            </a:pPr>
            <a:r>
              <a:rPr sz="1200"/>
              <a:t>- Reconcile your build against the raw files before tuning anything: our two data-build fixes moved results more than any hyperparameter.</a:t>
            </a:r>
          </a:p>
          <a:p>
            <a:pPr>
              <a:spcAft>
                <a:spcPts val="400"/>
              </a:spcAft>
            </a:pPr>
            <a:r>
              <a:rPr sz="1200"/>
              <a:t>- Select on a lower confidence bound, judge on a held-out year, and add hard support floors when samples are small.</a:t>
            </a:r>
          </a:p>
          <a:p>
            <a:pPr>
              <a:spcAft>
                <a:spcPts val="400"/>
              </a:spcAft>
            </a:pPr>
            <a:r>
              <a:rPr sz="1200"/>
              <a:t>- Score against all error types; stratify only where a variable can't do the job; prefer same-era similar data over more mixed data.</a:t>
            </a:r>
          </a:p>
          <a:p>
            <a:pPr>
              <a:spcAft>
                <a:spcPts val="400"/>
              </a:spcAft>
            </a:pPr>
            <a:r>
              <a:rPr sz="1200"/>
              <a:t>- Numbers, charts, and code: github.com/giannella/snap_qc</a:t>
            </a:r>
          </a:p>
        </p:txBody>
      </p:sp>
      <p:sp>
        <p:nvSpPr>
          <p:cNvPr id="3" name="TextBox 2"/>
          <p:cNvSpPr txBox="1"/>
          <p:nvPr/>
        </p:nvSpPr>
        <p:spPr>
          <a:xfrm>
            <a:off x="400000" y="4723500"/>
            <a:ext cx="3200000" cy="320000"/>
          </a:xfrm>
          <a:prstGeom prst="rect">
            <a:avLst/>
          </a:prstGeom>
          <a:noFill/>
        </p:spPr>
        <p:txBody>
          <a:bodyPr wrap="none">
            <a:spAutoFit/>
          </a:bodyPr>
          <a:lstStyle/>
          <a:p>
            <a:r>
              <a:rPr sz="1000" i="1"/>
              <a:t>SNAP QC modeling lessons - July 2026</a:t>
            </a: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126</TotalTime>
  <Words>2240</Words>
  <Application>Microsoft Office PowerPoint</Application>
  <PresentationFormat>On-screen Show (16:9)</PresentationFormat>
  <Paragraphs>180</Paragraphs>
  <Slides>22</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Better Government Lab</dc:creator>
  <cp:lastModifiedBy>Eric Giannella</cp:lastModifiedBy>
  <cp:revision>21</cp:revision>
  <dcterms:created xsi:type="dcterms:W3CDTF">2026-06-09T21:09:16Z</dcterms:created>
  <dcterms:modified xsi:type="dcterms:W3CDTF">2026-07-07T23:41:47Z</dcterms:modified>
</cp:coreProperties>
</file>