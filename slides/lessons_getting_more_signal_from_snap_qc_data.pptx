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iHiQSzGui/N0IV2pULBjiL6ibj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1BCCF0-E1D9-4781-8257-B1F1CAFEECCC}">
  <a:tblStyle styleId="{E11BCCF0-E1D9-4781-8257-B1F1CAFEECC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715" autoAdjust="0"/>
    <p:restoredTop sz="95861" autoAdjust="0"/>
  </p:normalViewPr>
  <p:slideViewPr>
    <p:cSldViewPr snapToGrid="0">
      <p:cViewPr varScale="1">
        <p:scale>
          <a:sx n="135" d="100"/>
          <a:sy n="135" d="100"/>
        </p:scale>
        <p:origin x="25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" name="Google Shape;9;p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1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- The fix did not rewrite the rules' content: 93% of the previous rule set survived the rebuild - 63% as the same variables and directions with shifted </a:t>
            </a:r>
            <a:r>
              <a:rPr lang="en-US" sz="1100" dirty="0" err="1"/>
              <a:t>cutpoints</a:t>
            </a:r>
            <a:r>
              <a:rPr lang="en-US" sz="1100" dirty="0"/>
              <a:t>, 29% matched by a new rule flagging a highly overlapping case set (Jaccard &gt;= 0.5 on the test year), 1% exact; only 7% dropped with no counterpart. | - Nor did the restored cases add a new pattern type: brand-new rules' catches were 34% restored-case vs a 32</a:t>
            </a:r>
            <a:r>
              <a:rPr lang="en-US" sz="1100"/>
              <a:t>% base. 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2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2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3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3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3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3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3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3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3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3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4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4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4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4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4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4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4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4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4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5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5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5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5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annella/snap_qc/blob/main/INCL_build_blended_delivery_list_v2.R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/>
          <p:nvPr/>
        </p:nvSpPr>
        <p:spPr>
          <a:xfrm>
            <a:off x="640080" y="1543050"/>
            <a:ext cx="7863840" cy="162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Getting more signal out of SNAP QC data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 lessons  ·  open-source code  ·  rules each state can test on FY25/26</a:t>
            </a:r>
            <a:endParaRPr/>
          </a:p>
        </p:txBody>
      </p:sp>
      <p:sp>
        <p:nvSpPr>
          <p:cNvPr id="12" name="Google Shape;12;p8"/>
          <p:cNvSpPr txBox="1"/>
          <p:nvPr/>
        </p:nvSpPr>
        <p:spPr>
          <a:xfrm>
            <a:off x="640080" y="3806190"/>
            <a:ext cx="7863840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 Giannella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Georgetown Better Government Lab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July 2026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/>
        </p:nvSpPr>
        <p:spPr>
          <a:xfrm>
            <a:off x="400000" y="200000"/>
            <a:ext cx="450796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key things I want to convey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sp>
        <p:nvSpPr>
          <p:cNvPr id="19" name="Google Shape;19;p9"/>
          <p:cNvSpPr txBox="1"/>
          <p:nvPr/>
        </p:nvSpPr>
        <p:spPr>
          <a:xfrm>
            <a:off x="402336" y="758952"/>
            <a:ext cx="83211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We’ve published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available rules that may help improve precision &amp; recall. I’d love to get additional volunteers to test.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publicly available code reflects the modeling lessons I’m going to go through today. Hopefully the lessons are helpful even if you do not use the publicly available code.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/>
        </p:nvSpPr>
        <p:spPr>
          <a:xfrm>
            <a:off x="400000" y="200000"/>
            <a:ext cx="79319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Opportunit</a:t>
            </a:r>
            <a:r>
              <a:rPr lang="en-US" sz="2200" b="1"/>
              <a:t>ies</a:t>
            </a: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200" b="1"/>
              <a:t>aka</a:t>
            </a: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favors)</a:t>
            </a:r>
            <a:endParaRPr/>
          </a:p>
        </p:txBody>
      </p:sp>
      <p:sp>
        <p:nvSpPr>
          <p:cNvPr id="25" name="Google Shape;25;p10"/>
          <p:cNvSpPr txBox="1"/>
          <p:nvPr/>
        </p:nvSpPr>
        <p:spPr>
          <a:xfrm>
            <a:off x="400000" y="760000"/>
            <a:ext cx="7511400" cy="3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a frozen, ranked rule list to your FY25/26 cases and tell us the hit rate. No modeling, no re-training. The list was mined on all states' 2022-24 public QC data.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approach has been tested by mining rules from 2022-23 and testing on 2024: 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arenR"/>
            </a:pPr>
            <a:r>
              <a:rPr lang="en-US" dirty="0"/>
              <a:t>M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edian precision 0.27-0.30 at 5-10% review budgets, against state base error rates of 8-17%.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 of 15-24% error dollars at 5-10% caseload review budgets. 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18 states tested cleared their base rate: the rules found 1.5-3.4x the errors that unaided review of the same volume finds.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US" dirty="0"/>
              <a:t>Use the code yourself! Could combine your state’s data with national qc data (also in the repo).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and findings: github.com/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giannella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snap_qc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(methods/modeling_findings.md)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/>
        </p:nvSpPr>
        <p:spPr>
          <a:xfrm>
            <a:off x="400000" y="200000"/>
            <a:ext cx="30748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 rule looks like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/>
          <p:nvPr/>
        </p:nvSpPr>
        <p:spPr>
          <a:xfrm>
            <a:off x="402336" y="758952"/>
            <a:ext cx="8321100" cy="2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most widely shipped rules (households of 4+):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certified 10 or more months ago,  AND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computed benefit at 68-82% of the household maximum,  AND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deductions per household member of at least $27   </a:t>
            </a: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  flag the case for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2022-23 training data it flagged 173 cases; 40% had a payment error (99% lower bound: at least 32%). It’s on 15 of the 18 state lists.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typical rule combines 3-4 conditions drawn from 16 case fields.</a:t>
            </a:r>
            <a:endParaRPr/>
          </a:p>
        </p:txBody>
      </p:sp>
      <p:sp>
        <p:nvSpPr>
          <p:cNvPr id="32" name="Google Shape;32;p11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/>
        </p:nvSpPr>
        <p:spPr>
          <a:xfrm>
            <a:off x="400000" y="208586"/>
            <a:ext cx="507222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Intuition for new modeling approach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2"/>
          <p:cNvSpPr txBox="1"/>
          <p:nvPr/>
        </p:nvSpPr>
        <p:spPr>
          <a:xfrm>
            <a:off x="400000" y="772875"/>
            <a:ext cx="6661200" cy="4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trike="noStrike" cap="none">
                <a:solidFill>
                  <a:srgbClr val="000000"/>
                </a:solidFill>
              </a:rPr>
              <a:t>Goal: create the best pool of rules that can be filtered and applied per state.</a:t>
            </a:r>
            <a:endParaRPr sz="1600" b="1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 i="1"/>
              <a:t>hopefully means the method itself is also useful</a:t>
            </a:r>
            <a:endParaRPr i="1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/>
              <a:t>Originally: relied on 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ecision trees with lots of </a:t>
            </a:r>
            <a:r>
              <a:rPr lang="en-US" sz="1600"/>
              <a:t>15-30%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subsampling to </a:t>
            </a:r>
            <a:r>
              <a:rPr lang="en-US" sz="1600"/>
              <a:t>ensure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diversity. But, this approach benefited less from learning. (And, </a:t>
            </a:r>
            <a:r>
              <a:rPr lang="en-US" sz="1600"/>
              <a:t>g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etting rules out of </a:t>
            </a:r>
            <a:r>
              <a:rPr lang="en-US" sz="1600"/>
              <a:t>tree methods used to be a pain, but now it’s not.)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/>
              <a:t>New approach:</a:t>
            </a: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The pipeline extracts every root-to-node path in every tree as a candidate rule; xgboost's boosting makes it better at common error patterns.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To ensure coverage for less common circumstances, we added a random forest allowed to choose between only 1 or 2 variables at each split (2 was better).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/>
        </p:nvSpPr>
        <p:spPr>
          <a:xfrm>
            <a:off x="400000" y="208575"/>
            <a:ext cx="7529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two engines complement each other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25" y="841625"/>
            <a:ext cx="8080925" cy="40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/>
        </p:nvSpPr>
        <p:spPr>
          <a:xfrm>
            <a:off x="731520" y="1748790"/>
            <a:ext cx="7680960" cy="82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improvements and limitations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7"/>
          <p:cNvSpPr/>
          <p:nvPr/>
        </p:nvSpPr>
        <p:spPr>
          <a:xfrm>
            <a:off x="3200400" y="1543050"/>
            <a:ext cx="2743200" cy="1778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/>
        </p:nvSpPr>
        <p:spPr>
          <a:xfrm>
            <a:off x="400000" y="200000"/>
            <a:ext cx="845135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data munging choices changed results more than tuning</a:t>
            </a:r>
            <a:endParaRPr/>
          </a:p>
        </p:txBody>
      </p:sp>
      <p:sp>
        <p:nvSpPr>
          <p:cNvPr id="56" name="Google Shape;56;p18"/>
          <p:cNvSpPr txBox="1"/>
          <p:nvPr/>
        </p:nvSpPr>
        <p:spPr>
          <a:xfrm>
            <a:off x="400000" y="760000"/>
            <a:ext cx="6720835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Worried that second error element cases would mislead the model,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probably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matter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- 31% of error cases were being dropped (second error element); restoring them tripled the qualifying rules.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Rule content survived the fix: 93% of the old rule set persisted.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Blank deduction fields dropped cases from models (e.g., ~16% of Washington's caseload); zero-fill + flag kept them. Ran search for other blanks vars.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Both defects were invisible in model metrics. We found them only by reconciling counts against the raw files.</a:t>
            </a:r>
            <a:endParaRPr/>
          </a:p>
        </p:txBody>
      </p:sp>
      <p:sp>
        <p:nvSpPr>
          <p:cNvPr id="57" name="Google Shape;57;p18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/>
        </p:nvSpPr>
        <p:spPr>
          <a:xfrm>
            <a:off x="400000" y="200000"/>
            <a:ext cx="78534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 of the public QC data – esp. for certain states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 txBox="1"/>
          <p:nvPr/>
        </p:nvSpPr>
        <p:spPr>
          <a:xfrm>
            <a:off x="402336" y="758952"/>
            <a:ext cx="4526280" cy="268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reconciled the public files against the QC technical documentation's exclusion counts, per state and year (2022-24).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public files show 43% (New Jersey) to 91% (Georgia) of each state's error cases; national 71%. The missing cases are ineligible determinations.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bounds what any public-data model can deliver per state; we quote it alongside every state result.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Below ~60% visibility (NJ, TN, AR, MO, UT): treat these rules as a supplement and run the mining pipeline on internal data; a full run takes about 45 minutes on a 16 GB laptop.</a:t>
            </a:r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65" name="Google Shape;65;p19" descr="visibility_dotplot_2022_20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4920" y="566928"/>
            <a:ext cx="3757889" cy="416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/>
        </p:nvSpPr>
        <p:spPr>
          <a:xfrm>
            <a:off x="731520" y="1748790"/>
            <a:ext cx="7680960" cy="82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Selecting rules</a:t>
            </a:r>
            <a:endParaRPr/>
          </a:p>
        </p:txBody>
      </p:sp>
      <p:sp>
        <p:nvSpPr>
          <p:cNvPr id="71" name="Google Shape;71;p20"/>
          <p:cNvSpPr/>
          <p:nvPr/>
        </p:nvSpPr>
        <p:spPr>
          <a:xfrm>
            <a:off x="3200400" y="1543050"/>
            <a:ext cx="2743200" cy="1778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/>
        </p:nvSpPr>
        <p:spPr>
          <a:xfrm>
            <a:off x="400000" y="200000"/>
            <a:ext cx="81996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training precision example: promised 0.20 and delivered 0.10</a:t>
            </a:r>
            <a:endParaRPr/>
          </a:p>
        </p:txBody>
      </p:sp>
      <p:sp>
        <p:nvSpPr>
          <p:cNvPr id="77" name="Google Shape;77;p21"/>
          <p:cNvSpPr txBox="1"/>
          <p:nvPr/>
        </p:nvSpPr>
        <p:spPr>
          <a:xfrm>
            <a:off x="400000" y="763153"/>
            <a:ext cx="3974524" cy="344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 rules based on training precision: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0.20 raw bar delivered ~0.18 combined; a 0.40 bar delivered ~0.22 (red)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filter &gt;.2 with confidence bound has expected decay (blue)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But, rules selected on the HOLDOUT &gt;= 0.20 showed median train precision 0.116.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And, before any selection, train precision was nearly unbiased for holdout (median gap -0.003, r = 0.83)</a:t>
            </a:r>
            <a:endParaRPr sz="12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the decay is selection noise (regression to the mean), not overfitting or year drift</a:t>
            </a:r>
            <a:endParaRPr/>
          </a:p>
        </p:txBody>
      </p:sp>
      <p:sp>
        <p:nvSpPr>
          <p:cNvPr id="78" name="Google Shape;78;p21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79" name="Google Shape;79;p21" descr="image.png"/>
          <p:cNvPicPr preferRelativeResize="0"/>
          <p:nvPr/>
        </p:nvPicPr>
        <p:blipFill rotWithShape="1">
          <a:blip r:embed="rId3">
            <a:alphaModFix/>
          </a:blip>
          <a:srcRect l="11621" t="16353" r="10982"/>
          <a:stretch/>
        </p:blipFill>
        <p:spPr>
          <a:xfrm>
            <a:off x="4649273" y="643069"/>
            <a:ext cx="4031088" cy="435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/>
        </p:nvSpPr>
        <p:spPr>
          <a:xfrm>
            <a:off x="400000" y="200000"/>
            <a:ext cx="70198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way to select rules: lower confidence bound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/>
        </p:nvSpPr>
        <p:spPr>
          <a:xfrm>
            <a:off x="400000" y="759998"/>
            <a:ext cx="3200000" cy="387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Keep a rule only if the 99% Wilson lower bound of its training precision clears the floor: delivered precision then meets the floor, with ~50% more recall at 0.20 than raw selection.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10 cases flagged, aiming for 0.3 precision: need 7 of 10 hits (raw 0.70)</a:t>
            </a:r>
            <a:endParaRPr/>
          </a:p>
          <a:p>
            <a:pPr marL="171450" marR="0" lvl="0" indent="-171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100 cases flagged, aiming for 0.3 precision: need 41 of 100 hits (raw 0.41)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(Raw selection also had a support floor: n &gt;= 10, but curse survived it.)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The lower bound is the only selection statistic we tested whose value survives contact with a new year.</a:t>
            </a:r>
            <a:endParaRPr/>
          </a:p>
        </p:txBody>
      </p:sp>
      <p:sp>
        <p:nvSpPr>
          <p:cNvPr id="86" name="Google Shape;86;p22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87" name="Google Shape;87;p22" descr="floor_definitions_educational_20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1934" y="722110"/>
            <a:ext cx="5576852" cy="407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Bigger ensembles widen the menu, not the frontier</a:t>
            </a:r>
            <a:endParaRPr/>
          </a:p>
        </p:txBody>
      </p:sp>
      <p:sp>
        <p:nvSpPr>
          <p:cNvPr id="93" name="Google Shape;93;p23"/>
          <p:cNvSpPr txBox="1"/>
          <p:nvPr/>
        </p:nvSpPr>
        <p:spPr>
          <a:xfrm>
            <a:off x="400000" y="759999"/>
            <a:ext cx="3270600" cy="23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- 1000-round/1000-tree ensembles traced the roughly the same precision-recall frontier as smaller ones</a:t>
            </a:r>
            <a:r>
              <a:rPr lang="en-US" sz="1200"/>
              <a:t>,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~2.6-5x the filtered inventory.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Why a redundant inventory? </a:t>
            </a:r>
            <a:r>
              <a:rPr lang="en-US" sz="1200"/>
              <a:t>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xclude rules </a:t>
            </a:r>
            <a:r>
              <a:rPr lang="en-US" sz="1200"/>
              <a:t>you know will not work.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200"/>
              <a:t>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99% lower-bound filter is what keeps large pools </a:t>
            </a:r>
            <a:r>
              <a:rPr lang="en-US" sz="1200"/>
              <a:t>reliable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3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95" name="Google Shape;95;p23" descr="image.png"/>
          <p:cNvPicPr preferRelativeResize="0"/>
          <p:nvPr/>
        </p:nvPicPr>
        <p:blipFill rotWithShape="1">
          <a:blip r:embed="rId3">
            <a:alphaModFix/>
          </a:blip>
          <a:srcRect t="18446"/>
          <a:stretch/>
        </p:blipFill>
        <p:spPr>
          <a:xfrm>
            <a:off x="3600000" y="1326524"/>
            <a:ext cx="5489148" cy="2797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/>
        </p:nvSpPr>
        <p:spPr>
          <a:xfrm>
            <a:off x="402336" y="27432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error category vs all errors: mine both, pool them</a:t>
            </a:r>
            <a:endParaRPr/>
          </a:p>
        </p:txBody>
      </p:sp>
      <p:sp>
        <p:nvSpPr>
          <p:cNvPr id="101" name="Google Shape;101;p24"/>
          <p:cNvSpPr txBox="1"/>
          <p:nvPr/>
        </p:nvSpPr>
        <p:spPr>
          <a:xfrm>
            <a:off x="402336" y="1463040"/>
            <a:ext cx="3566160" cy="117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 frames edge one all-errors model slightly; the UNION wins: +3-6pp recall for ~1pp precision.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Chart: the 2024 replication. The original 2023 run agreed (in repo).</a:t>
            </a:r>
            <a:endParaRPr/>
          </a:p>
        </p:txBody>
      </p:sp>
      <p:pic>
        <p:nvPicPr>
          <p:cNvPr id="102" name="Google Shape;102;p24" descr="anyerror_vs_typed_swee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9080" y="777240"/>
            <a:ext cx="4892040" cy="299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by coarse household-size strata (1 / 2-3 / 4+)</a:t>
            </a:r>
            <a:endParaRPr/>
          </a:p>
        </p:txBody>
      </p:sp>
      <p:sp>
        <p:nvSpPr>
          <p:cNvPr id="108" name="Google Shape;108;p25"/>
          <p:cNvSpPr txBox="1"/>
          <p:nvPr/>
        </p:nvSpPr>
        <p:spPr>
          <a:xfrm>
            <a:off x="236136" y="800000"/>
            <a:ext cx="2645383" cy="254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CART/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RuleFit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strata bought +47% precision. On v2 (RF +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the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coarse strata </a:t>
            </a:r>
            <a:r>
              <a:rPr lang="en-US" sz="1100"/>
              <a:t>remain </a:t>
            </a:r>
            <a:r>
              <a:rPr lang="en-US" sz="1100" dirty="0"/>
              <a:t>best, but gain is more modest.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- 2023: pooling matched precision; split won reach.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- 2024 (chart): split wins precision (0.30 vs 0.26); pooling wins floor-reach (0.84 vs 0.79).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Best performance: strata 1 / 2-3 / 4+.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Elderly/disabled stratum stopped helping once mtry-2 forests arrived (parity checked).</a:t>
            </a:r>
            <a:endParaRPr dirty="0"/>
          </a:p>
        </p:txBody>
      </p:sp>
      <p:sp>
        <p:nvSpPr>
          <p:cNvPr id="109" name="Google Shape;109;p25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110" name="Google Shape;110;p25" title="strata_swee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919" y="952400"/>
            <a:ext cx="5919406" cy="361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/>
        </p:nvSpPr>
        <p:spPr>
          <a:xfrm>
            <a:off x="400000" y="200000"/>
            <a:ext cx="35814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the configuration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400000" y="760000"/>
            <a:ext cx="8344000" cy="148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Every configuration choice above was judged on the same held-out year (2023), so the selection PROCEDURE itself could be overfit to one year. We re-ran the decisive comparisons with the year roles swapped (train 2022+2023, test 2024).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Three of four claims replicated: the engine pairing still leads recall (margin thinner, 2.1pp vs 3pp+), stringency still buys precision monotonically, big ensembles still widen the menu ~7x at ~0.02 precision cost.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One claim failed and is retired: 'low subsampling beats high'. On 2024 all nine settings from 0.15 to 0.80 land within 0.005 (right panel). </a:t>
            </a:r>
            <a:endParaRPr/>
          </a:p>
        </p:txBody>
      </p:sp>
      <p:sp>
        <p:nvSpPr>
          <p:cNvPr id="117" name="Google Shape;117;p26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118" name="Google Shape;118;p26" descr="replication_selection_studi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560" y="2240155"/>
            <a:ext cx="7162968" cy="286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/>
        </p:nvSpPr>
        <p:spPr>
          <a:xfrm>
            <a:off x="334951" y="396875"/>
            <a:ext cx="4304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3   ·   Optimizing rule sets for states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423349" y="1401040"/>
            <a:ext cx="59706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 is to not lose state-specific patterns if you set such stringent thresholds by mining much larger national data.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you make state-generated and nationally-generated rules comparable?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(Answer: rank every rule by its own 99% lower bound)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/>
        </p:nvSpPr>
        <p:spPr>
          <a:xfrm>
            <a:off x="400000" y="200000"/>
            <a:ext cx="813876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state scale, confidence bounds alone were not enough</a:t>
            </a:r>
            <a:endParaRPr/>
          </a:p>
        </p:txBody>
      </p:sp>
      <p:sp>
        <p:nvSpPr>
          <p:cNvPr id="131" name="Google Shape;131;p28"/>
          <p:cNvSpPr txBox="1"/>
          <p:nvPr/>
        </p:nvSpPr>
        <p:spPr>
          <a:xfrm>
            <a:off x="400000" y="760000"/>
            <a:ext cx="4170900" cy="27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Mining directly on one state's data (~2,000-3,000 cases/year), rules passing the same 99% lower-bound filter with small support had median HOLDOUT precision of zero at support &gt;= 5.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Requiring &gt;= 30 flagged training cases (with a raw 0.30 floor) changed collapse into gentle deflation: median 0.33 train -&gt; 0.21 held-out; ~1% of rules at zero.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National scale hides this: with 100k+ cases the bound rarely admits tiny-support rules in the first place.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Why: at 5-10 cases the bound only passes near-perfect raw precision, exactly where luck concentrates.</a:t>
            </a:r>
            <a:endParaRPr/>
          </a:p>
        </p:txBody>
      </p:sp>
      <p:sp>
        <p:nvSpPr>
          <p:cNvPr id="132" name="Google Shape;132;p28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Own-state, similar-state, or national? Head-to-head on 2024</a:t>
            </a:r>
            <a:endParaRPr/>
          </a:p>
        </p:txBody>
      </p:sp>
      <p:sp>
        <p:nvSpPr>
          <p:cNvPr id="138" name="Google Shape;138;p29"/>
          <p:cNvSpPr txBox="1"/>
          <p:nvPr/>
        </p:nvSpPr>
        <p:spPr>
          <a:xfrm>
            <a:off x="402336" y="758952"/>
            <a:ext cx="83211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Everything mined on 2022-23 only, filled to the review budget in confidence order, scored on each state's 2024 cases (12 states). Table cells: median precision / share of the state's 2024 error dollars.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national pool is the best default: it leads median precision at both budgets and is never the disaster case.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be sure: blended state-national worked best (in a few slides)</a:t>
            </a:r>
            <a:endParaRPr sz="12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graphicFrame>
        <p:nvGraphicFramePr>
          <p:cNvPr id="140" name="Google Shape;140;p29"/>
          <p:cNvGraphicFramePr/>
          <p:nvPr/>
        </p:nvGraphicFramePr>
        <p:xfrm>
          <a:off x="1555150" y="2472400"/>
          <a:ext cx="5943600" cy="117040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rules mined on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5% budget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10% budget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the state's own data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0.253 / 14%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0.240 / 25%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five similar states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0.256 / 11%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0.245 / 20%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all states (national)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0.300 / 16%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0.273 / 25%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/>
        </p:nvSpPr>
        <p:spPr>
          <a:xfrm>
            <a:off x="400000" y="200000"/>
            <a:ext cx="73196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National rules, deployed a year ahead, could be a win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400000" y="760000"/>
            <a:ext cx="2835569" cy="333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Mined on all states' 2022-23; applied in confidence order to 10% of caseload; scored on 2024.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state clears its base rate: the filled dot lands right of the open dot in all 18 states.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gap is the gain over unaided review of the same volume: 1.5-3.4x.</a:t>
            </a:r>
            <a:endParaRPr/>
          </a:p>
        </p:txBody>
      </p:sp>
      <p:sp>
        <p:nvSpPr>
          <p:cNvPr id="147" name="Google Shape;147;p30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148" name="Google Shape;148;p30" descr="deploy_national_dumbbell_budget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7749" y="758952"/>
            <a:ext cx="4763370" cy="4041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400000" y="200000"/>
            <a:ext cx="8343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But not a big win for every state</a:t>
            </a:r>
            <a:endParaRPr/>
          </a:p>
        </p:txBody>
      </p:sp>
      <p:sp>
        <p:nvSpPr>
          <p:cNvPr id="154" name="Google Shape;154;p31"/>
          <p:cNvSpPr txBox="1"/>
          <p:nvPr/>
        </p:nvSpPr>
        <p:spPr>
          <a:xfrm>
            <a:off x="402336" y="1051560"/>
            <a:ext cx="3840480" cy="55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Nearly every state's interval clears its base rate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As expected, more missing data hurts</a:t>
            </a:r>
            <a:endParaRPr/>
          </a:p>
        </p:txBody>
      </p:sp>
      <p:sp>
        <p:nvSpPr>
          <p:cNvPr id="155" name="Google Shape;155;p31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156" name="Google Shape;15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4840" y="1051560"/>
            <a:ext cx="4480560" cy="3801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Blending state and national rules onto one confidence scale</a:t>
            </a:r>
            <a:endParaRPr/>
          </a:p>
        </p:txBody>
      </p:sp>
      <p:sp>
        <p:nvSpPr>
          <p:cNvPr id="162" name="Google Shape;162;p32"/>
          <p:cNvSpPr txBox="1"/>
          <p:nvPr/>
        </p:nvSpPr>
        <p:spPr>
          <a:xfrm>
            <a:off x="400000" y="760000"/>
            <a:ext cx="8344000" cy="4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Rank EVERY rule (state or national) by its own 99% lower bound; the bound prices the certainty gap.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As a single recipe the blend beats national-only at 5% (0.324 vs 0.294) and ties at 10%.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Where state rules clear the bar, interleaving beats both parents (AZ, DC, MS).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Blind spot: national bounds say nothing about transfer, so NJ's own rules never enter; the own-pool fallback exists.</a:t>
            </a:r>
            <a:endParaRPr/>
          </a:p>
        </p:txBody>
      </p:sp>
      <p:sp>
        <p:nvSpPr>
          <p:cNvPr id="163" name="Google Shape;163;p32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graphicFrame>
        <p:nvGraphicFramePr>
          <p:cNvPr id="164" name="Google Shape;164;p32"/>
          <p:cNvGraphicFramePr/>
          <p:nvPr/>
        </p:nvGraphicFramePr>
        <p:xfrm>
          <a:off x="1580032" y="2389853"/>
          <a:ext cx="5943600" cy="126186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option (single recipe)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5% budget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/>
                        <a:t>10% budget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national-only frozen list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0.294 / 12%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0.270 / 25%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blended frozen list (99% bound)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0.324 / 15%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0.262 / 24%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state's own pool only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0.256 / 13%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/>
                        <a:t>0.236 / 25%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399999" y="200000"/>
            <a:ext cx="29233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Blended state-national rules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467236" y="1014350"/>
            <a:ext cx="2788800" cy="2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report budget-filled performance: add rules in confidence order until 5% or 10% of caseload is flagged (filled to review capacity).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medians: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0.30 precision / 16% of error $ at 5%;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0.27 / 25% at 10%, vs 8-17% base rates.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throughout = any-error precision: a flagged case counts if it has any payment error (error type-specific precision in the repo outputs).</a:t>
            </a:r>
            <a:endParaRPr/>
          </a:p>
        </p:txBody>
      </p:sp>
      <p:sp>
        <p:nvSpPr>
          <p:cNvPr id="171" name="Google Shape;171;p33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172" name="Google Shape;172;p33" descr="blend_vs_state_vs_national_budget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440" y="164592"/>
            <a:ext cx="5440680" cy="4791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400000" y="200000"/>
            <a:ext cx="727154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Blended: most widely used rules, by household size</a:t>
            </a:r>
            <a:endParaRPr/>
          </a:p>
        </p:txBody>
      </p:sp>
      <p:sp>
        <p:nvSpPr>
          <p:cNvPr id="178" name="Google Shape;178;p34"/>
          <p:cNvSpPr txBox="1"/>
          <p:nvPr/>
        </p:nvSpPr>
        <p:spPr>
          <a:xfrm>
            <a:off x="400000" y="760000"/>
            <a:ext cx="8344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three most widely deployed rules per household-size stratum (10% budget lists).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Benefit-near-maximum and deduction levels are the flags, not the diagnosis: every rule is scored against ALL error types. A hit is any payment error, not a deduction error specifically.</a:t>
            </a:r>
            <a:endParaRPr/>
          </a:p>
        </p:txBody>
      </p:sp>
      <p:sp>
        <p:nvSpPr>
          <p:cNvPr id="179" name="Google Shape;179;p34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graphicFrame>
        <p:nvGraphicFramePr>
          <p:cNvPr id="180" name="Google Shape;180;p34"/>
          <p:cNvGraphicFramePr/>
          <p:nvPr/>
        </p:nvGraphicFramePr>
        <p:xfrm>
          <a:off x="274319" y="1572768"/>
          <a:ext cx="8595350" cy="279404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73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HH size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rule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states (of 18)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rawben_rel_max &gt;= 0.236 &amp; rawben_rel_max &lt; 1.000 &amp; total_deductions_by_hh_size &gt;= 511.000 &amp; utilities &lt; 249.000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12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total_deductions_by_hh_size &gt; 336.000 &amp; unc_rawben_rel_max &gt; 0.891 &amp; unc_rawben_rel_max &lt;= 0.991 &amp; utilities &lt;= 29.500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11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rawben_rel_max &lt;= 0.998 &amp; total_deductions_by_hh_size &gt; 602.000 &amp; utilities &lt;= 272.000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10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2-3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months_since_cert_n &lt;= 25 &amp; shelter_expenses_by_hh_size &gt; 499 &amp; shelter_expenses_by_hh_size &lt;= 679 &amp; total_deductions_by_hh_size &gt; 644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9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2-3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expedited_i &gt;= 1.000 &amp; months_since_cert_n &lt; 2.000 &amp; rawben_rel_max &gt;= 0.649 &amp; rawben_rel_max &lt; 0.901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9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2-3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elderly_disabled_i &gt; 0.500 &amp; married &lt;= 0.500 &amp; rawben_rel_max &gt; 0.996 &amp; unc_rawben_rel_max &gt; 1.550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8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4+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HH_size_n &gt; 4.500 &amp; rawben_rel_max &gt; 0.478 &amp; total_deductions_by_hh_size &gt; 233.000 &amp; unc_rawben_rel_max &lt;= 0.997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12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4+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months_since_cert_n &gt; 5.500 &amp; rawben_rel_max &lt;= 0.997 &amp; shelter_expenses_by_hh_size &lt;= 494.000 &amp; total_deductions_by_hh_size &gt; 227.000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9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4+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HH_size_n &gt; 4.500 &amp; months_since_cert_n &gt; 4.500 &amp; rawben_rel_max &lt;= 0.988 &amp; total_deductions_by_hh_size &gt; 206.000</a:t>
                      </a:r>
                      <a:endParaRPr/>
                    </a:p>
                  </a:txBody>
                  <a:tcPr marL="91450" marR="91450" marT="12700" marB="12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/>
                        <a:t>9</a:t>
                      </a:r>
                      <a:endParaRPr/>
                    </a:p>
                  </a:txBody>
                  <a:tcPr marL="91450" marR="91450" marT="12700" marB="127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/>
        </p:nvSpPr>
        <p:spPr>
          <a:xfrm>
            <a:off x="731520" y="1748790"/>
            <a:ext cx="76809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 b="1"/>
              <a:t>On github: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blended list</a:t>
            </a:r>
            <a:r>
              <a:rPr lang="en-US" sz="2800" b="1"/>
              <a:t>s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state at 5% and 10% workload</a:t>
            </a:r>
            <a:endParaRPr/>
          </a:p>
        </p:txBody>
      </p:sp>
      <p:sp>
        <p:nvSpPr>
          <p:cNvPr id="186" name="Google Shape;186;p35"/>
          <p:cNvSpPr/>
          <p:nvPr/>
        </p:nvSpPr>
        <p:spPr>
          <a:xfrm>
            <a:off x="3200400" y="1543050"/>
            <a:ext cx="2743200" cy="17780"/>
          </a:xfrm>
          <a:prstGeom prst="rect">
            <a:avLst/>
          </a:prstGeom>
          <a:solidFill>
            <a:srgbClr val="4040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deployed list is a few dozen rules, not thousands</a:t>
            </a:r>
            <a:endParaRPr/>
          </a:p>
        </p:txBody>
      </p:sp>
      <p:sp>
        <p:nvSpPr>
          <p:cNvPr id="192" name="Google Shape;192;p36"/>
          <p:cNvSpPr txBox="1"/>
          <p:nvPr/>
        </p:nvSpPr>
        <p:spPr>
          <a:xfrm>
            <a:off x="450449" y="1071714"/>
            <a:ext cx="8344000" cy="77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state runs a few dozen rules: 16-39 build the union at a 5% budget (34-67 at 10%)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</p:txBody>
      </p:sp>
      <p:sp>
        <p:nvSpPr>
          <p:cNvPr id="193" name="Google Shape;193;p36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graphicFrame>
        <p:nvGraphicFramePr>
          <p:cNvPr id="194" name="Google Shape;194;p36"/>
          <p:cNvGraphicFramePr/>
          <p:nvPr/>
        </p:nvGraphicFramePr>
        <p:xfrm>
          <a:off x="2371134" y="1863799"/>
          <a:ext cx="4663425" cy="188973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state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budget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/>
                        <a:t>rules that build the union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District of Columbia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5%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26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District of Columbia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10%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53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Louisiana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5%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27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Louisiana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10%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54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California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5%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26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California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10%</a:t>
                      </a:r>
                      <a:endParaRPr/>
                    </a:p>
                  </a:txBody>
                  <a:tcPr marL="91450" marR="91450" marT="9150" marB="91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/>
                        <a:t>43</a:t>
                      </a:r>
                      <a:endParaRPr/>
                    </a:p>
                  </a:txBody>
                  <a:tcPr marL="91450" marR="91450" marT="9150" marB="91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 state is handed under the blended approach</a:t>
            </a:r>
            <a:endParaRPr/>
          </a:p>
        </p:txBody>
      </p:sp>
      <p:sp>
        <p:nvSpPr>
          <p:cNvPr id="200" name="Google Shape;200;p37"/>
          <p:cNvSpPr txBox="1"/>
          <p:nvPr/>
        </p:nvSpPr>
        <p:spPr>
          <a:xfrm>
            <a:off x="400000" y="704736"/>
            <a:ext cx="83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ranked, blended (state + national) list per state. Below: what it delivered on the state's 2024 cases at a 5% / 10% review budget. Compare precision to the base rate; error $ = share of 2024 error dollars caught at the 10% budget.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 rules remain the FALLBACK regime: the public files show only 43-81% of a state's error cases, so where lists disagree, only the state's internal validation can settle which is better.</a:t>
            </a:r>
            <a:endParaRPr/>
          </a:p>
        </p:txBody>
      </p:sp>
      <p:sp>
        <p:nvSpPr>
          <p:cNvPr id="201" name="Google Shape;201;p37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graphicFrame>
        <p:nvGraphicFramePr>
          <p:cNvPr id="202" name="Google Shape;202;p37"/>
          <p:cNvGraphicFramePr/>
          <p:nvPr/>
        </p:nvGraphicFramePr>
        <p:xfrm>
          <a:off x="181294" y="1798132"/>
          <a:ext cx="4546275" cy="238350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10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state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base rate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prec (5%)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prec (10%)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error $ (10%)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Arizona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0.11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0.28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38%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California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0.28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29%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Colorado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0.12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0.53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0.36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26%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Connecticut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0.37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27%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District of Columbia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0.22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0.64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0.49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23%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Louisiana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0.11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0.21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0.21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23%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Maine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0.12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0.30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31%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Maryland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0.36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23%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Massachusetts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0.49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22%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03" name="Google Shape;203;p37"/>
          <p:cNvGraphicFramePr/>
          <p:nvPr/>
        </p:nvGraphicFramePr>
        <p:xfrm>
          <a:off x="4948260" y="1798119"/>
          <a:ext cx="4114750" cy="2383500"/>
        </p:xfrm>
        <a:graphic>
          <a:graphicData uri="http://schemas.openxmlformats.org/drawingml/2006/table">
            <a:tbl>
              <a:tblPr firstRow="1" bandRow="1">
                <a:noFill/>
                <a:tableStyleId>{E11BCCF0-E1D9-4781-8257-B1F1CAFEECCC}</a:tableStyleId>
              </a:tblPr>
              <a:tblGrid>
                <a:gridCol w="85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state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base rate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prec (5%)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prec (10%)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/>
                        <a:t>error $ (10%)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Michigan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0.28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24%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Mississippi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0.12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0.42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0.37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26%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Missouri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0.09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29%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New Jersey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0.09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0.16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16%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North Carolina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15%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Tennessee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0.10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24%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Texas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0.29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0.25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18%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Virginia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0.17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0.34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0.33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20%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Washington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0.08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0.38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0.27</a:t>
                      </a:r>
                      <a:endParaRPr/>
                    </a:p>
                  </a:txBody>
                  <a:tcPr marL="91450" marR="91450" marT="4575" marB="4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/>
                        <a:t>35%</a:t>
                      </a:r>
                      <a:endParaRPr/>
                    </a:p>
                  </a:txBody>
                  <a:tcPr marL="91450" marR="91450" marT="4575" marB="45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/>
        </p:nvSpPr>
        <p:spPr>
          <a:xfrm>
            <a:off x="400000" y="200000"/>
            <a:ext cx="75697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Ranked rule list per state, to % workload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400000" y="760000"/>
            <a:ext cx="83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ranked list per state: fill to the budget on the state's own caseload (core), keep filling to 3x (buffer).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200"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dirty="0"/>
              <a:t>Can configure % workload in the </a:t>
            </a:r>
            <a:r>
              <a:rPr lang="en-US" sz="1200" dirty="0" err="1">
                <a:hlinkClick r:id="rId3"/>
              </a:rPr>
              <a:t>INCL_blend</a:t>
            </a:r>
            <a:r>
              <a:rPr lang="en-US" sz="1200" dirty="0"/>
              <a:t> script using BUDGETS. </a:t>
            </a:r>
            <a:endParaRPr dirty="0"/>
          </a:p>
        </p:txBody>
      </p:sp>
      <p:sp>
        <p:nvSpPr>
          <p:cNvPr id="210" name="Google Shape;210;p38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3DCB6-D8B3-33DA-92BB-18C25BC5D0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71"/>
          <a:stretch/>
        </p:blipFill>
        <p:spPr>
          <a:xfrm>
            <a:off x="609601" y="1774763"/>
            <a:ext cx="7593874" cy="2411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/>
        </p:nvSpPr>
        <p:spPr>
          <a:xfrm>
            <a:off x="400000" y="200000"/>
            <a:ext cx="8344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still don't know / areas to improve</a:t>
            </a:r>
            <a:endParaRPr dirty="0"/>
          </a:p>
        </p:txBody>
      </p:sp>
      <p:sp>
        <p:nvSpPr>
          <p:cNvPr id="216" name="Google Shape;216;p39"/>
          <p:cNvSpPr txBox="1"/>
          <p:nvPr/>
        </p:nvSpPr>
        <p:spPr>
          <a:xfrm>
            <a:off x="402336" y="868680"/>
            <a:ext cx="8229600" cy="225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invisible errors: 19-57% of each state's error cases (ineligible determinations) never enter the public files, so the rules have never seen them.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Uneven coverage by household type: the rule union catches 26.7% of errors in elderly/disabled households vs 7.2% elsewhere (precision inside elderly flags is slightly higher, 0.22 vs 0.19). Errors in non-elderly working households are the open gap.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States already target – we haven’t factored that in: you need to see if this is actually complementary to your existing system.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blend's blind spot: a national rule's bound says nothing about transfer to your state (New Jersey's own rules never enter).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 frontier: constrained forests were the best periphery miner we tested, not the best possible one. </a:t>
            </a:r>
            <a:endParaRPr dirty="0"/>
          </a:p>
        </p:txBody>
      </p:sp>
      <p:sp>
        <p:nvSpPr>
          <p:cNvPr id="217" name="Google Shape;217;p39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Validating on FY25/26: the protocol</a:t>
            </a:r>
            <a:endParaRPr/>
          </a:p>
        </p:txBody>
      </p:sp>
      <p:sp>
        <p:nvSpPr>
          <p:cNvPr id="223" name="Google Shape;223;p40"/>
          <p:cNvSpPr txBox="1"/>
          <p:nvPr/>
        </p:nvSpPr>
        <p:spPr>
          <a:xfrm>
            <a:off x="400000" y="758952"/>
            <a:ext cx="8138100" cy="201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you need: 16 case-level fields (benefit relative to the household maximum, total deductions, shelter and utility amounts, months since certification, household size and composition, etc.) A typical rule checks 3-4 of them; mapping the fields to your eligibility system is the main effort.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Freeze: the list is built on public data FY22-FY24 (and optionally your internal data for those years)</a:t>
            </a:r>
            <a:r>
              <a:rPr lang="en-US" sz="1200" dirty="0"/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Apply: walk the ranked list against internal FY25/26 cases up to review capacity. Workload should land near the sized budget (on 2024 the walked lists landed at 4.9-5.0% / 9.3-10.0% in all 18 states).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score it against your current targeting: our benchmark is unaided review; only your files can show whether the list beats the reviews you would have run anyway.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back to us: one CSV that contains: rule</a:t>
            </a:r>
            <a:r>
              <a:rPr lang="en-US" sz="1200" dirty="0"/>
              <a:t>,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cases flagged, errors found, error dollars, at your preferred budget. </a:t>
            </a:r>
            <a:endParaRPr dirty="0"/>
          </a:p>
        </p:txBody>
      </p:sp>
      <p:sp>
        <p:nvSpPr>
          <p:cNvPr id="224" name="Google Shape;224;p40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/>
        </p:nvSpPr>
        <p:spPr>
          <a:xfrm>
            <a:off x="400000" y="200000"/>
            <a:ext cx="30299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What’s live on github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 txBox="1"/>
          <p:nvPr/>
        </p:nvSpPr>
        <p:spPr>
          <a:xfrm>
            <a:off x="400000" y="760000"/>
            <a:ext cx="8343900" cy="14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/>
              <a:t>Rule lists for states in the workshop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Code for generating rules using internal state data + national QC data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Code for mining inclusion or exclusion rules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Data viz for regression trees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This presentation (shortly)</a:t>
            </a: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/>
              <a:t>https://github.com/giannella/snap_qc/</a:t>
            </a:r>
            <a:endParaRPr sz="1200"/>
          </a:p>
        </p:txBody>
      </p:sp>
      <p:sp>
        <p:nvSpPr>
          <p:cNvPr id="231" name="Google Shape;231;p41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/>
        </p:nvSpPr>
        <p:spPr>
          <a:xfrm>
            <a:off x="400000" y="200000"/>
            <a:ext cx="424026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/>
              <a:t>Caveats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sp>
        <p:nvSpPr>
          <p:cNvPr id="238" name="Google Shape;238;p42"/>
          <p:cNvSpPr txBox="1"/>
          <p:nvPr/>
        </p:nvSpPr>
        <p:spPr>
          <a:xfrm>
            <a:off x="400000" y="760000"/>
            <a:ext cx="8343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This may work better in a pre-auth context</a:t>
            </a:r>
            <a:endParaRPr sz="1300"/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Requires filtering of rules by experts. Know this does not apply / cannot be fixed in pre-auth / QA</a:t>
            </a:r>
            <a:endParaRPr sz="1300"/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Could be made better by linking to a model of errors fixed in pre-auth / QA (as Yale has done in CT)</a:t>
            </a:r>
            <a:endParaRPr sz="1300"/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issue with state-generated rules is lack of data.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Could try to generate synthetic data for states based on very similar households in states with similar patterns of errors (latter tended to account for policy options).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/>
        </p:nvSpPr>
        <p:spPr>
          <a:xfrm>
            <a:off x="4166279" y="2246365"/>
            <a:ext cx="81144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/>
        </p:nvSpPr>
        <p:spPr>
          <a:xfrm>
            <a:off x="400000" y="200000"/>
            <a:ext cx="77412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freeze each state's list in advance: it costs almost nothing</a:t>
            </a:r>
            <a:endParaRPr/>
          </a:p>
        </p:txBody>
      </p:sp>
      <p:sp>
        <p:nvSpPr>
          <p:cNvPr id="249" name="Google Shape;249;p44"/>
          <p:cNvSpPr txBox="1"/>
          <p:nvPr/>
        </p:nvSpPr>
        <p:spPr>
          <a:xfrm>
            <a:off x="400000" y="760000"/>
            <a:ext cx="3071705" cy="180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The frozen list (built on 2022-23, walked to capacity on 2024) against the full national pool applied at once to the realized 2024 caseload, both at identical review volume.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Median precision 0.294 vs 0.301 (5% budget) and 0.270 vs 0.275 (10%); error dollars 12% vs 16% and 25% vs 25%. All 18 states clear their base rate.</a:t>
            </a:r>
            <a:endParaRPr/>
          </a:p>
        </p:txBody>
      </p:sp>
      <p:sp>
        <p:nvSpPr>
          <p:cNvPr id="250" name="Google Shape;250;p44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251" name="Google Shape;251;p44" descr="frozen_lists_panels_budget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1652" y="648643"/>
            <a:ext cx="4931848" cy="433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/>
        </p:nvSpPr>
        <p:spPr>
          <a:xfrm>
            <a:off x="400000" y="200000"/>
            <a:ext cx="617027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What a rule looks like (example 2)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 txBox="1"/>
          <p:nvPr/>
        </p:nvSpPr>
        <p:spPr>
          <a:xfrm>
            <a:off x="402336" y="758952"/>
            <a:ext cx="8321040" cy="235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rule is a short checklist of case facts. The top-ranked rule on Connecticut's list (one-person households):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monthly deductions above $336, 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computed benefit at 89-99% of the one-person maximum,  AND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reported utilities of $29.50 or less      -&gt;   flag the case for review.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2022-23 training data it flagged 74 cases; 66% had a payment error (99% lower bound: at least 53%). It’s on 11 of the 18 state lists.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typical rule combines 3-4 conditions drawn from just 16 case variables, so program staff can read and challenge every rule before it runs.</a:t>
            </a:r>
            <a:endParaRPr/>
          </a:p>
        </p:txBody>
      </p:sp>
      <p:sp>
        <p:nvSpPr>
          <p:cNvPr id="258" name="Google Shape;258;p45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/>
        </p:nvSpPr>
        <p:spPr>
          <a:xfrm>
            <a:off x="400000" y="200000"/>
            <a:ext cx="75232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Blend vs national vs own rules, 10% budget</a:t>
            </a:r>
            <a:endParaRPr/>
          </a:p>
        </p:txBody>
      </p:sp>
      <p:pic>
        <p:nvPicPr>
          <p:cNvPr id="264" name="Google Shape;264;p46" descr="blend_vs_state_vs_national_budget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8232" y="758321"/>
            <a:ext cx="4849473" cy="4261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engine tuning, what moved held-out performance</a:t>
            </a:r>
            <a:endParaRPr/>
          </a:p>
        </p:txBody>
      </p:sp>
      <p:sp>
        <p:nvSpPr>
          <p:cNvPr id="270" name="Google Shape;270;p47"/>
          <p:cNvSpPr txBox="1"/>
          <p:nvPr/>
        </p:nvSpPr>
        <p:spPr>
          <a:xfrm>
            <a:off x="400000" y="760000"/>
            <a:ext cx="3689792" cy="26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Engine PAIRING mattered: xgboost + random forest (ranger) beat either engine alone and beat bagged-CART + ranger, everything else held equal.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Random forests: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mtry = 2 beat mtry = 1 across the frontier;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Xgboost: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 learning (eta 0.02, 1000 rounds) beat fast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other knobs did not move the frontier; we verified this by varying one setting at a time around the final configuration.</a:t>
            </a:r>
            <a:endParaRPr/>
          </a:p>
        </p:txBody>
      </p:sp>
      <p:sp>
        <p:nvSpPr>
          <p:cNvPr id="271" name="Google Shape;271;p47"/>
          <p:cNvSpPr txBox="1"/>
          <p:nvPr/>
        </p:nvSpPr>
        <p:spPr>
          <a:xfrm>
            <a:off x="400000" y="47235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SNAP QC modeling lessons · July 2026</a:t>
            </a:r>
            <a:endParaRPr/>
          </a:p>
        </p:txBody>
      </p:sp>
      <p:pic>
        <p:nvPicPr>
          <p:cNvPr id="272" name="Google Shape;272;p47" descr="combo_sweep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1504" y="661457"/>
            <a:ext cx="4912184" cy="3820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one-at-a-time xgboost sweep</a:t>
            </a:r>
            <a:endParaRPr/>
          </a:p>
        </p:txBody>
      </p:sp>
      <p:pic>
        <p:nvPicPr>
          <p:cNvPr id="278" name="Google Shape;27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0814" y="800003"/>
            <a:ext cx="5160124" cy="401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one-at-a-time ranger sweep</a:t>
            </a:r>
            <a:endParaRPr/>
          </a:p>
        </p:txBody>
      </p:sp>
      <p:pic>
        <p:nvPicPr>
          <p:cNvPr id="284" name="Google Shape;284;p49" descr="v2_tuning_rang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4426" y="756528"/>
            <a:ext cx="5175973" cy="402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filter stringency sweep</a:t>
            </a:r>
            <a:endParaRPr/>
          </a:p>
        </p:txBody>
      </p:sp>
      <p:pic>
        <p:nvPicPr>
          <p:cNvPr id="290" name="Google Shape;290;p50" descr="v2_lcbz_swee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7403" y="1015755"/>
            <a:ext cx="6087075" cy="37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1"/>
          <p:cNvSpPr txBox="1"/>
          <p:nvPr/>
        </p:nvSpPr>
        <p:spPr>
          <a:xfrm>
            <a:off x="400000" y="200000"/>
            <a:ext cx="741100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subsampling sweep (claim retired on 2024)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8897" y="709856"/>
            <a:ext cx="6748827" cy="41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/>
        </p:nvSpPr>
        <p:spPr>
          <a:xfrm>
            <a:off x="400000" y="200000"/>
            <a:ext cx="475803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single engines vs pairs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8548" y="797979"/>
            <a:ext cx="6065598" cy="37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53" descr="mtry_fronti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3727" y="766077"/>
            <a:ext cx="5872952" cy="409327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3"/>
          <p:cNvSpPr txBox="1"/>
          <p:nvPr/>
        </p:nvSpPr>
        <p:spPr>
          <a:xfrm>
            <a:off x="400000" y="200000"/>
            <a:ext cx="7725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</a:t>
            </a:r>
            <a:r>
              <a:rPr lang="en-US" sz="2200" b="1"/>
              <a:t>RF contribution maximimzed at mtry=2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4"/>
          <p:cNvSpPr txBox="1"/>
          <p:nvPr/>
        </p:nvSpPr>
        <p:spPr>
          <a:xfrm>
            <a:off x="400000" y="200000"/>
            <a:ext cx="8344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Appendix: blend vs national vs own, 5% budget</a:t>
            </a:r>
            <a:endParaRPr/>
          </a:p>
        </p:txBody>
      </p:sp>
      <p:pic>
        <p:nvPicPr>
          <p:cNvPr id="314" name="Google Shape;314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573" y="674150"/>
            <a:ext cx="4836051" cy="42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3810</Words>
  <Application>Microsoft Office PowerPoint</Application>
  <PresentationFormat>On-screen Show (16:9)</PresentationFormat>
  <Paragraphs>391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Better Government Lab</dc:creator>
  <cp:lastModifiedBy>Eric Giannella</cp:lastModifiedBy>
  <cp:revision>22</cp:revision>
  <dcterms:created xsi:type="dcterms:W3CDTF">2026-06-09T21:09:16Z</dcterms:created>
  <dcterms:modified xsi:type="dcterms:W3CDTF">2026-07-22T17:26:21Z</dcterms:modified>
</cp:coreProperties>
</file>