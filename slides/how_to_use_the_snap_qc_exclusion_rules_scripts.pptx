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QRICf23Bzy3Bs41KrA83+2K6/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048AC8-0E75-455B-AB4F-AEF2A2D202BD}">
  <a:tblStyle styleId="{B5048AC8-0E75-455B-AB4F-AEF2A2D202B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4" d="100"/>
          <a:sy n="164" d="100"/>
        </p:scale>
        <p:origin x="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4" Type="http://customschemas.google.com/relationships/presentationmetadata" Target="meta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 name="Google Shape;2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9" name="Google Shape;2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 name="Google Shape;37;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8" name="Google Shape;38;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 name="Google Shape;6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 name="Google Shape;7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4" name="Google Shape;8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ae636d67f_0_57:notes"/>
          <p:cNvSpPr>
            <a:spLocks noGrp="1" noRot="1" noChangeAspect="1"/>
          </p:cNvSpPr>
          <p:nvPr>
            <p:ph type="sldImg" idx="2"/>
          </p:nvPr>
        </p:nvSpPr>
        <p:spPr>
          <a:xfrm>
            <a:off x="857400" y="685800"/>
            <a:ext cx="3429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ae636d67f_0_57: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giannella/snap_qc"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457200" y="1371600"/>
            <a:ext cx="82296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4000"/>
              <a:buFont typeface="Cambria"/>
              <a:buNone/>
            </a:pPr>
            <a:r>
              <a:rPr lang="en-US" sz="4000" b="1" i="0" u="none" strike="noStrike" cap="none">
                <a:solidFill>
                  <a:srgbClr val="000000"/>
                </a:solidFill>
                <a:latin typeface="Cambria"/>
                <a:ea typeface="Cambria"/>
                <a:cs typeface="Cambria"/>
                <a:sym typeface="Cambria"/>
              </a:rPr>
              <a:t>Finding Exclusion Rules</a:t>
            </a:r>
            <a:endParaRPr sz="4000" b="0" i="0" u="none" strike="noStrike" cap="none">
              <a:solidFill>
                <a:schemeClr val="dk1"/>
              </a:solidFill>
              <a:latin typeface="Calibri"/>
              <a:ea typeface="Calibri"/>
              <a:cs typeface="Calibri"/>
              <a:sym typeface="Calibri"/>
            </a:endParaRPr>
          </a:p>
        </p:txBody>
      </p:sp>
      <p:sp>
        <p:nvSpPr>
          <p:cNvPr id="13" name="Google Shape;13;p1"/>
          <p:cNvSpPr/>
          <p:nvPr/>
        </p:nvSpPr>
        <p:spPr>
          <a:xfrm>
            <a:off x="457200" y="2468870"/>
            <a:ext cx="8229600" cy="9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Trimming a SNAP QC review pile: EXCL_ scripts</a:t>
            </a:r>
            <a:endParaRPr sz="1800" b="0" i="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endParaRPr sz="1800"/>
          </a:p>
          <a:p>
            <a:pPr marL="0" marR="0" lvl="0" indent="0" algn="l" rtl="0">
              <a:spcBef>
                <a:spcPts val="0"/>
              </a:spcBef>
              <a:spcAft>
                <a:spcPts val="0"/>
              </a:spcAft>
              <a:buClr>
                <a:srgbClr val="000000"/>
              </a:buClr>
              <a:buSzPts val="1800"/>
              <a:buFont typeface="Arial"/>
              <a:buNone/>
            </a:pPr>
            <a:r>
              <a:rPr lang="en-US" sz="1800" u="sng">
                <a:solidFill>
                  <a:schemeClr val="hlink"/>
                </a:solidFill>
                <a:hlinkClick r:id="rId3"/>
              </a:rPr>
              <a:t>https://github.com/giannella/snap_qc</a:t>
            </a:r>
            <a:endParaRPr sz="1800"/>
          </a:p>
        </p:txBody>
      </p:sp>
      <p:sp>
        <p:nvSpPr>
          <p:cNvPr id="14" name="Google Shape;14;p1"/>
          <p:cNvSpPr/>
          <p:nvPr/>
        </p:nvSpPr>
        <p:spPr>
          <a:xfrm>
            <a:off x="457200" y="3473805"/>
            <a:ext cx="82296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300" b="0" i="1" u="none" strike="noStrike" cap="none">
                <a:solidFill>
                  <a:srgbClr val="5A5A5A"/>
                </a:solidFill>
                <a:latin typeface="Arial"/>
                <a:ea typeface="Arial"/>
                <a:cs typeface="Arial"/>
                <a:sym typeface="Arial"/>
              </a:rPr>
              <a:t>RuleFit rule mining, threshold tuning, and state optimization, by household size</a:t>
            </a:r>
            <a:endParaRPr sz="1300" b="0" i="0" u="none" strike="noStrike" cap="none">
              <a:solidFill>
                <a:schemeClr val="dk1"/>
              </a:solidFill>
              <a:latin typeface="Calibri"/>
              <a:ea typeface="Calibri"/>
              <a:cs typeface="Calibri"/>
              <a:sym typeface="Calibri"/>
            </a:endParaRPr>
          </a:p>
        </p:txBody>
      </p:sp>
      <p:sp>
        <p:nvSpPr>
          <p:cNvPr id="15" name="Google Shape;15;p1"/>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Exclusion rules · EXCL_ scripts</a:t>
            </a:r>
            <a:endParaRPr sz="900" b="0" i="0" u="none" strike="noStrike" cap="none">
              <a:solidFill>
                <a:schemeClr val="dk1"/>
              </a:solidFill>
              <a:latin typeface="Calibri"/>
              <a:ea typeface="Calibri"/>
              <a:cs typeface="Calibri"/>
              <a:sym typeface="Calibri"/>
            </a:endParaRPr>
          </a:p>
        </p:txBody>
      </p:sp>
      <p:sp>
        <p:nvSpPr>
          <p:cNvPr id="16" name="Google Shape;16;p1"/>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1</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The problem</a:t>
            </a:r>
            <a:endParaRPr sz="2800">
              <a:solidFill>
                <a:schemeClr val="dk1"/>
              </a:solidFill>
              <a:latin typeface="Calibri"/>
              <a:ea typeface="Calibri"/>
              <a:cs typeface="Calibri"/>
              <a:sym typeface="Calibri"/>
            </a:endParaRPr>
          </a:p>
        </p:txBody>
      </p:sp>
      <p:sp>
        <p:nvSpPr>
          <p:cNvPr id="23" name="Google Shape;23;p2"/>
          <p:cNvSpPr/>
          <p:nvPr/>
        </p:nvSpPr>
        <p:spPr>
          <a:xfrm>
            <a:off x="457200" y="1234450"/>
            <a:ext cx="7835400" cy="3291900"/>
          </a:xfrm>
          <a:prstGeom prst="rect">
            <a:avLst/>
          </a:prstGeom>
          <a:noFill/>
          <a:ln>
            <a:noFill/>
          </a:ln>
        </p:spPr>
        <p:txBody>
          <a:bodyPr spcFirstLastPara="1" wrap="square" lIns="91425" tIns="45700" rIns="91425" bIns="45700" anchor="t" anchorCtr="0">
            <a:noAutofit/>
          </a:bodyPr>
          <a:lstStyle/>
          <a:p>
            <a:pPr marL="177800" marR="0" lvl="0" indent="-177800" algn="l" rtl="0">
              <a:spcBef>
                <a:spcPts val="0"/>
              </a:spcBef>
              <a:spcAft>
                <a:spcPts val="0"/>
              </a:spcAft>
              <a:buClr>
                <a:srgbClr val="000000"/>
              </a:buClr>
              <a:buSzPts val="1500"/>
              <a:buFont typeface="Arial"/>
              <a:buChar char="•"/>
            </a:pPr>
            <a:r>
              <a:rPr lang="en-US" sz="1500">
                <a:solidFill>
                  <a:srgbClr val="000000"/>
                </a:solidFill>
                <a:latin typeface="Arial"/>
                <a:ea typeface="Arial"/>
                <a:cs typeface="Arial"/>
                <a:sym typeface="Arial"/>
              </a:rPr>
              <a:t>Review capacity is limited; only a small fraction of cases can be examined.</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We already have a pile of flagged cases, but it is too large to work through efficiently.</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An “exclusion” rule marks a case as low-risk: unlikely to have a significant error.</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t>Designed to maximize workload cut (share of cases excluded) while retaining a floor of error dollars in the pile.</a:t>
            </a:r>
            <a:endParaRPr sz="1500">
              <a:solidFill>
                <a:schemeClr val="dk1"/>
              </a:solidFill>
              <a:latin typeface="Calibri"/>
              <a:ea typeface="Calibri"/>
              <a:cs typeface="Calibri"/>
              <a:sym typeface="Calibri"/>
            </a:endParaRPr>
          </a:p>
        </p:txBody>
      </p:sp>
      <p:sp>
        <p:nvSpPr>
          <p:cNvPr id="24" name="Google Shape;24;p2"/>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25" name="Google Shape;25;p2"/>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3"/>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Key ideas</a:t>
            </a:r>
            <a:endParaRPr sz="2800">
              <a:solidFill>
                <a:schemeClr val="dk1"/>
              </a:solidFill>
              <a:latin typeface="Calibri"/>
              <a:ea typeface="Calibri"/>
              <a:cs typeface="Calibri"/>
              <a:sym typeface="Calibri"/>
            </a:endParaRPr>
          </a:p>
        </p:txBody>
      </p:sp>
      <p:sp>
        <p:nvSpPr>
          <p:cNvPr id="32" name="Google Shape;32;p3"/>
          <p:cNvSpPr/>
          <p:nvPr/>
        </p:nvSpPr>
        <p:spPr>
          <a:xfrm>
            <a:off x="457200" y="1234440"/>
            <a:ext cx="8229600" cy="3383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Workload cut: </a:t>
            </a:r>
            <a:r>
              <a:rPr lang="en-US" sz="1450">
                <a:solidFill>
                  <a:srgbClr val="000000"/>
                </a:solidFill>
                <a:latin typeface="Arial"/>
                <a:ea typeface="Arial"/>
                <a:cs typeface="Arial"/>
                <a:sym typeface="Arial"/>
              </a:rPr>
              <a:t>share of the review pile that gets excluded.</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Dollar retention: </a:t>
            </a:r>
            <a:r>
              <a:rPr lang="en-US" sz="1450">
                <a:solidFill>
                  <a:srgbClr val="000000"/>
                </a:solidFill>
                <a:latin typeface="Arial"/>
                <a:ea typeface="Arial"/>
                <a:cs typeface="Arial"/>
                <a:sym typeface="Arial"/>
              </a:rPr>
              <a:t>share of error dollars remaining in the pile after exclusions (the safety constraint).</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RuleFit: </a:t>
            </a:r>
            <a:r>
              <a:rPr lang="en-US" sz="1450">
                <a:solidFill>
                  <a:srgbClr val="000000"/>
                </a:solidFill>
                <a:latin typeface="Arial"/>
                <a:ea typeface="Arial"/>
                <a:cs typeface="Arial"/>
                <a:sym typeface="Arial"/>
              </a:rPr>
              <a:t>fits many shallow trees, turns their branches into simple if-then rules, then uses a lasso to keep the few that matter. Avoids many of the </a:t>
            </a:r>
            <a:r>
              <a:rPr lang="en-US" sz="1450"/>
              <a:t>over-fitting issues with traditional decision trees. </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Net: </a:t>
            </a:r>
            <a:r>
              <a:rPr lang="en-US" sz="1450">
                <a:solidFill>
                  <a:srgbClr val="000000"/>
                </a:solidFill>
                <a:latin typeface="Arial"/>
                <a:ea typeface="Arial"/>
                <a:cs typeface="Arial"/>
                <a:sym typeface="Arial"/>
              </a:rPr>
              <a:t>several rules combined with OR to maximize workload cut at each dollar retention floor.</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By household size: </a:t>
            </a:r>
            <a:r>
              <a:rPr lang="en-US" sz="1450">
                <a:solidFill>
                  <a:srgbClr val="000000"/>
                </a:solidFill>
                <a:latin typeface="Arial"/>
                <a:ea typeface="Arial"/>
                <a:cs typeface="Arial"/>
                <a:sym typeface="Arial"/>
              </a:rPr>
              <a:t>cases split into 1, 2, 3, 4, 5+ and modeled separately, since benefit and error size scale with size.</a:t>
            </a:r>
            <a:endParaRPr sz="145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a:solidFill>
                  <a:srgbClr val="000000"/>
                </a:solidFill>
                <a:latin typeface="Arial"/>
                <a:ea typeface="Arial"/>
                <a:cs typeface="Arial"/>
                <a:sym typeface="Arial"/>
              </a:rPr>
              <a:t>Retention floor: </a:t>
            </a:r>
            <a:r>
              <a:rPr lang="en-US" sz="1450">
                <a:solidFill>
                  <a:srgbClr val="000000"/>
                </a:solidFill>
                <a:latin typeface="Arial"/>
                <a:ea typeface="Arial"/>
                <a:cs typeface="Arial"/>
                <a:sym typeface="Arial"/>
              </a:rPr>
              <a:t>EXCL_optimize_set_ drops any rule that cannot retain at least the required share of error dollars at its best workload cut (e.g., 97%).</a:t>
            </a:r>
            <a:endParaRPr sz="1450">
              <a:solidFill>
                <a:schemeClr val="dk1"/>
              </a:solidFill>
              <a:latin typeface="Calibri"/>
              <a:ea typeface="Calibri"/>
              <a:cs typeface="Calibri"/>
              <a:sym typeface="Calibri"/>
            </a:endParaRPr>
          </a:p>
        </p:txBody>
      </p:sp>
      <p:sp>
        <p:nvSpPr>
          <p:cNvPr id="33" name="Google Shape;33;p3"/>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34" name="Google Shape;34;p3"/>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
        <p:cNvGrpSpPr/>
        <p:nvPr/>
      </p:nvGrpSpPr>
      <p:grpSpPr>
        <a:xfrm>
          <a:off x="0" y="0"/>
          <a:ext cx="0" cy="0"/>
          <a:chOff x="0" y="0"/>
          <a:chExt cx="0" cy="0"/>
        </a:xfrm>
      </p:grpSpPr>
      <p:sp>
        <p:nvSpPr>
          <p:cNvPr id="40" name="Google Shape;40;p4"/>
          <p:cNvSpPr/>
          <p:nvPr/>
        </p:nvSpPr>
        <p:spPr>
          <a:xfrm>
            <a:off x="457200" y="310896"/>
            <a:ext cx="82296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latin typeface="Cambria"/>
                <a:ea typeface="Cambria"/>
                <a:cs typeface="Cambria"/>
                <a:sym typeface="Cambria"/>
              </a:rPr>
              <a:t>How to use the scripts</a:t>
            </a:r>
            <a:endParaRPr sz="2800">
              <a:solidFill>
                <a:schemeClr val="dk1"/>
              </a:solidFill>
              <a:latin typeface="Calibri"/>
              <a:ea typeface="Calibri"/>
              <a:cs typeface="Calibri"/>
              <a:sym typeface="Calibri"/>
            </a:endParaRPr>
          </a:p>
        </p:txBody>
      </p:sp>
      <p:sp>
        <p:nvSpPr>
          <p:cNvPr id="41" name="Google Shape;41;p4"/>
          <p:cNvSpPr/>
          <p:nvPr/>
        </p:nvSpPr>
        <p:spPr>
          <a:xfrm>
            <a:off x="133194" y="2286000"/>
            <a:ext cx="1689572"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 name="Google Shape;42;p4"/>
          <p:cNvSpPr/>
          <p:nvPr/>
        </p:nvSpPr>
        <p:spPr>
          <a:xfrm>
            <a:off x="240352" y="2381250"/>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5A5A5A"/>
                </a:solidFill>
                <a:latin typeface="Arial"/>
                <a:ea typeface="Arial"/>
                <a:cs typeface="Arial"/>
                <a:sym typeface="Arial"/>
              </a:rPr>
              <a:t>INPUT</a:t>
            </a:r>
            <a:endParaRPr sz="1000" b="1" dirty="0">
              <a:solidFill>
                <a:srgbClr val="5A5A5A"/>
              </a:solidFill>
              <a:latin typeface="Arial"/>
              <a:ea typeface="Arial"/>
              <a:cs typeface="Arial"/>
              <a:sym typeface="Arial"/>
            </a:endParaRPr>
          </a:p>
          <a:p>
            <a:pPr marL="0" lvl="0" indent="0" algn="ctr" rtl="0">
              <a:spcBef>
                <a:spcPts val="375"/>
              </a:spcBef>
              <a:spcAft>
                <a:spcPts val="0"/>
              </a:spcAft>
              <a:buNone/>
            </a:pPr>
            <a:r>
              <a:rPr lang="en-US" sz="1100" b="1" dirty="0">
                <a:solidFill>
                  <a:srgbClr val="000000"/>
                </a:solidFill>
                <a:latin typeface="Arial"/>
                <a:ea typeface="Arial"/>
                <a:cs typeface="Arial"/>
                <a:sym typeface="Arial"/>
              </a:rPr>
              <a:t>Flagged review pile (errors + false positives)</a:t>
            </a:r>
            <a:endParaRPr sz="1000" b="1" dirty="0">
              <a:solidFill>
                <a:srgbClr val="5A5A5A"/>
              </a:solidFill>
              <a:latin typeface="Arial"/>
              <a:ea typeface="Arial"/>
              <a:cs typeface="Arial"/>
              <a:sym typeface="Arial"/>
            </a:endParaRPr>
          </a:p>
        </p:txBody>
      </p:sp>
      <p:cxnSp>
        <p:nvCxnSpPr>
          <p:cNvPr id="43" name="Google Shape;43;p4"/>
          <p:cNvCxnSpPr>
            <a:cxnSpLocks/>
            <a:stCxn id="41" idx="3"/>
            <a:endCxn id="44" idx="1"/>
          </p:cNvCxnSpPr>
          <p:nvPr/>
        </p:nvCxnSpPr>
        <p:spPr>
          <a:xfrm>
            <a:off x="1822766" y="3000450"/>
            <a:ext cx="345757" cy="0"/>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44" name="Google Shape;44;p4"/>
          <p:cNvSpPr/>
          <p:nvPr/>
        </p:nvSpPr>
        <p:spPr>
          <a:xfrm>
            <a:off x="2168523" y="2286000"/>
            <a:ext cx="1689572"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 name="Google Shape;45;p4"/>
          <p:cNvSpPr/>
          <p:nvPr/>
        </p:nvSpPr>
        <p:spPr>
          <a:xfrm>
            <a:off x="2275681" y="2381250"/>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EXCL_find_</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Create rules, score &amp; combine rules into a “net”</a:t>
            </a:r>
            <a:endParaRPr sz="1000" b="1">
              <a:solidFill>
                <a:srgbClr val="5A5A5A"/>
              </a:solidFill>
              <a:latin typeface="Arial"/>
              <a:ea typeface="Arial"/>
              <a:cs typeface="Arial"/>
              <a:sym typeface="Arial"/>
            </a:endParaRPr>
          </a:p>
        </p:txBody>
      </p:sp>
      <p:cxnSp>
        <p:nvCxnSpPr>
          <p:cNvPr id="46" name="Google Shape;46;p4"/>
          <p:cNvCxnSpPr>
            <a:stCxn id="44" idx="3"/>
            <a:endCxn id="47" idx="1"/>
          </p:cNvCxnSpPr>
          <p:nvPr/>
        </p:nvCxnSpPr>
        <p:spPr>
          <a:xfrm flipV="1">
            <a:off x="3858095" y="2143188"/>
            <a:ext cx="673239" cy="857262"/>
          </a:xfrm>
          <a:prstGeom prst="bentConnector3">
            <a:avLst>
              <a:gd name="adj1" fmla="val 50000"/>
            </a:avLst>
          </a:prstGeom>
          <a:solidFill>
            <a:srgbClr val="FFFFFF"/>
          </a:solidFill>
          <a:ln w="22225" cap="flat" cmpd="sng">
            <a:solidFill>
              <a:srgbClr val="000000"/>
            </a:solidFill>
            <a:prstDash val="solid"/>
            <a:round/>
            <a:headEnd type="none" w="sm" len="sm"/>
            <a:tailEnd type="triangle" w="med" len="med"/>
          </a:ln>
        </p:spPr>
      </p:cxnSp>
      <p:sp>
        <p:nvSpPr>
          <p:cNvPr id="47" name="Google Shape;47;p4"/>
          <p:cNvSpPr/>
          <p:nvPr/>
        </p:nvSpPr>
        <p:spPr>
          <a:xfrm>
            <a:off x="4531334" y="1428738"/>
            <a:ext cx="1689572" cy="1428900"/>
          </a:xfrm>
          <a:prstGeom prst="roundRect">
            <a:avLst>
              <a:gd name="adj" fmla="val 4053"/>
            </a:avLst>
          </a:prstGeom>
          <a:solidFill>
            <a:srgbClr val="EFEFE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 name="Google Shape;48;p4"/>
          <p:cNvSpPr/>
          <p:nvPr/>
        </p:nvSpPr>
        <p:spPr>
          <a:xfrm>
            <a:off x="4638492" y="1523988"/>
            <a:ext cx="1461100" cy="1238400"/>
          </a:xfrm>
          <a:prstGeom prst="rect">
            <a:avLst/>
          </a:prstGeom>
          <a:solidFill>
            <a:srgbClr val="EFEFEF"/>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EXCL_optimize_single_</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Tune one rule’s thresholds</a:t>
            </a:r>
            <a:endParaRPr sz="1000" b="1">
              <a:solidFill>
                <a:srgbClr val="5A5A5A"/>
              </a:solidFill>
              <a:latin typeface="Arial"/>
              <a:ea typeface="Arial"/>
              <a:cs typeface="Arial"/>
              <a:sym typeface="Arial"/>
            </a:endParaRPr>
          </a:p>
        </p:txBody>
      </p:sp>
      <p:cxnSp>
        <p:nvCxnSpPr>
          <p:cNvPr id="49" name="Google Shape;49;p4"/>
          <p:cNvCxnSpPr>
            <a:stCxn id="44" idx="3"/>
            <a:endCxn id="50" idx="1"/>
          </p:cNvCxnSpPr>
          <p:nvPr/>
        </p:nvCxnSpPr>
        <p:spPr>
          <a:xfrm>
            <a:off x="3858095" y="3000450"/>
            <a:ext cx="691514" cy="835526"/>
          </a:xfrm>
          <a:prstGeom prst="bentConnector3">
            <a:avLst>
              <a:gd name="adj1" fmla="val 48319"/>
            </a:avLst>
          </a:prstGeom>
          <a:solidFill>
            <a:srgbClr val="FFFFFF"/>
          </a:solidFill>
          <a:ln w="22225" cap="flat" cmpd="sng">
            <a:solidFill>
              <a:srgbClr val="000000"/>
            </a:solidFill>
            <a:prstDash val="solid"/>
            <a:round/>
            <a:headEnd type="none" w="sm" len="sm"/>
            <a:tailEnd type="triangle" w="med" len="med"/>
          </a:ln>
        </p:spPr>
      </p:cxnSp>
      <p:sp>
        <p:nvSpPr>
          <p:cNvPr id="50" name="Google Shape;50;p4"/>
          <p:cNvSpPr/>
          <p:nvPr/>
        </p:nvSpPr>
        <p:spPr>
          <a:xfrm>
            <a:off x="4549609" y="3121526"/>
            <a:ext cx="1689572"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 name="Google Shape;51;p4"/>
          <p:cNvSpPr/>
          <p:nvPr/>
        </p:nvSpPr>
        <p:spPr>
          <a:xfrm>
            <a:off x="4638492" y="3238488"/>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EXCL_optimize_set_</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Optimize all rules for a state</a:t>
            </a:r>
            <a:endParaRPr sz="1000" b="1">
              <a:solidFill>
                <a:srgbClr val="5A5A5A"/>
              </a:solidFill>
              <a:latin typeface="Arial"/>
              <a:ea typeface="Arial"/>
              <a:cs typeface="Arial"/>
              <a:sym typeface="Arial"/>
            </a:endParaRPr>
          </a:p>
        </p:txBody>
      </p:sp>
      <p:cxnSp>
        <p:nvCxnSpPr>
          <p:cNvPr id="52" name="Google Shape;52;p4"/>
          <p:cNvCxnSpPr>
            <a:stCxn id="50" idx="3"/>
            <a:endCxn id="53" idx="1"/>
          </p:cNvCxnSpPr>
          <p:nvPr/>
        </p:nvCxnSpPr>
        <p:spPr>
          <a:xfrm>
            <a:off x="6239181" y="3835976"/>
            <a:ext cx="448031" cy="12"/>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53" name="Google Shape;53;p4"/>
          <p:cNvSpPr/>
          <p:nvPr/>
        </p:nvSpPr>
        <p:spPr>
          <a:xfrm>
            <a:off x="6687212" y="3121538"/>
            <a:ext cx="1689572"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 name="Google Shape;54;p4"/>
          <p:cNvSpPr/>
          <p:nvPr/>
        </p:nvSpPr>
        <p:spPr>
          <a:xfrm>
            <a:off x="6794420" y="3238488"/>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OUTPUT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State rule set for testing on FY2025 and FY2026 data</a:t>
            </a:r>
            <a:endParaRPr sz="1100" b="1">
              <a:solidFill>
                <a:srgbClr val="000000"/>
              </a:solidFill>
              <a:latin typeface="Arial"/>
              <a:ea typeface="Arial"/>
              <a:cs typeface="Arial"/>
              <a:sym typeface="Arial"/>
            </a:endParaRPr>
          </a:p>
        </p:txBody>
      </p:sp>
      <p:sp>
        <p:nvSpPr>
          <p:cNvPr id="55" name="Google Shape;55;p4"/>
          <p:cNvSpPr/>
          <p:nvPr/>
        </p:nvSpPr>
        <p:spPr>
          <a:xfrm>
            <a:off x="259535" y="881604"/>
            <a:ext cx="3944317" cy="1238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100" i="1" dirty="0" err="1">
                <a:solidFill>
                  <a:srgbClr val="5A5A5A"/>
                </a:solidFill>
                <a:latin typeface="Arial"/>
                <a:ea typeface="Arial"/>
                <a:cs typeface="Arial"/>
                <a:sym typeface="Arial"/>
              </a:rPr>
              <a:t>EXCL_find</a:t>
            </a:r>
            <a:r>
              <a:rPr lang="en-US" sz="1100" i="1" dirty="0">
                <a:solidFill>
                  <a:srgbClr val="5A5A5A"/>
                </a:solidFill>
                <a:latin typeface="Arial"/>
                <a:ea typeface="Arial"/>
                <a:cs typeface="Arial"/>
                <a:sym typeface="Arial"/>
              </a:rPr>
              <a:t>_ creates the rule list</a:t>
            </a:r>
            <a:r>
              <a:rPr lang="en-US" sz="1100" i="1" dirty="0">
                <a:solidFill>
                  <a:srgbClr val="5A5A5A"/>
                </a:solidFill>
              </a:rPr>
              <a:t> using public or internal data;</a:t>
            </a:r>
            <a:endParaRPr sz="1100" i="1" dirty="0">
              <a:solidFill>
                <a:srgbClr val="5A5A5A"/>
              </a:solidFill>
              <a:latin typeface="Arial"/>
              <a:ea typeface="Arial"/>
              <a:cs typeface="Arial"/>
              <a:sym typeface="Arial"/>
            </a:endParaRPr>
          </a:p>
          <a:p>
            <a:pPr marL="0" marR="0" lvl="0" indent="0" algn="l" rtl="0">
              <a:spcBef>
                <a:spcPts val="0"/>
              </a:spcBef>
              <a:spcAft>
                <a:spcPts val="0"/>
              </a:spcAft>
              <a:buClr>
                <a:srgbClr val="5A5A5A"/>
              </a:buClr>
              <a:buSzPts val="1300"/>
              <a:buFont typeface="Arial"/>
              <a:buNone/>
            </a:pPr>
            <a:r>
              <a:rPr lang="en-US" sz="1100" i="1" dirty="0" err="1">
                <a:solidFill>
                  <a:srgbClr val="5A5A5A"/>
                </a:solidFill>
                <a:latin typeface="Arial"/>
                <a:ea typeface="Arial"/>
                <a:cs typeface="Arial"/>
                <a:sym typeface="Arial"/>
              </a:rPr>
              <a:t>EXCL_optimize_single</a:t>
            </a:r>
            <a:r>
              <a:rPr lang="en-US" sz="1100" i="1" dirty="0">
                <a:solidFill>
                  <a:srgbClr val="5A5A5A"/>
                </a:solidFill>
                <a:latin typeface="Arial"/>
                <a:ea typeface="Arial"/>
                <a:cs typeface="Arial"/>
                <a:sym typeface="Arial"/>
              </a:rPr>
              <a:t>_ tunes a single rule; </a:t>
            </a:r>
            <a:endParaRPr sz="1100" i="1" dirty="0">
              <a:solidFill>
                <a:srgbClr val="5A5A5A"/>
              </a:solidFill>
              <a:latin typeface="Arial"/>
              <a:ea typeface="Arial"/>
              <a:cs typeface="Arial"/>
              <a:sym typeface="Arial"/>
            </a:endParaRPr>
          </a:p>
          <a:p>
            <a:pPr marL="0" marR="0" lvl="0" indent="0" algn="l" rtl="0">
              <a:spcBef>
                <a:spcPts val="0"/>
              </a:spcBef>
              <a:spcAft>
                <a:spcPts val="0"/>
              </a:spcAft>
              <a:buClr>
                <a:srgbClr val="5A5A5A"/>
              </a:buClr>
              <a:buSzPts val="1300"/>
              <a:buFont typeface="Arial"/>
              <a:buNone/>
            </a:pPr>
            <a:r>
              <a:rPr lang="en-US" sz="1100" i="1" dirty="0" err="1">
                <a:solidFill>
                  <a:srgbClr val="5A5A5A"/>
                </a:solidFill>
                <a:latin typeface="Arial"/>
                <a:ea typeface="Arial"/>
                <a:cs typeface="Arial"/>
                <a:sym typeface="Arial"/>
              </a:rPr>
              <a:t>EXCL_optimize_set</a:t>
            </a:r>
            <a:r>
              <a:rPr lang="en-US" sz="1100" i="1" dirty="0">
                <a:solidFill>
                  <a:srgbClr val="5A5A5A"/>
                </a:solidFill>
                <a:latin typeface="Arial"/>
                <a:ea typeface="Arial"/>
                <a:cs typeface="Arial"/>
                <a:sym typeface="Arial"/>
              </a:rPr>
              <a:t>_ optimizes a list of rules (e.g., all the results from </a:t>
            </a:r>
            <a:r>
              <a:rPr lang="en-US" sz="1100" i="1" dirty="0" err="1">
                <a:solidFill>
                  <a:srgbClr val="5A5A5A"/>
                </a:solidFill>
                <a:latin typeface="Arial"/>
                <a:ea typeface="Arial"/>
                <a:cs typeface="Arial"/>
                <a:sym typeface="Arial"/>
              </a:rPr>
              <a:t>EXCL_find</a:t>
            </a:r>
            <a:r>
              <a:rPr lang="en-US" sz="1100" i="1" dirty="0">
                <a:solidFill>
                  <a:srgbClr val="5A5A5A"/>
                </a:solidFill>
                <a:latin typeface="Arial"/>
                <a:ea typeface="Arial"/>
                <a:cs typeface="Arial"/>
                <a:sym typeface="Arial"/>
              </a:rPr>
              <a:t>) </a:t>
            </a:r>
            <a:r>
              <a:rPr lang="en-US" sz="1100" i="1" dirty="0">
                <a:solidFill>
                  <a:srgbClr val="5A5A5A"/>
                </a:solidFill>
              </a:rPr>
              <a:t>using public or internal data</a:t>
            </a:r>
            <a:endParaRPr sz="1100" dirty="0">
              <a:solidFill>
                <a:schemeClr val="dk1"/>
              </a:solidFill>
              <a:latin typeface="Calibri"/>
              <a:ea typeface="Calibri"/>
              <a:cs typeface="Calibri"/>
              <a:sym typeface="Calibri"/>
            </a:endParaRPr>
          </a:p>
        </p:txBody>
      </p:sp>
      <p:sp>
        <p:nvSpPr>
          <p:cNvPr id="56" name="Google Shape;56;p4"/>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57" name="Google Shape;57;p4"/>
          <p:cNvSpPr/>
          <p:nvPr/>
        </p:nvSpPr>
        <p:spPr>
          <a:xfrm>
            <a:off x="8138160" y="4814316"/>
            <a:ext cx="5487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4</a:t>
            </a:r>
            <a:endParaRPr sz="900">
              <a:solidFill>
                <a:schemeClr val="dk1"/>
              </a:solidFill>
              <a:latin typeface="Calibri"/>
              <a:ea typeface="Calibri"/>
              <a:cs typeface="Calibri"/>
              <a:sym typeface="Calibri"/>
            </a:endParaRPr>
          </a:p>
        </p:txBody>
      </p:sp>
      <p:sp>
        <p:nvSpPr>
          <p:cNvPr id="58" name="Google Shape;58;p4"/>
          <p:cNvSpPr/>
          <p:nvPr/>
        </p:nvSpPr>
        <p:spPr>
          <a:xfrm>
            <a:off x="6687262" y="1428738"/>
            <a:ext cx="1689572"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59;p4"/>
          <p:cNvSpPr/>
          <p:nvPr/>
        </p:nvSpPr>
        <p:spPr>
          <a:xfrm>
            <a:off x="6794420" y="1523988"/>
            <a:ext cx="1461100"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Add to existing curated rule set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Test on FY2025 and FY2026 data</a:t>
            </a:r>
            <a:endParaRPr sz="1100" b="1">
              <a:solidFill>
                <a:srgbClr val="000000"/>
              </a:solidFill>
              <a:latin typeface="Arial"/>
              <a:ea typeface="Arial"/>
              <a:cs typeface="Arial"/>
              <a:sym typeface="Arial"/>
            </a:endParaRPr>
          </a:p>
          <a:p>
            <a:pPr marL="0" lvl="0" indent="0" algn="ctr" rtl="0">
              <a:spcBef>
                <a:spcPts val="150"/>
              </a:spcBef>
              <a:spcAft>
                <a:spcPts val="0"/>
              </a:spcAft>
              <a:buNone/>
            </a:pPr>
            <a:r>
              <a:rPr lang="en-US" sz="1100" b="1">
                <a:solidFill>
                  <a:srgbClr val="000000"/>
                </a:solidFill>
                <a:latin typeface="Arial"/>
                <a:ea typeface="Arial"/>
                <a:cs typeface="Arial"/>
                <a:sym typeface="Arial"/>
              </a:rPr>
              <a:t>(not yet public)</a:t>
            </a:r>
            <a:endParaRPr sz="1000" b="1">
              <a:solidFill>
                <a:srgbClr val="5A5A5A"/>
              </a:solidFill>
              <a:latin typeface="Arial"/>
              <a:ea typeface="Arial"/>
              <a:cs typeface="Arial"/>
              <a:sym typeface="Arial"/>
            </a:endParaRPr>
          </a:p>
        </p:txBody>
      </p:sp>
      <p:cxnSp>
        <p:nvCxnSpPr>
          <p:cNvPr id="60" name="Google Shape;60;p4"/>
          <p:cNvCxnSpPr>
            <a:cxnSpLocks/>
            <a:stCxn id="47" idx="3"/>
            <a:endCxn id="58" idx="1"/>
          </p:cNvCxnSpPr>
          <p:nvPr/>
        </p:nvCxnSpPr>
        <p:spPr>
          <a:xfrm>
            <a:off x="6220906" y="2143188"/>
            <a:ext cx="466356" cy="0"/>
          </a:xfrm>
          <a:prstGeom prst="straightConnector1">
            <a:avLst/>
          </a:prstGeom>
          <a:solidFill>
            <a:srgbClr val="FFFFFF"/>
          </a:solidFill>
          <a:ln w="22225" cap="flat" cmpd="sng">
            <a:solidFill>
              <a:srgbClr val="000000"/>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
        <p:cNvGrpSpPr/>
        <p:nvPr/>
      </p:nvGrpSpPr>
      <p:grpSpPr>
        <a:xfrm>
          <a:off x="0" y="0"/>
          <a:ext cx="0" cy="0"/>
          <a:chOff x="0" y="0"/>
          <a:chExt cx="0" cy="0"/>
        </a:xfrm>
      </p:grpSpPr>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EXCL_find_exclusion_rules_by_hh_size.R: mine and combine exclusion rules</a:t>
            </a:r>
            <a:endParaRPr sz="2800">
              <a:solidFill>
                <a:schemeClr val="dk1"/>
              </a:solidFill>
              <a:latin typeface="Calibri"/>
              <a:ea typeface="Calibri"/>
              <a:cs typeface="Calibri"/>
              <a:sym typeface="Calibri"/>
            </a:endParaRPr>
          </a:p>
        </p:txBody>
      </p:sp>
      <p:sp>
        <p:nvSpPr>
          <p:cNvPr id="67" name="Google Shape;67;p5"/>
          <p:cNvSpPr/>
          <p:nvPr/>
        </p:nvSpPr>
        <p:spPr>
          <a:xfrm>
            <a:off x="457200" y="1234440"/>
            <a:ext cx="5212080" cy="3291840"/>
          </a:xfrm>
          <a:prstGeom prst="rect">
            <a:avLst/>
          </a:prstGeom>
          <a:noFill/>
          <a:ln>
            <a:noFill/>
          </a:ln>
        </p:spPr>
        <p:txBody>
          <a:bodyPr spcFirstLastPara="1" wrap="square" lIns="91425" tIns="45700" rIns="91425" bIns="45700" anchor="t" anchorCtr="0">
            <a:noAutofit/>
          </a:bodyPr>
          <a:lstStyle/>
          <a:p>
            <a:pPr marL="177800" marR="0" lvl="0" indent="-177800" algn="l" rtl="0">
              <a:spcBef>
                <a:spcPts val="0"/>
              </a:spcBef>
              <a:spcAft>
                <a:spcPts val="0"/>
              </a:spcAft>
              <a:buClr>
                <a:srgbClr val="000000"/>
              </a:buClr>
              <a:buSzPts val="1500"/>
              <a:buFont typeface="Arial"/>
              <a:buChar char="•"/>
            </a:pPr>
            <a:r>
              <a:rPr lang="en-US" sz="1500">
                <a:solidFill>
                  <a:srgbClr val="000000"/>
                </a:solidFill>
                <a:latin typeface="Arial"/>
                <a:ea typeface="Arial"/>
                <a:cs typeface="Arial"/>
                <a:sym typeface="Arial"/>
              </a:rPr>
              <a:t>For each household size, use RuleFit to find criteria that combine 1-4 variables to safely exclude low-risk cases.</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Score every rule: workload cut, dollar retention, purity (share of excluded cases that are not errors).</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Keep EXCLUDE-direction rules (default saves rules with dollar retention ≥ 0.95, but can modify).</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t>Starting with the highest workload-cut rules, combine them using </a:t>
            </a:r>
            <a:r>
              <a:rPr lang="en-US" sz="1500">
                <a:solidFill>
                  <a:srgbClr val="000000"/>
                </a:solidFill>
                <a:latin typeface="Arial"/>
                <a:ea typeface="Arial"/>
                <a:cs typeface="Arial"/>
                <a:sym typeface="Arial"/>
              </a:rPr>
              <a:t>OR statements into a </a:t>
            </a:r>
            <a:r>
              <a:rPr lang="en-US" sz="1500"/>
              <a:t>“</a:t>
            </a:r>
            <a:r>
              <a:rPr lang="en-US" sz="1500">
                <a:solidFill>
                  <a:srgbClr val="000000"/>
                </a:solidFill>
                <a:latin typeface="Arial"/>
                <a:ea typeface="Arial"/>
                <a:cs typeface="Arial"/>
                <a:sym typeface="Arial"/>
              </a:rPr>
              <a:t>net</a:t>
            </a:r>
            <a:r>
              <a:rPr lang="en-US" sz="1500"/>
              <a:t>”</a:t>
            </a:r>
            <a:r>
              <a:rPr lang="en-US" sz="1500">
                <a:solidFill>
                  <a:srgbClr val="000000"/>
                </a:solidFill>
                <a:latin typeface="Arial"/>
                <a:ea typeface="Arial"/>
                <a:cs typeface="Arial"/>
                <a:sym typeface="Arial"/>
              </a:rPr>
              <a:t> that reaches each recall floor </a:t>
            </a:r>
            <a:r>
              <a:rPr lang="en-US" sz="1500"/>
              <a:t>(such as 30%, 40%, or 50% of error dollars due to the modeled type of error). </a:t>
            </a:r>
            <a:endParaRPr sz="1500"/>
          </a:p>
          <a:p>
            <a:pPr marL="0" marR="0" lvl="0" indent="0" algn="l" rtl="0">
              <a:spcBef>
                <a:spcPts val="1000"/>
              </a:spcBef>
              <a:spcAft>
                <a:spcPts val="0"/>
              </a:spcAft>
              <a:buNone/>
            </a:pPr>
            <a:endParaRPr sz="1500"/>
          </a:p>
        </p:txBody>
      </p:sp>
      <p:sp>
        <p:nvSpPr>
          <p:cNvPr id="68" name="Google Shape;68;p5"/>
          <p:cNvSpPr/>
          <p:nvPr/>
        </p:nvSpPr>
        <p:spPr>
          <a:xfrm>
            <a:off x="5989320" y="1280160"/>
            <a:ext cx="2697480" cy="3108960"/>
          </a:xfrm>
          <a:prstGeom prst="roundRect">
            <a:avLst>
              <a:gd name="adj" fmla="val 2034"/>
            </a:avLst>
          </a:prstGeom>
          <a:solidFill>
            <a:srgbClr val="F2F2F2"/>
          </a:solidFill>
          <a:ln w="12700"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6172200" y="1463040"/>
            <a:ext cx="2331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300"/>
              <a:buFont typeface="Arial"/>
              <a:buNone/>
            </a:pPr>
            <a:r>
              <a:rPr lang="en-US" sz="1300" b="1">
                <a:solidFill>
                  <a:srgbClr val="000000"/>
                </a:solidFill>
                <a:latin typeface="Arial"/>
                <a:ea typeface="Arial"/>
                <a:cs typeface="Arial"/>
                <a:sym typeface="Arial"/>
              </a:rPr>
              <a:t>Outputs (CSV)</a:t>
            </a:r>
            <a:endParaRPr sz="1300">
              <a:solidFill>
                <a:schemeClr val="dk1"/>
              </a:solidFill>
              <a:latin typeface="Calibri"/>
              <a:ea typeface="Calibri"/>
              <a:cs typeface="Calibri"/>
              <a:sym typeface="Calibri"/>
            </a:endParaRPr>
          </a:p>
        </p:txBody>
      </p:sp>
      <p:sp>
        <p:nvSpPr>
          <p:cNvPr id="70" name="Google Shape;70;p5"/>
          <p:cNvSpPr/>
          <p:nvPr/>
        </p:nvSpPr>
        <p:spPr>
          <a:xfrm>
            <a:off x="6172200" y="1874520"/>
            <a:ext cx="2331720" cy="2423160"/>
          </a:xfrm>
          <a:prstGeom prst="rect">
            <a:avLst/>
          </a:prstGeom>
          <a:noFill/>
          <a:ln>
            <a:noFill/>
          </a:ln>
        </p:spPr>
        <p:txBody>
          <a:bodyPr spcFirstLastPara="1" wrap="square" lIns="91425" tIns="45700" rIns="91425" bIns="45700" anchor="t" anchorCtr="0">
            <a:noAutofit/>
          </a:bodyPr>
          <a:lstStyle/>
          <a:p>
            <a:pPr marL="152400" marR="0" lvl="0" indent="-152400" algn="l" rtl="0">
              <a:spcBef>
                <a:spcPts val="0"/>
              </a:spcBef>
              <a:spcAft>
                <a:spcPts val="0"/>
              </a:spcAft>
              <a:buClr>
                <a:srgbClr val="000000"/>
              </a:buClr>
              <a:buSzPts val="1200"/>
              <a:buFont typeface="Arial"/>
              <a:buChar char="•"/>
            </a:pPr>
            <a:r>
              <a:rPr lang="en-US" sz="1200">
                <a:solidFill>
                  <a:srgbClr val="000000"/>
                </a:solidFill>
                <a:latin typeface="Arial"/>
                <a:ea typeface="Arial"/>
                <a:cs typeface="Arial"/>
                <a:sym typeface="Arial"/>
              </a:rPr>
              <a:t>Full rule table</a:t>
            </a:r>
            <a:endParaRPr sz="120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a:solidFill>
                  <a:srgbClr val="000000"/>
                </a:solidFill>
                <a:latin typeface="Arial"/>
                <a:ea typeface="Arial"/>
                <a:cs typeface="Arial"/>
                <a:sym typeface="Arial"/>
              </a:rPr>
              <a:t>High-workload-cut shortlist (above threshold)</a:t>
            </a:r>
            <a:endParaRPr sz="120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a:solidFill>
                  <a:srgbClr val="000000"/>
                </a:solidFill>
                <a:latin typeface="Arial"/>
                <a:ea typeface="Arial"/>
                <a:cs typeface="Arial"/>
                <a:sym typeface="Arial"/>
              </a:rPr>
              <a:t>Net operating points (retention floors with maximum workload cut at each level)</a:t>
            </a:r>
            <a:endParaRPr sz="1200">
              <a:solidFill>
                <a:schemeClr val="dk1"/>
              </a:solidFill>
              <a:latin typeface="Calibri"/>
              <a:ea typeface="Calibri"/>
              <a:cs typeface="Calibri"/>
              <a:sym typeface="Calibri"/>
            </a:endParaRPr>
          </a:p>
        </p:txBody>
      </p:sp>
      <p:sp>
        <p:nvSpPr>
          <p:cNvPr id="71" name="Google Shape;71;p5"/>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sp>
        <p:nvSpPr>
          <p:cNvPr id="72" name="Google Shape;72;p5"/>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6"/>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EXCL_find_ output: candidate exclusion rules by household size</a:t>
            </a:r>
            <a:endParaRPr sz="2800">
              <a:solidFill>
                <a:schemeClr val="dk1"/>
              </a:solidFill>
              <a:latin typeface="Calibri"/>
              <a:ea typeface="Calibri"/>
              <a:cs typeface="Calibri"/>
              <a:sym typeface="Calibri"/>
            </a:endParaRPr>
          </a:p>
        </p:txBody>
      </p:sp>
      <p:graphicFrame>
        <p:nvGraphicFramePr>
          <p:cNvPr id="79" name="Google Shape;79;p6"/>
          <p:cNvGraphicFramePr/>
          <p:nvPr/>
        </p:nvGraphicFramePr>
        <p:xfrm>
          <a:off x="457200" y="1105595"/>
          <a:ext cx="8229600" cy="3887340"/>
        </p:xfrm>
        <a:graphic>
          <a:graphicData uri="http://schemas.openxmlformats.org/drawingml/2006/table">
            <a:tbl>
              <a:tblPr>
                <a:noFill/>
                <a:tableStyleId>{B5048AC8-0E75-455B-AB4F-AEF2A2D202BD}</a:tableStyleId>
              </a:tblPr>
              <a:tblGrid>
                <a:gridCol w="823725">
                  <a:extLst>
                    <a:ext uri="{9D8B030D-6E8A-4147-A177-3AD203B41FA5}">
                      <a16:colId xmlns:a16="http://schemas.microsoft.com/office/drawing/2014/main" val="20000"/>
                    </a:ext>
                  </a:extLst>
                </a:gridCol>
                <a:gridCol w="3210450">
                  <a:extLst>
                    <a:ext uri="{9D8B030D-6E8A-4147-A177-3AD203B41FA5}">
                      <a16:colId xmlns:a16="http://schemas.microsoft.com/office/drawing/2014/main" val="20001"/>
                    </a:ext>
                  </a:extLst>
                </a:gridCol>
                <a:gridCol w="704075">
                  <a:extLst>
                    <a:ext uri="{9D8B030D-6E8A-4147-A177-3AD203B41FA5}">
                      <a16:colId xmlns:a16="http://schemas.microsoft.com/office/drawing/2014/main" val="20002"/>
                    </a:ext>
                  </a:extLst>
                </a:gridCol>
                <a:gridCol w="74815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200">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hh_size</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rule</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00000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precision</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recall (</a:t>
                      </a:r>
                      <a:r>
                        <a:rPr lang="en-US" sz="1100" b="1">
                          <a:solidFill>
                            <a:schemeClr val="dk1"/>
                          </a:solidFill>
                        </a:rPr>
                        <a:t>$)</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n_flagged</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errors_caught</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extLst>
                  <a:ext uri="{0D108BD9-81ED-4DB2-BD59-A6C34878D82A}">
                    <a16:rowId xmlns:a16="http://schemas.microsoft.com/office/drawing/2014/main" val="10000"/>
                  </a:ext>
                </a:extLst>
              </a:tr>
              <a:tr h="8547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unc_rawben_rel_max &lt; 1.217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rawearn &gt;= 3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0.9718 &gt; rawben_rel_max &gt; 0.7775 </a:t>
                      </a:r>
                      <a:endParaRPr sz="110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0.46</a:t>
                      </a:r>
                      <a:endParaRPr sz="110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0.32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527</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243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shelter_expenses &gt;= 1552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rawearn &gt;= 1091 &amp; </a:t>
                      </a:r>
                      <a:endParaRPr sz="1100">
                        <a:solidFill>
                          <a:schemeClr val="dk1"/>
                        </a:solidFill>
                      </a:endParaRPr>
                    </a:p>
                    <a:p>
                      <a:pPr marL="0" marR="0" lvl="0" indent="0" algn="l" rtl="0">
                        <a:spcBef>
                          <a:spcPts val="0"/>
                        </a:spcBef>
                        <a:spcAft>
                          <a:spcPts val="0"/>
                        </a:spcAft>
                        <a:buClr>
                          <a:srgbClr val="5A5A5A"/>
                        </a:buClr>
                        <a:buSzPts val="1200"/>
                        <a:buFont typeface="Arial"/>
                        <a:buNone/>
                      </a:pPr>
                      <a:r>
                        <a:rPr lang="en-US" sz="1100">
                          <a:solidFill>
                            <a:schemeClr val="dk1"/>
                          </a:solidFill>
                        </a:rPr>
                        <a:t>total_deductions &lt; 1152</a:t>
                      </a:r>
                      <a:endParaRPr sz="1100" u="none" strike="noStrike" cap="none">
                        <a:solidFill>
                          <a:schemeClr val="dk1"/>
                        </a:solidFill>
                        <a:latin typeface="Arial"/>
                        <a:ea typeface="Arial"/>
                        <a:cs typeface="Arial"/>
                        <a:sym typeface="Aria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0.29</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0.20</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291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85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l" rtl="0">
                        <a:spcBef>
                          <a:spcPts val="0"/>
                        </a:spcBef>
                        <a:spcAft>
                          <a:spcPts val="0"/>
                        </a:spcAft>
                        <a:buNone/>
                      </a:pPr>
                      <a:r>
                        <a:rPr lang="en-US" sz="1100">
                          <a:solidFill>
                            <a:schemeClr val="dk1"/>
                          </a:solidFill>
                        </a:rPr>
                        <a:t>unc_rawben_rel_max &gt;= 1.193 &amp; utilities &lt; 346 &amp; months_since_cert_n &gt;= 2.5 &amp; rawgross &lt; 2.5</a:t>
                      </a:r>
                      <a:endParaRPr sz="11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0.31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0.09</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72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22</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1100">
                          <a:solidFill>
                            <a:schemeClr val="dk1"/>
                          </a:solidFill>
                        </a:rPr>
                        <a:t>4</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total_deductions &lt; 614.5 &amp; shelter_expenses &lt; 346 &amp; </a:t>
                      </a:r>
                      <a:endParaRPr sz="1100">
                        <a:solidFill>
                          <a:schemeClr val="dk1"/>
                        </a:solidFill>
                      </a:endParaRPr>
                    </a:p>
                    <a:p>
                      <a:pPr marL="0" marR="0" lvl="0" indent="0" algn="l" rtl="0">
                        <a:spcBef>
                          <a:spcPts val="0"/>
                        </a:spcBef>
                        <a:spcAft>
                          <a:spcPts val="0"/>
                        </a:spcAft>
                        <a:buNone/>
                      </a:pPr>
                      <a:r>
                        <a:rPr lang="en-US" sz="1100">
                          <a:solidFill>
                            <a:schemeClr val="dk1"/>
                          </a:solidFill>
                        </a:rPr>
                        <a:t>utilities &gt;= 334 &amp; </a:t>
                      </a:r>
                      <a:endParaRPr sz="1100">
                        <a:solidFill>
                          <a:schemeClr val="dk1"/>
                        </a:solidFill>
                      </a:endParaRPr>
                    </a:p>
                    <a:p>
                      <a:pPr marL="0" marR="0" lvl="0" indent="0" algn="l" rtl="0">
                        <a:spcBef>
                          <a:spcPts val="0"/>
                        </a:spcBef>
                        <a:spcAft>
                          <a:spcPts val="0"/>
                        </a:spcAft>
                        <a:buNone/>
                      </a:pPr>
                      <a:r>
                        <a:rPr lang="en-US" sz="1100">
                          <a:solidFill>
                            <a:schemeClr val="dk1"/>
                          </a:solidFill>
                        </a:rPr>
                        <a:t>months_since_cert_n &gt;= 2.5</a:t>
                      </a:r>
                      <a:endParaRPr sz="1100" u="none" strike="noStrike" cap="none">
                        <a:solidFill>
                          <a:schemeClr val="dk1"/>
                        </a:solidFill>
                        <a:latin typeface="Arial"/>
                        <a:ea typeface="Arial"/>
                        <a:cs typeface="Arial"/>
                        <a:sym typeface="Aria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0.48</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0.25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114</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55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1100">
                          <a:solidFill>
                            <a:schemeClr val="dk1"/>
                          </a:solidFill>
                        </a:rPr>
                        <a:t>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2221 &gt; shelter_expenses &gt; 1625 &amp; </a:t>
                      </a:r>
                      <a:endParaRPr sz="1100">
                        <a:solidFill>
                          <a:schemeClr val="dk1"/>
                        </a:solidFill>
                      </a:endParaRPr>
                    </a:p>
                    <a:p>
                      <a:pPr marL="0" marR="0" lvl="0" indent="0" algn="l" rtl="0">
                        <a:spcBef>
                          <a:spcPts val="0"/>
                        </a:spcBef>
                        <a:spcAft>
                          <a:spcPts val="0"/>
                        </a:spcAft>
                        <a:buNone/>
                      </a:pPr>
                      <a:r>
                        <a:rPr lang="en-US" sz="1100">
                          <a:solidFill>
                            <a:schemeClr val="dk1"/>
                          </a:solidFill>
                        </a:rPr>
                        <a:t>0.9545 &gt; rawben_rel_max &gt; 0.786 </a:t>
                      </a:r>
                      <a:endParaRPr sz="1100" u="none" strike="noStrike" cap="none">
                        <a:solidFill>
                          <a:schemeClr val="dk1"/>
                        </a:solidFill>
                        <a:latin typeface="Arial"/>
                        <a:ea typeface="Arial"/>
                        <a:cs typeface="Arial"/>
                        <a:sym typeface="Aria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0.25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0.13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136</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None/>
                      </a:pPr>
                      <a:r>
                        <a:rPr lang="en-US" sz="1100">
                          <a:solidFill>
                            <a:schemeClr val="dk1"/>
                          </a:solidFill>
                        </a:rPr>
                        <a:t>34</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80" name="Google Shape;80;p6"/>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6</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7"/>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EXCL_find_: combining rules to hit retention floors</a:t>
            </a:r>
            <a:endParaRPr sz="2800">
              <a:solidFill>
                <a:schemeClr val="dk1"/>
              </a:solidFill>
              <a:latin typeface="Calibri"/>
              <a:ea typeface="Calibri"/>
              <a:cs typeface="Calibri"/>
              <a:sym typeface="Calibri"/>
            </a:endParaRPr>
          </a:p>
        </p:txBody>
      </p:sp>
      <p:sp>
        <p:nvSpPr>
          <p:cNvPr id="87" name="Google Shape;87;p7"/>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Exclusion rules · EXCL_ scripts</a:t>
            </a:r>
            <a:endParaRPr sz="900">
              <a:solidFill>
                <a:schemeClr val="dk1"/>
              </a:solidFill>
              <a:latin typeface="Calibri"/>
              <a:ea typeface="Calibri"/>
              <a:cs typeface="Calibri"/>
              <a:sym typeface="Calibri"/>
            </a:endParaRPr>
          </a:p>
        </p:txBody>
      </p:sp>
      <p:graphicFrame>
        <p:nvGraphicFramePr>
          <p:cNvPr id="88" name="Google Shape;88;p7"/>
          <p:cNvGraphicFramePr/>
          <p:nvPr/>
        </p:nvGraphicFramePr>
        <p:xfrm>
          <a:off x="645775" y="1066538"/>
          <a:ext cx="8041025" cy="4016873"/>
        </p:xfrm>
        <a:graphic>
          <a:graphicData uri="http://schemas.openxmlformats.org/drawingml/2006/table">
            <a:tbl>
              <a:tblPr>
                <a:noFill/>
                <a:tableStyleId>{B5048AC8-0E75-455B-AB4F-AEF2A2D202BD}</a:tableStyleId>
              </a:tblPr>
              <a:tblGrid>
                <a:gridCol w="633900">
                  <a:extLst>
                    <a:ext uri="{9D8B030D-6E8A-4147-A177-3AD203B41FA5}">
                      <a16:colId xmlns:a16="http://schemas.microsoft.com/office/drawing/2014/main" val="20000"/>
                    </a:ext>
                  </a:extLst>
                </a:gridCol>
                <a:gridCol w="633900">
                  <a:extLst>
                    <a:ext uri="{9D8B030D-6E8A-4147-A177-3AD203B41FA5}">
                      <a16:colId xmlns:a16="http://schemas.microsoft.com/office/drawing/2014/main" val="20001"/>
                    </a:ext>
                  </a:extLst>
                </a:gridCol>
                <a:gridCol w="633900">
                  <a:extLst>
                    <a:ext uri="{9D8B030D-6E8A-4147-A177-3AD203B41FA5}">
                      <a16:colId xmlns:a16="http://schemas.microsoft.com/office/drawing/2014/main" val="20002"/>
                    </a:ext>
                  </a:extLst>
                </a:gridCol>
                <a:gridCol w="633900">
                  <a:extLst>
                    <a:ext uri="{9D8B030D-6E8A-4147-A177-3AD203B41FA5}">
                      <a16:colId xmlns:a16="http://schemas.microsoft.com/office/drawing/2014/main" val="20003"/>
                    </a:ext>
                  </a:extLst>
                </a:gridCol>
                <a:gridCol w="633900">
                  <a:extLst>
                    <a:ext uri="{9D8B030D-6E8A-4147-A177-3AD203B41FA5}">
                      <a16:colId xmlns:a16="http://schemas.microsoft.com/office/drawing/2014/main" val="20004"/>
                    </a:ext>
                  </a:extLst>
                </a:gridCol>
                <a:gridCol w="633900">
                  <a:extLst>
                    <a:ext uri="{9D8B030D-6E8A-4147-A177-3AD203B41FA5}">
                      <a16:colId xmlns:a16="http://schemas.microsoft.com/office/drawing/2014/main" val="20005"/>
                    </a:ext>
                  </a:extLst>
                </a:gridCol>
                <a:gridCol w="633900">
                  <a:extLst>
                    <a:ext uri="{9D8B030D-6E8A-4147-A177-3AD203B41FA5}">
                      <a16:colId xmlns:a16="http://schemas.microsoft.com/office/drawing/2014/main" val="20006"/>
                    </a:ext>
                  </a:extLst>
                </a:gridCol>
                <a:gridCol w="633900">
                  <a:extLst>
                    <a:ext uri="{9D8B030D-6E8A-4147-A177-3AD203B41FA5}">
                      <a16:colId xmlns:a16="http://schemas.microsoft.com/office/drawing/2014/main" val="20007"/>
                    </a:ext>
                  </a:extLst>
                </a:gridCol>
                <a:gridCol w="2969825">
                  <a:extLst>
                    <a:ext uri="{9D8B030D-6E8A-4147-A177-3AD203B41FA5}">
                      <a16:colId xmlns:a16="http://schemas.microsoft.com/office/drawing/2014/main" val="20008"/>
                    </a:ext>
                  </a:extLst>
                </a:gridCol>
              </a:tblGrid>
              <a:tr h="509950">
                <a:tc>
                  <a:txBody>
                    <a:bodyPr/>
                    <a:lstStyle/>
                    <a:p>
                      <a:pPr marL="0" lvl="0" indent="0" algn="ctr" rtl="0">
                        <a:lnSpc>
                          <a:spcPct val="115000"/>
                        </a:lnSpc>
                        <a:spcBef>
                          <a:spcPts val="0"/>
                        </a:spcBef>
                        <a:spcAft>
                          <a:spcPts val="0"/>
                        </a:spcAft>
                        <a:buNone/>
                      </a:pPr>
                      <a:r>
                        <a:rPr lang="en-US" sz="1000" b="1"/>
                        <a:t>Step</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hh size</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recall floor</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prec.</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recall ($)</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flagged</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errors caught</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n rules</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net (all for household size of 2)</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12075">
                <a:tc>
                  <a:txBody>
                    <a:bodyPr/>
                    <a:lstStyle/>
                    <a:p>
                      <a:pPr marL="0" lvl="0" indent="0" algn="l" rtl="0">
                        <a:spcBef>
                          <a:spcPts val="0"/>
                        </a:spcBef>
                        <a:spcAft>
                          <a:spcPts val="0"/>
                        </a:spcAft>
                        <a:buNone/>
                      </a:pPr>
                      <a:r>
                        <a:rPr lang="en-US" sz="1000"/>
                        <a:t>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1"/>
                        <a:t>0.2</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0.29</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a:solidFill>
                            <a:schemeClr val="dk1"/>
                          </a:solidFill>
                        </a:rPr>
                        <a:t>.21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a:solidFill>
                            <a:schemeClr val="dk1"/>
                          </a:solidFill>
                        </a:rPr>
                        <a:t>291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85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a:solidFill>
                            <a:schemeClr val="dk1"/>
                          </a:solidFill>
                        </a:rPr>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unc_rawben_rel_max &gt;= 1.418 &amp; </a:t>
                      </a:r>
                      <a:endParaRPr sz="1000">
                        <a:solidFill>
                          <a:schemeClr val="dk1"/>
                        </a:solidFill>
                      </a:endParaRPr>
                    </a:p>
                    <a:p>
                      <a:pPr marL="0" lvl="0" indent="0" algn="l" rtl="0">
                        <a:spcBef>
                          <a:spcPts val="0"/>
                        </a:spcBef>
                        <a:spcAft>
                          <a:spcPts val="0"/>
                        </a:spcAft>
                        <a:buNone/>
                      </a:pPr>
                      <a:r>
                        <a:rPr lang="en-US" sz="1000">
                          <a:solidFill>
                            <a:schemeClr val="dk1"/>
                          </a:solidFill>
                        </a:rPr>
                        <a:t>utilities &lt; 382 &amp; </a:t>
                      </a:r>
                      <a:endParaRPr sz="1000">
                        <a:solidFill>
                          <a:schemeClr val="dk1"/>
                        </a:solidFill>
                      </a:endParaRPr>
                    </a:p>
                    <a:p>
                      <a:pPr marL="0" lvl="0" indent="0" algn="l" rtl="0">
                        <a:spcBef>
                          <a:spcPts val="0"/>
                        </a:spcBef>
                        <a:spcAft>
                          <a:spcPts val="0"/>
                        </a:spcAft>
                        <a:buNone/>
                      </a:pPr>
                      <a:r>
                        <a:rPr lang="en-US" sz="1000">
                          <a:solidFill>
                            <a:schemeClr val="dk1"/>
                          </a:solidFill>
                        </a:rPr>
                        <a:t>utilities &gt;= 12.5 </a:t>
                      </a:r>
                      <a:endParaRPr sz="1000">
                        <a:solidFill>
                          <a:schemeClr val="dk1"/>
                        </a:solidFill>
                      </a:endParaRPr>
                    </a:p>
                    <a:p>
                      <a:pPr marL="0" lvl="0" indent="0" algn="l" rtl="0">
                        <a:spcBef>
                          <a:spcPts val="0"/>
                        </a:spcBef>
                        <a:spcAft>
                          <a:spcPts val="0"/>
                        </a:spcAft>
                        <a:buNone/>
                      </a:pPr>
                      <a:r>
                        <a:rPr lang="en-US" sz="1000">
                          <a:solidFill>
                            <a:schemeClr val="dk1"/>
                          </a:solidFill>
                        </a:rPr>
                        <a:t>OR </a:t>
                      </a:r>
                      <a:endParaRPr sz="1000">
                        <a:solidFill>
                          <a:schemeClr val="dk1"/>
                        </a:solidFill>
                      </a:endParaRPr>
                    </a:p>
                    <a:p>
                      <a:pPr marL="0" lvl="0" indent="0" algn="l" rtl="0">
                        <a:spcBef>
                          <a:spcPts val="0"/>
                        </a:spcBef>
                        <a:spcAft>
                          <a:spcPts val="0"/>
                        </a:spcAft>
                        <a:buNone/>
                      </a:pPr>
                      <a:r>
                        <a:rPr lang="en-US" sz="1000">
                          <a:solidFill>
                            <a:schemeClr val="dk1"/>
                          </a:solidFill>
                        </a:rPr>
                        <a:t>shelter_expenses &gt;= 1552 &amp; </a:t>
                      </a:r>
                      <a:endParaRPr sz="1000">
                        <a:solidFill>
                          <a:schemeClr val="dk1"/>
                        </a:solidFill>
                      </a:endParaRPr>
                    </a:p>
                    <a:p>
                      <a:pPr marL="0" lvl="0" indent="0" algn="l" rtl="0">
                        <a:spcBef>
                          <a:spcPts val="0"/>
                        </a:spcBef>
                        <a:spcAft>
                          <a:spcPts val="0"/>
                        </a:spcAft>
                        <a:buNone/>
                      </a:pPr>
                      <a:r>
                        <a:rPr lang="en-US" sz="1000">
                          <a:solidFill>
                            <a:schemeClr val="dk1"/>
                          </a:solidFill>
                        </a:rPr>
                        <a:t>rawearn &gt;= 1091 &amp; </a:t>
                      </a:r>
                      <a:endParaRPr sz="1000">
                        <a:solidFill>
                          <a:schemeClr val="dk1"/>
                        </a:solidFill>
                      </a:endParaRPr>
                    </a:p>
                    <a:p>
                      <a:pPr marL="0" lvl="0" indent="0" algn="l" rtl="0">
                        <a:spcBef>
                          <a:spcPts val="0"/>
                        </a:spcBef>
                        <a:spcAft>
                          <a:spcPts val="0"/>
                        </a:spcAft>
                        <a:buNone/>
                      </a:pPr>
                      <a:r>
                        <a:rPr lang="en-US" sz="1000">
                          <a:solidFill>
                            <a:schemeClr val="dk1"/>
                          </a:solidFill>
                        </a:rPr>
                        <a:t>total_deductions &lt; 1152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212075">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1"/>
                        <a:t>0.3</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0.2667</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0.379</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615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164</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4</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000" i="1">
                          <a:solidFill>
                            <a:schemeClr val="dk1"/>
                          </a:solidFill>
                        </a:rPr>
                        <a:t>[ABOVE OR]</a:t>
                      </a:r>
                      <a:endParaRPr sz="1000" b="1" u="sng"/>
                    </a:p>
                    <a:p>
                      <a:pPr marL="0" lvl="0" indent="0" algn="l" rtl="0">
                        <a:spcBef>
                          <a:spcPts val="0"/>
                        </a:spcBef>
                        <a:spcAft>
                          <a:spcPts val="0"/>
                        </a:spcAft>
                        <a:buNone/>
                      </a:pPr>
                      <a:r>
                        <a:rPr lang="en-US" sz="1000"/>
                        <a:t>unc_rawben_rel_max &gt;= 1.487 &amp; </a:t>
                      </a:r>
                      <a:endParaRPr sz="1000"/>
                    </a:p>
                    <a:p>
                      <a:pPr marL="0" lvl="0" indent="0" algn="l" rtl="0">
                        <a:spcBef>
                          <a:spcPts val="0"/>
                        </a:spcBef>
                        <a:spcAft>
                          <a:spcPts val="0"/>
                        </a:spcAft>
                        <a:buNone/>
                      </a:pPr>
                      <a:r>
                        <a:rPr lang="en-US" sz="1000"/>
                        <a:t>shelter_expenses &gt;= 803 &amp; utilities &lt; 663.5 </a:t>
                      </a:r>
                      <a:endParaRPr sz="1000"/>
                    </a:p>
                    <a:p>
                      <a:pPr marL="0" lvl="0" indent="0" algn="l" rtl="0">
                        <a:spcBef>
                          <a:spcPts val="0"/>
                        </a:spcBef>
                        <a:spcAft>
                          <a:spcPts val="0"/>
                        </a:spcAft>
                        <a:buNone/>
                      </a:pPr>
                      <a:r>
                        <a:rPr lang="en-US" sz="1000"/>
                        <a:t>OR </a:t>
                      </a:r>
                      <a:endParaRPr sz="1000"/>
                    </a:p>
                    <a:p>
                      <a:pPr marL="0" lvl="0" indent="0" algn="l" rtl="0">
                        <a:spcBef>
                          <a:spcPts val="0"/>
                        </a:spcBef>
                        <a:spcAft>
                          <a:spcPts val="0"/>
                        </a:spcAft>
                        <a:buNone/>
                      </a:pPr>
                      <a:r>
                        <a:rPr lang="en-US" sz="1000"/>
                        <a:t>unc_rawben_rel_max &lt; 1.487 &amp; </a:t>
                      </a:r>
                      <a:endParaRPr sz="1000"/>
                    </a:p>
                    <a:p>
                      <a:pPr marL="0" lvl="0" indent="0" algn="l" rtl="0">
                        <a:spcBef>
                          <a:spcPts val="0"/>
                        </a:spcBef>
                        <a:spcAft>
                          <a:spcPts val="0"/>
                        </a:spcAft>
                        <a:buNone/>
                      </a:pPr>
                      <a:r>
                        <a:rPr lang="en-US" sz="1000"/>
                        <a:t>rawearn &gt;= 3.5 &amp; </a:t>
                      </a:r>
                      <a:endParaRPr sz="1000"/>
                    </a:p>
                    <a:p>
                      <a:pPr marL="0" lvl="0" indent="0" algn="l" rtl="0">
                        <a:spcBef>
                          <a:spcPts val="0"/>
                        </a:spcBef>
                        <a:spcAft>
                          <a:spcPts val="0"/>
                        </a:spcAft>
                        <a:buNone/>
                      </a:pPr>
                      <a:r>
                        <a:rPr lang="en-US" sz="1000">
                          <a:solidFill>
                            <a:schemeClr val="dk1"/>
                          </a:solidFill>
                        </a:rPr>
                        <a:t>0.9874 &gt; unc_rawben_rel_max &lt; 0.883 </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99125">
                <a:tc>
                  <a:txBody>
                    <a:bodyPr/>
                    <a:lstStyle/>
                    <a:p>
                      <a:pPr marL="0" lvl="0" indent="0" algn="l" rtl="0">
                        <a:spcBef>
                          <a:spcPts val="0"/>
                        </a:spcBef>
                        <a:spcAft>
                          <a:spcPts val="0"/>
                        </a:spcAft>
                        <a:buNone/>
                      </a:pPr>
                      <a:r>
                        <a:rPr lang="en-US" sz="1000"/>
                        <a:t>3</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b="1"/>
                        <a:t>0.4</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0.2281</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0.5134</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1118</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255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a:t>5</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000" i="1"/>
                        <a:t>[ABOVE OR]</a:t>
                      </a:r>
                      <a:endParaRPr sz="1000" i="1"/>
                    </a:p>
                    <a:p>
                      <a:pPr marL="0" lvl="0" indent="0" algn="l" rtl="0">
                        <a:spcBef>
                          <a:spcPts val="0"/>
                        </a:spcBef>
                        <a:spcAft>
                          <a:spcPts val="0"/>
                        </a:spcAft>
                        <a:buNone/>
                      </a:pPr>
                      <a:r>
                        <a:rPr lang="en-US" sz="1000"/>
                        <a:t>unc_rawben_rel_max &lt; 1.401 &amp; </a:t>
                      </a:r>
                      <a:endParaRPr sz="1000"/>
                    </a:p>
                    <a:p>
                      <a:pPr marL="0" lvl="0" indent="0" algn="l" rtl="0">
                        <a:spcBef>
                          <a:spcPts val="0"/>
                        </a:spcBef>
                        <a:spcAft>
                          <a:spcPts val="0"/>
                        </a:spcAft>
                        <a:buNone/>
                      </a:pPr>
                      <a:r>
                        <a:rPr lang="en-US" sz="1000"/>
                        <a:t>rawearn &gt;= 0.5 &amp;</a:t>
                      </a:r>
                      <a:endParaRPr sz="1000"/>
                    </a:p>
                    <a:p>
                      <a:pPr marL="0" lvl="0" indent="0" algn="l" rtl="0">
                        <a:spcBef>
                          <a:spcPts val="0"/>
                        </a:spcBef>
                        <a:spcAft>
                          <a:spcPts val="0"/>
                        </a:spcAft>
                        <a:buNone/>
                      </a:pPr>
                      <a:r>
                        <a:rPr lang="en-US" sz="1000"/>
                        <a:t>rawgross &lt; 1526 </a:t>
                      </a:r>
                      <a:r>
                        <a:rPr lang="en-US" sz="1000">
                          <a:solidFill>
                            <a:schemeClr val="dk1"/>
                          </a:solidFill>
                        </a:rPr>
                        <a:t>&amp; </a:t>
                      </a:r>
                      <a:endParaRPr sz="1000">
                        <a:solidFill>
                          <a:schemeClr val="dk1"/>
                        </a:solidFill>
                      </a:endParaRPr>
                    </a:p>
                    <a:p>
                      <a:pPr marL="0" lvl="0" indent="0" algn="l" rtl="0">
                        <a:spcBef>
                          <a:spcPts val="0"/>
                        </a:spcBef>
                        <a:spcAft>
                          <a:spcPts val="0"/>
                        </a:spcAft>
                        <a:buNone/>
                      </a:pPr>
                      <a:r>
                        <a:rPr lang="en-US" sz="1000">
                          <a:solidFill>
                            <a:schemeClr val="dk1"/>
                          </a:solidFill>
                        </a:rPr>
                        <a:t>rawben_rel_max &lt; 0.9876</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9" name="Google Shape;89;p7"/>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7</a:t>
            </a:r>
            <a:endParaRPr sz="900">
              <a:solidFill>
                <a:schemeClr val="dk1"/>
              </a:solidFill>
              <a:latin typeface="Calibri"/>
              <a:ea typeface="Calibri"/>
              <a:cs typeface="Calibri"/>
              <a:sym typeface="Calibri"/>
            </a:endParaRPr>
          </a:p>
        </p:txBody>
      </p:sp>
      <p:cxnSp>
        <p:nvCxnSpPr>
          <p:cNvPr id="90" name="Google Shape;90;p7"/>
          <p:cNvCxnSpPr/>
          <p:nvPr/>
        </p:nvCxnSpPr>
        <p:spPr>
          <a:xfrm flipH="1">
            <a:off x="319875" y="1740050"/>
            <a:ext cx="4200" cy="29823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eae636d67f_0_57"/>
          <p:cNvSpPr txBox="1"/>
          <p:nvPr/>
        </p:nvSpPr>
        <p:spPr>
          <a:xfrm>
            <a:off x="457200" y="1050000"/>
            <a:ext cx="8229600" cy="3800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EXCL_optimize_single_exclusion_rule_by_hh_size_for_a_state.R</a:t>
            </a:r>
            <a:endParaRPr sz="2400"/>
          </a:p>
          <a:p>
            <a:r>
              <a:rPr sz="1400" b="0"/>
              <a:t>Takes one rule from EXCL_find_ output and grid-searches its numeric thresholds on a specific state’s data to maximize workload cut while retaining a dollar retention floor. Useful when you have a small number of rules you really want to get right for your state.</a:t>
            </a:r>
          </a:p>
          <a:p>
            <a:endParaRPr sz="1400" b="0"/>
          </a:p>
          <a:p>
            <a:r>
              <a:rPr sz="1800" b="1"/>
              <a:t>EXCL_optimize_set_of_exclusion_rules_by_hh_size_for_a_state.R</a:t>
            </a:r>
          </a:p>
          <a:p>
            <a:r>
              <a:rPr sz="1400" b="0"/>
              <a:t>Reads the full exclusion rule shortlist from EXCL_find_ and optimizes all rules for a specific state at once. Drops any rule that cannot retain the required dollar floor at its best workload cut. Useful when taking rules mined from national data and adapting them to your state.</a:t>
            </a:r>
          </a:p>
          <a:p>
            <a:endParaRPr sz="1400" b="0"/>
          </a:p>
          <a:p>
            <a:r>
              <a:rPr sz="1200" b="0"/>
              <a:t>Both scripts write state-optimized rules to exclusion_rules/</a:t>
            </a:r>
          </a:p>
        </p:txBody>
      </p:sp>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Tuning exclusion rules for a specific state: EXCL_optimize_single_ and EXCL_optimize_set_</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1108</Words>
  <Application>Microsoft Office PowerPoint</Application>
  <PresentationFormat>On-screen Show (16:9)</PresentationFormat>
  <Paragraphs>168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Better Government Lab</dc:creator>
  <cp:lastModifiedBy>Eric Giannella</cp:lastModifiedBy>
  <cp:revision>1</cp:revision>
  <dcterms:created xsi:type="dcterms:W3CDTF">2026-06-09T21:09:16Z</dcterms:created>
  <dcterms:modified xsi:type="dcterms:W3CDTF">2026-06-14T04:32:07Z</dcterms:modified>
</cp:coreProperties>
</file>