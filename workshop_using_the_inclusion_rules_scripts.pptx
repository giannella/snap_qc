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3" r:id="rId25"/>
    <p:sldId id="274" r:id="rId26"/>
    <p:sldId id="257" r:id="rId9"/>
    <p:sldId id="258" r:id="rId10"/>
    <p:sldId id="259" r:id="rId11"/>
    <p:sldId id="260" r:id="rId12"/>
    <p:sldId id="261" r:id="rId13"/>
    <p:sldId id="262" r:id="rId14"/>
    <p:sldId id="275" r:id="rId27"/>
    <p:sldId id="263" r:id="rId15"/>
    <p:sldId id="264" r:id="rId16"/>
    <p:sldId id="276" r:id="rId28"/>
    <p:sldId id="265" r:id="rId17"/>
    <p:sldId id="266" r:id="rId18"/>
    <p:sldId id="267" r:id="rId19"/>
    <p:sldId id="268" r:id="rId20"/>
    <p:sldId id="269" r:id="rId21"/>
    <p:sldId id="270" r:id="rId22"/>
    <p:sldId id="271" r:id="rId23"/>
    <p:sldId id="277" r:id="rId29"/>
    <p:sldId id="272"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2.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10.xml"/><Relationship Id="rId28" Type="http://schemas.openxmlformats.org/officeDocument/2006/relationships/slide" Target="slides/slide13.xml"/><Relationship Id="rId29"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anyone arrives: open RStudio with the repo, load reg_model_data.rds, and have the outputs folders from a finished run ready as backup for every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Kick off Demo 3's run NOW, before Part 1: small config = any_error frame only, xgboost 100 rounds, ranger 100 trees, train 2022+2024, holdout 2023. ~15-25 min. Fallback for Demo 3 is the committed full outputs.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(no compute, ~10 min): 1) open inclusion_rules_by_hh_size_v2/final_rules_highprecision_all_frames.csv in Excel, sort by precision_train_lcb; 2) pick a 3-condition rule with n_flagged_train &gt; 40; 3) in R: idx &lt;- with(reg_model_data, &lt;paste rule&gt;); table(reg_model_data$error_status[idx]) - narrate the counts; 4) open any_error_lcb_sweep.png and walk the floors. FALLBACK: none needed - files are static.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(~5 min incl. run): edit STATES &lt;- c('&lt;volunteered state&gt;') in state_threshold_gridsearch_v2.R, save, run the runner script. ~2 min for one state. Narrate the 'rules qualified' line, then the three TEST union lines. FALLBACK: state_rules_v2/ has finished results for WA, CT, NC, LA, MI, VA, AZ - open the volunteered state's CSV if the live run misbehaves, or Connecticut's if they name a state not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opening run config = any_error frame only, xgboost nrounds=100, ranger num_trees=100, train 2022+2024, holdout 2023. Expect ~15-25 min and a few hundred shortlist rules. If unfinished: show the live log (tail the .log) and walk the committed full outputs instead. If it errored: same fallback - and the error is a teachable moment.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Workshop: finding and tuning SNAP review-targeting rules</a:t>
            </a:r>
          </a:p>
        </p:txBody>
      </p:sp>
      <p:sp>
        <p:nvSpPr>
          <p:cNvPr id="3" name="TextBox 2"/>
          <p:cNvSpPr txBox="1"/>
          <p:nvPr/>
        </p:nvSpPr>
        <p:spPr>
          <a:xfrm>
            <a:off x="400000" y="1300000"/>
            <a:ext cx="8344000" cy="3593500"/>
          </a:xfrm>
          <a:prstGeom prst="rect">
            <a:avLst/>
          </a:prstGeom>
          <a:noFill/>
        </p:spPr>
        <p:txBody>
          <a:bodyPr wrap="square">
            <a:spAutoFit/>
          </a:bodyPr>
          <a:lstStyle/>
          <a:p>
            <a:pPr>
              <a:spcAft>
                <a:spcPts val="600"/>
              </a:spcAft>
            </a:pPr>
            <a:r>
              <a:rPr sz="1600"/>
              <a:t>- Hands-on session for the two main scripts:</a:t>
            </a:r>
          </a:p>
          <a:p>
            <a:pPr>
              <a:spcAft>
                <a:spcPts val="600"/>
              </a:spcAft>
            </a:pPr>
            <a:r>
              <a:rPr sz="1400"/>
              <a:t>    - INCL_find_inclusion_rules_by_hh_size_v2.R: build a rule list from labeled data</a:t>
            </a:r>
          </a:p>
          <a:p>
            <a:pPr>
              <a:spcAft>
                <a:spcPts val="600"/>
              </a:spcAft>
            </a:pPr>
            <a:r>
              <a:rPr sz="1400"/>
              <a:t>    - state_threshold_gridsearch_v2.R: adjust the rules to your state and test them honestly</a:t>
            </a:r>
          </a:p>
          <a:p>
            <a:pPr>
              <a:spcAft>
                <a:spcPts val="600"/>
              </a:spcAft>
            </a:pPr>
            <a:r>
              <a:rPr sz="1600"/>
              <a:t>- github.com/giannella/snap_qc: everything today is in the public repo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What's on offer here</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Rules mined from NATIONAL public QC data: far more error cases to learn from than any single state has, so the patterns are better established</a:t>
            </a:r>
          </a:p>
          <a:p>
            <a:pPr>
              <a:spcAft>
                <a:spcPts val="600"/>
              </a:spcAft>
            </a:pPr>
            <a:r>
              <a:rPr sz="1500"/>
              <a:t>- A pipeline that has been tested and optimized end to end: finding candidate rules, validating that they hold up on data they've never seen, and tailoring them to an individual state</a:t>
            </a:r>
          </a:p>
          <a:p>
            <a:pPr>
              <a:spcAft>
                <a:spcPts val="600"/>
              </a:spcAft>
            </a:pPr>
            <a:r>
              <a:rPr sz="1500"/>
              <a:t>- Completely open source and free (Apache 2.0): the code, the mined rules, the validation results, and these slides</a:t>
            </a:r>
          </a:p>
          <a:p>
            <a:pPr>
              <a:spcAft>
                <a:spcPts val="600"/>
              </a:spcAft>
            </a:pPr>
            <a:r>
              <a:rPr sz="1500"/>
              <a:t>- Already in use: Michigan, North Carolina, and Arizona have worked with rules from this pipeline</a:t>
            </a:r>
          </a:p>
          <a:p>
            <a:pPr>
              <a:spcAft>
                <a:spcPts val="600"/>
              </a:spcAft>
            </a:pPr>
            <a:r>
              <a:rPr sz="1500"/>
              <a:t>- What you leave with today: the ability to run both scripts yourself and a national rule list you can start evaluating immediately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400" b="1"/>
              <a:t>What this has achieved on held-back state data</a:t>
            </a:r>
          </a:p>
        </p:txBody>
      </p:sp>
      <p:sp>
        <p:nvSpPr>
          <p:cNvPr id="3" name="TextBox 2"/>
          <p:cNvSpPr txBox="1"/>
          <p:nvPr/>
        </p:nvSpPr>
        <p:spPr>
          <a:xfrm>
            <a:off x="400000" y="950000"/>
            <a:ext cx="8344000" cy="3943500"/>
          </a:xfrm>
          <a:prstGeom prst="rect">
            <a:avLst/>
          </a:prstGeom>
          <a:noFill/>
        </p:spPr>
        <p:txBody>
          <a:bodyPr wrap="square">
            <a:spAutoFit/>
          </a:bodyPr>
          <a:lstStyle/>
          <a:p>
            <a:pPr>
              <a:spcAft>
                <a:spcPts val="600"/>
              </a:spcAft>
            </a:pPr>
            <a:r>
              <a:rPr sz="1500"/>
              <a:t>- Numbers below are from a year of data the tuning never saw, not the training data:</a:t>
            </a:r>
          </a:p>
          <a:p>
            <a:pPr>
              <a:spcAft>
                <a:spcPts val="600"/>
              </a:spcAft>
            </a:pPr>
            <a:r>
              <a:rPr sz="1300"/>
              <a:t>    - Connecticut: about 1 in 5 flagged cases had an error; the rules caught 34% of the state's errors and 40% of its error dollars</a:t>
            </a:r>
          </a:p>
          <a:p>
            <a:pPr>
              <a:spcAft>
                <a:spcPts val="600"/>
              </a:spcAft>
            </a:pPr>
            <a:r>
              <a:rPr sz="1300"/>
              <a:t>    - Arizona: about 1 in 4 flagged cases had an error; 20% of errors and 24% of error dollars caught</a:t>
            </a:r>
          </a:p>
          <a:p>
            <a:pPr>
              <a:spcAft>
                <a:spcPts val="600"/>
              </a:spcAft>
            </a:pPr>
            <a:r>
              <a:rPr sz="1300"/>
              <a:t>    - North Carolina: about 1 in 6 flagged; 23% of errors, 20% of error dollars</a:t>
            </a:r>
          </a:p>
          <a:p>
            <a:pPr>
              <a:spcAft>
                <a:spcPts val="600"/>
              </a:spcAft>
            </a:pPr>
            <a:r>
              <a:rPr sz="1500"/>
              <a:t>- Smaller samples still get value without tuning: in Washington, the national rules used unchanged flagged a small set of cases of which more than a third had errors</a:t>
            </a:r>
          </a:p>
          <a:p>
            <a:pPr>
              <a:spcAft>
                <a:spcPts val="600"/>
              </a:spcAft>
            </a:pPr>
            <a:r>
              <a:rPr sz="1500"/>
              <a:t>- For scale: reviewing cases at random, roughly 1 in 10 would have an error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Plan for this session</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First 2 minutes: we START a small rule-mining run and let it cook (Demo 3 reads its results at the end)</a:t>
            </a:r>
          </a:p>
          <a:p>
            <a:pPr>
              <a:spcAft>
                <a:spcPts val="600"/>
              </a:spcAft>
            </a:pPr>
            <a:r>
              <a:rPr sz="1500"/>
              <a:t>- Part 1: what the finder script does, and how to read what it produces (Demo 1: explore real outputs)</a:t>
            </a:r>
          </a:p>
          <a:p>
            <a:pPr>
              <a:spcAft>
                <a:spcPts val="600"/>
              </a:spcAft>
            </a:pPr>
            <a:r>
              <a:rPr sz="1500"/>
              <a:t>- Part 2: tuning rules to one state and testing them honestly (Demo 2: live run for a state you pick)</a:t>
            </a:r>
          </a:p>
          <a:p>
            <a:pPr>
              <a:spcAft>
                <a:spcPts val="600"/>
              </a:spcAft>
            </a:pPr>
            <a:r>
              <a:rPr sz="1500"/>
              <a:t>- Part 3: the fresh results from our opening run + how to adapt everything to your own internal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What you need to follow along</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R (any recent version) with five packages: dplyr, ggplot2, ranger, xgboost, rpart</a:t>
            </a:r>
          </a:p>
          <a:p>
            <a:pPr>
              <a:spcAft>
                <a:spcPts val="600"/>
              </a:spcAft>
            </a:pPr>
            <a:r>
              <a:rPr sz="1500"/>
              <a:t>- The repo: github.com/giannella/snap_qc (clone or download)</a:t>
            </a:r>
          </a:p>
          <a:p>
            <a:pPr>
              <a:spcAft>
                <a:spcPts val="600"/>
              </a:spcAft>
            </a:pPr>
            <a:r>
              <a:rPr sz="1500"/>
              <a:t>- Data: one row per case, a column saying whether the case was a true error, and whatever predictor variables you want rules to use</a:t>
            </a:r>
          </a:p>
          <a:p>
            <a:pPr>
              <a:spcAft>
                <a:spcPts val="600"/>
              </a:spcAft>
            </a:pPr>
            <a:r>
              <a:rPr sz="1300"/>
              <a:t>    - to practice: the public national QC data (script 1 in the repo builds the modeling table for you)</a:t>
            </a:r>
          </a:p>
          <a:p>
            <a:pPr>
              <a:spcAft>
                <a:spcPts val="600"/>
              </a:spcAft>
            </a:pPr>
            <a:r>
              <a:rPr sz="1300"/>
              <a:t>    - for real use: your internal review data works the same way; swap the variable list at the top of the script</a:t>
            </a:r>
          </a:p>
          <a:p>
            <a:pPr>
              <a:spcAft>
                <a:spcPts val="600"/>
              </a:spcAft>
            </a:pPr>
            <a:r>
              <a:rPr sz="1500"/>
              <a:t>- No special hardware: a normal laptop is fine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The big picture: two scripts, three decisions</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Script 1 FINDS rules: machine learning proposes ~100,000 candidate if-then rules; we keep only those we're statistically confident about. You decide: which error types and which precision floor.</a:t>
            </a:r>
          </a:p>
          <a:p>
            <a:pPr>
              <a:spcAft>
                <a:spcPts val="600"/>
              </a:spcAft>
            </a:pPr>
            <a:r>
              <a:rPr sz="1500"/>
              <a:t>- Script 2 TUNES rules to your state: tries a range of cutoffs for each rule on your data, keeps what still meets the bar, and tests everything on a year it never touched. You decide: tune locally or use national rules as-is.</a:t>
            </a:r>
          </a:p>
          <a:p>
            <a:pPr>
              <a:spcAft>
                <a:spcPts val="600"/>
              </a:spcAft>
            </a:pPr>
            <a:r>
              <a:rPr sz="1500"/>
              <a:t>- Then the third decision: HOW MANY rules to deploy: pick the precision floor whose flagged-case volume matches your review capacity.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The finder script: everything you change is at the top</a:t>
            </a:r>
          </a:p>
        </p:txBody>
      </p:sp>
      <p:sp>
        <p:nvSpPr>
          <p:cNvPr id="3" name="TextBox 2"/>
          <p:cNvSpPr txBox="1"/>
          <p:nvPr/>
        </p:nvSpPr>
        <p:spPr>
          <a:xfrm>
            <a:off x="600000" y="1000000"/>
            <a:ext cx="7944000" cy="1500000"/>
          </a:xfrm>
          <a:prstGeom prst="rect">
            <a:avLst/>
          </a:prstGeom>
          <a:noFill/>
        </p:spPr>
        <p:txBody>
          <a:bodyPr wrap="square">
            <a:spAutoFit/>
          </a:bodyPr>
          <a:lstStyle/>
          <a:p>
            <a:r>
              <a:rPr sz="1200">
                <a:latin typeface="Consolas"/>
              </a:rPr>
              <a:t>TRAIN_YEARS   &lt;- c("2022", "2024")   # years to learn from</a:t>
            </a:r>
          </a:p>
          <a:p>
            <a:r>
              <a:rPr sz="1200">
                <a:latin typeface="Consolas"/>
              </a:rPr>
              <a:t>HOLDOUT_YEARS &lt;- c("2023")           # a year kept aside for honest testing</a:t>
            </a:r>
          </a:p>
          <a:p>
            <a:r>
              <a:rPr sz="1200">
                <a:latin typeface="Consolas"/>
              </a:rPr>
              <a:t>features &lt;- c("HH_size_n", "elderly_disabled_i", "rawben_rel_max", ...)</a:t>
            </a:r>
          </a:p>
          <a:p>
            <a:r>
              <a:rPr sz="1200">
                <a:latin typeface="Consolas"/>
              </a:rPr>
              <a:t>TARGET_IS_ERROR &lt;- quote(!is.na(over_threshold) &amp; over_threshold != 0)</a:t>
            </a:r>
          </a:p>
          <a:p>
            <a:r>
              <a:rPr sz="1200">
                <a:latin typeface="Consolas"/>
              </a:rPr>
              <a:t>MIN_PRECISION &lt;- 0.20   # the precision floor for the shortlist</a:t>
            </a:r>
          </a:p>
        </p:txBody>
      </p:sp>
      <p:sp>
        <p:nvSpPr>
          <p:cNvPr id="4" name="TextBox 3"/>
          <p:cNvSpPr txBox="1"/>
          <p:nvPr/>
        </p:nvSpPr>
        <p:spPr>
          <a:xfrm>
            <a:off x="400000" y="2750000"/>
            <a:ext cx="8344000" cy="2143500"/>
          </a:xfrm>
          <a:prstGeom prst="rect">
            <a:avLst/>
          </a:prstGeom>
          <a:noFill/>
        </p:spPr>
        <p:txBody>
          <a:bodyPr wrap="square">
            <a:spAutoFit/>
          </a:bodyPr>
          <a:lstStyle/>
          <a:p>
            <a:pPr>
              <a:spcAft>
                <a:spcPts val="600"/>
              </a:spcAft>
            </a:pPr>
            <a:r>
              <a:rPr sz="1400"/>
              <a:t>- features: any numeric or yes/no columns in your data: this is the main thing you customize</a:t>
            </a:r>
          </a:p>
          <a:p>
            <a:pPr>
              <a:spcAft>
                <a:spcPts val="600"/>
              </a:spcAft>
            </a:pPr>
            <a:r>
              <a:rPr sz="1400"/>
              <a:t>- TARGET_IS_ERROR: how your data says 'this case was an error'</a:t>
            </a:r>
          </a:p>
          <a:p>
            <a:pPr>
              <a:spcAft>
                <a:spcPts val="600"/>
              </a:spcAft>
            </a:pPr>
            <a:r>
              <a:rPr sz="1400"/>
              <a:t>- Everything else has sensible defaults from our testing, so you can run it unchanged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What you'll see while it runs</a:t>
            </a:r>
          </a:p>
        </p:txBody>
      </p:sp>
      <p:sp>
        <p:nvSpPr>
          <p:cNvPr id="3" name="TextBox 2"/>
          <p:cNvSpPr txBox="1"/>
          <p:nvPr/>
        </p:nvSpPr>
        <p:spPr>
          <a:xfrm>
            <a:off x="600000" y="950000"/>
            <a:ext cx="7944000" cy="1800000"/>
          </a:xfrm>
          <a:prstGeom prst="rect">
            <a:avLst/>
          </a:prstGeom>
          <a:noFill/>
        </p:spPr>
        <p:txBody>
          <a:bodyPr wrap="square">
            <a:spAutoFit/>
          </a:bodyPr>
          <a:lstStyle/>
          <a:p>
            <a:r>
              <a:rPr sz="1100">
                <a:latin typeface="Consolas"/>
              </a:rPr>
              <a:t>============ FRAME: earned_income ============</a:t>
            </a:r>
          </a:p>
          <a:p>
            <a:r>
              <a:rPr sz="1100">
                <a:latin typeface="Consolas"/>
              </a:rPr>
              <a:t>-- HH 1: 40437 train rows, 520 errors (1.29%)</a:t>
            </a:r>
          </a:p>
          <a:p>
            <a:r>
              <a:rPr sz="1100">
                <a:latin typeface="Consolas"/>
              </a:rPr>
              <a:t>   xgboost rules: 21035 | ranger rules: 21191</a:t>
            </a:r>
          </a:p>
          <a:p>
            <a:r>
              <a:rPr sz="1100">
                <a:latin typeface="Consolas"/>
              </a:rPr>
              <a:t>screen: 43179 of 128627 rules kept (support &gt;= 10, ...)</a:t>
            </a:r>
          </a:p>
          <a:p>
            <a:r>
              <a:rPr sz="1100">
                <a:latin typeface="Consolas"/>
              </a:rPr>
              <a:t>dedup: -1342 exact-coverage, -12435 dominated -&gt; 29402 rules</a:t>
            </a:r>
          </a:p>
          <a:p>
            <a:r>
              <a:rPr sz="1100">
                <a:latin typeface="Consolas"/>
              </a:rPr>
              <a:t>shortlist (train LCB &gt;= 0.20): 15 rules | median holdout precision 0.182</a:t>
            </a:r>
          </a:p>
        </p:txBody>
      </p:sp>
      <p:sp>
        <p:nvSpPr>
          <p:cNvPr id="4" name="TextBox 3"/>
          <p:cNvSpPr txBox="1"/>
          <p:nvPr/>
        </p:nvSpPr>
        <p:spPr>
          <a:xfrm>
            <a:off x="400000" y="2800000"/>
            <a:ext cx="8344000" cy="2093500"/>
          </a:xfrm>
          <a:prstGeom prst="rect">
            <a:avLst/>
          </a:prstGeom>
          <a:noFill/>
        </p:spPr>
        <p:txBody>
          <a:bodyPr wrap="square">
            <a:spAutoFit/>
          </a:bodyPr>
          <a:lstStyle/>
          <a:p>
            <a:pPr>
              <a:spcAft>
                <a:spcPts val="600"/>
              </a:spcAft>
            </a:pPr>
            <a:r>
              <a:rPr sz="1400"/>
              <a:t>- It repeats this for each error type and household size; a full national run takes a couple of hours; small practice runs take minutes</a:t>
            </a:r>
          </a:p>
          <a:p>
            <a:pPr>
              <a:spcAft>
                <a:spcPts val="600"/>
              </a:spcAft>
            </a:pPr>
            <a:r>
              <a:rPr sz="1400"/>
              <a:t>- Three numbers to watch: rules proposed, rules surviving the confidence filter, and how survivors scored on the held-back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What it produces (all plain CSVs)</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400"/>
              <a:t>- ..._rules_all.csv: every surviving rule with its scores: on the build data, on the held-back year, and counting any error type it catches</a:t>
            </a:r>
          </a:p>
          <a:p>
            <a:pPr>
              <a:spcAft>
                <a:spcPts val="600"/>
              </a:spcAft>
            </a:pPr>
            <a:r>
              <a:rPr sz="1400"/>
              <a:t>- ..._rules_highprecision.csv: the shortlist: rules we're confident about, near-duplicates removed. This is the file states actually review.</a:t>
            </a:r>
          </a:p>
          <a:p>
            <a:pPr>
              <a:spcAft>
                <a:spcPts val="600"/>
              </a:spcAft>
            </a:pPr>
            <a:r>
              <a:rPr sz="1400"/>
              <a:t>- ..._lcb_sweep.csv + .png: the menu: for each precision floor, how many cases all kept rules flag together and what share of errors/dollars they catch</a:t>
            </a:r>
          </a:p>
          <a:p>
            <a:pPr>
              <a:spcAft>
                <a:spcPts val="600"/>
              </a:spcAft>
            </a:pPr>
            <a:r>
              <a:rPr sz="1400"/>
              <a:t>- final_rules_highprecision_all_frames.csv: shortlists from all error types combined (one row per rule; a 'frame' column says where it came from)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400" b="1"/>
              <a:t>The menu, visually: accuracy vs coverage</a:t>
            </a:r>
          </a:p>
        </p:txBody>
      </p:sp>
      <p:sp>
        <p:nvSpPr>
          <p:cNvPr id="3" name="TextBox 2"/>
          <p:cNvSpPr txBox="1"/>
          <p:nvPr/>
        </p:nvSpPr>
        <p:spPr>
          <a:xfrm>
            <a:off x="400000" y="880000"/>
            <a:ext cx="8344000" cy="4013500"/>
          </a:xfrm>
          <a:prstGeom prst="rect">
            <a:avLst/>
          </a:prstGeom>
          <a:noFill/>
        </p:spPr>
        <p:txBody>
          <a:bodyPr wrap="square">
            <a:spAutoFit/>
          </a:bodyPr>
          <a:lstStyle/>
          <a:p>
            <a:pPr>
              <a:spcAft>
                <a:spcPts val="600"/>
              </a:spcAft>
            </a:pPr>
            <a:r>
              <a:rPr sz="1300"/>
              <a:t>- The x-axis is the precision floor. Move right: fewer, sharper flags; left: more coverage. Left panel = precision on a new year; right panel = share of error dollars caught.</a:t>
            </a:r>
          </a:p>
        </p:txBody>
      </p:sp>
      <p:pic>
        <p:nvPicPr>
          <p:cNvPr id="4" name="Picture 3" descr="image.png"/>
          <p:cNvPicPr>
            <a:picLocks noChangeAspect="1"/>
          </p:cNvPicPr>
          <p:nvPr/>
        </p:nvPicPr>
        <p:blipFill>
          <a:blip r:embed="rId3"/>
          <a:stretch>
            <a:fillRect/>
          </a:stretch>
        </p:blipFill>
        <p:spPr>
          <a:xfrm>
            <a:off x="1929200" y="1890350"/>
            <a:ext cx="5285600" cy="2642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480000"/>
          </a:xfrm>
          <a:prstGeom prst="rect">
            <a:avLst/>
          </a:prstGeom>
          <a:solidFill>
            <a:srgbClr val="D1495B"/>
          </a:solidFill>
        </p:spPr>
        <p:txBody>
          <a:bodyPr wrap="none">
            <a:spAutoFit/>
          </a:bodyPr>
          <a:lstStyle/>
          <a:p>
            <a:r>
              <a:rPr sz="1500" b="1">
                <a:solidFill>
                  <a:srgbClr val="FFFFFF"/>
                </a:solidFill>
              </a:rPr>
              <a:t>  LIVE DEMO</a:t>
            </a:r>
          </a:p>
        </p:txBody>
      </p:sp>
      <p:sp>
        <p:nvSpPr>
          <p:cNvPr id="3" name="TextBox 2"/>
          <p:cNvSpPr txBox="1"/>
          <p:nvPr/>
        </p:nvSpPr>
        <p:spPr>
          <a:xfrm>
            <a:off x="400000" y="540000"/>
            <a:ext cx="8344000" cy="640000"/>
          </a:xfrm>
          <a:prstGeom prst="rect">
            <a:avLst/>
          </a:prstGeom>
          <a:noFill/>
        </p:spPr>
        <p:txBody>
          <a:bodyPr wrap="none">
            <a:spAutoFit/>
          </a:bodyPr>
          <a:lstStyle/>
          <a:p>
            <a:r>
              <a:rPr sz="2400" b="1"/>
              <a:t>Demo 1: reading the outputs like a reviewer</a:t>
            </a:r>
          </a:p>
        </p:txBody>
      </p:sp>
      <p:sp>
        <p:nvSpPr>
          <p:cNvPr id="4" name="TextBox 3"/>
          <p:cNvSpPr txBox="1"/>
          <p:nvPr/>
        </p:nvSpPr>
        <p:spPr>
          <a:xfrm>
            <a:off x="400000" y="950000"/>
            <a:ext cx="8344000" cy="3943500"/>
          </a:xfrm>
          <a:prstGeom prst="rect">
            <a:avLst/>
          </a:prstGeom>
          <a:noFill/>
        </p:spPr>
        <p:txBody>
          <a:bodyPr wrap="square">
            <a:spAutoFit/>
          </a:bodyPr>
          <a:lstStyle/>
          <a:p>
            <a:pPr>
              <a:spcAft>
                <a:spcPts val="600"/>
              </a:spcAft>
            </a:pPr>
            <a:r>
              <a:rPr sz="1500"/>
              <a:t>- Open the shortlist CSV and sort by confident precision: what do the top rules have in common?</a:t>
            </a:r>
          </a:p>
          <a:p>
            <a:pPr>
              <a:spcAft>
                <a:spcPts val="600"/>
              </a:spcAft>
            </a:pPr>
            <a:r>
              <a:rPr sz="1500"/>
              <a:t>- Take one rule and say it in plain English (e.g. 'elderly/disabled household, benefit near the maximum, deductions under $X')</a:t>
            </a:r>
          </a:p>
          <a:p>
            <a:pPr>
              <a:spcAft>
                <a:spcPts val="600"/>
              </a:spcAft>
            </a:pPr>
            <a:r>
              <a:rPr sz="1500"/>
              <a:t>- Check it against the data live: run the rule's condition in R and look at the flagged cases; count how many were real errors</a:t>
            </a:r>
          </a:p>
          <a:p>
            <a:pPr>
              <a:spcAft>
                <a:spcPts val="600"/>
              </a:spcAft>
            </a:pPr>
            <a:r>
              <a:rPr sz="1500"/>
              <a:t>- Open the sweep chart and pick an precision floor together: 'if we can review 500 cases a year, which row are we choosing?'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Choosing rules: you are allowed to say no</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The shortlist is a MENU, not a mandate; your program experts should drop rules that don't make operational sense</a:t>
            </a:r>
          </a:p>
          <a:p>
            <a:pPr>
              <a:spcAft>
                <a:spcPts val="600"/>
              </a:spcAft>
            </a:pPr>
            <a:r>
              <a:rPr sz="1500"/>
              <a:t>- The list intentionally keeps overlapping rules: if you drop one, another often catches the same cases a different way</a:t>
            </a:r>
          </a:p>
          <a:p>
            <a:pPr>
              <a:spcAft>
                <a:spcPts val="600"/>
              </a:spcAft>
            </a:pPr>
            <a:r>
              <a:rPr sz="1500"/>
              <a:t>- Dropping a rule never breaks the others; each rule stands on its own</a:t>
            </a:r>
          </a:p>
          <a:p>
            <a:pPr>
              <a:spcAft>
                <a:spcPts val="600"/>
              </a:spcAft>
            </a:pPr>
            <a:r>
              <a:rPr sz="1500"/>
              <a:t>- Rule of thumb from our testing: expect roughly the 'confident precision' number in practice; it was set with statistical caution so it holds 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400" b="1"/>
              <a:t>Why saying no to a rule is safe: the menu is deep</a:t>
            </a:r>
          </a:p>
        </p:txBody>
      </p:sp>
      <p:sp>
        <p:nvSpPr>
          <p:cNvPr id="3" name="TextBox 2"/>
          <p:cNvSpPr txBox="1"/>
          <p:nvPr/>
        </p:nvSpPr>
        <p:spPr>
          <a:xfrm>
            <a:off x="400000" y="880000"/>
            <a:ext cx="8344000" cy="4013500"/>
          </a:xfrm>
          <a:prstGeom prst="rect">
            <a:avLst/>
          </a:prstGeom>
          <a:noFill/>
        </p:spPr>
        <p:txBody>
          <a:bodyPr wrap="square">
            <a:spAutoFit/>
          </a:bodyPr>
          <a:lstStyle/>
          <a:p>
            <a:pPr>
              <a:spcAft>
                <a:spcPts val="600"/>
              </a:spcAft>
            </a:pPr>
            <a:r>
              <a:rPr sz="1300"/>
              <a:t>- Two ways of building the rule list perform identically on new data, but the approach we use keeps several times more rules above any precision floor. That surplus is your freedom to veto.</a:t>
            </a:r>
          </a:p>
        </p:txBody>
      </p:sp>
      <p:pic>
        <p:nvPicPr>
          <p:cNvPr id="4" name="Picture 3" descr="mine_big_filter_stringently.png"/>
          <p:cNvPicPr>
            <a:picLocks noChangeAspect="1"/>
          </p:cNvPicPr>
          <p:nvPr/>
        </p:nvPicPr>
        <p:blipFill>
          <a:blip r:embed="rId2"/>
          <a:stretch>
            <a:fillRect/>
          </a:stretch>
        </p:blipFill>
        <p:spPr>
          <a:xfrm>
            <a:off x="1917402" y="1560000"/>
            <a:ext cx="5309196" cy="330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The tuner script: point it at your state</a:t>
            </a:r>
          </a:p>
        </p:txBody>
      </p:sp>
      <p:sp>
        <p:nvSpPr>
          <p:cNvPr id="3" name="TextBox 2"/>
          <p:cNvSpPr txBox="1"/>
          <p:nvPr/>
        </p:nvSpPr>
        <p:spPr>
          <a:xfrm>
            <a:off x="600000" y="1000000"/>
            <a:ext cx="7944000" cy="1500000"/>
          </a:xfrm>
          <a:prstGeom prst="rect">
            <a:avLst/>
          </a:prstGeom>
          <a:noFill/>
        </p:spPr>
        <p:txBody>
          <a:bodyPr wrap="square">
            <a:spAutoFit/>
          </a:bodyPr>
          <a:lstStyle/>
          <a:p>
            <a:r>
              <a:rPr sz="1200">
                <a:latin typeface="Consolas"/>
              </a:rPr>
              <a:t>STATES      &lt;- c("Connecticut")      # your state</a:t>
            </a:r>
          </a:p>
          <a:p>
            <a:r>
              <a:rPr sz="1200">
                <a:latin typeface="Consolas"/>
              </a:rPr>
              <a:t>TRAIN_YEARS &lt;- c("2022", "2024")     # years used for tuning</a:t>
            </a:r>
          </a:p>
          <a:p>
            <a:r>
              <a:rPr sz="1200">
                <a:latin typeface="Consolas"/>
              </a:rPr>
              <a:t>TEST_YEARS  &lt;- c("2023")             # a year the tuning never sees</a:t>
            </a:r>
          </a:p>
          <a:p>
            <a:r>
              <a:rPr sz="1200">
                <a:latin typeface="Consolas"/>
              </a:rPr>
              <a:t>QUALIFY_MODE &lt;- "lcb"   # evidence-adjusted bar (or "support_floor")</a:t>
            </a:r>
          </a:p>
          <a:p>
            <a:r>
              <a:rPr sz="1200">
                <a:latin typeface="Consolas"/>
              </a:rPr>
              <a:t>MIN_STATE_PRECISION &lt;- 0.20</a:t>
            </a:r>
          </a:p>
        </p:txBody>
      </p:sp>
      <p:sp>
        <p:nvSpPr>
          <p:cNvPr id="4" name="TextBox 3"/>
          <p:cNvSpPr txBox="1"/>
          <p:nvPr/>
        </p:nvSpPr>
        <p:spPr>
          <a:xfrm>
            <a:off x="400000" y="2700000"/>
            <a:ext cx="8344000" cy="2193500"/>
          </a:xfrm>
          <a:prstGeom prst="rect">
            <a:avLst/>
          </a:prstGeom>
          <a:noFill/>
        </p:spPr>
        <p:txBody>
          <a:bodyPr wrap="square">
            <a:spAutoFit/>
          </a:bodyPr>
          <a:lstStyle/>
          <a:p>
            <a:pPr>
              <a:spcAft>
                <a:spcPts val="600"/>
              </a:spcAft>
            </a:pPr>
            <a:r>
              <a:rPr sz="1400"/>
              <a:t>- It tries a range of cutoff values around each national rule's numbers (e.g. income thresholds +/-25%) and keeps what qualifies on YOUR data</a:t>
            </a:r>
          </a:p>
          <a:p>
            <a:pPr>
              <a:spcAft>
                <a:spcPts val="600"/>
              </a:spcAft>
            </a:pPr>
            <a:r>
              <a:rPr sz="1400"/>
              <a:t>- Among qualifying versions it picks the one that captures the most error dollars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The part that keeps everyone honest</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Every tuned rule is scored on the test year (which the tuning never touched) under BOTH its tuned cutoffs and the original national ones</a:t>
            </a:r>
          </a:p>
          <a:p>
            <a:pPr>
              <a:spcAft>
                <a:spcPts val="600"/>
              </a:spcAft>
            </a:pPr>
            <a:r>
              <a:rPr sz="1500"/>
              <a:t>- The script also reports what you'd get by skipping tuning entirely and using the national rules unchanged: the fallback every state has</a:t>
            </a:r>
          </a:p>
          <a:p>
            <a:pPr>
              <a:spcAft>
                <a:spcPts val="600"/>
              </a:spcAft>
            </a:pPr>
            <a:r>
              <a:rPr sz="1500"/>
              <a:t>- Compare the three and let the test year decide. In our seven-state testing: tuning won in states where ~30+ rules qualified, and LOST to unchanged national rules in states with less data</a:t>
            </a:r>
          </a:p>
          <a:p>
            <a:pPr>
              <a:spcAft>
                <a:spcPts val="600"/>
              </a:spcAft>
            </a:pPr>
            <a:r>
              <a:rPr sz="1500"/>
              <a:t>- Why: with only a few hundred errors, tuning mostly rewards cutoffs that got lucky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480000"/>
          </a:xfrm>
          <a:prstGeom prst="rect">
            <a:avLst/>
          </a:prstGeom>
          <a:solidFill>
            <a:srgbClr val="D1495B"/>
          </a:solidFill>
        </p:spPr>
        <p:txBody>
          <a:bodyPr wrap="none">
            <a:spAutoFit/>
          </a:bodyPr>
          <a:lstStyle/>
          <a:p>
            <a:r>
              <a:rPr sz="1500" b="1">
                <a:solidFill>
                  <a:srgbClr val="FFFFFF"/>
                </a:solidFill>
              </a:rPr>
              <a:t>  LIVE DEMO</a:t>
            </a:r>
          </a:p>
        </p:txBody>
      </p:sp>
      <p:sp>
        <p:nvSpPr>
          <p:cNvPr id="3" name="TextBox 2"/>
          <p:cNvSpPr txBox="1"/>
          <p:nvPr/>
        </p:nvSpPr>
        <p:spPr>
          <a:xfrm>
            <a:off x="400000" y="540000"/>
            <a:ext cx="8344000" cy="640000"/>
          </a:xfrm>
          <a:prstGeom prst="rect">
            <a:avLst/>
          </a:prstGeom>
          <a:noFill/>
        </p:spPr>
        <p:txBody>
          <a:bodyPr wrap="none">
            <a:spAutoFit/>
          </a:bodyPr>
          <a:lstStyle/>
          <a:p>
            <a:r>
              <a:rPr sz="2400" b="1"/>
              <a:t>Demo 2: tune the rules to a state, live</a:t>
            </a:r>
          </a:p>
        </p:txBody>
      </p:sp>
      <p:sp>
        <p:nvSpPr>
          <p:cNvPr id="4" name="TextBox 3"/>
          <p:cNvSpPr txBox="1"/>
          <p:nvPr/>
        </p:nvSpPr>
        <p:spPr>
          <a:xfrm>
            <a:off x="400000" y="950000"/>
            <a:ext cx="8344000" cy="3943500"/>
          </a:xfrm>
          <a:prstGeom prst="rect">
            <a:avLst/>
          </a:prstGeom>
          <a:noFill/>
        </p:spPr>
        <p:txBody>
          <a:bodyPr wrap="square">
            <a:spAutoFit/>
          </a:bodyPr>
          <a:lstStyle/>
          <a:p>
            <a:pPr>
              <a:spcAft>
                <a:spcPts val="600"/>
              </a:spcAft>
            </a:pPr>
            <a:r>
              <a:rPr sz="1500"/>
              <a:t>- Someone name a state, and we'll change one line and run the whole thing now (takes about two minutes)</a:t>
            </a:r>
          </a:p>
          <a:p>
            <a:pPr>
              <a:spcAft>
                <a:spcPts val="600"/>
              </a:spcAft>
            </a:pPr>
            <a:r>
              <a:rPr sz="1500"/>
              <a:t>- While it runs: it is trying cutoff variants for ~190 national rules against that state's cases</a:t>
            </a:r>
          </a:p>
          <a:p>
            <a:pPr>
              <a:spcAft>
                <a:spcPts val="600"/>
              </a:spcAft>
            </a:pPr>
            <a:r>
              <a:rPr sz="1500"/>
              <a:t>- Then we read the result together: how many rules qualified, and did tuning beat the national rules on the test year?</a:t>
            </a:r>
          </a:p>
          <a:p>
            <a:pPr>
              <a:spcAft>
                <a:spcPts val="600"/>
              </a:spcAft>
            </a:pPr>
            <a:r>
              <a:rPr sz="1500"/>
              <a:t>- If few rules qualified, that IS the answer: this state should use the national rules unchanged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Sizing the rule set to your review capacity</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Sort the final rules by confident precision, then take rules from the top until the projected flagged-case volume matches what your team can review</a:t>
            </a:r>
          </a:p>
          <a:p>
            <a:pPr>
              <a:spcAft>
                <a:spcPts val="600"/>
              </a:spcAft>
            </a:pPr>
            <a:r>
              <a:rPr sz="1500"/>
              <a:t>- The sweep table does this arithmetic for you at each precision floor</a:t>
            </a:r>
          </a:p>
          <a:p>
            <a:pPr>
              <a:spcAft>
                <a:spcPts val="600"/>
              </a:spcAft>
            </a:pPr>
            <a:r>
              <a:rPr sz="1500"/>
              <a:t>- Expect a trade: a small, sharp set (say 1 in 4 flags is an error, few cases) vs a broad set (1 in 6, many more errors caught overall)</a:t>
            </a:r>
          </a:p>
          <a:p>
            <a:pPr>
              <a:spcAft>
                <a:spcPts val="600"/>
              </a:spcAft>
            </a:pPr>
            <a:r>
              <a:rPr sz="1500"/>
              <a:t>- Whatever you choose, keep the unused rules; they're your replacements when experts veto something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480000"/>
          </a:xfrm>
          <a:prstGeom prst="rect">
            <a:avLst/>
          </a:prstGeom>
          <a:solidFill>
            <a:srgbClr val="D1495B"/>
          </a:solidFill>
        </p:spPr>
        <p:txBody>
          <a:bodyPr wrap="none">
            <a:spAutoFit/>
          </a:bodyPr>
          <a:lstStyle/>
          <a:p>
            <a:r>
              <a:rPr sz="1500" b="1">
                <a:solidFill>
                  <a:srgbClr val="FFFFFF"/>
                </a:solidFill>
              </a:rPr>
              <a:t>  LIVE DEMO</a:t>
            </a:r>
          </a:p>
        </p:txBody>
      </p:sp>
      <p:sp>
        <p:nvSpPr>
          <p:cNvPr id="3" name="TextBox 2"/>
          <p:cNvSpPr txBox="1"/>
          <p:nvPr/>
        </p:nvSpPr>
        <p:spPr>
          <a:xfrm>
            <a:off x="400000" y="540000"/>
            <a:ext cx="8344000" cy="640000"/>
          </a:xfrm>
          <a:prstGeom prst="rect">
            <a:avLst/>
          </a:prstGeom>
          <a:noFill/>
        </p:spPr>
        <p:txBody>
          <a:bodyPr wrap="none">
            <a:spAutoFit/>
          </a:bodyPr>
          <a:lstStyle/>
          <a:p>
            <a:r>
              <a:rPr sz="2400" b="1"/>
              <a:t>Demo 3: the run we started at the beginning</a:t>
            </a:r>
          </a:p>
        </p:txBody>
      </p:sp>
      <p:sp>
        <p:nvSpPr>
          <p:cNvPr id="4" name="TextBox 3"/>
          <p:cNvSpPr txBox="1"/>
          <p:nvPr/>
        </p:nvSpPr>
        <p:spPr>
          <a:xfrm>
            <a:off x="400000" y="950000"/>
            <a:ext cx="8344000" cy="3943500"/>
          </a:xfrm>
          <a:prstGeom prst="rect">
            <a:avLst/>
          </a:prstGeom>
          <a:noFill/>
        </p:spPr>
        <p:txBody>
          <a:bodyPr wrap="square">
            <a:spAutoFit/>
          </a:bodyPr>
          <a:lstStyle/>
          <a:p>
            <a:pPr>
              <a:spcAft>
                <a:spcPts val="600"/>
              </a:spcAft>
            </a:pPr>
            <a:r>
              <a:rPr sz="1500"/>
              <a:t>- At the start of the session we launched a small version of the finder (one error category, reduced settings). Let's read what it found</a:t>
            </a:r>
          </a:p>
          <a:p>
            <a:pPr>
              <a:spcAft>
                <a:spcPts val="600"/>
              </a:spcAft>
            </a:pPr>
            <a:r>
              <a:rPr sz="1500"/>
              <a:t>- Same console story you saw on the slides: proposed rules, survivors, shortlist</a:t>
            </a:r>
          </a:p>
          <a:p>
            <a:pPr>
              <a:spcAft>
                <a:spcPts val="600"/>
              </a:spcAft>
            </a:pPr>
            <a:r>
              <a:rPr sz="1500"/>
              <a:t>- Open its shortlist CSV: brand-new rules, found in under half an hour on a laptop</a:t>
            </a:r>
          </a:p>
          <a:p>
            <a:pPr>
              <a:spcAft>
                <a:spcPts val="600"/>
              </a:spcAft>
            </a:pPr>
            <a:r>
              <a:rPr sz="1500"/>
              <a:t>- Full-strength national runs use bigger settings and take a couple of hours; same pipeline, just smaller today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Adapting this to your internal data</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Your table needs: one row per case; a true/false error column; predictors</a:t>
            </a:r>
          </a:p>
          <a:p>
            <a:pPr>
              <a:spcAft>
                <a:spcPts val="600"/>
              </a:spcAft>
            </a:pPr>
            <a:r>
              <a:rPr sz="1500"/>
              <a:t>- Predictors must be numbers or yes/no; recode categories first (the script tells you which columns it can't use)</a:t>
            </a:r>
          </a:p>
          <a:p>
            <a:pPr>
              <a:spcAft>
                <a:spcPts val="600"/>
              </a:spcAft>
            </a:pPr>
            <a:r>
              <a:rPr sz="1500"/>
              <a:t>- Change three things at the top of the finder: the data frame, the features list, and TARGET_IS_ERROR</a:t>
            </a:r>
          </a:p>
          <a:p>
            <a:pPr>
              <a:spcAft>
                <a:spcPts val="600"/>
              </a:spcAft>
            </a:pPr>
            <a:r>
              <a:rPr sz="1500"/>
              <a:t>- Internal data is usually richer than the public QC files: wage records, churn history, notice dates all make good predictors</a:t>
            </a:r>
          </a:p>
          <a:p>
            <a:pPr>
              <a:spcAft>
                <a:spcPts val="600"/>
              </a:spcAft>
            </a:pPr>
            <a:r>
              <a:rPr sz="1500"/>
              <a:t>- Keep one full year aside for testing. Never let the tuning see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The three mistakes we made so you don't have to</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Trusting raw accuracy: a rule list promising 20% delivered 10% on new data. Always use the evidence-adjusted score; the scripts do this by default.</a:t>
            </a:r>
          </a:p>
          <a:p>
            <a:pPr>
              <a:spcAft>
                <a:spcPts val="600"/>
              </a:spcAft>
            </a:pPr>
            <a:r>
              <a:rPr sz="1500"/>
              <a:t>- Counting only the intended error type: reviews that find a different error still succeed. The scripts report both numbers; quote the any-error one.</a:t>
            </a:r>
          </a:p>
          <a:p>
            <a:pPr>
              <a:spcAft>
                <a:spcPts val="600"/>
              </a:spcAft>
            </a:pPr>
            <a:r>
              <a:rPr sz="1500"/>
              <a:t>- Tuning with too little data: below roughly 30 qualifying rules (or ~30 flagged cases per rule), tuned cutoffs are mostly luck. Use national rules unchanged instead.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00000"/>
            <a:ext cx="8344000" cy="600000"/>
          </a:xfrm>
          <a:prstGeom prst="rect">
            <a:avLst/>
          </a:prstGeom>
          <a:noFill/>
        </p:spPr>
        <p:txBody>
          <a:bodyPr wrap="none">
            <a:spAutoFit/>
          </a:bodyPr>
          <a:lstStyle/>
          <a:p>
            <a:r>
              <a:rPr sz="2400" b="1"/>
              <a:t>Mistake #1, visualized: rules that got lucky</a:t>
            </a:r>
          </a:p>
        </p:txBody>
      </p:sp>
      <p:sp>
        <p:nvSpPr>
          <p:cNvPr id="3" name="TextBox 2"/>
          <p:cNvSpPr txBox="1"/>
          <p:nvPr/>
        </p:nvSpPr>
        <p:spPr>
          <a:xfrm>
            <a:off x="400000" y="880000"/>
            <a:ext cx="8344000" cy="4013500"/>
          </a:xfrm>
          <a:prstGeom prst="rect">
            <a:avLst/>
          </a:prstGeom>
          <a:noFill/>
        </p:spPr>
        <p:txBody>
          <a:bodyPr wrap="square">
            <a:spAutoFit/>
          </a:bodyPr>
          <a:lstStyle/>
          <a:p>
            <a:pPr>
              <a:spcAft>
                <a:spcPts val="600"/>
              </a:spcAft>
            </a:pPr>
            <a:r>
              <a:rPr sz="1300"/>
              <a:t>- Same candidate rules, two ways of choosing keepers, scored on a year they never saw. Choosing by raw measured accuracy over-promises; the evidence-adjusted score keeps its promises. The scripts do the right thing by default.</a:t>
            </a:r>
          </a:p>
        </p:txBody>
      </p:sp>
      <p:pic>
        <p:nvPicPr>
          <p:cNvPr id="4" name="Picture 3" descr="winners_curse_raw_vs_lcb.png"/>
          <p:cNvPicPr>
            <a:picLocks noChangeAspect="1"/>
          </p:cNvPicPr>
          <p:nvPr/>
        </p:nvPicPr>
        <p:blipFill>
          <a:blip r:embed="rId2"/>
          <a:stretch>
            <a:fillRect/>
          </a:stretch>
        </p:blipFill>
        <p:spPr>
          <a:xfrm>
            <a:off x="2940250" y="1600000"/>
            <a:ext cx="3263500" cy="32635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0000" y="220000"/>
            <a:ext cx="8344000" cy="640000"/>
          </a:xfrm>
          <a:prstGeom prst="rect">
            <a:avLst/>
          </a:prstGeom>
          <a:noFill/>
        </p:spPr>
        <p:txBody>
          <a:bodyPr wrap="none">
            <a:spAutoFit/>
          </a:bodyPr>
          <a:lstStyle/>
          <a:p>
            <a:r>
              <a:rPr sz="2400" b="1"/>
              <a:t>Where everything lives</a:t>
            </a:r>
          </a:p>
        </p:txBody>
      </p:sp>
      <p:sp>
        <p:nvSpPr>
          <p:cNvPr id="3" name="TextBox 2"/>
          <p:cNvSpPr txBox="1"/>
          <p:nvPr/>
        </p:nvSpPr>
        <p:spPr>
          <a:xfrm>
            <a:off x="400000" y="1000000"/>
            <a:ext cx="8344000" cy="3893500"/>
          </a:xfrm>
          <a:prstGeom prst="rect">
            <a:avLst/>
          </a:prstGeom>
          <a:noFill/>
        </p:spPr>
        <p:txBody>
          <a:bodyPr wrap="square">
            <a:spAutoFit/>
          </a:bodyPr>
          <a:lstStyle/>
          <a:p>
            <a:pPr>
              <a:spcAft>
                <a:spcPts val="600"/>
              </a:spcAft>
            </a:pPr>
            <a:r>
              <a:rPr sz="1500"/>
              <a:t>- Repo: github.com/giannella/snap_qc: scripts, data pipeline, this deck</a:t>
            </a:r>
          </a:p>
          <a:p>
            <a:pPr>
              <a:spcAft>
                <a:spcPts val="600"/>
              </a:spcAft>
            </a:pPr>
            <a:r>
              <a:rPr sz="1500"/>
              <a:t>- README: quick-start for both use cases + a migration guide from the old RuleFit version</a:t>
            </a:r>
          </a:p>
          <a:p>
            <a:pPr>
              <a:spcAft>
                <a:spcPts val="600"/>
              </a:spcAft>
            </a:pPr>
            <a:r>
              <a:rPr sz="1500"/>
              <a:t>- modeling_findings.md: every claim in this workshop with the numbers and charts behind it</a:t>
            </a:r>
          </a:p>
          <a:p>
            <a:pPr>
              <a:spcAft>
                <a:spcPts val="600"/>
              </a:spcAft>
            </a:pPr>
            <a:r>
              <a:rPr sz="1500"/>
              <a:t>- Example outputs are committed, so you can explore everything from Demo 1 before running anything</a:t>
            </a:r>
          </a:p>
          <a:p>
            <a:pPr>
              <a:spcAft>
                <a:spcPts val="600"/>
              </a:spcAft>
            </a:pPr>
            <a:r>
              <a:rPr sz="1500"/>
              <a:t>- Questions / your state's results: please reach out; the pipeline improves when states report 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