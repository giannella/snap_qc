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4" roundtripDataSignature="AMtx7miQRICf23Bzy3Bs41KrA83+2K6/D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5048AC8-0E75-455B-AB4F-AEF2A2D202BD}">
  <a:tblStyle styleId="{B5048AC8-0E75-455B-AB4F-AEF2A2D202B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4" d="100"/>
          <a:sy n="164" d="100"/>
        </p:scale>
        <p:origin x="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" name="Google Shape;28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" name="Google Shape;37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" name="Google Shape;63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" name="Google Shape;75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" name="Google Shape;83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ae636d67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ae636d67f_0_5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annella/snap_qc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mbria"/>
              <a:buNone/>
            </a:pPr>
            <a:r>
              <a:rPr lang="en-US" sz="4000" b="1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Finding Inclusion Rules</a:t>
            </a:r>
            <a:endParaRPr sz="4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57200" y="2468870"/>
            <a:ext cx="8229600" cy="9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Flagging SNAP cases for review — INCL_ scripts</a:t>
            </a: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u="sng">
                <a:solidFill>
                  <a:schemeClr val="hlink"/>
                </a:solidFill>
                <a:hlinkClick r:id="rId3"/>
              </a:rPr>
              <a:t>https://github.com/giannella/snap_qc</a:t>
            </a:r>
            <a:endParaRPr sz="1800"/>
          </a:p>
        </p:txBody>
      </p:sp>
      <p:sp>
        <p:nvSpPr>
          <p:cNvPr id="14" name="Google Shape;14;p1"/>
          <p:cNvSpPr/>
          <p:nvPr/>
        </p:nvSpPr>
        <p:spPr>
          <a:xfrm>
            <a:off x="457200" y="3473805"/>
            <a:ext cx="82296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1300"/>
              <a:buFont typeface="Arial"/>
              <a:buNone/>
            </a:pPr>
            <a:r>
              <a:rPr lang="en-US" sz="1300" b="0" i="1" u="none" strike="noStrike" cap="non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RuleFit rule mining, threshold tuning, and state optimization, by household size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"/>
          <p:cNvSpPr/>
          <p:nvPr/>
        </p:nvSpPr>
        <p:spPr>
          <a:xfrm>
            <a:off x="457200" y="310896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The problem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2"/>
          <p:cNvSpPr/>
          <p:nvPr/>
        </p:nvSpPr>
        <p:spPr>
          <a:xfrm>
            <a:off x="457200" y="1234450"/>
            <a:ext cx="7835400" cy="3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capacity is limited; only a small fraction of cases can be examined.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want to flag the cases most likely to </a:t>
            </a:r>
            <a:r>
              <a:rPr lang="en-US" sz="1500"/>
              <a:t>have large, correctable payment 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errors.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 “inclusion” rule marks a case </a:t>
            </a:r>
            <a:r>
              <a:rPr lang="en-US" sz="1500"/>
              <a:t>as more likely to have one of these errors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/>
              <a:t>Designed to focus on 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high precision (maximize av</a:t>
            </a:r>
            <a:r>
              <a:rPr lang="en-US" sz="1500"/>
              <a:t>erage yield per reviewed case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 while still </a:t>
            </a:r>
            <a:r>
              <a:rPr lang="en-US" sz="1500"/>
              <a:t>catching a predefined level of errors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(recall).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2"/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2"/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457200" y="310896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Key ideas</a:t>
            </a:r>
            <a:endParaRPr sz="2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457200" y="1234440"/>
            <a:ext cx="8229600" cy="3383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lang="en-US" sz="145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Precision — </a:t>
            </a:r>
            <a:r>
              <a:rPr lang="en-US" sz="1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share of flagged cases that are true errors.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lang="en-US" sz="145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Recall — </a:t>
            </a:r>
            <a:r>
              <a:rPr lang="en-US" sz="1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share of all errors (or error dollars) that get flagged.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lang="en-US" sz="145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RuleFit — </a:t>
            </a:r>
            <a:r>
              <a:rPr lang="en-US" sz="1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fits many shallow trees, turns their branches into simple if-then rules, then uses a lasso to keep the few that matter. Avoids many of the </a:t>
            </a:r>
            <a:r>
              <a:rPr lang="en-US" sz="1450"/>
              <a:t>over-fitting issues with traditional decision trees. 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lang="en-US" sz="145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Net — </a:t>
            </a:r>
            <a:r>
              <a:rPr lang="en-US" sz="1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several rules combined with OR to increase recall up to particular goals while keeping precision as high as possible.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lang="en-US" sz="145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By household size — </a:t>
            </a:r>
            <a:r>
              <a:rPr lang="en-US" sz="1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cases split into 1, 2, 3, 4, 5+ and modeled separately, since benefit and error size scale with size.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lang="en-US" sz="145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Precision floor — </a:t>
            </a:r>
            <a:r>
              <a:rPr lang="en-US" sz="1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INCL_optimize_set_ drops any tuned rule whose precision falls below a set level (e.g., 20%).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370940-7DF9-92EB-F53F-F904ECFC4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357" y="939736"/>
            <a:ext cx="6199328" cy="3874580"/>
          </a:xfrm>
          <a:prstGeom prst="rect">
            <a:avLst/>
          </a:prstGeom>
        </p:spPr>
      </p:pic>
      <p:sp>
        <p:nvSpPr>
          <p:cNvPr id="4" name="Google Shape;31;p3">
            <a:extLst>
              <a:ext uri="{FF2B5EF4-FFF2-40B4-BE49-F238E27FC236}">
                <a16:creationId xmlns:a16="http://schemas.microsoft.com/office/drawing/2014/main" id="{CF57E5D1-2C0A-A226-8EB3-7F70B6F1DB5C}"/>
              </a:ext>
            </a:extLst>
          </p:cNvPr>
          <p:cNvSpPr/>
          <p:nvPr/>
        </p:nvSpPr>
        <p:spPr>
          <a:xfrm>
            <a:off x="302221" y="181132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0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Why I’ve defaulted to modeling everything by household size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;p5">
            <a:extLst>
              <a:ext uri="{FF2B5EF4-FFF2-40B4-BE49-F238E27FC236}">
                <a16:creationId xmlns:a16="http://schemas.microsoft.com/office/drawing/2014/main" id="{372C75CB-DB81-ECB1-23DE-0515E0699FDE}"/>
              </a:ext>
            </a:extLst>
          </p:cNvPr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4;p3">
            <a:extLst>
              <a:ext uri="{FF2B5EF4-FFF2-40B4-BE49-F238E27FC236}">
                <a16:creationId xmlns:a16="http://schemas.microsoft.com/office/drawing/2014/main" id="{9E147437-BD2A-6D0F-095C-298C1672722B}"/>
              </a:ext>
            </a:extLst>
          </p:cNvPr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955495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"/>
          <p:cNvSpPr/>
          <p:nvPr/>
        </p:nvSpPr>
        <p:spPr>
          <a:xfrm>
            <a:off x="457200" y="310896"/>
            <a:ext cx="82296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>
                <a:latin typeface="Cambria"/>
                <a:ea typeface="Cambria"/>
                <a:cs typeface="Cambria"/>
                <a:sym typeface="Cambria"/>
              </a:rPr>
              <a:t>How to use the scripts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309966" y="2286000"/>
            <a:ext cx="1500534" cy="1428900"/>
          </a:xfrm>
          <a:prstGeom prst="roundRect">
            <a:avLst>
              <a:gd name="adj" fmla="val 4053"/>
            </a:avLst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421316" y="2381250"/>
            <a:ext cx="1297624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Labelled cases (errors + clean)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4"/>
          <p:cNvCxnSpPr>
            <a:cxnSpLocks/>
            <a:stCxn id="41" idx="3"/>
            <a:endCxn id="44" idx="1"/>
          </p:cNvCxnSpPr>
          <p:nvPr/>
        </p:nvCxnSpPr>
        <p:spPr>
          <a:xfrm>
            <a:off x="1810500" y="3000450"/>
            <a:ext cx="218538" cy="0"/>
          </a:xfrm>
          <a:prstGeom prst="straightConnector1">
            <a:avLst/>
          </a:prstGeom>
          <a:solidFill>
            <a:srgbClr val="FFFFFF"/>
          </a:solidFill>
          <a:ln w="22225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4" name="Google Shape;44;p4"/>
          <p:cNvSpPr/>
          <p:nvPr/>
        </p:nvSpPr>
        <p:spPr>
          <a:xfrm>
            <a:off x="2029038" y="2286000"/>
            <a:ext cx="1500534" cy="1428900"/>
          </a:xfrm>
          <a:prstGeom prst="roundRect">
            <a:avLst>
              <a:gd name="adj" fmla="val 4053"/>
            </a:avLst>
          </a:prstGeom>
          <a:solidFill>
            <a:srgbClr val="F2F2F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2140388" y="2381250"/>
            <a:ext cx="1297624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 err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INCL_find</a:t>
            </a:r>
            <a:r>
              <a:rPr lang="en-US" sz="1000" b="1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_</a:t>
            </a:r>
            <a:endParaRPr sz="1000" b="1" dirty="0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Create rules, score &amp; combine rules into a “net”</a:t>
            </a:r>
            <a:endParaRPr sz="1000" b="1" dirty="0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" name="Google Shape;46;p4"/>
          <p:cNvCxnSpPr>
            <a:cxnSpLocks/>
            <a:stCxn id="44" idx="3"/>
            <a:endCxn id="47" idx="1"/>
          </p:cNvCxnSpPr>
          <p:nvPr/>
        </p:nvCxnSpPr>
        <p:spPr>
          <a:xfrm flipV="1">
            <a:off x="3529572" y="2143200"/>
            <a:ext cx="853556" cy="857250"/>
          </a:xfrm>
          <a:prstGeom prst="bentConnector3">
            <a:avLst>
              <a:gd name="adj1" fmla="val 50000"/>
            </a:avLst>
          </a:prstGeom>
          <a:solidFill>
            <a:srgbClr val="FFFFFF"/>
          </a:solidFill>
          <a:ln w="22225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" name="Google Shape;47;p4"/>
          <p:cNvSpPr/>
          <p:nvPr/>
        </p:nvSpPr>
        <p:spPr>
          <a:xfrm>
            <a:off x="4383128" y="1428750"/>
            <a:ext cx="1546213" cy="1428900"/>
          </a:xfrm>
          <a:prstGeom prst="roundRect">
            <a:avLst>
              <a:gd name="adj" fmla="val 4053"/>
            </a:avLst>
          </a:prstGeom>
          <a:solidFill>
            <a:srgbClr val="EFEFE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474569" y="1524000"/>
            <a:ext cx="1337126" cy="12384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 err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INCL_optimize_single</a:t>
            </a:r>
            <a:r>
              <a:rPr lang="en-US" sz="1000" b="1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_</a:t>
            </a:r>
            <a:endParaRPr sz="1000" b="1" dirty="0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Tune one rule’s thresholds</a:t>
            </a:r>
            <a:endParaRPr sz="1000" b="1" dirty="0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" name="Google Shape;49;p4"/>
          <p:cNvCxnSpPr>
            <a:cxnSpLocks/>
            <a:stCxn id="44" idx="3"/>
            <a:endCxn id="50" idx="1"/>
          </p:cNvCxnSpPr>
          <p:nvPr/>
        </p:nvCxnSpPr>
        <p:spPr>
          <a:xfrm>
            <a:off x="3529572" y="3000450"/>
            <a:ext cx="871831" cy="835538"/>
          </a:xfrm>
          <a:prstGeom prst="bentConnector3">
            <a:avLst>
              <a:gd name="adj1" fmla="val 48667"/>
            </a:avLst>
          </a:prstGeom>
          <a:solidFill>
            <a:srgbClr val="FFFFFF"/>
          </a:solidFill>
          <a:ln w="22225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50" name="Google Shape;50;p4"/>
          <p:cNvSpPr/>
          <p:nvPr/>
        </p:nvSpPr>
        <p:spPr>
          <a:xfrm>
            <a:off x="4401403" y="3121538"/>
            <a:ext cx="1546213" cy="1428900"/>
          </a:xfrm>
          <a:prstGeom prst="roundRect">
            <a:avLst>
              <a:gd name="adj" fmla="val 4053"/>
            </a:avLst>
          </a:prstGeom>
          <a:solidFill>
            <a:srgbClr val="F2F2F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4474569" y="3238500"/>
            <a:ext cx="1337126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INCL_optimize_set_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Optimize all rules for a state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" name="Google Shape;52;p4"/>
          <p:cNvCxnSpPr>
            <a:cxnSpLocks/>
            <a:stCxn id="50" idx="3"/>
            <a:endCxn id="53" idx="1"/>
          </p:cNvCxnSpPr>
          <p:nvPr/>
        </p:nvCxnSpPr>
        <p:spPr>
          <a:xfrm>
            <a:off x="5947616" y="3835988"/>
            <a:ext cx="383134" cy="12"/>
          </a:xfrm>
          <a:prstGeom prst="straightConnector1">
            <a:avLst/>
          </a:prstGeom>
          <a:solidFill>
            <a:srgbClr val="FFFFFF"/>
          </a:solidFill>
          <a:ln w="22225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53" name="Google Shape;53;p4"/>
          <p:cNvSpPr/>
          <p:nvPr/>
        </p:nvSpPr>
        <p:spPr>
          <a:xfrm>
            <a:off x="6330750" y="3121550"/>
            <a:ext cx="1546213" cy="1428900"/>
          </a:xfrm>
          <a:prstGeom prst="roundRect">
            <a:avLst>
              <a:gd name="adj" fmla="val 4053"/>
            </a:avLst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6422241" y="3238500"/>
            <a:ext cx="1337126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State rule set for testing on FY2025 and FY2026 data</a:t>
            </a:r>
            <a:endParaRPr sz="11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232475" y="807075"/>
            <a:ext cx="3913322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1300"/>
              <a:buFont typeface="Arial"/>
              <a:buNone/>
            </a:pPr>
            <a:r>
              <a:rPr lang="en-US" sz="1100" i="1" dirty="0" err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INCL_find</a:t>
            </a:r>
            <a:r>
              <a:rPr lang="en-US" sz="1100" i="1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_ creates the rule list using public or internal data; </a:t>
            </a:r>
            <a:endParaRPr sz="1100" i="1" dirty="0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1300"/>
              <a:buFont typeface="Arial"/>
              <a:buNone/>
            </a:pPr>
            <a:r>
              <a:rPr lang="en-US" sz="1100" i="1" dirty="0" err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INCL_optimize_single</a:t>
            </a:r>
            <a:r>
              <a:rPr lang="en-US" sz="1100" i="1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_ tunes a single rule; </a:t>
            </a:r>
            <a:endParaRPr sz="1100" i="1" dirty="0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1300"/>
              <a:buFont typeface="Arial"/>
              <a:buNone/>
            </a:pPr>
            <a:r>
              <a:rPr lang="en-US" sz="1100" i="1" dirty="0" err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INCL_optimize_set</a:t>
            </a:r>
            <a:r>
              <a:rPr lang="en-US" sz="1100" i="1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_ optimizes a list of rules (e.g., all the results from </a:t>
            </a:r>
            <a:r>
              <a:rPr lang="en-US" sz="1100" i="1" dirty="0" err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INCL_find</a:t>
            </a:r>
            <a:r>
              <a:rPr lang="en-US" sz="1100" i="1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1100" i="1" dirty="0">
                <a:solidFill>
                  <a:srgbClr val="5A5A5A"/>
                </a:solidFill>
              </a:rPr>
              <a:t>using public or internal data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8138160" y="4814316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6330800" y="1428750"/>
            <a:ext cx="1546213" cy="1428900"/>
          </a:xfrm>
          <a:prstGeom prst="roundRect">
            <a:avLst>
              <a:gd name="adj" fmla="val 4053"/>
            </a:avLst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6422241" y="1524000"/>
            <a:ext cx="1337126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Add to existing curated rule set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Test on FY2025 and FY2026 data</a:t>
            </a:r>
            <a:endParaRPr sz="11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(not yet public)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" name="Google Shape;60;p4"/>
          <p:cNvCxnSpPr>
            <a:cxnSpLocks/>
            <a:stCxn id="47" idx="3"/>
          </p:cNvCxnSpPr>
          <p:nvPr/>
        </p:nvCxnSpPr>
        <p:spPr>
          <a:xfrm flipV="1">
            <a:off x="5929341" y="2143188"/>
            <a:ext cx="392275" cy="12"/>
          </a:xfrm>
          <a:prstGeom prst="straightConnector1">
            <a:avLst/>
          </a:prstGeom>
          <a:solidFill>
            <a:srgbClr val="FFFFFF"/>
          </a:solidFill>
          <a:ln w="22225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"/>
          <p:cNvSpPr/>
          <p:nvPr/>
        </p:nvSpPr>
        <p:spPr>
          <a:xfrm>
            <a:off x="457200" y="310896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SzPts val="2800"/>
            </a:pPr>
            <a:r>
              <a:rPr lang="en-US" sz="1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Find and combine inclusion rules:</a:t>
            </a:r>
            <a:endParaRPr lang="en-US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800" b="1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INCL_find_inclusion_rules_multi_model_by_hh_size.R</a:t>
            </a:r>
            <a:endParaRPr lang="en-US" sz="1800" b="1" dirty="0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457200" y="1234440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each household size, </a:t>
            </a:r>
            <a:r>
              <a:rPr lang="en-US" sz="1500"/>
              <a:t>use 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RuleFit to fin</a:t>
            </a:r>
            <a:r>
              <a:rPr lang="en-US" sz="1500"/>
              <a:t>d criteria that combine 1-4 variables to capture dollars or counts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Score every rule: precision, recall, lift, dollar recall.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Keep INCLUDE-direction rules </a:t>
            </a:r>
            <a:r>
              <a:rPr lang="en-US" sz="1500"/>
              <a:t>(default is to save rules with precision &gt;0.2, but can modify)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/>
              <a:t>Starting with the highest precision rules, combine them using 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OR statements into a </a:t>
            </a:r>
            <a:r>
              <a:rPr lang="en-US" sz="1500"/>
              <a:t>“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net</a:t>
            </a:r>
            <a:r>
              <a:rPr lang="en-US" sz="1500"/>
              <a:t>”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that reaches each recall floor </a:t>
            </a:r>
            <a:r>
              <a:rPr lang="en-US" sz="1500"/>
              <a:t>(such as 30%, 40%, or 50% of error dollars due to the modeled type of error). </a:t>
            </a:r>
            <a:endParaRPr sz="1500"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500"/>
          </a:p>
        </p:txBody>
      </p:sp>
      <p:sp>
        <p:nvSpPr>
          <p:cNvPr id="68" name="Google Shape;68;p5"/>
          <p:cNvSpPr/>
          <p:nvPr/>
        </p:nvSpPr>
        <p:spPr>
          <a:xfrm>
            <a:off x="5989320" y="1280160"/>
            <a:ext cx="2697480" cy="3108960"/>
          </a:xfrm>
          <a:prstGeom prst="roundRect">
            <a:avLst>
              <a:gd name="adj" fmla="val 2034"/>
            </a:avLst>
          </a:prstGeom>
          <a:solidFill>
            <a:srgbClr val="F2F2F2"/>
          </a:solidFill>
          <a:ln w="12700" cap="flat" cmpd="sng">
            <a:solidFill>
              <a:srgbClr val="8080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6172200" y="1463040"/>
            <a:ext cx="2331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Outputs (CSV)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6172200" y="1874520"/>
            <a:ext cx="2331720" cy="2423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2400" marR="0" lvl="0" indent="-1524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Full rule table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52400" marR="0" lvl="0" indent="-152400" algn="l" rtl="0"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High-precision shortlist (above threshold)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52400" marR="0" lvl="0" indent="-152400" algn="l" rtl="0"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Net operating points (recall goals with most </a:t>
            </a:r>
            <a:r>
              <a:rPr lang="en-US" sz="1200"/>
              <a:t>precise </a:t>
            </a: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rules for reaching them)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"/>
          <p:cNvSpPr/>
          <p:nvPr/>
        </p:nvSpPr>
        <p:spPr>
          <a:xfrm>
            <a:off x="457200" y="310896"/>
            <a:ext cx="839233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600" b="1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INCL_find</a:t>
            </a: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_ output: candidate inclusion rules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600" b="1" i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file: </a:t>
            </a: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/</a:t>
            </a:r>
            <a:r>
              <a:rPr lang="en-US" sz="1600" b="1" i="1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inclusion_rules_by_hh_size</a:t>
            </a: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/</a:t>
            </a:r>
            <a:r>
              <a:rPr lang="en-US" sz="1600" b="1" i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*_by_HHsize_inclusion_rules_highprecision.csv</a:t>
            </a: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(recall = $ from error type by HH size)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9" name="Google Shape;79;p6"/>
          <p:cNvGraphicFramePr/>
          <p:nvPr/>
        </p:nvGraphicFramePr>
        <p:xfrm>
          <a:off x="457200" y="1105595"/>
          <a:ext cx="8229600" cy="3887340"/>
        </p:xfrm>
        <a:graphic>
          <a:graphicData uri="http://schemas.openxmlformats.org/drawingml/2006/table">
            <a:tbl>
              <a:tblPr>
                <a:noFill/>
                <a:tableStyleId>{B5048AC8-0E75-455B-AB4F-AEF2A2D202BD}</a:tableStyleId>
              </a:tblPr>
              <a:tblGrid>
                <a:gridCol w="823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0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4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8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hh_size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rule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precision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recall (</a:t>
                      </a:r>
                      <a:r>
                        <a:rPr lang="en-US" sz="1100" b="1">
                          <a:solidFill>
                            <a:schemeClr val="dk1"/>
                          </a:solidFill>
                        </a:rPr>
                        <a:t>$)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n_flagged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errors_caught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4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unc_rawben_rel_max &lt; 1.217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rawearn &gt;= 3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0.9718 &gt; rawben_rel_max &gt; 0.7775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0.46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0.32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527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243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shelter_expenses &gt;= 1552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rawearn &gt;= 1091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total_deductions &lt; 1152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0.29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0.20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291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85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unc_rawben_rel_max &gt;= 1.193 &amp; utilities &lt; 346 &amp; months_since_cert_n &gt;= 2.5 &amp; rawgross &lt; 2.5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0.31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0.09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72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22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total_deductions &lt; 614.5 &amp; shelter_expenses &lt; 346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utilities &gt;= 334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months_since_cert_n &gt;= 2.5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0.48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0.25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114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55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5+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2221 &gt; shelter_expenses &gt; 1625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0.9545 &gt; rawben_rel_max &gt; 0.786 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0.25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0.13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136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34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0" name="Google Shape;80;p6"/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7"/>
          <p:cNvSpPr/>
          <p:nvPr/>
        </p:nvSpPr>
        <p:spPr>
          <a:xfrm>
            <a:off x="457200" y="310896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800" b="1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INCL_find</a:t>
            </a:r>
            <a:r>
              <a:rPr lang="en-US" sz="1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_ output: combining rules to hit recall goals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8" name="Google Shape;88;p7"/>
          <p:cNvGraphicFramePr/>
          <p:nvPr/>
        </p:nvGraphicFramePr>
        <p:xfrm>
          <a:off x="645775" y="1066538"/>
          <a:ext cx="8041025" cy="4016873"/>
        </p:xfrm>
        <a:graphic>
          <a:graphicData uri="http://schemas.openxmlformats.org/drawingml/2006/table">
            <a:tbl>
              <a:tblPr>
                <a:noFill/>
                <a:tableStyleId>{B5048AC8-0E75-455B-AB4F-AEF2A2D202BD}</a:tableStyleId>
              </a:tblPr>
              <a:tblGrid>
                <a:gridCol w="633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698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09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Step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hh size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recall floor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prec.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recall ($)</a:t>
                      </a:r>
                      <a:endParaRPr sz="10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flagged</a:t>
                      </a:r>
                      <a:endParaRPr sz="10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errors caught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n rules</a:t>
                      </a:r>
                      <a:endParaRPr sz="10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net (all for household size of 2)</a:t>
                      </a:r>
                      <a:endParaRPr sz="10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2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1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2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0.2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0.29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.21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291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85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2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unc_rawben_rel_max &gt;= 1.418 &amp;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utilities &lt; 382 &amp;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utilities &gt;= 12.5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OR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shelter_expenses &gt;= 1552 &amp;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rawearn &gt;= 1091 &amp;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total_deductions &lt; 1152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2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2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2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0.3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0.2667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0.379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615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164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4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i="1">
                          <a:solidFill>
                            <a:schemeClr val="dk1"/>
                          </a:solidFill>
                        </a:rPr>
                        <a:t>[ABOVE OR]</a:t>
                      </a:r>
                      <a:endParaRPr sz="1000" b="1" u="sng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unc_rawben_rel_max &gt;= 1.487 &amp; </a:t>
                      </a:r>
                      <a:endParaRPr sz="10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shelter_expenses &gt;= 803 &amp; utilities &lt; 663.5 </a:t>
                      </a:r>
                      <a:endParaRPr sz="10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OR </a:t>
                      </a:r>
                      <a:endParaRPr sz="10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unc_rawben_rel_max &lt; 1.487 &amp; </a:t>
                      </a:r>
                      <a:endParaRPr sz="10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rawearn &gt;= 3.5 &amp; </a:t>
                      </a:r>
                      <a:endParaRPr sz="10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0.9874 &gt; unc_rawben_rel_max &lt; 0.883 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91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3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2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0.4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0.2281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0.5134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1118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255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5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 dirty="0"/>
                        <a:t>[ABOVE OR]</a:t>
                      </a:r>
                      <a:endParaRPr sz="1000" i="1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 err="1"/>
                        <a:t>unc_rawben_rel_max</a:t>
                      </a:r>
                      <a:r>
                        <a:rPr lang="en-US" sz="1000" dirty="0"/>
                        <a:t> &lt; 1.401 &amp; </a:t>
                      </a:r>
                      <a:endParaRPr sz="10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 err="1"/>
                        <a:t>rawearn</a:t>
                      </a:r>
                      <a:r>
                        <a:rPr lang="en-US" sz="1000" dirty="0"/>
                        <a:t> &gt;= 0.5 &amp;</a:t>
                      </a:r>
                      <a:endParaRPr sz="10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 err="1"/>
                        <a:t>rawgross</a:t>
                      </a:r>
                      <a:r>
                        <a:rPr lang="en-US" sz="1000" dirty="0"/>
                        <a:t> &lt; 1526 </a:t>
                      </a: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&amp; </a:t>
                      </a:r>
                      <a:endParaRPr sz="1000" dirty="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 err="1">
                          <a:solidFill>
                            <a:schemeClr val="dk1"/>
                          </a:solidFill>
                        </a:rPr>
                        <a:t>rawben_rel_max</a:t>
                      </a:r>
                      <a:r>
                        <a:rPr lang="en-US" sz="1000" dirty="0">
                          <a:solidFill>
                            <a:schemeClr val="dk1"/>
                          </a:solidFill>
                        </a:rPr>
                        <a:t> &lt; 0.9876</a:t>
                      </a:r>
                      <a:endParaRPr sz="10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7"/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7"/>
          <p:cNvCxnSpPr/>
          <p:nvPr/>
        </p:nvCxnSpPr>
        <p:spPr>
          <a:xfrm flipH="1">
            <a:off x="319875" y="1740050"/>
            <a:ext cx="4200" cy="2982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eae636d67f_0_57"/>
          <p:cNvSpPr txBox="1"/>
          <p:nvPr/>
        </p:nvSpPr>
        <p:spPr>
          <a:xfrm>
            <a:off x="457200" y="1050000"/>
            <a:ext cx="8229600" cy="307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 err="1"/>
              <a:t>INCL_optimize_single_inclusion_rule_by_hh_size_for_a_state.R</a:t>
            </a:r>
            <a:endParaRPr sz="2400" dirty="0"/>
          </a:p>
          <a:p>
            <a:r>
              <a:rPr sz="1400" b="0" dirty="0"/>
              <a:t>Takes one rule from </a:t>
            </a:r>
            <a:r>
              <a:rPr sz="1400" b="0" dirty="0" err="1"/>
              <a:t>INCL_find</a:t>
            </a:r>
            <a:r>
              <a:rPr sz="1400" b="0" dirty="0"/>
              <a:t>_ output and grid-searches its numeric thresholds on a specific state’s data to maximize precision at a recall floor. Useful when you have a small number of rules you really want to get right for your state.</a:t>
            </a:r>
            <a:r>
              <a:rPr lang="en-US" sz="1400" b="0" dirty="0"/>
              <a:t> Can be used to tailor a generic rule to household sizes – will take a rule and model it for each HH size and return the appropriate thresholds. </a:t>
            </a:r>
            <a:endParaRPr sz="1400" b="0" dirty="0"/>
          </a:p>
          <a:p>
            <a:endParaRPr sz="1400" b="0" dirty="0"/>
          </a:p>
          <a:p>
            <a:r>
              <a:rPr sz="1800" b="1" dirty="0" err="1"/>
              <a:t>INCL_optimize_set_of_inclusion_rules_by_hh_size_for_a_state.R</a:t>
            </a:r>
            <a:endParaRPr sz="1800" b="1" dirty="0"/>
          </a:p>
          <a:p>
            <a:r>
              <a:rPr sz="1400" b="0" dirty="0"/>
              <a:t>Reads the full high-precision rule list from </a:t>
            </a:r>
            <a:r>
              <a:rPr sz="1400" b="0" dirty="0" err="1"/>
              <a:t>INCL_find</a:t>
            </a:r>
            <a:r>
              <a:rPr sz="1400" b="0" dirty="0"/>
              <a:t>_</a:t>
            </a:r>
            <a:r>
              <a:rPr lang="en-US" sz="1400" b="0" dirty="0"/>
              <a:t> (or any source)</a:t>
            </a:r>
            <a:r>
              <a:rPr sz="1400" b="0" dirty="0"/>
              <a:t> and optimizes all rules for a specific state at once. Drops any rule whose best achievable precision falls below PRECISION_FLOOR. Useful when taking rules mined from national data and adapting them to your state.</a:t>
            </a:r>
          </a:p>
          <a:p>
            <a:endParaRPr sz="1400" b="0" dirty="0"/>
          </a:p>
          <a:p>
            <a:r>
              <a:rPr sz="1200" b="0" dirty="0"/>
              <a:t>Both scripts write state-optimized rules to </a:t>
            </a:r>
            <a:r>
              <a:rPr sz="1200" b="0" dirty="0" err="1"/>
              <a:t>inclusion_rules_by_hh_size</a:t>
            </a:r>
            <a:r>
              <a:rPr sz="1200" b="0" dirty="0"/>
              <a:t>/</a:t>
            </a:r>
          </a:p>
        </p:txBody>
      </p:sp>
      <p:sp>
        <p:nvSpPr>
          <p:cNvPr id="66" name="Google Shape;66;p5"/>
          <p:cNvSpPr/>
          <p:nvPr/>
        </p:nvSpPr>
        <p:spPr>
          <a:xfrm>
            <a:off x="457200" y="310896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Tuning rules for a specific state: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600" b="1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INCL_optimize_single</a:t>
            </a: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_ and </a:t>
            </a:r>
            <a:r>
              <a:rPr lang="en-US" sz="1600" b="1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INCL_optimize_set</a:t>
            </a: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_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71;p5">
            <a:extLst>
              <a:ext uri="{FF2B5EF4-FFF2-40B4-BE49-F238E27FC236}">
                <a16:creationId xmlns:a16="http://schemas.microsoft.com/office/drawing/2014/main" id="{B0D642F2-6701-2B92-8D1B-5371BA2BAFB4}"/>
              </a:ext>
            </a:extLst>
          </p:cNvPr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72;p5">
            <a:extLst>
              <a:ext uri="{FF2B5EF4-FFF2-40B4-BE49-F238E27FC236}">
                <a16:creationId xmlns:a16="http://schemas.microsoft.com/office/drawing/2014/main" id="{E3CAAEA4-E2AC-8019-F176-869DED338969}"/>
              </a:ext>
            </a:extLst>
          </p:cNvPr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1178</Words>
  <Application>Microsoft Office PowerPoint</Application>
  <PresentationFormat>On-screen Show (16:9)</PresentationFormat>
  <Paragraphs>176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Better Government Lab</dc:creator>
  <cp:lastModifiedBy>Eric Giannella</cp:lastModifiedBy>
  <cp:revision>3</cp:revision>
  <dcterms:created xsi:type="dcterms:W3CDTF">2026-06-09T21:09:16Z</dcterms:created>
  <dcterms:modified xsi:type="dcterms:W3CDTF">2026-06-14T04:56:32Z</dcterms:modified>
</cp:coreProperties>
</file>