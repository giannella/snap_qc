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metadata" ContentType="application/binary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saveSubsetFonts="1" autoCompressPictures="0">
  <p:sldMasterIdLst>
    <p:sldMasterId id="2147483648" r:id="rId1"/>
  </p:sldMasterIdLst>
  <p:notesMasterIdLst>
    <p:notesMasterId r:id="rId11"/>
  </p:notesMasterIdLst>
  <p:sldIdLst>
    <p:sldId id="256" r:id="rId2"/>
    <p:sldId id="257" r:id="rId3"/>
    <p:sldId id="258" r:id="rId4"/>
    <p:sldId id="264" r:id="rId5"/>
    <p:sldId id="259" r:id="rId6"/>
    <p:sldId id="260" r:id="rId7"/>
    <p:sldId id="261" r:id="rId8"/>
    <p:sldId id="262" r:id="rId9"/>
    <p:sldId id="263" r:id="rId10"/>
  </p:sldIdLst>
  <p:sldSz cx="9144000" cy="5143500" type="screen16x9"/>
  <p:notesSz cx="51435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GoogleSlidesCustomDataVersion2">
      <go:slidesCustomData xmlns:go="http://customooxmlschemas.google.com/" xmlns:ahyp="http://schemas.microsoft.com/office/drawing/2018/hyperlinkcolor" xmlns:p15="http://schemas.microsoft.com/office/powerpoint/2012/main" xmlns:p14="http://schemas.microsoft.com/office/powerpoint/2010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:mc="http://schemas.openxmlformats.org/markup-compatibility/2006" xmlns="" r:id="rId14" roundtripDataSignature="AMtx7miQRICf23Bzy3Bs41KrA83+2K6/DA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B5048AC8-0E75-455B-AB4F-AEF2A2D202BD}">
  <a:tblStyle styleId="{B5048AC8-0E75-455B-AB4F-AEF2A2D202BD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/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164" d="100"/>
          <a:sy n="164" d="100"/>
        </p:scale>
        <p:origin x="92" y="1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customschemas.google.com/relationships/presentationmetadata" Target="metadata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857400" y="685800"/>
            <a:ext cx="342915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514350" y="4343400"/>
            <a:ext cx="41148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Google Shape;8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0" y="0"/>
            <a:ext cx="3000000" cy="3000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9" name="Google Shape;9;p1:notes"/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" name="Google Shape;10;p1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1</a:t>
            </a:fld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0" y="0"/>
            <a:ext cx="3000000" cy="3000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9" name="Google Shape;19;p2:notes"/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" name="Google Shape;20;p2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2</a:t>
            </a:fld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Google Shape;27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0" y="0"/>
            <a:ext cx="3000000" cy="3000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8" name="Google Shape;28;p3:notes"/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9" name="Google Shape;29;p3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3</a:t>
            </a:fld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4:notes"/>
          <p:cNvSpPr>
            <a:spLocks noGrp="1" noRot="1" noChangeAspect="1"/>
          </p:cNvSpPr>
          <p:nvPr>
            <p:ph type="sldImg" idx="2"/>
          </p:nvPr>
        </p:nvSpPr>
        <p:spPr>
          <a:xfrm>
            <a:off x="-1166813" y="0"/>
            <a:ext cx="5334001" cy="3000375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37" name="Google Shape;37;p4:notes"/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8" name="Google Shape;38;p4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5</a:t>
            </a:fld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5:notes"/>
          <p:cNvSpPr>
            <a:spLocks noGrp="1" noRot="1" noChangeAspect="1"/>
          </p:cNvSpPr>
          <p:nvPr>
            <p:ph type="sldImg" idx="2"/>
          </p:nvPr>
        </p:nvSpPr>
        <p:spPr>
          <a:xfrm>
            <a:off x="-1166813" y="0"/>
            <a:ext cx="5334001" cy="3000375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63" name="Google Shape;63;p5:notes"/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4" name="Google Shape;64;p5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6</a:t>
            </a:fld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" name="Google Shape;74;p6:notes"/>
          <p:cNvSpPr>
            <a:spLocks noGrp="1" noRot="1" noChangeAspect="1"/>
          </p:cNvSpPr>
          <p:nvPr>
            <p:ph type="sldImg" idx="2"/>
          </p:nvPr>
        </p:nvSpPr>
        <p:spPr>
          <a:xfrm>
            <a:off x="-1166813" y="0"/>
            <a:ext cx="5334001" cy="3000375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75" name="Google Shape;75;p6:notes"/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6" name="Google Shape;76;p6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7</a:t>
            </a:fld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Google Shape;82;p7:notes"/>
          <p:cNvSpPr>
            <a:spLocks noGrp="1" noRot="1" noChangeAspect="1"/>
          </p:cNvSpPr>
          <p:nvPr>
            <p:ph type="sldImg" idx="2"/>
          </p:nvPr>
        </p:nvSpPr>
        <p:spPr>
          <a:xfrm>
            <a:off x="-1166813" y="0"/>
            <a:ext cx="5334001" cy="3000375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83" name="Google Shape;83;p7:notes"/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" name="Google Shape;84;p7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8</a:t>
            </a:fld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g3eae636d67f_0_57:notes"/>
          <p:cNvSpPr>
            <a:spLocks noGrp="1" noRot="1" noChangeAspect="1"/>
          </p:cNvSpPr>
          <p:nvPr>
            <p:ph type="sldImg" idx="2"/>
          </p:nvPr>
        </p:nvSpPr>
        <p:spPr>
          <a:xfrm>
            <a:off x="-47625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3" name="Google Shape;93;g3eae636d67f_0_57:notes"/>
          <p:cNvSpPr txBox="1">
            <a:spLocks noGrp="1"/>
          </p:cNvSpPr>
          <p:nvPr>
            <p:ph type="body" idx="1"/>
          </p:nvPr>
        </p:nvSpPr>
        <p:spPr>
          <a:xfrm>
            <a:off x="514350" y="4343400"/>
            <a:ext cx="41148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DEFAULT">
  <p:cSld name="DEFAULT">
    <p:bg>
      <p:bgPr>
        <a:solidFill>
          <a:schemeClr val="lt1"/>
        </a:solidFill>
        <a:effectLst/>
      </p:bgPr>
    </p:bg>
    <p:spTree>
      <p:nvGrpSpPr>
        <p:cNvPr id="1" name="Shape 6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giannella/snap_qc" TargetMode="Externa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1"/>
          <p:cNvSpPr/>
          <p:nvPr/>
        </p:nvSpPr>
        <p:spPr>
          <a:xfrm>
            <a:off x="457200" y="1371600"/>
            <a:ext cx="8229600" cy="10058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000"/>
              <a:buFont typeface="Cambria"/>
              <a:buNone/>
            </a:pPr>
            <a:r>
              <a:rPr lang="en-US" sz="4000" b="1" i="0" u="none" strike="noStrike" cap="none">
                <a:solidFill>
                  <a:srgbClr val="000000"/>
                </a:solidFill>
                <a:latin typeface="Cambria"/>
                <a:ea typeface="Cambria"/>
                <a:cs typeface="Cambria"/>
                <a:sym typeface="Cambria"/>
              </a:rPr>
              <a:t>Finding Inclusion Rules</a:t>
            </a:r>
            <a:endParaRPr sz="40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" name="Google Shape;13;p1"/>
          <p:cNvSpPr/>
          <p:nvPr/>
        </p:nvSpPr>
        <p:spPr>
          <a:xfrm>
            <a:off x="457200" y="2468870"/>
            <a:ext cx="8229600" cy="91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US"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Flagging SNAP cases for review — INCL_ scripts</a:t>
            </a:r>
            <a:endParaRPr sz="18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/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US" sz="1800" u="sng">
                <a:solidFill>
                  <a:schemeClr val="hlink"/>
                </a:solidFill>
                <a:hlinkClick r:id="rId3"/>
              </a:rPr>
              <a:t>https://github.com/giannella/snap_qc</a:t>
            </a:r>
            <a:endParaRPr sz="1800"/>
          </a:p>
        </p:txBody>
      </p:sp>
      <p:sp>
        <p:nvSpPr>
          <p:cNvPr id="14" name="Google Shape;14;p1"/>
          <p:cNvSpPr/>
          <p:nvPr/>
        </p:nvSpPr>
        <p:spPr>
          <a:xfrm>
            <a:off x="457200" y="3473805"/>
            <a:ext cx="8229600" cy="365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5A5A5A"/>
              </a:buClr>
              <a:buSzPts val="1300"/>
              <a:buFont typeface="Arial"/>
              <a:buNone/>
            </a:pPr>
            <a:r>
              <a:rPr lang="en-US" sz="1300" b="0" i="1" u="none" strike="noStrike" cap="non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RuleFit rule mining, threshold tuning, and state optimization, by household size</a:t>
            </a:r>
            <a:endParaRPr sz="13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" name="Google Shape;15;p1"/>
          <p:cNvSpPr/>
          <p:nvPr/>
        </p:nvSpPr>
        <p:spPr>
          <a:xfrm>
            <a:off x="457200" y="4814316"/>
            <a:ext cx="5486400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5A5A5A"/>
              </a:buClr>
              <a:buSzPts val="900"/>
              <a:buFont typeface="Arial"/>
              <a:buNone/>
            </a:pPr>
            <a:r>
              <a:rPr lang="en-US" sz="900" b="0" i="0" u="none" strike="noStrike" cap="non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Inclusion rules · INCL_ scripts</a:t>
            </a:r>
            <a:endParaRPr sz="9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" name="Google Shape;16;p1"/>
          <p:cNvSpPr/>
          <p:nvPr/>
        </p:nvSpPr>
        <p:spPr>
          <a:xfrm>
            <a:off x="8138160" y="4814316"/>
            <a:ext cx="548640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Clr>
                <a:srgbClr val="5A5A5A"/>
              </a:buClr>
              <a:buSzPts val="900"/>
              <a:buFont typeface="Arial"/>
              <a:buNone/>
            </a:pPr>
            <a:r>
              <a:rPr lang="en-US" sz="900" b="0" i="0" u="none" strike="noStrike" cap="non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  <a:endParaRPr sz="9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2"/>
          <p:cNvSpPr/>
          <p:nvPr/>
        </p:nvSpPr>
        <p:spPr>
          <a:xfrm>
            <a:off x="457200" y="310896"/>
            <a:ext cx="8229600" cy="6400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Cambria"/>
              <a:buNone/>
            </a:pPr>
            <a:r>
              <a:rPr lang="en-US" sz="2800" b="1">
                <a:solidFill>
                  <a:srgbClr val="000000"/>
                </a:solidFill>
                <a:latin typeface="Cambria"/>
                <a:ea typeface="Cambria"/>
                <a:cs typeface="Cambria"/>
                <a:sym typeface="Cambria"/>
              </a:rPr>
              <a:t>The problem</a:t>
            </a:r>
            <a:endParaRPr sz="2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" name="Google Shape;23;p2"/>
          <p:cNvSpPr/>
          <p:nvPr/>
        </p:nvSpPr>
        <p:spPr>
          <a:xfrm>
            <a:off x="457200" y="1234450"/>
            <a:ext cx="7835400" cy="329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177800" marR="0" lvl="0" indent="-17780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Char char="•"/>
            </a:pPr>
            <a:r>
              <a:rPr lang="en-US" sz="15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Review capacity is limited; only a small fraction of cases can be examined.</a:t>
            </a:r>
            <a:endParaRPr sz="15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7800" marR="0" lvl="0" indent="-177800" algn="l" rtl="0">
              <a:spcBef>
                <a:spcPts val="100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Char char="•"/>
            </a:pPr>
            <a:r>
              <a:rPr lang="en-US" sz="15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We want to flag the cases most likely to </a:t>
            </a:r>
            <a:r>
              <a:rPr lang="en-US" sz="1500"/>
              <a:t>have large, correctable payment </a:t>
            </a:r>
            <a:r>
              <a:rPr lang="en-US" sz="15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errors.</a:t>
            </a:r>
            <a:endParaRPr sz="15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7800" marR="0" lvl="0" indent="-177800" algn="l" rtl="0">
              <a:spcBef>
                <a:spcPts val="100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Char char="•"/>
            </a:pPr>
            <a:r>
              <a:rPr lang="en-US" sz="15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 “inclusion” rule marks a case </a:t>
            </a:r>
            <a:r>
              <a:rPr lang="en-US" sz="1500"/>
              <a:t>as more likely to have one of these errors</a:t>
            </a:r>
            <a:r>
              <a:rPr lang="en-US" sz="15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.</a:t>
            </a:r>
            <a:endParaRPr sz="15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7800" marR="0" lvl="0" indent="-177800" algn="l" rtl="0">
              <a:spcBef>
                <a:spcPts val="100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Char char="•"/>
            </a:pPr>
            <a:r>
              <a:rPr lang="en-US" sz="1500"/>
              <a:t>Designed to focus on </a:t>
            </a:r>
            <a:r>
              <a:rPr lang="en-US" sz="15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high precision (maximize av</a:t>
            </a:r>
            <a:r>
              <a:rPr lang="en-US" sz="1500"/>
              <a:t>erage yield per reviewed case</a:t>
            </a:r>
            <a:r>
              <a:rPr lang="en-US" sz="15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) while still </a:t>
            </a:r>
            <a:r>
              <a:rPr lang="en-US" sz="1500"/>
              <a:t>catching a predefined level of errors</a:t>
            </a:r>
            <a:r>
              <a:rPr lang="en-US" sz="15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(recall).</a:t>
            </a:r>
            <a:endParaRPr sz="15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" name="Google Shape;24;p2"/>
          <p:cNvSpPr/>
          <p:nvPr/>
        </p:nvSpPr>
        <p:spPr>
          <a:xfrm>
            <a:off x="457200" y="4814316"/>
            <a:ext cx="5486400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5A5A5A"/>
              </a:buClr>
              <a:buSzPts val="900"/>
              <a:buFont typeface="Arial"/>
              <a:buNone/>
            </a:pPr>
            <a:r>
              <a:rPr lang="en-US" sz="900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Inclusion rules · INCL_ scripts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" name="Google Shape;25;p2"/>
          <p:cNvSpPr/>
          <p:nvPr/>
        </p:nvSpPr>
        <p:spPr>
          <a:xfrm>
            <a:off x="8138160" y="4814316"/>
            <a:ext cx="548640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Clr>
                <a:srgbClr val="5A5A5A"/>
              </a:buClr>
              <a:buSzPts val="900"/>
              <a:buFont typeface="Arial"/>
              <a:buNone/>
            </a:pPr>
            <a:r>
              <a:rPr lang="en-US" sz="900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3"/>
          <p:cNvSpPr/>
          <p:nvPr/>
        </p:nvSpPr>
        <p:spPr>
          <a:xfrm>
            <a:off x="457200" y="310896"/>
            <a:ext cx="8229600" cy="6400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Cambria"/>
              <a:buNone/>
            </a:pPr>
            <a:r>
              <a:rPr lang="en-US" sz="2800" b="1" dirty="0">
                <a:solidFill>
                  <a:srgbClr val="000000"/>
                </a:solidFill>
                <a:latin typeface="Cambria"/>
                <a:ea typeface="Cambria"/>
                <a:cs typeface="Cambria"/>
                <a:sym typeface="Cambria"/>
              </a:rPr>
              <a:t>Key ideas</a:t>
            </a:r>
            <a:endParaRPr sz="280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" name="Google Shape;32;p3"/>
          <p:cNvSpPr/>
          <p:nvPr/>
        </p:nvSpPr>
        <p:spPr>
          <a:xfrm>
            <a:off x="457200" y="1234440"/>
            <a:ext cx="8229600" cy="33832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50"/>
              <a:buFont typeface="Arial"/>
              <a:buNone/>
            </a:pPr>
            <a:r>
              <a:rPr lang="en-US" sz="1450" b="1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Precision — </a:t>
            </a:r>
            <a:r>
              <a:rPr lang="en-US" sz="145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share of flagged cases that are true errors.</a:t>
            </a:r>
            <a:endParaRPr sz="14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50"/>
              <a:buFont typeface="Arial"/>
              <a:buNone/>
            </a:pPr>
            <a:r>
              <a:rPr lang="en-US" sz="1450" b="1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Recall — </a:t>
            </a:r>
            <a:r>
              <a:rPr lang="en-US" sz="145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share of all errors (or error dollars) that get flagged.</a:t>
            </a:r>
            <a:endParaRPr sz="14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50"/>
              <a:buFont typeface="Arial"/>
              <a:buNone/>
            </a:pPr>
            <a:r>
              <a:rPr lang="en-US" sz="1450" b="1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RuleFit — </a:t>
            </a:r>
            <a:r>
              <a:rPr lang="en-US" sz="145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fits many shallow trees, turns their branches into simple if-then rules, then uses a lasso to keep the few that matter. Avoids many of the </a:t>
            </a:r>
            <a:r>
              <a:rPr lang="en-US" sz="1450"/>
              <a:t>over-fitting issues with traditional decision trees. </a:t>
            </a:r>
            <a:endParaRPr sz="14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50"/>
              <a:buFont typeface="Arial"/>
              <a:buNone/>
            </a:pPr>
            <a:r>
              <a:rPr lang="en-US" sz="1450" b="1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Net — </a:t>
            </a:r>
            <a:r>
              <a:rPr lang="en-US" sz="145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several rules combined with OR to increase recall up to particular goals while keeping precision as high as possible.</a:t>
            </a:r>
            <a:endParaRPr sz="14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50"/>
              <a:buFont typeface="Arial"/>
              <a:buNone/>
            </a:pPr>
            <a:r>
              <a:rPr lang="en-US" sz="1450" b="1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By household size — </a:t>
            </a:r>
            <a:r>
              <a:rPr lang="en-US" sz="145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cases split into 1, 2, 3, 4, 5+ and modeled separately, since benefit and error size scale with size.</a:t>
            </a:r>
            <a:endParaRPr sz="14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50"/>
              <a:buFont typeface="Arial"/>
              <a:buNone/>
            </a:pPr>
            <a:r>
              <a:rPr lang="en-US" sz="1450" b="1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Precision floor — </a:t>
            </a:r>
            <a:r>
              <a:rPr lang="en-US" sz="145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INCL_optimize_set_ drops any tuned rule whose precision falls below a set level (e.g., 20%).</a:t>
            </a:r>
            <a:endParaRPr sz="14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" name="Google Shape;33;p3"/>
          <p:cNvSpPr/>
          <p:nvPr/>
        </p:nvSpPr>
        <p:spPr>
          <a:xfrm>
            <a:off x="457200" y="4814316"/>
            <a:ext cx="5486400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5A5A5A"/>
              </a:buClr>
              <a:buSzPts val="900"/>
              <a:buFont typeface="Arial"/>
              <a:buNone/>
            </a:pPr>
            <a:r>
              <a:rPr lang="en-US" sz="900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Inclusion rules · INCL_ scripts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" name="Google Shape;34;p3"/>
          <p:cNvSpPr/>
          <p:nvPr/>
        </p:nvSpPr>
        <p:spPr>
          <a:xfrm>
            <a:off x="8138160" y="4814316"/>
            <a:ext cx="548640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Clr>
                <a:srgbClr val="5A5A5A"/>
              </a:buClr>
              <a:buSzPts val="900"/>
              <a:buFont typeface="Arial"/>
              <a:buNone/>
            </a:pPr>
            <a:r>
              <a:rPr lang="en-US" sz="900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C6370940-7DF9-92EB-F53F-F904ECFC40F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17357" y="939736"/>
            <a:ext cx="6199328" cy="3874580"/>
          </a:xfrm>
          <a:prstGeom prst="rect">
            <a:avLst/>
          </a:prstGeom>
        </p:spPr>
      </p:pic>
      <p:sp>
        <p:nvSpPr>
          <p:cNvPr id="4" name="Google Shape;31;p3">
            <a:extLst>
              <a:ext uri="{FF2B5EF4-FFF2-40B4-BE49-F238E27FC236}">
                <a16:creationId xmlns:a16="http://schemas.microsoft.com/office/drawing/2014/main" id="{CF57E5D1-2C0A-A226-8EB3-7F70B6F1DB5C}"/>
              </a:ext>
            </a:extLst>
          </p:cNvPr>
          <p:cNvSpPr/>
          <p:nvPr/>
        </p:nvSpPr>
        <p:spPr>
          <a:xfrm>
            <a:off x="302221" y="181132"/>
            <a:ext cx="8229600" cy="6400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Cambria"/>
              <a:buNone/>
            </a:pPr>
            <a:r>
              <a:rPr lang="en-US" sz="2000" b="1" dirty="0">
                <a:solidFill>
                  <a:srgbClr val="000000"/>
                </a:solidFill>
                <a:latin typeface="Cambria"/>
                <a:ea typeface="Cambria"/>
                <a:cs typeface="Cambria"/>
                <a:sym typeface="Cambria"/>
              </a:rPr>
              <a:t>Why I’ve defaulted to modeling everything by household size</a:t>
            </a:r>
            <a:endParaRPr sz="200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" name="Google Shape;71;p5">
            <a:extLst>
              <a:ext uri="{FF2B5EF4-FFF2-40B4-BE49-F238E27FC236}">
                <a16:creationId xmlns:a16="http://schemas.microsoft.com/office/drawing/2014/main" id="{372C75CB-DB81-ECB1-23DE-0515E0699FDE}"/>
              </a:ext>
            </a:extLst>
          </p:cNvPr>
          <p:cNvSpPr/>
          <p:nvPr/>
        </p:nvSpPr>
        <p:spPr>
          <a:xfrm>
            <a:off x="457200" y="4814316"/>
            <a:ext cx="5486400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5A5A5A"/>
              </a:buClr>
              <a:buSzPts val="900"/>
              <a:buFont typeface="Arial"/>
              <a:buNone/>
            </a:pPr>
            <a:r>
              <a:rPr lang="en-US" sz="900" dirty="0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Inclusion rules · INCL_ scripts</a:t>
            </a:r>
            <a:endParaRPr sz="90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339554953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Google Shape;40;p4"/>
          <p:cNvSpPr/>
          <p:nvPr/>
        </p:nvSpPr>
        <p:spPr>
          <a:xfrm>
            <a:off x="457200" y="310896"/>
            <a:ext cx="8229600" cy="64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Cambria"/>
              <a:buNone/>
            </a:pPr>
            <a:r>
              <a:rPr lang="en-US" sz="2800" b="1">
                <a:latin typeface="Cambria"/>
                <a:ea typeface="Cambria"/>
                <a:cs typeface="Cambria"/>
                <a:sym typeface="Cambria"/>
              </a:rPr>
              <a:t>How to use the scripts</a:t>
            </a:r>
            <a:endParaRPr sz="2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" name="Google Shape;41;p4"/>
          <p:cNvSpPr/>
          <p:nvPr/>
        </p:nvSpPr>
        <p:spPr>
          <a:xfrm>
            <a:off x="309966" y="2286000"/>
            <a:ext cx="1500534" cy="1428900"/>
          </a:xfrm>
          <a:prstGeom prst="roundRect">
            <a:avLst>
              <a:gd name="adj" fmla="val 4053"/>
            </a:avLst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2" name="Google Shape;42;p4"/>
          <p:cNvSpPr/>
          <p:nvPr/>
        </p:nvSpPr>
        <p:spPr>
          <a:xfrm>
            <a:off x="421316" y="2381250"/>
            <a:ext cx="1297624" cy="12384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1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INPUT</a:t>
            </a:r>
            <a:endParaRPr sz="1000" b="1">
              <a:solidFill>
                <a:srgbClr val="5A5A5A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lvl="0" indent="0" algn="ctr" rtl="0">
              <a:spcBef>
                <a:spcPts val="375"/>
              </a:spcBef>
              <a:spcAft>
                <a:spcPts val="0"/>
              </a:spcAft>
              <a:buNone/>
            </a:pPr>
            <a:r>
              <a:rPr lang="en-US" sz="1100" b="1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Labelled cases (errors + clean)</a:t>
            </a:r>
            <a:endParaRPr sz="1000" b="1">
              <a:solidFill>
                <a:srgbClr val="5A5A5A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43" name="Google Shape;43;p4"/>
          <p:cNvCxnSpPr>
            <a:cxnSpLocks/>
            <a:stCxn id="41" idx="3"/>
            <a:endCxn id="44" idx="1"/>
          </p:cNvCxnSpPr>
          <p:nvPr/>
        </p:nvCxnSpPr>
        <p:spPr>
          <a:xfrm>
            <a:off x="1810500" y="3000450"/>
            <a:ext cx="218538" cy="0"/>
          </a:xfrm>
          <a:prstGeom prst="straightConnector1">
            <a:avLst/>
          </a:prstGeom>
          <a:solidFill>
            <a:srgbClr val="FFFFFF"/>
          </a:solidFill>
          <a:ln w="22225" cap="flat" cmpd="sng">
            <a:solidFill>
              <a:srgbClr val="000000"/>
            </a:solidFill>
            <a:prstDash val="solid"/>
            <a:round/>
            <a:headEnd type="none" w="sm" len="sm"/>
            <a:tailEnd type="triangle" w="med" len="med"/>
          </a:ln>
        </p:spPr>
      </p:cxnSp>
      <p:sp>
        <p:nvSpPr>
          <p:cNvPr id="44" name="Google Shape;44;p4"/>
          <p:cNvSpPr/>
          <p:nvPr/>
        </p:nvSpPr>
        <p:spPr>
          <a:xfrm>
            <a:off x="2029038" y="2286000"/>
            <a:ext cx="1500534" cy="1428900"/>
          </a:xfrm>
          <a:prstGeom prst="roundRect">
            <a:avLst>
              <a:gd name="adj" fmla="val 4053"/>
            </a:avLst>
          </a:prstGeom>
          <a:solidFill>
            <a:srgbClr val="F2F2F2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5" name="Google Shape;45;p4"/>
          <p:cNvSpPr/>
          <p:nvPr/>
        </p:nvSpPr>
        <p:spPr>
          <a:xfrm>
            <a:off x="2140388" y="2381250"/>
            <a:ext cx="1297624" cy="12384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1" dirty="0" err="1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INCL_find</a:t>
            </a:r>
            <a:r>
              <a:rPr lang="en-US" sz="1000" b="1" dirty="0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_</a:t>
            </a:r>
            <a:endParaRPr sz="1000" b="1" dirty="0">
              <a:solidFill>
                <a:srgbClr val="5A5A5A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lvl="0" indent="0" algn="ctr" rtl="0">
              <a:spcBef>
                <a:spcPts val="375"/>
              </a:spcBef>
              <a:spcAft>
                <a:spcPts val="0"/>
              </a:spcAft>
              <a:buNone/>
            </a:pPr>
            <a:r>
              <a:rPr lang="en-US" sz="1100" b="1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Create rules, score &amp; combine rules into a “net”</a:t>
            </a:r>
            <a:endParaRPr sz="1000" b="1" dirty="0">
              <a:solidFill>
                <a:srgbClr val="5A5A5A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46" name="Google Shape;46;p4"/>
          <p:cNvCxnSpPr>
            <a:cxnSpLocks/>
            <a:stCxn id="44" idx="3"/>
            <a:endCxn id="47" idx="1"/>
          </p:cNvCxnSpPr>
          <p:nvPr/>
        </p:nvCxnSpPr>
        <p:spPr>
          <a:xfrm flipV="1">
            <a:off x="3529572" y="2143200"/>
            <a:ext cx="853556" cy="857250"/>
          </a:xfrm>
          <a:prstGeom prst="bentConnector3">
            <a:avLst>
              <a:gd name="adj1" fmla="val 50000"/>
            </a:avLst>
          </a:prstGeom>
          <a:solidFill>
            <a:srgbClr val="FFFFFF"/>
          </a:solidFill>
          <a:ln w="22225" cap="flat" cmpd="sng">
            <a:solidFill>
              <a:srgbClr val="000000"/>
            </a:solidFill>
            <a:prstDash val="solid"/>
            <a:round/>
            <a:headEnd type="none" w="sm" len="sm"/>
            <a:tailEnd type="triangle" w="med" len="med"/>
          </a:ln>
        </p:spPr>
      </p:cxnSp>
      <p:sp>
        <p:nvSpPr>
          <p:cNvPr id="47" name="Google Shape;47;p4"/>
          <p:cNvSpPr/>
          <p:nvPr/>
        </p:nvSpPr>
        <p:spPr>
          <a:xfrm>
            <a:off x="4383128" y="1428750"/>
            <a:ext cx="1546213" cy="1428900"/>
          </a:xfrm>
          <a:prstGeom prst="roundRect">
            <a:avLst>
              <a:gd name="adj" fmla="val 4053"/>
            </a:avLst>
          </a:prstGeom>
          <a:solidFill>
            <a:srgbClr val="EFEFE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8" name="Google Shape;48;p4"/>
          <p:cNvSpPr/>
          <p:nvPr/>
        </p:nvSpPr>
        <p:spPr>
          <a:xfrm>
            <a:off x="4474569" y="1524000"/>
            <a:ext cx="1337126" cy="1238400"/>
          </a:xfrm>
          <a:prstGeom prst="rect">
            <a:avLst/>
          </a:prstGeom>
          <a:solidFill>
            <a:srgbClr val="EFEFEF"/>
          </a:solidFill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1" dirty="0" err="1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INCL_optimize_single</a:t>
            </a:r>
            <a:r>
              <a:rPr lang="en-US" sz="1000" b="1" dirty="0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_</a:t>
            </a:r>
            <a:endParaRPr sz="1000" b="1" dirty="0">
              <a:solidFill>
                <a:srgbClr val="5A5A5A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lvl="0" indent="0" algn="ctr" rtl="0">
              <a:spcBef>
                <a:spcPts val="375"/>
              </a:spcBef>
              <a:spcAft>
                <a:spcPts val="0"/>
              </a:spcAft>
              <a:buNone/>
            </a:pPr>
            <a:r>
              <a:rPr lang="en-US" sz="1100" b="1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Tune one rule’s thresholds</a:t>
            </a:r>
            <a:endParaRPr sz="1000" b="1" dirty="0">
              <a:solidFill>
                <a:srgbClr val="5A5A5A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49" name="Google Shape;49;p4"/>
          <p:cNvCxnSpPr>
            <a:cxnSpLocks/>
            <a:stCxn id="44" idx="3"/>
            <a:endCxn id="50" idx="1"/>
          </p:cNvCxnSpPr>
          <p:nvPr/>
        </p:nvCxnSpPr>
        <p:spPr>
          <a:xfrm>
            <a:off x="3529572" y="3000450"/>
            <a:ext cx="871831" cy="835538"/>
          </a:xfrm>
          <a:prstGeom prst="bentConnector3">
            <a:avLst>
              <a:gd name="adj1" fmla="val 48667"/>
            </a:avLst>
          </a:prstGeom>
          <a:solidFill>
            <a:srgbClr val="FFFFFF"/>
          </a:solidFill>
          <a:ln w="22225" cap="flat" cmpd="sng">
            <a:solidFill>
              <a:srgbClr val="000000"/>
            </a:solidFill>
            <a:prstDash val="solid"/>
            <a:round/>
            <a:headEnd type="none" w="sm" len="sm"/>
            <a:tailEnd type="triangle" w="med" len="med"/>
          </a:ln>
        </p:spPr>
      </p:cxnSp>
      <p:sp>
        <p:nvSpPr>
          <p:cNvPr id="50" name="Google Shape;50;p4"/>
          <p:cNvSpPr/>
          <p:nvPr/>
        </p:nvSpPr>
        <p:spPr>
          <a:xfrm>
            <a:off x="4401403" y="3121538"/>
            <a:ext cx="1546213" cy="1428900"/>
          </a:xfrm>
          <a:prstGeom prst="roundRect">
            <a:avLst>
              <a:gd name="adj" fmla="val 4053"/>
            </a:avLst>
          </a:prstGeom>
          <a:solidFill>
            <a:srgbClr val="F2F2F2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1" name="Google Shape;51;p4"/>
          <p:cNvSpPr/>
          <p:nvPr/>
        </p:nvSpPr>
        <p:spPr>
          <a:xfrm>
            <a:off x="4474569" y="3238500"/>
            <a:ext cx="1337126" cy="12384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1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INCL_optimize_set_</a:t>
            </a:r>
            <a:endParaRPr sz="1000" b="1">
              <a:solidFill>
                <a:srgbClr val="5A5A5A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lvl="0" indent="0" algn="ctr" rtl="0">
              <a:spcBef>
                <a:spcPts val="375"/>
              </a:spcBef>
              <a:spcAft>
                <a:spcPts val="0"/>
              </a:spcAft>
              <a:buNone/>
            </a:pPr>
            <a:r>
              <a:rPr lang="en-US" sz="1100" b="1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Optimize all rules for a state</a:t>
            </a:r>
            <a:endParaRPr sz="1000" b="1">
              <a:solidFill>
                <a:srgbClr val="5A5A5A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52" name="Google Shape;52;p4"/>
          <p:cNvCxnSpPr>
            <a:cxnSpLocks/>
            <a:stCxn id="50" idx="3"/>
            <a:endCxn id="53" idx="1"/>
          </p:cNvCxnSpPr>
          <p:nvPr/>
        </p:nvCxnSpPr>
        <p:spPr>
          <a:xfrm>
            <a:off x="5947616" y="3835988"/>
            <a:ext cx="383134" cy="12"/>
          </a:xfrm>
          <a:prstGeom prst="straightConnector1">
            <a:avLst/>
          </a:prstGeom>
          <a:solidFill>
            <a:srgbClr val="FFFFFF"/>
          </a:solidFill>
          <a:ln w="22225" cap="flat" cmpd="sng">
            <a:solidFill>
              <a:srgbClr val="000000"/>
            </a:solidFill>
            <a:prstDash val="solid"/>
            <a:round/>
            <a:headEnd type="none" w="sm" len="sm"/>
            <a:tailEnd type="triangle" w="med" len="med"/>
          </a:ln>
        </p:spPr>
      </p:cxnSp>
      <p:sp>
        <p:nvSpPr>
          <p:cNvPr id="53" name="Google Shape;53;p4"/>
          <p:cNvSpPr/>
          <p:nvPr/>
        </p:nvSpPr>
        <p:spPr>
          <a:xfrm>
            <a:off x="6330750" y="3121550"/>
            <a:ext cx="1546213" cy="1428900"/>
          </a:xfrm>
          <a:prstGeom prst="roundRect">
            <a:avLst>
              <a:gd name="adj" fmla="val 4053"/>
            </a:avLst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4" name="Google Shape;54;p4"/>
          <p:cNvSpPr/>
          <p:nvPr/>
        </p:nvSpPr>
        <p:spPr>
          <a:xfrm>
            <a:off x="6422241" y="3238500"/>
            <a:ext cx="1337126" cy="12384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1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OUTPUT</a:t>
            </a:r>
            <a:endParaRPr sz="1000" b="1">
              <a:solidFill>
                <a:srgbClr val="5A5A5A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lvl="0" indent="0" algn="ctr" rtl="0">
              <a:spcBef>
                <a:spcPts val="375"/>
              </a:spcBef>
              <a:spcAft>
                <a:spcPts val="0"/>
              </a:spcAft>
              <a:buNone/>
            </a:pPr>
            <a:r>
              <a:rPr lang="en-US" sz="1100" b="1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State rule set for testing on FY2025 and FY2026 data</a:t>
            </a:r>
            <a:endParaRPr sz="1100" b="1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5" name="Google Shape;55;p4"/>
          <p:cNvSpPr/>
          <p:nvPr/>
        </p:nvSpPr>
        <p:spPr>
          <a:xfrm>
            <a:off x="232475" y="807075"/>
            <a:ext cx="3913322" cy="1238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5A5A5A"/>
              </a:buClr>
              <a:buSzPts val="1300"/>
              <a:buFont typeface="Arial"/>
              <a:buNone/>
            </a:pPr>
            <a:r>
              <a:rPr lang="en-US" sz="1100" i="1" dirty="0" err="1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INCL_find</a:t>
            </a:r>
            <a:r>
              <a:rPr lang="en-US" sz="1100" i="1" dirty="0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_ creates the rule list using public or internal data; </a:t>
            </a:r>
            <a:endParaRPr sz="1100" i="1" dirty="0">
              <a:solidFill>
                <a:srgbClr val="5A5A5A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5A5A5A"/>
              </a:buClr>
              <a:buSzPts val="1300"/>
              <a:buFont typeface="Arial"/>
              <a:buNone/>
            </a:pPr>
            <a:r>
              <a:rPr lang="en-US" sz="1100" i="1" dirty="0" err="1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INCL_optimize_single</a:t>
            </a:r>
            <a:r>
              <a:rPr lang="en-US" sz="1100" i="1" dirty="0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_ tunes a single rule; </a:t>
            </a:r>
            <a:endParaRPr sz="1100" i="1" dirty="0">
              <a:solidFill>
                <a:srgbClr val="5A5A5A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5A5A5A"/>
              </a:buClr>
              <a:buSzPts val="1300"/>
              <a:buFont typeface="Arial"/>
              <a:buNone/>
            </a:pPr>
            <a:r>
              <a:rPr lang="en-US" sz="1100" i="1" dirty="0" err="1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INCL_optimize_set</a:t>
            </a:r>
            <a:r>
              <a:rPr lang="en-US" sz="1100" i="1" dirty="0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_ optimizes a list of rules (e.g., all the results from </a:t>
            </a:r>
            <a:r>
              <a:rPr lang="en-US" sz="1100" i="1" dirty="0" err="1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INCL_find</a:t>
            </a:r>
            <a:r>
              <a:rPr lang="en-US" sz="1100" i="1" dirty="0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) </a:t>
            </a:r>
            <a:r>
              <a:rPr lang="en-US" sz="1100" i="1" dirty="0">
                <a:solidFill>
                  <a:srgbClr val="5A5A5A"/>
                </a:solidFill>
              </a:rPr>
              <a:t>using public or internal data</a:t>
            </a:r>
            <a:endParaRPr sz="110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6" name="Google Shape;56;p4"/>
          <p:cNvSpPr/>
          <p:nvPr/>
        </p:nvSpPr>
        <p:spPr>
          <a:xfrm>
            <a:off x="457200" y="4814316"/>
            <a:ext cx="5486400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5A5A5A"/>
              </a:buClr>
              <a:buSzPts val="900"/>
              <a:buFont typeface="Arial"/>
              <a:buNone/>
            </a:pPr>
            <a:r>
              <a:rPr lang="en-US" sz="900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Inclusion rules · INCL_ scripts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7" name="Google Shape;57;p4"/>
          <p:cNvSpPr/>
          <p:nvPr/>
        </p:nvSpPr>
        <p:spPr>
          <a:xfrm>
            <a:off x="8138160" y="4814316"/>
            <a:ext cx="548700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Clr>
                <a:srgbClr val="5A5A5A"/>
              </a:buClr>
              <a:buSzPts val="900"/>
              <a:buFont typeface="Arial"/>
              <a:buNone/>
            </a:pPr>
            <a:r>
              <a:rPr lang="en-US" sz="900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8" name="Google Shape;58;p4"/>
          <p:cNvSpPr/>
          <p:nvPr/>
        </p:nvSpPr>
        <p:spPr>
          <a:xfrm>
            <a:off x="6330800" y="1428750"/>
            <a:ext cx="1546213" cy="1428900"/>
          </a:xfrm>
          <a:prstGeom prst="roundRect">
            <a:avLst>
              <a:gd name="adj" fmla="val 4053"/>
            </a:avLst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9" name="Google Shape;59;p4"/>
          <p:cNvSpPr/>
          <p:nvPr/>
        </p:nvSpPr>
        <p:spPr>
          <a:xfrm>
            <a:off x="6422241" y="1524000"/>
            <a:ext cx="1337126" cy="12384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1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Add to existing curated rule set</a:t>
            </a:r>
            <a:endParaRPr sz="1000" b="1">
              <a:solidFill>
                <a:srgbClr val="5A5A5A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lvl="0" indent="0" algn="ctr" rtl="0">
              <a:spcBef>
                <a:spcPts val="375"/>
              </a:spcBef>
              <a:spcAft>
                <a:spcPts val="0"/>
              </a:spcAft>
              <a:buNone/>
            </a:pPr>
            <a:r>
              <a:rPr lang="en-US" sz="1100" b="1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Test on FY2025 and FY2026 data</a:t>
            </a:r>
            <a:endParaRPr sz="1100" b="1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lvl="0" indent="0" algn="ctr" rtl="0">
              <a:spcBef>
                <a:spcPts val="150"/>
              </a:spcBef>
              <a:spcAft>
                <a:spcPts val="0"/>
              </a:spcAft>
              <a:buNone/>
            </a:pPr>
            <a:r>
              <a:rPr lang="en-US" sz="1100" b="1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(not yet public)</a:t>
            </a:r>
            <a:endParaRPr sz="1000" b="1">
              <a:solidFill>
                <a:srgbClr val="5A5A5A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60" name="Google Shape;60;p4"/>
          <p:cNvCxnSpPr>
            <a:cxnSpLocks/>
            <a:stCxn id="47" idx="3"/>
          </p:cNvCxnSpPr>
          <p:nvPr/>
        </p:nvCxnSpPr>
        <p:spPr>
          <a:xfrm flipV="1">
            <a:off x="5929341" y="2143188"/>
            <a:ext cx="392275" cy="12"/>
          </a:xfrm>
          <a:prstGeom prst="straightConnector1">
            <a:avLst/>
          </a:prstGeom>
          <a:solidFill>
            <a:srgbClr val="FFFFFF"/>
          </a:solidFill>
          <a:ln w="22225" cap="flat" cmpd="sng">
            <a:solidFill>
              <a:srgbClr val="000000"/>
            </a:solidFill>
            <a:prstDash val="solid"/>
            <a:round/>
            <a:headEnd type="none" w="sm" len="sm"/>
            <a:tailEnd type="triangle" w="med" len="med"/>
          </a:ln>
        </p:spPr>
      </p:cxn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5"/>
          <p:cNvSpPr/>
          <p:nvPr/>
        </p:nvSpPr>
        <p:spPr>
          <a:xfrm>
            <a:off x="457200" y="310896"/>
            <a:ext cx="8229600" cy="6400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>
              <a:buSzPts val="2800"/>
            </a:pPr>
            <a:r>
              <a:rPr lang="en-US" sz="1800" b="1" dirty="0">
                <a:solidFill>
                  <a:srgbClr val="000000"/>
                </a:solidFill>
                <a:latin typeface="Cambria"/>
                <a:ea typeface="Cambria"/>
                <a:cs typeface="Cambria"/>
                <a:sym typeface="Cambria"/>
              </a:rPr>
              <a:t>Find and combine inclusion rules:</a:t>
            </a:r>
            <a:endParaRPr lang="en-US" sz="180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Cambria"/>
              <a:buNone/>
            </a:pPr>
            <a:r>
              <a:rPr lang="en-US" sz="1800" b="1" dirty="0" err="1">
                <a:solidFill>
                  <a:srgbClr val="000000"/>
                </a:solidFill>
                <a:latin typeface="Cambria"/>
                <a:ea typeface="Cambria"/>
                <a:cs typeface="Cambria"/>
                <a:sym typeface="Cambria"/>
              </a:rPr>
              <a:t>INCL_find_inclusion_rules_multi_model_by_hh_size.R</a:t>
            </a:r>
            <a:endParaRPr lang="en-US" sz="1800" b="1" dirty="0">
              <a:solidFill>
                <a:srgbClr val="000000"/>
              </a:solidFill>
              <a:latin typeface="Cambria"/>
              <a:ea typeface="Cambria"/>
              <a:cs typeface="Cambria"/>
              <a:sym typeface="Cambria"/>
            </a:endParaRPr>
          </a:p>
        </p:txBody>
      </p:sp>
      <p:sp>
        <p:nvSpPr>
          <p:cNvPr id="67" name="Google Shape;67;p5"/>
          <p:cNvSpPr/>
          <p:nvPr/>
        </p:nvSpPr>
        <p:spPr>
          <a:xfrm>
            <a:off x="457200" y="1234440"/>
            <a:ext cx="5212080" cy="32918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177800" marR="0" lvl="0" indent="-17780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Char char="•"/>
            </a:pPr>
            <a:r>
              <a:rPr lang="en-US" sz="15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For each household size, </a:t>
            </a:r>
            <a:r>
              <a:rPr lang="en-US" sz="1500"/>
              <a:t>use </a:t>
            </a:r>
            <a:r>
              <a:rPr lang="en-US" sz="15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RuleFit to fin</a:t>
            </a:r>
            <a:r>
              <a:rPr lang="en-US" sz="1500"/>
              <a:t>d criteria that combine 1-4 variables to capture dollars or counts</a:t>
            </a:r>
            <a:r>
              <a:rPr lang="en-US" sz="15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.</a:t>
            </a:r>
            <a:endParaRPr sz="15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7800" marR="0" lvl="0" indent="-177800" algn="l" rtl="0">
              <a:spcBef>
                <a:spcPts val="100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Char char="•"/>
            </a:pPr>
            <a:r>
              <a:rPr lang="en-US" sz="15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Score every rule: precision, recall, lift, dollar recall.</a:t>
            </a:r>
            <a:endParaRPr sz="15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7800" marR="0" lvl="0" indent="-177800" algn="l" rtl="0">
              <a:spcBef>
                <a:spcPts val="100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Char char="•"/>
            </a:pPr>
            <a:r>
              <a:rPr lang="en-US" sz="15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Keep INCLUDE-direction rules </a:t>
            </a:r>
            <a:r>
              <a:rPr lang="en-US" sz="1500"/>
              <a:t>(default is to save rules with precision &gt;0.2, but can modify)</a:t>
            </a:r>
            <a:endParaRPr sz="15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7800" marR="0" lvl="0" indent="-177800" algn="l" rtl="0">
              <a:spcBef>
                <a:spcPts val="100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Char char="•"/>
            </a:pPr>
            <a:r>
              <a:rPr lang="en-US" sz="1500"/>
              <a:t>Starting with the highest precision rules, combine them using </a:t>
            </a:r>
            <a:r>
              <a:rPr lang="en-US" sz="15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OR statements into a </a:t>
            </a:r>
            <a:r>
              <a:rPr lang="en-US" sz="1500"/>
              <a:t>“</a:t>
            </a:r>
            <a:r>
              <a:rPr lang="en-US" sz="15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net</a:t>
            </a:r>
            <a:r>
              <a:rPr lang="en-US" sz="1500"/>
              <a:t>”</a:t>
            </a:r>
            <a:r>
              <a:rPr lang="en-US" sz="15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that reaches each recall floor </a:t>
            </a:r>
            <a:r>
              <a:rPr lang="en-US" sz="1500"/>
              <a:t>(such as 30%, 40%, or 50% of error dollars due to the modeled type of error). </a:t>
            </a:r>
            <a:endParaRPr sz="1500"/>
          </a:p>
          <a:p>
            <a:pPr marL="0" marR="0" lvl="0" indent="0" algn="l" rtl="0">
              <a:spcBef>
                <a:spcPts val="1000"/>
              </a:spcBef>
              <a:spcAft>
                <a:spcPts val="0"/>
              </a:spcAft>
              <a:buNone/>
            </a:pPr>
            <a:endParaRPr sz="1500"/>
          </a:p>
        </p:txBody>
      </p:sp>
      <p:sp>
        <p:nvSpPr>
          <p:cNvPr id="68" name="Google Shape;68;p5"/>
          <p:cNvSpPr/>
          <p:nvPr/>
        </p:nvSpPr>
        <p:spPr>
          <a:xfrm>
            <a:off x="5989320" y="1280160"/>
            <a:ext cx="2697480" cy="3108960"/>
          </a:xfrm>
          <a:prstGeom prst="roundRect">
            <a:avLst>
              <a:gd name="adj" fmla="val 2034"/>
            </a:avLst>
          </a:prstGeom>
          <a:solidFill>
            <a:srgbClr val="F2F2F2"/>
          </a:solidFill>
          <a:ln w="12700" cap="flat" cmpd="sng">
            <a:solidFill>
              <a:srgbClr val="80808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9" name="Google Shape;69;p5"/>
          <p:cNvSpPr/>
          <p:nvPr/>
        </p:nvSpPr>
        <p:spPr>
          <a:xfrm>
            <a:off x="6172200" y="1463040"/>
            <a:ext cx="233172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lang="en-US" sz="1300" b="1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Outputs (CSV)</a:t>
            </a:r>
            <a:endParaRPr sz="13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0" name="Google Shape;70;p5"/>
          <p:cNvSpPr/>
          <p:nvPr/>
        </p:nvSpPr>
        <p:spPr>
          <a:xfrm>
            <a:off x="6172200" y="1874520"/>
            <a:ext cx="2331720" cy="2423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152400" marR="0" lvl="0" indent="-15240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Char char="•"/>
            </a:pPr>
            <a:r>
              <a:rPr lang="en-US" sz="12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Full rule table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52400" marR="0" lvl="0" indent="-152400" algn="l" rtl="0">
              <a:spcBef>
                <a:spcPts val="70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Char char="•"/>
            </a:pPr>
            <a:r>
              <a:rPr lang="en-US" sz="12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High-precision shortlist (above threshold)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52400" marR="0" lvl="0" indent="-152400" algn="l" rtl="0">
              <a:spcBef>
                <a:spcPts val="70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Char char="•"/>
            </a:pPr>
            <a:r>
              <a:rPr lang="en-US" sz="12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Net operating points (recall goals with most </a:t>
            </a:r>
            <a:r>
              <a:rPr lang="en-US" sz="1200"/>
              <a:t>precise </a:t>
            </a:r>
            <a:r>
              <a:rPr lang="en-US" sz="12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rules for reaching them)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1" name="Google Shape;71;p5"/>
          <p:cNvSpPr/>
          <p:nvPr/>
        </p:nvSpPr>
        <p:spPr>
          <a:xfrm>
            <a:off x="457200" y="4814316"/>
            <a:ext cx="5486400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5A5A5A"/>
              </a:buClr>
              <a:buSzPts val="900"/>
              <a:buFont typeface="Arial"/>
              <a:buNone/>
            </a:pPr>
            <a:r>
              <a:rPr lang="en-US" sz="900" dirty="0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Inclusion rules · INCL_ scripts</a:t>
            </a:r>
            <a:endParaRPr sz="90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2" name="Google Shape;72;p5"/>
          <p:cNvSpPr/>
          <p:nvPr/>
        </p:nvSpPr>
        <p:spPr>
          <a:xfrm>
            <a:off x="8138160" y="4814316"/>
            <a:ext cx="548640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Clr>
                <a:srgbClr val="5A5A5A"/>
              </a:buClr>
              <a:buSzPts val="900"/>
              <a:buFont typeface="Arial"/>
              <a:buNone/>
            </a:pPr>
            <a:r>
              <a:rPr lang="en-US" sz="900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6"/>
          <p:cNvSpPr/>
          <p:nvPr/>
        </p:nvSpPr>
        <p:spPr>
          <a:xfrm>
            <a:off x="457200" y="310896"/>
            <a:ext cx="8392332" cy="6400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Cambria"/>
              <a:buNone/>
            </a:pPr>
            <a:r>
              <a:rPr lang="en-US" sz="1600" b="1" dirty="0" err="1">
                <a:solidFill>
                  <a:srgbClr val="000000"/>
                </a:solidFill>
                <a:latin typeface="Cambria"/>
                <a:ea typeface="Cambria"/>
                <a:cs typeface="Cambria"/>
                <a:sym typeface="Cambria"/>
              </a:rPr>
              <a:t>INCL_find</a:t>
            </a:r>
            <a:r>
              <a:rPr lang="en-US" sz="1600" b="1" dirty="0">
                <a:solidFill>
                  <a:srgbClr val="000000"/>
                </a:solidFill>
                <a:latin typeface="Cambria"/>
                <a:ea typeface="Cambria"/>
                <a:cs typeface="Cambria"/>
                <a:sym typeface="Cambria"/>
              </a:rPr>
              <a:t>_ output: candidate inclusion rules</a:t>
            </a: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Cambria"/>
              <a:buNone/>
            </a:pPr>
            <a:r>
              <a:rPr lang="en-US" sz="1600" b="1" i="1" dirty="0">
                <a:solidFill>
                  <a:srgbClr val="000000"/>
                </a:solidFill>
                <a:latin typeface="Cambria"/>
                <a:ea typeface="Cambria"/>
                <a:cs typeface="Cambria"/>
                <a:sym typeface="Cambria"/>
              </a:rPr>
              <a:t>file: </a:t>
            </a:r>
            <a:r>
              <a:rPr lang="en-US" sz="1600" b="1" dirty="0">
                <a:solidFill>
                  <a:srgbClr val="000000"/>
                </a:solidFill>
                <a:latin typeface="Cambria"/>
                <a:ea typeface="Cambria"/>
                <a:cs typeface="Cambria"/>
                <a:sym typeface="Cambria"/>
              </a:rPr>
              <a:t>/</a:t>
            </a:r>
            <a:r>
              <a:rPr lang="en-US" sz="1600" b="1" i="1" dirty="0" err="1">
                <a:solidFill>
                  <a:srgbClr val="000000"/>
                </a:solidFill>
                <a:latin typeface="Cambria"/>
                <a:ea typeface="Cambria"/>
                <a:cs typeface="Cambria"/>
                <a:sym typeface="Cambria"/>
              </a:rPr>
              <a:t>inclusion_rules_by_hh_size</a:t>
            </a:r>
            <a:r>
              <a:rPr lang="en-US" sz="1600" b="1" dirty="0">
                <a:solidFill>
                  <a:srgbClr val="000000"/>
                </a:solidFill>
                <a:latin typeface="Cambria"/>
                <a:ea typeface="Cambria"/>
                <a:cs typeface="Cambria"/>
                <a:sym typeface="Cambria"/>
              </a:rPr>
              <a:t>/</a:t>
            </a:r>
            <a:r>
              <a:rPr lang="en-US" sz="1600" b="1" i="1" dirty="0">
                <a:solidFill>
                  <a:srgbClr val="000000"/>
                </a:solidFill>
                <a:latin typeface="Cambria"/>
                <a:ea typeface="Cambria"/>
                <a:cs typeface="Cambria"/>
                <a:sym typeface="Cambria"/>
              </a:rPr>
              <a:t>*_by_HHsize_inclusion_rules_highprecision.csv</a:t>
            </a:r>
            <a:r>
              <a:rPr lang="en-US" sz="1600" b="1" dirty="0">
                <a:solidFill>
                  <a:srgbClr val="000000"/>
                </a:solidFill>
                <a:latin typeface="Cambria"/>
                <a:ea typeface="Cambria"/>
                <a:cs typeface="Cambria"/>
                <a:sym typeface="Cambria"/>
              </a:rPr>
              <a:t> </a:t>
            </a: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Cambria"/>
              <a:buNone/>
            </a:pPr>
            <a:r>
              <a:rPr lang="en-US" sz="1600" b="1" dirty="0">
                <a:solidFill>
                  <a:srgbClr val="000000"/>
                </a:solidFill>
                <a:latin typeface="Cambria"/>
                <a:ea typeface="Cambria"/>
                <a:cs typeface="Cambria"/>
                <a:sym typeface="Cambria"/>
              </a:rPr>
              <a:t>(recall = $ from error type by HH size)</a:t>
            </a:r>
            <a:endParaRPr sz="160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aphicFrame>
        <p:nvGraphicFramePr>
          <p:cNvPr id="79" name="Google Shape;79;p6"/>
          <p:cNvGraphicFramePr/>
          <p:nvPr/>
        </p:nvGraphicFramePr>
        <p:xfrm>
          <a:off x="457200" y="1105595"/>
          <a:ext cx="8229600" cy="3887340"/>
        </p:xfrm>
        <a:graphic>
          <a:graphicData uri="http://schemas.openxmlformats.org/drawingml/2006/table">
            <a:tbl>
              <a:tblPr>
                <a:noFill/>
                <a:tableStyleId>{B5048AC8-0E75-455B-AB4F-AEF2A2D202BD}</a:tableStyleId>
              </a:tblPr>
              <a:tblGrid>
                <a:gridCol w="8237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2104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0407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481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45720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n-US" sz="1100" b="1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hh_size</a:t>
                      </a:r>
                      <a:endParaRPr sz="110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91450" marR="91450" marT="45725" marB="45725" anchor="ctr">
                    <a:lnL w="12700" cap="flat" cmpd="sng">
                      <a:solidFill>
                        <a:srgbClr val="80808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80808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80808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80808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E6E6E6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n-US" sz="1100" b="1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rule</a:t>
                      </a:r>
                      <a:endParaRPr sz="110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91450" marR="91450" marT="45725" marB="45725" anchor="ctr">
                    <a:lnL w="12700" cap="flat" cmpd="sng">
                      <a:solidFill>
                        <a:srgbClr val="80808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80808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80808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E6E6E6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n-US" sz="1100" b="1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precision</a:t>
                      </a:r>
                      <a:endParaRPr sz="110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91450" marR="91450" marT="45725" marB="45725" anchor="ctr">
                    <a:lnL w="12700" cap="flat" cmpd="sng">
                      <a:solidFill>
                        <a:srgbClr val="80808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80808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80808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80808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E6E6E6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n-US" sz="1100" b="1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recall (</a:t>
                      </a:r>
                      <a:r>
                        <a:rPr lang="en-US" sz="1100" b="1">
                          <a:solidFill>
                            <a:schemeClr val="dk1"/>
                          </a:solidFill>
                        </a:rPr>
                        <a:t>$)</a:t>
                      </a:r>
                      <a:endParaRPr sz="110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91450" marR="91450" marT="45725" marB="45725" anchor="ctr">
                    <a:lnL w="12700" cap="flat" cmpd="sng">
                      <a:solidFill>
                        <a:srgbClr val="80808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80808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80808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80808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E6E6E6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n-US" sz="1100" b="1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n_flagged</a:t>
                      </a:r>
                      <a:endParaRPr sz="110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91450" marR="91450" marT="45725" marB="45725" anchor="ctr">
                    <a:lnL w="12700" cap="flat" cmpd="sng">
                      <a:solidFill>
                        <a:srgbClr val="80808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80808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80808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80808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E6E6E6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n-US" sz="1100" b="1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errors_caught</a:t>
                      </a:r>
                      <a:endParaRPr sz="110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91450" marR="91450" marT="45725" marB="45725" anchor="ctr">
                    <a:lnL w="12700" cap="flat" cmpd="sng">
                      <a:solidFill>
                        <a:srgbClr val="80808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80808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80808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80808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E6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85470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5A5A5A"/>
                        </a:buClr>
                        <a:buSzPts val="1200"/>
                        <a:buFont typeface="Arial"/>
                        <a:buNone/>
                      </a:pPr>
                      <a:r>
                        <a:rPr lang="en-US" sz="1100">
                          <a:solidFill>
                            <a:schemeClr val="dk1"/>
                          </a:solidFill>
                        </a:rPr>
                        <a:t>1</a:t>
                      </a:r>
                      <a:endParaRPr sz="110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91450" marR="91450" marT="45725" marB="45725" anchor="ctr">
                    <a:lnL w="9525" cap="flat" cmpd="sng">
                      <a:solidFill>
                        <a:srgbClr val="80808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80808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80808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80808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5A5A5A"/>
                        </a:buClr>
                        <a:buSzPts val="1200"/>
                        <a:buFont typeface="Arial"/>
                        <a:buNone/>
                      </a:pPr>
                      <a:r>
                        <a:rPr lang="en-US" sz="1100">
                          <a:solidFill>
                            <a:schemeClr val="dk1"/>
                          </a:solidFill>
                        </a:rPr>
                        <a:t>unc_rawben_rel_max &lt; 1.217 &amp; </a:t>
                      </a:r>
                      <a:endParaRPr sz="1100">
                        <a:solidFill>
                          <a:schemeClr val="dk1"/>
                        </a:solidFill>
                      </a:endParaRP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5A5A5A"/>
                        </a:buClr>
                        <a:buSzPts val="1200"/>
                        <a:buFont typeface="Arial"/>
                        <a:buNone/>
                      </a:pPr>
                      <a:r>
                        <a:rPr lang="en-US" sz="1100">
                          <a:solidFill>
                            <a:schemeClr val="dk1"/>
                          </a:solidFill>
                        </a:rPr>
                        <a:t>rawearn &gt;= 3 &amp; </a:t>
                      </a:r>
                      <a:endParaRPr sz="1100">
                        <a:solidFill>
                          <a:schemeClr val="dk1"/>
                        </a:solidFill>
                      </a:endParaRP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5A5A5A"/>
                        </a:buClr>
                        <a:buSzPts val="1200"/>
                        <a:buFont typeface="Arial"/>
                        <a:buNone/>
                      </a:pPr>
                      <a:r>
                        <a:rPr lang="en-US" sz="1100">
                          <a:solidFill>
                            <a:schemeClr val="dk1"/>
                          </a:solidFill>
                        </a:rPr>
                        <a:t>0.9718 &gt; rawben_rel_max &gt; 0.7775 </a:t>
                      </a:r>
                      <a:endParaRPr sz="1100">
                        <a:solidFill>
                          <a:schemeClr val="dk1"/>
                        </a:solidFill>
                      </a:endParaRPr>
                    </a:p>
                  </a:txBody>
                  <a:tcPr marL="91450" marR="91450" marT="45725" marB="45725" anchor="ctr">
                    <a:lnL w="9525" cap="flat" cmpd="sng">
                      <a:solidFill>
                        <a:srgbClr val="80808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80808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5A5A5A"/>
                        </a:buClr>
                        <a:buSzPts val="1200"/>
                        <a:buFont typeface="Arial"/>
                        <a:buNone/>
                      </a:pPr>
                      <a:r>
                        <a:rPr lang="en-US" sz="1100">
                          <a:solidFill>
                            <a:schemeClr val="dk1"/>
                          </a:solidFill>
                        </a:rPr>
                        <a:t>0.46</a:t>
                      </a:r>
                      <a:endParaRPr sz="1100">
                        <a:solidFill>
                          <a:schemeClr val="dk1"/>
                        </a:solidFill>
                      </a:endParaRPr>
                    </a:p>
                  </a:txBody>
                  <a:tcPr marL="91450" marR="91450" marT="45725" marB="45725" anchor="ctr">
                    <a:lnL w="9525" cap="flat" cmpd="sng">
                      <a:solidFill>
                        <a:srgbClr val="80808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80808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80808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80808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5A5A5A"/>
                        </a:buClr>
                        <a:buSzPts val="1200"/>
                        <a:buFont typeface="Arial"/>
                        <a:buNone/>
                      </a:pPr>
                      <a:r>
                        <a:rPr lang="en-US" sz="1100">
                          <a:solidFill>
                            <a:schemeClr val="dk1"/>
                          </a:solidFill>
                        </a:rPr>
                        <a:t>0.32</a:t>
                      </a:r>
                      <a:endParaRPr sz="110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91450" marR="91450" marT="45725" marB="45725" anchor="ctr">
                    <a:lnL w="9525" cap="flat" cmpd="sng">
                      <a:solidFill>
                        <a:srgbClr val="80808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80808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80808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80808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5A5A5A"/>
                        </a:buClr>
                        <a:buSzPts val="1200"/>
                        <a:buFont typeface="Arial"/>
                        <a:buNone/>
                      </a:pPr>
                      <a:r>
                        <a:rPr lang="en-US" sz="1100">
                          <a:solidFill>
                            <a:schemeClr val="dk1"/>
                          </a:solidFill>
                        </a:rPr>
                        <a:t>527</a:t>
                      </a:r>
                      <a:endParaRPr sz="110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91450" marR="91450" marT="45725" marB="45725" anchor="ctr">
                    <a:lnL w="9525" cap="flat" cmpd="sng">
                      <a:solidFill>
                        <a:srgbClr val="80808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80808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80808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80808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5A5A5A"/>
                        </a:buClr>
                        <a:buSzPts val="1200"/>
                        <a:buFont typeface="Arial"/>
                        <a:buNone/>
                      </a:pPr>
                      <a:r>
                        <a:rPr lang="en-US" sz="1100">
                          <a:solidFill>
                            <a:schemeClr val="dk1"/>
                          </a:solidFill>
                        </a:rPr>
                        <a:t>243</a:t>
                      </a:r>
                      <a:endParaRPr sz="110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91450" marR="91450" marT="45725" marB="45725" anchor="ctr">
                    <a:lnL w="9525" cap="flat" cmpd="sng">
                      <a:solidFill>
                        <a:srgbClr val="80808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80808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80808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80808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5A5A5A"/>
                        </a:buClr>
                        <a:buSzPts val="1200"/>
                        <a:buFont typeface="Arial"/>
                        <a:buNone/>
                      </a:pPr>
                      <a:r>
                        <a:rPr lang="en-US" sz="1100">
                          <a:solidFill>
                            <a:schemeClr val="dk1"/>
                          </a:solidFill>
                        </a:rPr>
                        <a:t>2</a:t>
                      </a:r>
                      <a:endParaRPr sz="110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91450" marR="91450" marT="45725" marB="45725" anchor="ctr">
                    <a:lnL w="9525" cap="flat" cmpd="sng">
                      <a:solidFill>
                        <a:srgbClr val="80808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80808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80808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5A5A5A"/>
                        </a:buClr>
                        <a:buSzPts val="1200"/>
                        <a:buFont typeface="Arial"/>
                        <a:buNone/>
                      </a:pPr>
                      <a:r>
                        <a:rPr lang="en-US" sz="1100">
                          <a:solidFill>
                            <a:schemeClr val="dk1"/>
                          </a:solidFill>
                        </a:rPr>
                        <a:t>shelter_expenses &gt;= 1552 &amp; </a:t>
                      </a:r>
                      <a:endParaRPr sz="1100">
                        <a:solidFill>
                          <a:schemeClr val="dk1"/>
                        </a:solidFill>
                      </a:endParaRP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5A5A5A"/>
                        </a:buClr>
                        <a:buSzPts val="1200"/>
                        <a:buFont typeface="Arial"/>
                        <a:buNone/>
                      </a:pPr>
                      <a:r>
                        <a:rPr lang="en-US" sz="1100">
                          <a:solidFill>
                            <a:schemeClr val="dk1"/>
                          </a:solidFill>
                        </a:rPr>
                        <a:t>rawearn &gt;= 1091 &amp; </a:t>
                      </a:r>
                      <a:endParaRPr sz="1100">
                        <a:solidFill>
                          <a:schemeClr val="dk1"/>
                        </a:solidFill>
                      </a:endParaRP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5A5A5A"/>
                        </a:buClr>
                        <a:buSzPts val="1200"/>
                        <a:buFont typeface="Arial"/>
                        <a:buNone/>
                      </a:pPr>
                      <a:r>
                        <a:rPr lang="en-US" sz="1100">
                          <a:solidFill>
                            <a:schemeClr val="dk1"/>
                          </a:solidFill>
                        </a:rPr>
                        <a:t>total_deductions &lt; 1152</a:t>
                      </a:r>
                      <a:endParaRPr sz="110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5A5A5A"/>
                        </a:buClr>
                        <a:buSzPts val="1200"/>
                        <a:buFont typeface="Arial"/>
                        <a:buNone/>
                      </a:pPr>
                      <a:r>
                        <a:rPr lang="en-US" sz="1100">
                          <a:solidFill>
                            <a:schemeClr val="dk1"/>
                          </a:solidFill>
                        </a:rPr>
                        <a:t>0.29</a:t>
                      </a:r>
                      <a:endParaRPr sz="110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91450" marR="91450" marT="45725" marB="45725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80808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80808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80808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5A5A5A"/>
                        </a:buClr>
                        <a:buSzPts val="1200"/>
                        <a:buFont typeface="Arial"/>
                        <a:buNone/>
                      </a:pPr>
                      <a:r>
                        <a:rPr lang="en-US" sz="1100">
                          <a:solidFill>
                            <a:schemeClr val="dk1"/>
                          </a:solidFill>
                        </a:rPr>
                        <a:t>0.20</a:t>
                      </a:r>
                      <a:endParaRPr sz="110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91450" marR="91450" marT="45725" marB="45725" anchor="ctr">
                    <a:lnL w="9525" cap="flat" cmpd="sng">
                      <a:solidFill>
                        <a:srgbClr val="80808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80808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80808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80808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5A5A5A"/>
                        </a:buClr>
                        <a:buSzPts val="1200"/>
                        <a:buFont typeface="Arial"/>
                        <a:buNone/>
                      </a:pPr>
                      <a:r>
                        <a:rPr lang="en-US" sz="1100">
                          <a:solidFill>
                            <a:schemeClr val="dk1"/>
                          </a:solidFill>
                        </a:rPr>
                        <a:t>291</a:t>
                      </a:r>
                      <a:endParaRPr sz="110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91450" marR="91450" marT="45725" marB="45725" anchor="ctr">
                    <a:lnL w="9525" cap="flat" cmpd="sng">
                      <a:solidFill>
                        <a:srgbClr val="80808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80808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80808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80808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5A5A5A"/>
                        </a:buClr>
                        <a:buSzPts val="1200"/>
                        <a:buFont typeface="Arial"/>
                        <a:buNone/>
                      </a:pPr>
                      <a:r>
                        <a:rPr lang="en-US" sz="1100">
                          <a:solidFill>
                            <a:schemeClr val="dk1"/>
                          </a:solidFill>
                        </a:rPr>
                        <a:t>85</a:t>
                      </a:r>
                      <a:endParaRPr sz="110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91450" marR="91450" marT="45725" marB="45725" anchor="ctr">
                    <a:lnL w="9525" cap="flat" cmpd="sng">
                      <a:solidFill>
                        <a:srgbClr val="80808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80808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80808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80808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5A5A5A"/>
                        </a:buClr>
                        <a:buSzPts val="1200"/>
                        <a:buFont typeface="Arial"/>
                        <a:buNone/>
                      </a:pPr>
                      <a:r>
                        <a:rPr lang="en-US" sz="1100">
                          <a:solidFill>
                            <a:schemeClr val="dk1"/>
                          </a:solidFill>
                        </a:rPr>
                        <a:t>3</a:t>
                      </a:r>
                      <a:endParaRPr sz="110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91450" marR="91450" marT="45725" marB="45725" anchor="ctr">
                    <a:lnL w="9525" cap="flat" cmpd="sng">
                      <a:solidFill>
                        <a:srgbClr val="80808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80808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80808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>
                          <a:solidFill>
                            <a:schemeClr val="dk1"/>
                          </a:solidFill>
                        </a:rPr>
                        <a:t>unc_rawben_rel_max &gt;= 1.193 &amp; utilities &lt; 346 &amp; months_since_cert_n &gt;= 2.5 &amp; rawgross &lt; 2.5</a:t>
                      </a:r>
                      <a:endParaRPr sz="1100">
                        <a:solidFill>
                          <a:schemeClr val="dk1"/>
                        </a:solidFill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5A5A5A"/>
                        </a:buClr>
                        <a:buSzPts val="1200"/>
                        <a:buFont typeface="Arial"/>
                        <a:buNone/>
                      </a:pPr>
                      <a:r>
                        <a:rPr lang="en-US" sz="1100">
                          <a:solidFill>
                            <a:schemeClr val="dk1"/>
                          </a:solidFill>
                        </a:rPr>
                        <a:t>0.31</a:t>
                      </a:r>
                      <a:endParaRPr sz="110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91450" marR="91450" marT="45725" marB="45725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80808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80808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80808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5A5A5A"/>
                        </a:buClr>
                        <a:buSzPts val="1200"/>
                        <a:buFont typeface="Arial"/>
                        <a:buNone/>
                      </a:pPr>
                      <a:r>
                        <a:rPr lang="en-US" sz="1100">
                          <a:solidFill>
                            <a:schemeClr val="dk1"/>
                          </a:solidFill>
                        </a:rPr>
                        <a:t>0.09</a:t>
                      </a:r>
                      <a:endParaRPr sz="110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91450" marR="91450" marT="45725" marB="45725" anchor="ctr">
                    <a:lnL w="9525" cap="flat" cmpd="sng">
                      <a:solidFill>
                        <a:srgbClr val="80808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80808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80808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80808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5A5A5A"/>
                        </a:buClr>
                        <a:buSzPts val="1200"/>
                        <a:buFont typeface="Arial"/>
                        <a:buNone/>
                      </a:pPr>
                      <a:r>
                        <a:rPr lang="en-US" sz="1100">
                          <a:solidFill>
                            <a:schemeClr val="dk1"/>
                          </a:solidFill>
                        </a:rPr>
                        <a:t>72</a:t>
                      </a:r>
                      <a:endParaRPr sz="110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91450" marR="91450" marT="45725" marB="45725" anchor="ctr">
                    <a:lnL w="9525" cap="flat" cmpd="sng">
                      <a:solidFill>
                        <a:srgbClr val="80808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80808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80808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80808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5A5A5A"/>
                        </a:buClr>
                        <a:buSzPts val="1200"/>
                        <a:buFont typeface="Arial"/>
                        <a:buNone/>
                      </a:pPr>
                      <a:r>
                        <a:rPr lang="en-US" sz="1100">
                          <a:solidFill>
                            <a:schemeClr val="dk1"/>
                          </a:solidFill>
                        </a:rPr>
                        <a:t>22</a:t>
                      </a:r>
                      <a:endParaRPr sz="110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91450" marR="91450" marT="45725" marB="45725" anchor="ctr">
                    <a:lnL w="9525" cap="flat" cmpd="sng">
                      <a:solidFill>
                        <a:srgbClr val="80808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80808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80808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80808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>
                          <a:solidFill>
                            <a:schemeClr val="dk1"/>
                          </a:solidFill>
                        </a:rPr>
                        <a:t>4</a:t>
                      </a:r>
                      <a:endParaRPr sz="110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91450" marR="91450" marT="45725" marB="45725" anchor="ctr">
                    <a:lnL w="9525" cap="flat" cmpd="sng">
                      <a:solidFill>
                        <a:srgbClr val="80808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80808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80808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>
                          <a:solidFill>
                            <a:schemeClr val="dk1"/>
                          </a:solidFill>
                        </a:rPr>
                        <a:t>total_deductions &lt; 614.5 &amp; shelter_expenses &lt; 346 &amp; </a:t>
                      </a:r>
                      <a:endParaRPr sz="1100">
                        <a:solidFill>
                          <a:schemeClr val="dk1"/>
                        </a:solidFill>
                      </a:endParaRP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>
                          <a:solidFill>
                            <a:schemeClr val="dk1"/>
                          </a:solidFill>
                        </a:rPr>
                        <a:t>utilities &gt;= 334 &amp; </a:t>
                      </a:r>
                      <a:endParaRPr sz="1100">
                        <a:solidFill>
                          <a:schemeClr val="dk1"/>
                        </a:solidFill>
                      </a:endParaRP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>
                          <a:solidFill>
                            <a:schemeClr val="dk1"/>
                          </a:solidFill>
                        </a:rPr>
                        <a:t>months_since_cert_n &gt;= 2.5</a:t>
                      </a:r>
                      <a:endParaRPr sz="110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>
                          <a:solidFill>
                            <a:schemeClr val="dk1"/>
                          </a:solidFill>
                        </a:rPr>
                        <a:t>0.48</a:t>
                      </a:r>
                      <a:endParaRPr sz="110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91450" marR="91450" marT="45725" marB="45725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80808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80808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80808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>
                          <a:solidFill>
                            <a:schemeClr val="dk1"/>
                          </a:solidFill>
                        </a:rPr>
                        <a:t>0.25</a:t>
                      </a:r>
                      <a:endParaRPr sz="110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91450" marR="91450" marT="45725" marB="45725" anchor="ctr">
                    <a:lnL w="9525" cap="flat" cmpd="sng">
                      <a:solidFill>
                        <a:srgbClr val="80808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80808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80808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80808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>
                          <a:solidFill>
                            <a:schemeClr val="dk1"/>
                          </a:solidFill>
                        </a:rPr>
                        <a:t>114</a:t>
                      </a:r>
                      <a:endParaRPr sz="110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91450" marR="91450" marT="45725" marB="45725" anchor="ctr">
                    <a:lnL w="9525" cap="flat" cmpd="sng">
                      <a:solidFill>
                        <a:srgbClr val="80808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80808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80808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80808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>
                          <a:solidFill>
                            <a:schemeClr val="dk1"/>
                          </a:solidFill>
                        </a:rPr>
                        <a:t>55</a:t>
                      </a:r>
                      <a:endParaRPr sz="110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91450" marR="91450" marT="45725" marB="45725" anchor="ctr">
                    <a:lnL w="9525" cap="flat" cmpd="sng">
                      <a:solidFill>
                        <a:srgbClr val="80808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80808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80808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80808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>
                          <a:solidFill>
                            <a:schemeClr val="dk1"/>
                          </a:solidFill>
                        </a:rPr>
                        <a:t>5+</a:t>
                      </a:r>
                      <a:endParaRPr sz="110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91450" marR="91450" marT="45725" marB="45725" anchor="ctr">
                    <a:lnL w="9525" cap="flat" cmpd="sng">
                      <a:solidFill>
                        <a:srgbClr val="80808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80808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80808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>
                          <a:solidFill>
                            <a:schemeClr val="dk1"/>
                          </a:solidFill>
                        </a:rPr>
                        <a:t>2221 &gt; shelter_expenses &gt; 1625 &amp; </a:t>
                      </a:r>
                      <a:endParaRPr sz="1100">
                        <a:solidFill>
                          <a:schemeClr val="dk1"/>
                        </a:solidFill>
                      </a:endParaRP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>
                          <a:solidFill>
                            <a:schemeClr val="dk1"/>
                          </a:solidFill>
                        </a:rPr>
                        <a:t>0.9545 &gt; rawben_rel_max &gt; 0.786 </a:t>
                      </a:r>
                      <a:endParaRPr sz="110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>
                          <a:solidFill>
                            <a:schemeClr val="dk1"/>
                          </a:solidFill>
                        </a:rPr>
                        <a:t>0.25</a:t>
                      </a:r>
                      <a:endParaRPr sz="110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91450" marR="91450" marT="45725" marB="45725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80808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80808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80808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>
                          <a:solidFill>
                            <a:schemeClr val="dk1"/>
                          </a:solidFill>
                        </a:rPr>
                        <a:t>0.13</a:t>
                      </a:r>
                      <a:endParaRPr sz="110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91450" marR="91450" marT="45725" marB="45725" anchor="ctr">
                    <a:lnL w="9525" cap="flat" cmpd="sng">
                      <a:solidFill>
                        <a:srgbClr val="80808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80808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80808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80808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>
                          <a:solidFill>
                            <a:schemeClr val="dk1"/>
                          </a:solidFill>
                        </a:rPr>
                        <a:t>136</a:t>
                      </a:r>
                      <a:endParaRPr sz="110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91450" marR="91450" marT="45725" marB="45725" anchor="ctr">
                    <a:lnL w="9525" cap="flat" cmpd="sng">
                      <a:solidFill>
                        <a:srgbClr val="80808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80808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80808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80808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>
                          <a:solidFill>
                            <a:schemeClr val="dk1"/>
                          </a:solidFill>
                        </a:rPr>
                        <a:t>34</a:t>
                      </a:r>
                      <a:endParaRPr sz="110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91450" marR="91450" marT="45725" marB="45725" anchor="ctr">
                    <a:lnL w="9525" cap="flat" cmpd="sng">
                      <a:solidFill>
                        <a:srgbClr val="80808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80808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80808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80808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80" name="Google Shape;80;p6"/>
          <p:cNvSpPr/>
          <p:nvPr/>
        </p:nvSpPr>
        <p:spPr>
          <a:xfrm>
            <a:off x="8138160" y="4814316"/>
            <a:ext cx="548640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Clr>
                <a:srgbClr val="5A5A5A"/>
              </a:buClr>
              <a:buSzPts val="900"/>
              <a:buFont typeface="Arial"/>
              <a:buNone/>
            </a:pPr>
            <a:r>
              <a:rPr lang="en-US" sz="900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7"/>
          <p:cNvSpPr/>
          <p:nvPr/>
        </p:nvSpPr>
        <p:spPr>
          <a:xfrm>
            <a:off x="457200" y="310896"/>
            <a:ext cx="8229600" cy="6400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Cambria"/>
              <a:buNone/>
            </a:pPr>
            <a:r>
              <a:rPr lang="en-US" sz="1800" b="1" dirty="0" err="1">
                <a:solidFill>
                  <a:srgbClr val="000000"/>
                </a:solidFill>
                <a:latin typeface="Cambria"/>
                <a:ea typeface="Cambria"/>
                <a:cs typeface="Cambria"/>
                <a:sym typeface="Cambria"/>
              </a:rPr>
              <a:t>INCL_find</a:t>
            </a:r>
            <a:r>
              <a:rPr lang="en-US" sz="1800" b="1" dirty="0">
                <a:solidFill>
                  <a:srgbClr val="000000"/>
                </a:solidFill>
                <a:latin typeface="Cambria"/>
                <a:ea typeface="Cambria"/>
                <a:cs typeface="Cambria"/>
                <a:sym typeface="Cambria"/>
              </a:rPr>
              <a:t>_ output: combining rules to hit recall goals </a:t>
            </a:r>
            <a:endParaRPr sz="180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aphicFrame>
        <p:nvGraphicFramePr>
          <p:cNvPr id="88" name="Google Shape;88;p7"/>
          <p:cNvGraphicFramePr/>
          <p:nvPr/>
        </p:nvGraphicFramePr>
        <p:xfrm>
          <a:off x="645775" y="1066538"/>
          <a:ext cx="8041025" cy="4016873"/>
        </p:xfrm>
        <a:graphic>
          <a:graphicData uri="http://schemas.openxmlformats.org/drawingml/2006/table">
            <a:tbl>
              <a:tblPr>
                <a:noFill/>
                <a:tableStyleId>{B5048AC8-0E75-455B-AB4F-AEF2A2D202BD}</a:tableStyleId>
              </a:tblPr>
              <a:tblGrid>
                <a:gridCol w="6339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339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339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339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339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339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6339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63390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2969825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</a:tblGrid>
              <a:tr h="509950"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b="1"/>
                        <a:t>Step</a:t>
                      </a:r>
                      <a:endParaRPr sz="1000" b="1"/>
                    </a:p>
                  </a:txBody>
                  <a:tcPr marL="91425" marR="91425" marT="91425" marB="91425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b="1"/>
                        <a:t>hh size</a:t>
                      </a:r>
                      <a:endParaRPr sz="1000" b="1"/>
                    </a:p>
                  </a:txBody>
                  <a:tcPr marL="91425" marR="91425" marT="91425" marB="91425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b="1"/>
                        <a:t>recall floor</a:t>
                      </a:r>
                      <a:endParaRPr sz="1000" b="1"/>
                    </a:p>
                  </a:txBody>
                  <a:tcPr marL="91425" marR="91425" marT="91425" marB="91425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b="1"/>
                        <a:t>prec.</a:t>
                      </a:r>
                      <a:endParaRPr sz="1000" b="1"/>
                    </a:p>
                  </a:txBody>
                  <a:tcPr marL="91425" marR="91425" marT="91425" marB="91425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b="1"/>
                        <a:t>recall ($)</a:t>
                      </a:r>
                      <a:endParaRPr sz="1000" b="1">
                        <a:solidFill>
                          <a:schemeClr val="dk1"/>
                        </a:solidFill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b="1"/>
                        <a:t>flagged</a:t>
                      </a:r>
                      <a:endParaRPr sz="1000" b="1">
                        <a:solidFill>
                          <a:schemeClr val="dk1"/>
                        </a:solidFill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b="1"/>
                        <a:t>errors caught</a:t>
                      </a:r>
                      <a:endParaRPr sz="1000" b="1"/>
                    </a:p>
                  </a:txBody>
                  <a:tcPr marL="91425" marR="91425" marT="91425" marB="91425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b="1"/>
                        <a:t>n rules</a:t>
                      </a:r>
                      <a:endParaRPr sz="1000" b="1">
                        <a:solidFill>
                          <a:schemeClr val="dk1"/>
                        </a:solidFill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b="1"/>
                        <a:t>net (all for household size of 2)</a:t>
                      </a:r>
                      <a:endParaRPr sz="1000" b="1">
                        <a:solidFill>
                          <a:schemeClr val="dk1"/>
                        </a:solidFill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212075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/>
                        <a:t>1</a:t>
                      </a:r>
                      <a:endParaRPr sz="1000"/>
                    </a:p>
                  </a:txBody>
                  <a:tcPr marL="91425" marR="91425" marT="91425" marB="91425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/>
                        <a:t>2</a:t>
                      </a:r>
                      <a:endParaRPr sz="1000"/>
                    </a:p>
                  </a:txBody>
                  <a:tcPr marL="91425" marR="91425" marT="91425" marB="91425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b="1"/>
                        <a:t>0.2</a:t>
                      </a:r>
                      <a:endParaRPr sz="1000" b="1"/>
                    </a:p>
                  </a:txBody>
                  <a:tcPr marL="91425" marR="91425" marT="91425" marB="91425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/>
                        <a:t>0.29</a:t>
                      </a:r>
                      <a:endParaRPr sz="1000"/>
                    </a:p>
                  </a:txBody>
                  <a:tcPr marL="91425" marR="91425" marT="91425" marB="91425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-US" sz="1000">
                          <a:solidFill>
                            <a:schemeClr val="dk1"/>
                          </a:solidFill>
                        </a:rPr>
                        <a:t>.21</a:t>
                      </a:r>
                      <a:endParaRPr sz="1000"/>
                    </a:p>
                  </a:txBody>
                  <a:tcPr marL="91425" marR="91425" marT="91425" marB="91425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-US" sz="1000">
                          <a:solidFill>
                            <a:schemeClr val="dk1"/>
                          </a:solidFill>
                        </a:rPr>
                        <a:t>291</a:t>
                      </a:r>
                      <a:endParaRPr sz="1000"/>
                    </a:p>
                  </a:txBody>
                  <a:tcPr marL="91425" marR="91425" marT="91425" marB="91425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/>
                        <a:t>85</a:t>
                      </a:r>
                      <a:endParaRPr sz="1000"/>
                    </a:p>
                  </a:txBody>
                  <a:tcPr marL="91425" marR="91425" marT="91425" marB="91425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-US" sz="1000">
                          <a:solidFill>
                            <a:schemeClr val="dk1"/>
                          </a:solidFill>
                        </a:rPr>
                        <a:t>2</a:t>
                      </a:r>
                      <a:endParaRPr sz="1000"/>
                    </a:p>
                  </a:txBody>
                  <a:tcPr marL="91425" marR="91425" marT="91425" marB="91425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>
                          <a:solidFill>
                            <a:schemeClr val="dk1"/>
                          </a:solidFill>
                        </a:rPr>
                        <a:t>unc_rawben_rel_max &gt;= 1.418 &amp; </a:t>
                      </a:r>
                      <a:endParaRPr sz="1000">
                        <a:solidFill>
                          <a:schemeClr val="dk1"/>
                        </a:solidFill>
                      </a:endParaRPr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>
                          <a:solidFill>
                            <a:schemeClr val="dk1"/>
                          </a:solidFill>
                        </a:rPr>
                        <a:t>utilities &lt; 382 &amp; </a:t>
                      </a:r>
                      <a:endParaRPr sz="1000">
                        <a:solidFill>
                          <a:schemeClr val="dk1"/>
                        </a:solidFill>
                      </a:endParaRPr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>
                          <a:solidFill>
                            <a:schemeClr val="dk1"/>
                          </a:solidFill>
                        </a:rPr>
                        <a:t>utilities &gt;= 12.5 </a:t>
                      </a:r>
                      <a:endParaRPr sz="1000">
                        <a:solidFill>
                          <a:schemeClr val="dk1"/>
                        </a:solidFill>
                      </a:endParaRPr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>
                          <a:solidFill>
                            <a:schemeClr val="dk1"/>
                          </a:solidFill>
                        </a:rPr>
                        <a:t>OR </a:t>
                      </a:r>
                      <a:endParaRPr sz="1000">
                        <a:solidFill>
                          <a:schemeClr val="dk1"/>
                        </a:solidFill>
                      </a:endParaRPr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>
                          <a:solidFill>
                            <a:schemeClr val="dk1"/>
                          </a:solidFill>
                        </a:rPr>
                        <a:t>shelter_expenses &gt;= 1552 &amp; </a:t>
                      </a:r>
                      <a:endParaRPr sz="1000">
                        <a:solidFill>
                          <a:schemeClr val="dk1"/>
                        </a:solidFill>
                      </a:endParaRPr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>
                          <a:solidFill>
                            <a:schemeClr val="dk1"/>
                          </a:solidFill>
                        </a:rPr>
                        <a:t>rawearn &gt;= 1091 &amp; </a:t>
                      </a:r>
                      <a:endParaRPr sz="1000">
                        <a:solidFill>
                          <a:schemeClr val="dk1"/>
                        </a:solidFill>
                      </a:endParaRPr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>
                          <a:solidFill>
                            <a:schemeClr val="dk1"/>
                          </a:solidFill>
                        </a:rPr>
                        <a:t>total_deductions &lt; 1152</a:t>
                      </a:r>
                      <a:endParaRPr sz="1000"/>
                    </a:p>
                  </a:txBody>
                  <a:tcPr marL="91425" marR="91425" marT="91425" marB="91425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212075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/>
                        <a:t>2</a:t>
                      </a:r>
                      <a:endParaRPr sz="1000"/>
                    </a:p>
                  </a:txBody>
                  <a:tcPr marL="91425" marR="91425" marT="91425" marB="91425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/>
                        <a:t>2</a:t>
                      </a:r>
                      <a:endParaRPr sz="1000"/>
                    </a:p>
                  </a:txBody>
                  <a:tcPr marL="91425" marR="91425" marT="91425" marB="91425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b="1"/>
                        <a:t>0.3</a:t>
                      </a:r>
                      <a:endParaRPr sz="1000" b="1"/>
                    </a:p>
                  </a:txBody>
                  <a:tcPr marL="91425" marR="91425" marT="91425" marB="91425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/>
                        <a:t>0.2667</a:t>
                      </a:r>
                      <a:endParaRPr sz="1000"/>
                    </a:p>
                  </a:txBody>
                  <a:tcPr marL="91425" marR="91425" marT="91425" marB="91425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/>
                        <a:t>0.379</a:t>
                      </a:r>
                      <a:endParaRPr sz="1000"/>
                    </a:p>
                  </a:txBody>
                  <a:tcPr marL="91425" marR="91425" marT="91425" marB="91425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/>
                        <a:t>615</a:t>
                      </a:r>
                      <a:endParaRPr sz="1000"/>
                    </a:p>
                  </a:txBody>
                  <a:tcPr marL="91425" marR="91425" marT="91425" marB="91425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/>
                        <a:t>164</a:t>
                      </a:r>
                      <a:endParaRPr sz="1000"/>
                    </a:p>
                  </a:txBody>
                  <a:tcPr marL="91425" marR="91425" marT="91425" marB="91425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/>
                        <a:t>4</a:t>
                      </a:r>
                      <a:endParaRPr sz="1000"/>
                    </a:p>
                  </a:txBody>
                  <a:tcPr marL="91425" marR="91425" marT="91425" marB="91425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-US" sz="1000" i="1">
                          <a:solidFill>
                            <a:schemeClr val="dk1"/>
                          </a:solidFill>
                        </a:rPr>
                        <a:t>[ABOVE OR]</a:t>
                      </a:r>
                      <a:endParaRPr sz="1000" b="1" u="sng"/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/>
                        <a:t>unc_rawben_rel_max &gt;= 1.487 &amp; </a:t>
                      </a:r>
                      <a:endParaRPr sz="1000"/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/>
                        <a:t>shelter_expenses &gt;= 803 &amp; utilities &lt; 663.5 </a:t>
                      </a:r>
                      <a:endParaRPr sz="1000"/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/>
                        <a:t>OR </a:t>
                      </a:r>
                      <a:endParaRPr sz="1000"/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/>
                        <a:t>unc_rawben_rel_max &lt; 1.487 &amp; </a:t>
                      </a:r>
                      <a:endParaRPr sz="1000"/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/>
                        <a:t>rawearn &gt;= 3.5 &amp; </a:t>
                      </a:r>
                      <a:endParaRPr sz="1000"/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>
                          <a:solidFill>
                            <a:schemeClr val="dk1"/>
                          </a:solidFill>
                        </a:rPr>
                        <a:t>0.9874 &gt; unc_rawben_rel_max &lt; 0.883 </a:t>
                      </a:r>
                      <a:endParaRPr sz="1000"/>
                    </a:p>
                  </a:txBody>
                  <a:tcPr marL="91425" marR="91425" marT="91425" marB="91425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999125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/>
                        <a:t>3</a:t>
                      </a:r>
                      <a:endParaRPr sz="1000"/>
                    </a:p>
                  </a:txBody>
                  <a:tcPr marL="91425" marR="91425" marT="91425" marB="91425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/>
                        <a:t>2</a:t>
                      </a:r>
                      <a:endParaRPr sz="1000"/>
                    </a:p>
                  </a:txBody>
                  <a:tcPr marL="91425" marR="91425" marT="91425" marB="91425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b="1"/>
                        <a:t>0.4</a:t>
                      </a:r>
                      <a:endParaRPr sz="1000" b="1"/>
                    </a:p>
                  </a:txBody>
                  <a:tcPr marL="91425" marR="91425" marT="91425" marB="91425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/>
                        <a:t>0.2281</a:t>
                      </a:r>
                      <a:endParaRPr sz="1000"/>
                    </a:p>
                  </a:txBody>
                  <a:tcPr marL="91425" marR="91425" marT="91425" marB="91425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/>
                        <a:t>0.5134</a:t>
                      </a:r>
                      <a:endParaRPr sz="1000"/>
                    </a:p>
                  </a:txBody>
                  <a:tcPr marL="91425" marR="91425" marT="91425" marB="91425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/>
                        <a:t>1118</a:t>
                      </a:r>
                      <a:endParaRPr sz="1000"/>
                    </a:p>
                  </a:txBody>
                  <a:tcPr marL="91425" marR="91425" marT="91425" marB="91425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/>
                        <a:t>255</a:t>
                      </a:r>
                      <a:endParaRPr sz="1000"/>
                    </a:p>
                  </a:txBody>
                  <a:tcPr marL="91425" marR="91425" marT="91425" marB="91425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/>
                        <a:t>5</a:t>
                      </a:r>
                      <a:endParaRPr sz="1000"/>
                    </a:p>
                  </a:txBody>
                  <a:tcPr marL="91425" marR="91425" marT="91425" marB="91425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i="1"/>
                        <a:t>[ABOVE OR]</a:t>
                      </a:r>
                      <a:endParaRPr sz="1000" i="1"/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/>
                        <a:t>unc_rawben_rel_max &lt; 1.401 &amp; </a:t>
                      </a:r>
                      <a:endParaRPr sz="1000"/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/>
                        <a:t>rawearn &gt;= 0.5 &amp;</a:t>
                      </a:r>
                      <a:endParaRPr sz="1000"/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/>
                        <a:t>rawgross &lt; 1526 </a:t>
                      </a:r>
                      <a:r>
                        <a:rPr lang="en-US" sz="1000">
                          <a:solidFill>
                            <a:schemeClr val="dk1"/>
                          </a:solidFill>
                        </a:rPr>
                        <a:t>&amp; </a:t>
                      </a:r>
                      <a:endParaRPr sz="1000">
                        <a:solidFill>
                          <a:schemeClr val="dk1"/>
                        </a:solidFill>
                      </a:endParaRPr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>
                          <a:solidFill>
                            <a:schemeClr val="dk1"/>
                          </a:solidFill>
                        </a:rPr>
                        <a:t>rawben_rel_max &lt; 0.9876</a:t>
                      </a:r>
                      <a:endParaRPr sz="1000"/>
                    </a:p>
                  </a:txBody>
                  <a:tcPr marL="91425" marR="91425" marT="91425" marB="91425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89" name="Google Shape;89;p7"/>
          <p:cNvSpPr/>
          <p:nvPr/>
        </p:nvSpPr>
        <p:spPr>
          <a:xfrm>
            <a:off x="8138160" y="4814316"/>
            <a:ext cx="548640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Clr>
                <a:srgbClr val="5A5A5A"/>
              </a:buClr>
              <a:buSzPts val="900"/>
              <a:buFont typeface="Arial"/>
              <a:buNone/>
            </a:pPr>
            <a:r>
              <a:rPr lang="en-US" sz="900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7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90" name="Google Shape;90;p7"/>
          <p:cNvCxnSpPr/>
          <p:nvPr/>
        </p:nvCxnSpPr>
        <p:spPr>
          <a:xfrm flipH="1">
            <a:off x="319875" y="1740050"/>
            <a:ext cx="4200" cy="2982300"/>
          </a:xfrm>
          <a:prstGeom prst="straightConnector1">
            <a:avLst/>
          </a:prstGeom>
          <a:noFill/>
          <a:ln w="38100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g3eae636d67f_0_57"/>
          <p:cNvSpPr txBox="1"/>
          <p:nvPr/>
        </p:nvSpPr>
        <p:spPr>
          <a:xfrm>
            <a:off x="457200" y="1050000"/>
            <a:ext cx="8229600" cy="307773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 dirty="0" err="1"/>
              <a:t>INCL_optimize_single_inclusion_rule_by_hh_size_for_a_state.R</a:t>
            </a:r>
            <a:endParaRPr sz="2400" dirty="0"/>
          </a:p>
          <a:p>
            <a:r>
              <a:rPr sz="1400" b="0" dirty="0"/>
              <a:t>Takes one rule from </a:t>
            </a:r>
            <a:r>
              <a:rPr sz="1400" b="0" dirty="0" err="1"/>
              <a:t>INCL_find</a:t>
            </a:r>
            <a:r>
              <a:rPr sz="1400" b="0" dirty="0"/>
              <a:t>_ output and grid-searches its numeric thresholds on a specific state’s data to maximize precision at a recall floor. Useful when you have a small number of rules you really want to get right for your state.</a:t>
            </a:r>
            <a:r>
              <a:rPr lang="en-US" sz="1400" b="0" dirty="0"/>
              <a:t> Can be used to tailor a generic rule to household sizes – will take a rule and model it for each HH size and return the appropriate thresholds. </a:t>
            </a:r>
            <a:endParaRPr sz="1400" b="0" dirty="0"/>
          </a:p>
          <a:p>
            <a:endParaRPr sz="1400" b="0" dirty="0"/>
          </a:p>
          <a:p>
            <a:r>
              <a:rPr sz="1800" b="1" dirty="0" err="1"/>
              <a:t>INCL_optimize_set_of_inclusion_rules_by_hh_size_for_a_state.R</a:t>
            </a:r>
            <a:endParaRPr sz="1800" b="1" dirty="0"/>
          </a:p>
          <a:p>
            <a:r>
              <a:rPr sz="1400" b="0" dirty="0"/>
              <a:t>Reads the full high-precision rule list from </a:t>
            </a:r>
            <a:r>
              <a:rPr sz="1400" b="0" dirty="0" err="1"/>
              <a:t>INCL_find</a:t>
            </a:r>
            <a:r>
              <a:rPr sz="1400" b="0" dirty="0"/>
              <a:t>_</a:t>
            </a:r>
            <a:r>
              <a:rPr lang="en-US" sz="1400" b="0" dirty="0"/>
              <a:t> (or any source)</a:t>
            </a:r>
            <a:r>
              <a:rPr sz="1400" b="0" dirty="0"/>
              <a:t> and optimizes all rules for a specific state at once. Drops any rule whose best achievable precision falls below PRECISION_FLOOR. Useful when taking rules mined from national data and adapting them to your state.</a:t>
            </a:r>
          </a:p>
          <a:p>
            <a:endParaRPr sz="1400" b="0" dirty="0"/>
          </a:p>
          <a:p>
            <a:r>
              <a:rPr sz="1200" b="0" dirty="0"/>
              <a:t>Both scripts write state-optimized rules to </a:t>
            </a:r>
            <a:r>
              <a:rPr sz="1200" b="0" dirty="0" err="1"/>
              <a:t>inclusion_rules_by_hh_size</a:t>
            </a:r>
            <a:r>
              <a:rPr sz="1200" b="0" dirty="0"/>
              <a:t>/</a:t>
            </a:r>
          </a:p>
        </p:txBody>
      </p:sp>
      <p:sp>
        <p:nvSpPr>
          <p:cNvPr id="66" name="Google Shape;66;p5"/>
          <p:cNvSpPr/>
          <p:nvPr/>
        </p:nvSpPr>
        <p:spPr>
          <a:xfrm>
            <a:off x="457200" y="310896"/>
            <a:ext cx="8229600" cy="6400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Cambria"/>
              <a:buNone/>
            </a:pPr>
            <a:r>
              <a:rPr lang="en-US" sz="1600" b="1" dirty="0">
                <a:solidFill>
                  <a:srgbClr val="000000"/>
                </a:solidFill>
                <a:latin typeface="Cambria"/>
                <a:ea typeface="Cambria"/>
                <a:cs typeface="Cambria"/>
                <a:sym typeface="Cambria"/>
              </a:rPr>
              <a:t>Tuning rules for a specific state:</a:t>
            </a: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Cambria"/>
              <a:buNone/>
            </a:pPr>
            <a:r>
              <a:rPr lang="en-US" sz="1600" b="1" dirty="0" err="1">
                <a:solidFill>
                  <a:srgbClr val="000000"/>
                </a:solidFill>
                <a:latin typeface="Cambria"/>
                <a:ea typeface="Cambria"/>
                <a:cs typeface="Cambria"/>
                <a:sym typeface="Cambria"/>
              </a:rPr>
              <a:t>INCL_optimize_single</a:t>
            </a:r>
            <a:r>
              <a:rPr lang="en-US" sz="1600" b="1" dirty="0">
                <a:solidFill>
                  <a:srgbClr val="000000"/>
                </a:solidFill>
                <a:latin typeface="Cambria"/>
                <a:ea typeface="Cambria"/>
                <a:cs typeface="Cambria"/>
                <a:sym typeface="Cambria"/>
              </a:rPr>
              <a:t>_ and </a:t>
            </a:r>
            <a:r>
              <a:rPr lang="en-US" sz="1600" b="1" dirty="0" err="1">
                <a:solidFill>
                  <a:srgbClr val="000000"/>
                </a:solidFill>
                <a:latin typeface="Cambria"/>
                <a:ea typeface="Cambria"/>
                <a:cs typeface="Cambria"/>
                <a:sym typeface="Cambria"/>
              </a:rPr>
              <a:t>INCL_optimize_set</a:t>
            </a:r>
            <a:r>
              <a:rPr lang="en-US" sz="1600" b="1" dirty="0">
                <a:solidFill>
                  <a:srgbClr val="000000"/>
                </a:solidFill>
                <a:latin typeface="Cambria"/>
                <a:ea typeface="Cambria"/>
                <a:cs typeface="Cambria"/>
                <a:sym typeface="Cambria"/>
              </a:rPr>
              <a:t>_</a:t>
            </a:r>
            <a:endParaRPr sz="160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" name="Google Shape;71;p5">
            <a:extLst>
              <a:ext uri="{FF2B5EF4-FFF2-40B4-BE49-F238E27FC236}">
                <a16:creationId xmlns:a16="http://schemas.microsoft.com/office/drawing/2014/main" id="{B0D642F2-6701-2B92-8D1B-5371BA2BAFB4}"/>
              </a:ext>
            </a:extLst>
          </p:cNvPr>
          <p:cNvSpPr/>
          <p:nvPr/>
        </p:nvSpPr>
        <p:spPr>
          <a:xfrm>
            <a:off x="457200" y="4814316"/>
            <a:ext cx="5486400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5A5A5A"/>
              </a:buClr>
              <a:buSzPts val="900"/>
              <a:buFont typeface="Arial"/>
              <a:buNone/>
            </a:pPr>
            <a:r>
              <a:rPr lang="en-US" sz="900" dirty="0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Inclusion rules · INCL_ scripts</a:t>
            </a:r>
            <a:endParaRPr sz="90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6</TotalTime>
  <Words>1176</Words>
  <Application>Microsoft Office PowerPoint</Application>
  <PresentationFormat>On-screen Show (16:9)</PresentationFormat>
  <Paragraphs>174</Paragraphs>
  <Slides>9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3" baseType="lpstr">
      <vt:lpstr>Arial</vt:lpstr>
      <vt:lpstr>Calibri</vt:lpstr>
      <vt:lpstr>Cambria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Better Government Lab</dc:creator>
  <cp:lastModifiedBy>Eric Giannella</cp:lastModifiedBy>
  <cp:revision>2</cp:revision>
  <dcterms:created xsi:type="dcterms:W3CDTF">2026-06-09T21:09:16Z</dcterms:created>
  <dcterms:modified xsi:type="dcterms:W3CDTF">2026-06-14T04:45:53Z</dcterms:modified>
</cp:coreProperties>
</file>