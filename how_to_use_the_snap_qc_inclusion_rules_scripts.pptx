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23"/>
  </p:notesMasterIdLst>
  <p:sldIdLst>
    <p:sldId id="256" r:id="rId2"/>
    <p:sldId id="257" r:id="rId3"/>
    <p:sldId id="258" r:id="rId4"/>
    <p:sldId id="265" r:id="rId5"/>
    <p:sldId id="277" r:id="rId6"/>
    <p:sldId id="264" r:id="rId7"/>
    <p:sldId id="259" r:id="rId8"/>
    <p:sldId id="260" r:id="rId9"/>
    <p:sldId id="261" r:id="rId10"/>
    <p:sldId id="262" r:id="rId11"/>
    <p:sldId id="263" r:id="rId12"/>
    <p:sldId id="266" r:id="rId13"/>
    <p:sldId id="267" r:id="rId14"/>
    <p:sldId id="268" r:id="rId15"/>
    <p:sldId id="269" r:id="rId16"/>
    <p:sldId id="270" r:id="rId17"/>
    <p:sldId id="271" r:id="rId18"/>
    <p:sldId id="272" r:id="rId19"/>
    <p:sldId id="273" r:id="rId20"/>
    <p:sldId id="274" r:id="rId21"/>
    <p:sldId id="275" r:id="rId22"/>
  </p:sldIdLst>
  <p:sldSz cx="9144000" cy="5143500" type="screen16x9"/>
  <p:notesSz cx="51435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25" roundtripDataSignature="AMtx7miQRICf23Bzy3Bs41KrA83+2K6/DA=="/>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B5048AC8-0E75-455B-AB4F-AEF2A2D202BD}">
  <a:tblStyle styleId="{B5048AC8-0E75-455B-AB4F-AEF2A2D202BD}"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4" d="100"/>
          <a:sy n="104" d="100"/>
        </p:scale>
        <p:origin x="567" y="5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5" Type="http://customschemas.google.com/relationships/presentationmetadata" Target="metadata"/><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857400" y="685800"/>
            <a:ext cx="342915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514350" y="4343400"/>
            <a:ext cx="41148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
        <p:cNvGrpSpPr/>
        <p:nvPr/>
      </p:nvGrpSpPr>
      <p:grpSpPr>
        <a:xfrm>
          <a:off x="0" y="0"/>
          <a:ext cx="0" cy="0"/>
          <a:chOff x="0" y="0"/>
          <a:chExt cx="0" cy="0"/>
        </a:xfrm>
      </p:grpSpPr>
      <p:sp>
        <p:nvSpPr>
          <p:cNvPr id="8" name="Google Shape;8;p1: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 name="Google Shape;9;p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10" name="Google Shape;10;p1: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b="0" i="0" u="none" strike="noStrike" cap="none">
                <a:solidFill>
                  <a:schemeClr val="dk1"/>
                </a:solidFill>
                <a:latin typeface="Arial"/>
                <a:ea typeface="Arial"/>
                <a:cs typeface="Arial"/>
                <a:sym typeface="Arial"/>
              </a:rPr>
              <a:t>1</a:t>
            </a:fld>
            <a:endParaRPr sz="1800">
              <a:solidFill>
                <a:schemeClr val="dk1"/>
              </a:solidFill>
              <a:latin typeface="Arial"/>
              <a:ea typeface="Arial"/>
              <a:cs typeface="Arial"/>
              <a:sym typeface="Arial"/>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
        <p:cNvGrpSpPr/>
        <p:nvPr/>
      </p:nvGrpSpPr>
      <p:grpSpPr>
        <a:xfrm>
          <a:off x="0" y="0"/>
          <a:ext cx="0" cy="0"/>
          <a:chOff x="0" y="0"/>
          <a:chExt cx="0" cy="0"/>
        </a:xfrm>
      </p:grpSpPr>
      <p:sp>
        <p:nvSpPr>
          <p:cNvPr id="18" name="Google Shape;18;p2: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9" name="Google Shape;19;p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20" name="Google Shape;20;p2: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2</a:t>
            </a:fld>
            <a:endParaRPr sz="1800">
              <a:solidFill>
                <a:schemeClr val="dk1"/>
              </a:solidFill>
              <a:latin typeface="Arial"/>
              <a:ea typeface="Arial"/>
              <a:cs typeface="Arial"/>
              <a:sym typeface="Arial"/>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
        <p:cNvGrpSpPr/>
        <p:nvPr/>
      </p:nvGrpSpPr>
      <p:grpSpPr>
        <a:xfrm>
          <a:off x="0" y="0"/>
          <a:ext cx="0" cy="0"/>
          <a:chOff x="0" y="0"/>
          <a:chExt cx="0" cy="0"/>
        </a:xfrm>
      </p:grpSpPr>
      <p:sp>
        <p:nvSpPr>
          <p:cNvPr id="27" name="Google Shape;27;p3: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8" name="Google Shape;28;p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29" name="Google Shape;29;p3: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3</a:t>
            </a:fld>
            <a:endParaRPr sz="1800">
              <a:solidFill>
                <a:schemeClr val="dk1"/>
              </a:solidFill>
              <a:latin typeface="Arial"/>
              <a:ea typeface="Arial"/>
              <a:cs typeface="Arial"/>
              <a:sym typeface="Arial"/>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76250" y="685800"/>
            <a:ext cx="6096000" cy="3429000"/>
          </a:xfrm>
        </p:spPr>
      </p:sp>
      <p:sp>
        <p:nvSpPr>
          <p:cNvPr id="3" name="Notes Placeholder 2"/>
          <p:cNvSpPr>
            <a:spLocks noGrp="1"/>
          </p:cNvSpPr>
          <p:nvPr>
            <p:ph type="body" idx="1"/>
          </p:nvPr>
        </p:nvSpPr>
        <p:spPr/>
        <p:txBody>
          <a:bodyPr/>
          <a:lstStyle/>
          <a:p>
            <a:pPr marL="15875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sz="1100" dirty="0"/>
              <a:t>- Also ~5x faster than the {pre} pipeline and runs on a 16 GB laptop (the old internal lasso needed 40+ GB at scale).</a:t>
            </a:r>
          </a:p>
          <a:p>
            <a:endParaRPr lang="en-US" dirty="0"/>
          </a:p>
        </p:txBody>
      </p:sp>
    </p:spTree>
    <p:extLst>
      <p:ext uri="{BB962C8B-B14F-4D97-AF65-F5344CB8AC3E}">
        <p14:creationId xmlns:p14="http://schemas.microsoft.com/office/powerpoint/2010/main" val="322876009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
        <p:cNvGrpSpPr/>
        <p:nvPr/>
      </p:nvGrpSpPr>
      <p:grpSpPr>
        <a:xfrm>
          <a:off x="0" y="0"/>
          <a:ext cx="0" cy="0"/>
          <a:chOff x="0" y="0"/>
          <a:chExt cx="0" cy="0"/>
        </a:xfrm>
      </p:grpSpPr>
      <p:sp>
        <p:nvSpPr>
          <p:cNvPr id="36" name="Google Shape;36;p4: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7" name="Google Shape;37;p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38" name="Google Shape;38;p4: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7</a:t>
            </a:fld>
            <a:endParaRPr sz="1800">
              <a:solidFill>
                <a:schemeClr val="dk1"/>
              </a:solidFill>
              <a:latin typeface="Arial"/>
              <a:ea typeface="Arial"/>
              <a:cs typeface="Arial"/>
              <a:sym typeface="Arial"/>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
        <p:cNvGrpSpPr/>
        <p:nvPr/>
      </p:nvGrpSpPr>
      <p:grpSpPr>
        <a:xfrm>
          <a:off x="0" y="0"/>
          <a:ext cx="0" cy="0"/>
          <a:chOff x="0" y="0"/>
          <a:chExt cx="0" cy="0"/>
        </a:xfrm>
      </p:grpSpPr>
      <p:sp>
        <p:nvSpPr>
          <p:cNvPr id="62" name="Google Shape;62;p5: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3" name="Google Shape;63;p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64" name="Google Shape;64;p5: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8</a:t>
            </a:fld>
            <a:endParaRPr sz="1800">
              <a:solidFill>
                <a:schemeClr val="dk1"/>
              </a:solidFill>
              <a:latin typeface="Arial"/>
              <a:ea typeface="Arial"/>
              <a:cs typeface="Arial"/>
              <a:sym typeface="Arial"/>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
        <p:cNvGrpSpPr/>
        <p:nvPr/>
      </p:nvGrpSpPr>
      <p:grpSpPr>
        <a:xfrm>
          <a:off x="0" y="0"/>
          <a:ext cx="0" cy="0"/>
          <a:chOff x="0" y="0"/>
          <a:chExt cx="0" cy="0"/>
        </a:xfrm>
      </p:grpSpPr>
      <p:sp>
        <p:nvSpPr>
          <p:cNvPr id="74" name="Google Shape;74;p6: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5" name="Google Shape;75;p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76" name="Google Shape;76;p6: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9</a:t>
            </a:fld>
            <a:endParaRPr sz="1800">
              <a:solidFill>
                <a:schemeClr val="dk1"/>
              </a:solidFill>
              <a:latin typeface="Arial"/>
              <a:ea typeface="Arial"/>
              <a:cs typeface="Arial"/>
              <a:sym typeface="Arial"/>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p:cNvGrpSpPr/>
        <p:nvPr/>
      </p:nvGrpSpPr>
      <p:grpSpPr>
        <a:xfrm>
          <a:off x="0" y="0"/>
          <a:ext cx="0" cy="0"/>
          <a:chOff x="0" y="0"/>
          <a:chExt cx="0" cy="0"/>
        </a:xfrm>
      </p:grpSpPr>
      <p:sp>
        <p:nvSpPr>
          <p:cNvPr id="82" name="Google Shape;82;p7: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3" name="Google Shape;83;p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84" name="Google Shape;84;p7: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10</a:t>
            </a:fld>
            <a:endParaRPr sz="1800">
              <a:solidFill>
                <a:schemeClr val="dk1"/>
              </a:solidFill>
              <a:latin typeface="Arial"/>
              <a:ea typeface="Arial"/>
              <a:cs typeface="Arial"/>
              <a:sym typeface="Arial"/>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p:cNvGrpSpPr/>
        <p:nvPr/>
      </p:nvGrpSpPr>
      <p:grpSpPr>
        <a:xfrm>
          <a:off x="0" y="0"/>
          <a:ext cx="0" cy="0"/>
          <a:chOff x="0" y="0"/>
          <a:chExt cx="0" cy="0"/>
        </a:xfrm>
      </p:grpSpPr>
      <p:sp>
        <p:nvSpPr>
          <p:cNvPr id="92" name="Google Shape;92;g3eae636d67f_0_57:notes"/>
          <p:cNvSpPr>
            <a:spLocks noGrp="1" noRot="1" noChangeAspect="1"/>
          </p:cNvSpPr>
          <p:nvPr>
            <p:ph type="sldImg" idx="2"/>
          </p:nvPr>
        </p:nvSpPr>
        <p:spPr>
          <a:xfrm>
            <a:off x="-47625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3" name="Google Shape;93;g3eae636d67f_0_57:notes"/>
          <p:cNvSpPr txBox="1">
            <a:spLocks noGrp="1"/>
          </p:cNvSpPr>
          <p:nvPr>
            <p:ph type="body" idx="1"/>
          </p:nvPr>
        </p:nvSpPr>
        <p:spPr>
          <a:xfrm>
            <a:off x="514350" y="4343400"/>
            <a:ext cx="41148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6"/>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49"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github.com/giannella/snap_qc"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3.png"/><Relationship Id="rId4" Type="http://schemas.openxmlformats.org/officeDocument/2006/relationships/image" Target="../media/image1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4.png"/><Relationship Id="rId4" Type="http://schemas.openxmlformats.org/officeDocument/2006/relationships/image" Target="../media/image1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1"/>
        <p:cNvGrpSpPr/>
        <p:nvPr/>
      </p:nvGrpSpPr>
      <p:grpSpPr>
        <a:xfrm>
          <a:off x="0" y="0"/>
          <a:ext cx="0" cy="0"/>
          <a:chOff x="0" y="0"/>
          <a:chExt cx="0" cy="0"/>
        </a:xfrm>
      </p:grpSpPr>
      <p:sp>
        <p:nvSpPr>
          <p:cNvPr id="12" name="Google Shape;12;p1"/>
          <p:cNvSpPr/>
          <p:nvPr/>
        </p:nvSpPr>
        <p:spPr>
          <a:xfrm>
            <a:off x="457200" y="1371600"/>
            <a:ext cx="8229600" cy="10058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4000"/>
              <a:buFont typeface="Cambria"/>
              <a:buNone/>
            </a:pPr>
            <a:r>
              <a:rPr lang="en-US" sz="4000" b="1" i="0" u="none" strike="noStrike" cap="none" dirty="0">
                <a:solidFill>
                  <a:srgbClr val="000000"/>
                </a:solidFill>
                <a:latin typeface="Cambria"/>
                <a:ea typeface="Cambria"/>
                <a:cs typeface="Cambria"/>
                <a:sym typeface="Cambria"/>
              </a:rPr>
              <a:t>Finding Inclusion Rules </a:t>
            </a:r>
          </a:p>
          <a:p>
            <a:pPr marL="0" marR="0" lvl="0" indent="0" algn="l" rtl="0">
              <a:spcBef>
                <a:spcPts val="0"/>
              </a:spcBef>
              <a:spcAft>
                <a:spcPts val="0"/>
              </a:spcAft>
              <a:buClr>
                <a:srgbClr val="000000"/>
              </a:buClr>
              <a:buSzPts val="4000"/>
              <a:buFont typeface="Cambria"/>
              <a:buNone/>
            </a:pPr>
            <a:r>
              <a:rPr lang="en-US" sz="2400" b="1" i="0" u="none" strike="noStrike" cap="none" dirty="0">
                <a:solidFill>
                  <a:srgbClr val="000000"/>
                </a:solidFill>
                <a:latin typeface="Cambria"/>
                <a:ea typeface="Cambria"/>
                <a:cs typeface="Cambria"/>
                <a:sym typeface="Cambria"/>
              </a:rPr>
              <a:t>(provisional – needs update due to excluded data)</a:t>
            </a:r>
            <a:endParaRPr sz="4000" b="0" i="0" u="none" strike="noStrike" cap="none" dirty="0">
              <a:solidFill>
                <a:schemeClr val="dk1"/>
              </a:solidFill>
              <a:latin typeface="Calibri"/>
              <a:ea typeface="Calibri"/>
              <a:cs typeface="Calibri"/>
              <a:sym typeface="Calibri"/>
            </a:endParaRPr>
          </a:p>
        </p:txBody>
      </p:sp>
      <p:sp>
        <p:nvSpPr>
          <p:cNvPr id="13" name="Google Shape;13;p1"/>
          <p:cNvSpPr/>
          <p:nvPr/>
        </p:nvSpPr>
        <p:spPr>
          <a:xfrm>
            <a:off x="457200" y="2468870"/>
            <a:ext cx="8229600" cy="9135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1800"/>
              <a:buFont typeface="Arial"/>
              <a:buNone/>
            </a:pPr>
            <a:r>
              <a:rPr lang="en-US" sz="1800" b="0" i="0" u="none" strike="noStrike" cap="none">
                <a:solidFill>
                  <a:srgbClr val="000000"/>
                </a:solidFill>
                <a:latin typeface="Arial"/>
                <a:ea typeface="Arial"/>
                <a:cs typeface="Arial"/>
                <a:sym typeface="Arial"/>
              </a:rPr>
              <a:t>Flagging SNAP cases for review — INCL_ scripts</a:t>
            </a:r>
            <a:endParaRPr sz="1800" b="0" i="0" u="none" strike="noStrike" cap="none">
              <a:solidFill>
                <a:srgbClr val="000000"/>
              </a:solidFill>
              <a:latin typeface="Arial"/>
              <a:ea typeface="Arial"/>
              <a:cs typeface="Arial"/>
              <a:sym typeface="Arial"/>
            </a:endParaRPr>
          </a:p>
          <a:p>
            <a:pPr marL="0" marR="0" lvl="0" indent="0" algn="l" rtl="0">
              <a:spcBef>
                <a:spcPts val="0"/>
              </a:spcBef>
              <a:spcAft>
                <a:spcPts val="0"/>
              </a:spcAft>
              <a:buClr>
                <a:srgbClr val="000000"/>
              </a:buClr>
              <a:buSzPts val="1800"/>
              <a:buFont typeface="Arial"/>
              <a:buNone/>
            </a:pPr>
            <a:endParaRPr sz="1800"/>
          </a:p>
          <a:p>
            <a:pPr marL="0" marR="0" lvl="0" indent="0" algn="l" rtl="0">
              <a:spcBef>
                <a:spcPts val="0"/>
              </a:spcBef>
              <a:spcAft>
                <a:spcPts val="0"/>
              </a:spcAft>
              <a:buClr>
                <a:srgbClr val="000000"/>
              </a:buClr>
              <a:buSzPts val="1800"/>
              <a:buFont typeface="Arial"/>
              <a:buNone/>
            </a:pPr>
            <a:r>
              <a:rPr lang="en-US" sz="1800" u="sng">
                <a:solidFill>
                  <a:schemeClr val="hlink"/>
                </a:solidFill>
                <a:hlinkClick r:id="rId3"/>
              </a:rPr>
              <a:t>https://github.com/giannella/snap_qc</a:t>
            </a:r>
            <a:endParaRPr sz="1800"/>
          </a:p>
        </p:txBody>
      </p:sp>
      <p:sp>
        <p:nvSpPr>
          <p:cNvPr id="14" name="Google Shape;14;p1"/>
          <p:cNvSpPr/>
          <p:nvPr/>
        </p:nvSpPr>
        <p:spPr>
          <a:xfrm>
            <a:off x="457200" y="3473805"/>
            <a:ext cx="8229600" cy="3657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1300"/>
              <a:buFont typeface="Arial"/>
              <a:buNone/>
            </a:pPr>
            <a:r>
              <a:rPr lang="en-US" sz="1300" b="0" i="1" u="none" strike="noStrike" cap="none">
                <a:solidFill>
                  <a:srgbClr val="5A5A5A"/>
                </a:solidFill>
                <a:latin typeface="Arial"/>
                <a:ea typeface="Arial"/>
                <a:cs typeface="Arial"/>
                <a:sym typeface="Arial"/>
              </a:rPr>
              <a:t>Version 2: rules found by machine learning, kept only when we can be confident in their accuracy, then tuned for each state</a:t>
            </a:r>
            <a:endParaRPr sz="1300" b="0" i="0" u="none" strike="noStrike" cap="none">
              <a:solidFill>
                <a:schemeClr val="dk1"/>
              </a:solidFill>
              <a:latin typeface="Calibri"/>
              <a:ea typeface="Calibri"/>
              <a:cs typeface="Calibri"/>
              <a:sym typeface="Calibri"/>
            </a:endParaRPr>
          </a:p>
        </p:txBody>
      </p:sp>
      <p:sp>
        <p:nvSpPr>
          <p:cNvPr id="15" name="Google Shape;15;p1"/>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b="0" i="0" u="none" strike="noStrike" cap="none">
                <a:solidFill>
                  <a:srgbClr val="5A5A5A"/>
                </a:solidFill>
                <a:latin typeface="Arial"/>
                <a:ea typeface="Arial"/>
                <a:cs typeface="Arial"/>
                <a:sym typeface="Arial"/>
              </a:rPr>
              <a:t>Inclusion rules · INCL_ scripts</a:t>
            </a:r>
            <a:endParaRPr sz="900" b="0" i="0" u="none" strike="noStrike" cap="none">
              <a:solidFill>
                <a:schemeClr val="dk1"/>
              </a:solidFill>
              <a:latin typeface="Calibri"/>
              <a:ea typeface="Calibri"/>
              <a:cs typeface="Calibri"/>
              <a:sym typeface="Calibri"/>
            </a:endParaRPr>
          </a:p>
        </p:txBody>
      </p:sp>
      <p:sp>
        <p:nvSpPr>
          <p:cNvPr id="16" name="Google Shape;16;p1"/>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b="0" i="0" u="none" strike="noStrike" cap="none">
                <a:solidFill>
                  <a:srgbClr val="5A5A5A"/>
                </a:solidFill>
                <a:latin typeface="Arial"/>
                <a:ea typeface="Arial"/>
                <a:cs typeface="Arial"/>
                <a:sym typeface="Arial"/>
              </a:rPr>
              <a:t>1</a:t>
            </a:r>
            <a:endParaRPr sz="900" b="0" i="0" u="none" strike="noStrike" cap="non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1"/>
        <p:cNvGrpSpPr/>
        <p:nvPr/>
      </p:nvGrpSpPr>
      <p:grpSpPr>
        <a:xfrm>
          <a:off x="0" y="0"/>
          <a:ext cx="0" cy="0"/>
          <a:chOff x="0" y="0"/>
          <a:chExt cx="0" cy="0"/>
        </a:xfrm>
      </p:grpSpPr>
      <p:sp>
        <p:nvSpPr>
          <p:cNvPr id="22" name="Google Shape;22;p2"/>
          <p:cNvSpPr/>
          <p:nvPr/>
        </p:nvSpPr>
        <p:spPr>
          <a:xfrm>
            <a:off x="457200" y="310896"/>
            <a:ext cx="822960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2800" b="1">
                <a:solidFill>
                  <a:srgbClr val="000000"/>
                </a:solidFill>
                <a:latin typeface="Cambria"/>
                <a:ea typeface="Cambria"/>
                <a:cs typeface="Cambria"/>
                <a:sym typeface="Cambria"/>
              </a:rPr>
              <a:t>The problem</a:t>
            </a:r>
            <a:endParaRPr sz="2800">
              <a:solidFill>
                <a:schemeClr val="dk1"/>
              </a:solidFill>
              <a:latin typeface="Calibri"/>
              <a:ea typeface="Calibri"/>
              <a:cs typeface="Calibri"/>
              <a:sym typeface="Calibri"/>
            </a:endParaRPr>
          </a:p>
        </p:txBody>
      </p:sp>
      <p:sp>
        <p:nvSpPr>
          <p:cNvPr id="23" name="Google Shape;23;p2"/>
          <p:cNvSpPr/>
          <p:nvPr/>
        </p:nvSpPr>
        <p:spPr>
          <a:xfrm>
            <a:off x="457200" y="1234450"/>
            <a:ext cx="7835400" cy="3291900"/>
          </a:xfrm>
          <a:prstGeom prst="rect">
            <a:avLst/>
          </a:prstGeom>
          <a:noFill/>
          <a:ln>
            <a:noFill/>
          </a:ln>
        </p:spPr>
        <p:txBody>
          <a:bodyPr spcFirstLastPara="1" wrap="square" lIns="91425" tIns="45700" rIns="91425" bIns="45700" anchor="t" anchorCtr="0">
            <a:noAutofit/>
          </a:bodyPr>
          <a:lstStyle/>
          <a:p>
            <a:pPr marL="177800" marR="0" lvl="0" indent="-177800" algn="l" rtl="0">
              <a:spcBef>
                <a:spcPts val="0"/>
              </a:spcBef>
              <a:spcAft>
                <a:spcPts val="0"/>
              </a:spcAft>
              <a:buClr>
                <a:srgbClr val="000000"/>
              </a:buClr>
              <a:buSzPts val="1500"/>
              <a:buFont typeface="Arial"/>
              <a:buChar char="•"/>
            </a:pPr>
            <a:r>
              <a:rPr lang="en-US" sz="1500">
                <a:solidFill>
                  <a:srgbClr val="000000"/>
                </a:solidFill>
                <a:latin typeface="Arial"/>
                <a:ea typeface="Arial"/>
                <a:cs typeface="Arial"/>
                <a:sym typeface="Arial"/>
              </a:rPr>
              <a:t>Review capacity is limited; only a small fraction of cases can be examined.</a:t>
            </a:r>
            <a:endParaRPr sz="1500">
              <a:solidFill>
                <a:schemeClr val="dk1"/>
              </a:solidFill>
              <a:latin typeface="Calibri"/>
              <a:ea typeface="Calibri"/>
              <a:cs typeface="Calibri"/>
              <a:sym typeface="Calibri"/>
            </a:endParaRPr>
          </a:p>
          <a:p>
            <a:pPr marL="177800" marR="0" lvl="0" indent="-177800" algn="l" rtl="0">
              <a:spcBef>
                <a:spcPts val="1000"/>
              </a:spcBef>
              <a:spcAft>
                <a:spcPts val="0"/>
              </a:spcAft>
              <a:buClr>
                <a:srgbClr val="000000"/>
              </a:buClr>
              <a:buSzPts val="1500"/>
              <a:buFont typeface="Arial"/>
              <a:buChar char="•"/>
            </a:pPr>
            <a:r>
              <a:rPr lang="en-US" sz="1500">
                <a:solidFill>
                  <a:srgbClr val="000000"/>
                </a:solidFill>
                <a:latin typeface="Arial"/>
                <a:ea typeface="Arial"/>
                <a:cs typeface="Arial"/>
                <a:sym typeface="Arial"/>
              </a:rPr>
              <a:t>We want to flag the cases most likely to </a:t>
            </a:r>
            <a:r>
              <a:rPr lang="en-US" sz="1500"/>
              <a:t>have large, correctable payment </a:t>
            </a:r>
            <a:r>
              <a:rPr lang="en-US" sz="1500">
                <a:solidFill>
                  <a:srgbClr val="000000"/>
                </a:solidFill>
                <a:latin typeface="Arial"/>
                <a:ea typeface="Arial"/>
                <a:cs typeface="Arial"/>
                <a:sym typeface="Arial"/>
              </a:rPr>
              <a:t>errors.</a:t>
            </a:r>
            <a:endParaRPr sz="1500">
              <a:solidFill>
                <a:schemeClr val="dk1"/>
              </a:solidFill>
              <a:latin typeface="Calibri"/>
              <a:ea typeface="Calibri"/>
              <a:cs typeface="Calibri"/>
              <a:sym typeface="Calibri"/>
            </a:endParaRPr>
          </a:p>
          <a:p>
            <a:pPr marL="177800" marR="0" lvl="0" indent="-177800" algn="l" rtl="0">
              <a:spcBef>
                <a:spcPts val="1000"/>
              </a:spcBef>
              <a:spcAft>
                <a:spcPts val="0"/>
              </a:spcAft>
              <a:buClr>
                <a:srgbClr val="000000"/>
              </a:buClr>
              <a:buSzPts val="1500"/>
              <a:buFont typeface="Arial"/>
              <a:buChar char="•"/>
            </a:pPr>
            <a:r>
              <a:rPr lang="en-US" sz="1500">
                <a:solidFill>
                  <a:srgbClr val="000000"/>
                </a:solidFill>
                <a:latin typeface="Arial"/>
                <a:ea typeface="Arial"/>
                <a:cs typeface="Arial"/>
                <a:sym typeface="Arial"/>
              </a:rPr>
              <a:t>An “inclusion” rule marks a case </a:t>
            </a:r>
            <a:r>
              <a:rPr lang="en-US" sz="1500"/>
              <a:t>as more likely to have one of these errors</a:t>
            </a:r>
            <a:r>
              <a:rPr lang="en-US" sz="1500">
                <a:solidFill>
                  <a:srgbClr val="000000"/>
                </a:solidFill>
                <a:latin typeface="Arial"/>
                <a:ea typeface="Arial"/>
                <a:cs typeface="Arial"/>
                <a:sym typeface="Arial"/>
              </a:rPr>
              <a:t>.</a:t>
            </a:r>
            <a:endParaRPr sz="1500">
              <a:solidFill>
                <a:schemeClr val="dk1"/>
              </a:solidFill>
              <a:latin typeface="Calibri"/>
              <a:ea typeface="Calibri"/>
              <a:cs typeface="Calibri"/>
              <a:sym typeface="Calibri"/>
            </a:endParaRPr>
          </a:p>
          <a:p>
            <a:pPr marL="177800" marR="0" lvl="0" indent="-177800" algn="l" rtl="0">
              <a:spcBef>
                <a:spcPts val="1000"/>
              </a:spcBef>
              <a:spcAft>
                <a:spcPts val="0"/>
              </a:spcAft>
              <a:buClr>
                <a:srgbClr val="000000"/>
              </a:buClr>
              <a:buSzPts val="1500"/>
              <a:buFont typeface="Arial"/>
              <a:buChar char="•"/>
            </a:pPr>
            <a:r>
              <a:rPr lang="en-US" sz="1500"/>
              <a:t>Designed to focus on </a:t>
            </a:r>
            <a:r>
              <a:rPr lang="en-US" sz="1500">
                <a:solidFill>
                  <a:srgbClr val="000000"/>
                </a:solidFill>
                <a:latin typeface="Arial"/>
                <a:ea typeface="Arial"/>
                <a:cs typeface="Arial"/>
                <a:sym typeface="Arial"/>
              </a:rPr>
              <a:t>high precision (maximize av</a:t>
            </a:r>
            <a:r>
              <a:rPr lang="en-US" sz="1500"/>
              <a:t>erage yield per reviewed case</a:t>
            </a:r>
            <a:r>
              <a:rPr lang="en-US" sz="1500">
                <a:solidFill>
                  <a:srgbClr val="000000"/>
                </a:solidFill>
                <a:latin typeface="Arial"/>
                <a:ea typeface="Arial"/>
                <a:cs typeface="Arial"/>
                <a:sym typeface="Arial"/>
              </a:rPr>
              <a:t>) while still </a:t>
            </a:r>
            <a:r>
              <a:rPr lang="en-US" sz="1500"/>
              <a:t>catching a predefined level of errors</a:t>
            </a:r>
            <a:r>
              <a:rPr lang="en-US" sz="1500">
                <a:solidFill>
                  <a:srgbClr val="000000"/>
                </a:solidFill>
                <a:latin typeface="Arial"/>
                <a:ea typeface="Arial"/>
                <a:cs typeface="Arial"/>
                <a:sym typeface="Arial"/>
              </a:rPr>
              <a:t> (recall).</a:t>
            </a:r>
            <a:endParaRPr sz="1500">
              <a:solidFill>
                <a:schemeClr val="dk1"/>
              </a:solidFill>
              <a:latin typeface="Calibri"/>
              <a:ea typeface="Calibri"/>
              <a:cs typeface="Calibri"/>
              <a:sym typeface="Calibri"/>
            </a:endParaRPr>
          </a:p>
        </p:txBody>
      </p:sp>
      <p:sp>
        <p:nvSpPr>
          <p:cNvPr id="24" name="Google Shape;24;p2"/>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a:solidFill>
                  <a:srgbClr val="5A5A5A"/>
                </a:solidFill>
                <a:latin typeface="Arial"/>
                <a:ea typeface="Arial"/>
                <a:cs typeface="Arial"/>
                <a:sym typeface="Arial"/>
              </a:rPr>
              <a:t>Inclusion rules · INCL_ scripts</a:t>
            </a:r>
            <a:endParaRPr sz="900">
              <a:solidFill>
                <a:schemeClr val="dk1"/>
              </a:solidFill>
              <a:latin typeface="Calibri"/>
              <a:ea typeface="Calibri"/>
              <a:cs typeface="Calibri"/>
              <a:sym typeface="Calibri"/>
            </a:endParaRPr>
          </a:p>
        </p:txBody>
      </p:sp>
      <p:sp>
        <p:nvSpPr>
          <p:cNvPr id="25" name="Google Shape;25;p2"/>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a:solidFill>
                  <a:srgbClr val="5A5A5A"/>
                </a:solidFill>
                <a:latin typeface="Arial"/>
                <a:ea typeface="Arial"/>
                <a:cs typeface="Arial"/>
                <a:sym typeface="Arial"/>
              </a:rPr>
              <a:t>2</a:t>
            </a:r>
            <a:endParaRPr sz="900">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0"/>
        <p:cNvGrpSpPr/>
        <p:nvPr/>
      </p:nvGrpSpPr>
      <p:grpSpPr>
        <a:xfrm>
          <a:off x="0" y="0"/>
          <a:ext cx="0" cy="0"/>
          <a:chOff x="0" y="0"/>
          <a:chExt cx="0" cy="0"/>
        </a:xfrm>
      </p:grpSpPr>
      <p:sp>
        <p:nvSpPr>
          <p:cNvPr id="31" name="Google Shape;31;p3"/>
          <p:cNvSpPr/>
          <p:nvPr/>
        </p:nvSpPr>
        <p:spPr>
          <a:xfrm>
            <a:off x="457200" y="310896"/>
            <a:ext cx="822960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2800" b="1" dirty="0">
                <a:solidFill>
                  <a:srgbClr val="000000"/>
                </a:solidFill>
                <a:latin typeface="Cambria"/>
                <a:ea typeface="Cambria"/>
                <a:cs typeface="Cambria"/>
                <a:sym typeface="Cambria"/>
              </a:rPr>
              <a:t>Key ideas</a:t>
            </a:r>
            <a:endParaRPr sz="2800" dirty="0">
              <a:solidFill>
                <a:schemeClr val="dk1"/>
              </a:solidFill>
              <a:latin typeface="Calibri"/>
              <a:ea typeface="Calibri"/>
              <a:cs typeface="Calibri"/>
              <a:sym typeface="Calibri"/>
            </a:endParaRPr>
          </a:p>
        </p:txBody>
      </p:sp>
      <p:sp>
        <p:nvSpPr>
          <p:cNvPr id="32" name="Google Shape;32;p3"/>
          <p:cNvSpPr/>
          <p:nvPr/>
        </p:nvSpPr>
        <p:spPr>
          <a:xfrm>
            <a:off x="457200" y="1234440"/>
            <a:ext cx="8229600" cy="338328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1450"/>
              <a:buFont typeface="Arial"/>
              <a:buNone/>
            </a:pPr>
            <a:r>
              <a:rPr lang="en-US" sz="1450" b="1" dirty="0">
                <a:solidFill>
                  <a:srgbClr val="000000"/>
                </a:solidFill>
                <a:latin typeface="Arial"/>
                <a:ea typeface="Arial"/>
                <a:cs typeface="Arial"/>
                <a:sym typeface="Arial"/>
              </a:rPr>
              <a:t>Precision </a:t>
            </a:r>
            <a:r>
              <a:rPr lang="en-US" sz="1450" dirty="0">
                <a:solidFill>
                  <a:srgbClr val="000000"/>
                </a:solidFill>
                <a:latin typeface="Arial"/>
                <a:ea typeface="Arial"/>
                <a:cs typeface="Arial"/>
                <a:sym typeface="Arial"/>
              </a:rPr>
              <a:t>— share of flagged cases that are true errors.</a:t>
            </a:r>
            <a:endParaRPr sz="1450" dirty="0">
              <a:solidFill>
                <a:schemeClr val="dk1"/>
              </a:solidFill>
              <a:latin typeface="Calibri"/>
              <a:ea typeface="Calibri"/>
              <a:cs typeface="Calibri"/>
              <a:sym typeface="Calibri"/>
            </a:endParaRPr>
          </a:p>
          <a:p>
            <a:pPr marL="0" marR="0" lvl="0" indent="0" algn="l" rtl="0">
              <a:spcBef>
                <a:spcPts val="0"/>
              </a:spcBef>
              <a:spcAft>
                <a:spcPts val="0"/>
              </a:spcAft>
              <a:buClr>
                <a:srgbClr val="000000"/>
              </a:buClr>
              <a:buSzPts val="1450"/>
              <a:buFont typeface="Arial"/>
              <a:buNone/>
            </a:pPr>
            <a:r>
              <a:rPr lang="en-US" sz="1450" b="1" dirty="0">
                <a:solidFill>
                  <a:srgbClr val="000000"/>
                </a:solidFill>
                <a:latin typeface="Arial"/>
                <a:ea typeface="Arial"/>
                <a:cs typeface="Arial"/>
                <a:sym typeface="Arial"/>
              </a:rPr>
              <a:t>Recall </a:t>
            </a:r>
            <a:r>
              <a:rPr lang="en-US" sz="1450" dirty="0">
                <a:solidFill>
                  <a:srgbClr val="000000"/>
                </a:solidFill>
                <a:latin typeface="Arial"/>
                <a:ea typeface="Arial"/>
                <a:cs typeface="Arial"/>
                <a:sym typeface="Arial"/>
              </a:rPr>
              <a:t>— share of all errors (or error dollars) that get flagged.</a:t>
            </a:r>
            <a:endParaRPr sz="1450" dirty="0">
              <a:solidFill>
                <a:schemeClr val="dk1"/>
              </a:solidFill>
              <a:latin typeface="Calibri"/>
              <a:ea typeface="Calibri"/>
              <a:cs typeface="Calibri"/>
              <a:sym typeface="Calibri"/>
            </a:endParaRPr>
          </a:p>
          <a:p>
            <a:pPr marL="0" marR="0" lvl="0" indent="0" algn="l" rtl="0">
              <a:spcBef>
                <a:spcPts val="0"/>
              </a:spcBef>
              <a:spcAft>
                <a:spcPts val="0"/>
              </a:spcAft>
              <a:buClr>
                <a:srgbClr val="000000"/>
              </a:buClr>
              <a:buSzPts val="1450"/>
              <a:buFont typeface="Arial"/>
              <a:buNone/>
            </a:pPr>
            <a:r>
              <a:rPr lang="en-US" sz="1450" b="1" dirty="0">
                <a:solidFill>
                  <a:srgbClr val="000000"/>
                </a:solidFill>
                <a:latin typeface="Arial"/>
                <a:ea typeface="Arial"/>
                <a:cs typeface="Arial"/>
                <a:sym typeface="Arial"/>
              </a:rPr>
              <a:t>Finding rules - </a:t>
            </a:r>
            <a:r>
              <a:rPr lang="en-US" sz="1450" dirty="0">
                <a:solidFill>
                  <a:srgbClr val="000000"/>
                </a:solidFill>
                <a:latin typeface="Arial"/>
                <a:ea typeface="Arial"/>
                <a:cs typeface="Arial"/>
                <a:sym typeface="Arial"/>
              </a:rPr>
              <a:t>two standard machine-learning methods (xgboost and ranger) grow thousands of decision trees on the data; every branch becomes a candidate if-then rule. The two methods find different rules, so we use both.</a:t>
            </a:r>
            <a:endParaRPr sz="1450" dirty="0">
              <a:solidFill>
                <a:schemeClr val="dk1"/>
              </a:solidFill>
              <a:latin typeface="Calibri"/>
              <a:ea typeface="Calibri"/>
              <a:cs typeface="Calibri"/>
              <a:sym typeface="Calibri"/>
            </a:endParaRPr>
          </a:p>
          <a:p>
            <a:pPr marL="0" marR="0" lvl="0" indent="0" algn="l" rtl="0">
              <a:spcBef>
                <a:spcPts val="0"/>
              </a:spcBef>
              <a:spcAft>
                <a:spcPts val="0"/>
              </a:spcAft>
              <a:buClr>
                <a:srgbClr val="000000"/>
              </a:buClr>
              <a:buSzPts val="1450"/>
              <a:buFont typeface="Arial"/>
              <a:buNone/>
            </a:pPr>
            <a:r>
              <a:rPr lang="en-US" sz="1450" b="1" dirty="0">
                <a:solidFill>
                  <a:srgbClr val="000000"/>
                </a:solidFill>
                <a:latin typeface="Arial"/>
                <a:ea typeface="Arial"/>
                <a:cs typeface="Arial"/>
                <a:sym typeface="Arial"/>
              </a:rPr>
              <a:t>Keeping rules </a:t>
            </a:r>
            <a:r>
              <a:rPr lang="en-US" sz="1450" dirty="0">
                <a:solidFill>
                  <a:srgbClr val="000000"/>
                </a:solidFill>
                <a:latin typeface="Arial"/>
                <a:ea typeface="Arial"/>
                <a:cs typeface="Arial"/>
                <a:sym typeface="Arial"/>
              </a:rPr>
              <a:t>- a rule tested on only a handful of cases can look great by luck. Before keeping a rule, we shrink its measured precision to what we can be statistically confident of, given how many cases it was tested on. Without this step, a rule list promising 20% precision delivered about 10% on new data.</a:t>
            </a:r>
            <a:endParaRPr sz="1450" dirty="0">
              <a:solidFill>
                <a:schemeClr val="dk1"/>
              </a:solidFill>
              <a:latin typeface="Calibri"/>
              <a:ea typeface="Calibri"/>
              <a:cs typeface="Calibri"/>
              <a:sym typeface="Calibri"/>
            </a:endParaRPr>
          </a:p>
          <a:p>
            <a:pPr marL="0" marR="0" lvl="0" indent="0" algn="l" rtl="0">
              <a:spcBef>
                <a:spcPts val="0"/>
              </a:spcBef>
              <a:spcAft>
                <a:spcPts val="0"/>
              </a:spcAft>
              <a:buClr>
                <a:srgbClr val="000000"/>
              </a:buClr>
              <a:buSzPts val="1450"/>
              <a:buFont typeface="Arial"/>
              <a:buNone/>
            </a:pPr>
            <a:r>
              <a:rPr lang="en-US" sz="1450" b="1" dirty="0">
                <a:solidFill>
                  <a:srgbClr val="000000"/>
                </a:solidFill>
                <a:latin typeface="Arial"/>
                <a:ea typeface="Arial"/>
                <a:cs typeface="Arial"/>
                <a:sym typeface="Arial"/>
              </a:rPr>
              <a:t>By household size </a:t>
            </a:r>
            <a:r>
              <a:rPr lang="en-US" sz="1450" dirty="0">
                <a:solidFill>
                  <a:srgbClr val="000000"/>
                </a:solidFill>
                <a:latin typeface="Arial"/>
                <a:ea typeface="Arial"/>
                <a:cs typeface="Arial"/>
                <a:sym typeface="Arial"/>
              </a:rPr>
              <a:t>- cases are split into sizes 1, 2-3, and 4+ and modeled separately, since benefits and error amounts scale with household size.</a:t>
            </a:r>
            <a:endParaRPr sz="1450" dirty="0">
              <a:solidFill>
                <a:schemeClr val="dk1"/>
              </a:solidFill>
              <a:latin typeface="Calibri"/>
              <a:ea typeface="Calibri"/>
              <a:cs typeface="Calibri"/>
              <a:sym typeface="Calibri"/>
            </a:endParaRPr>
          </a:p>
          <a:p>
            <a:pPr marL="0" marR="0" lvl="0" indent="0" algn="l" rtl="0">
              <a:spcBef>
                <a:spcPts val="0"/>
              </a:spcBef>
              <a:spcAft>
                <a:spcPts val="0"/>
              </a:spcAft>
              <a:buClr>
                <a:srgbClr val="000000"/>
              </a:buClr>
              <a:buSzPts val="1450"/>
              <a:buFont typeface="Arial"/>
              <a:buNone/>
            </a:pPr>
            <a:r>
              <a:rPr lang="en-US" sz="1450" b="1" dirty="0">
                <a:solidFill>
                  <a:srgbClr val="000000"/>
                </a:solidFill>
                <a:latin typeface="Arial"/>
                <a:ea typeface="Arial"/>
                <a:cs typeface="Arial"/>
                <a:sym typeface="Arial"/>
              </a:rPr>
              <a:t>Counting every error</a:t>
            </a:r>
            <a:r>
              <a:rPr lang="en-US" sz="1450" dirty="0">
                <a:solidFill>
                  <a:srgbClr val="000000"/>
                </a:solidFill>
                <a:latin typeface="Arial"/>
                <a:ea typeface="Arial"/>
                <a:cs typeface="Arial"/>
                <a:sym typeface="Arial"/>
              </a:rPr>
              <a:t> - when a flagged case turns out to have a different kind of error than the rule was built for, the review still succeeded. Counting only the original error type understates real-world accuracy by about half.</a:t>
            </a:r>
            <a:endParaRPr sz="1450" dirty="0">
              <a:solidFill>
                <a:schemeClr val="dk1"/>
              </a:solidFill>
              <a:latin typeface="Calibri"/>
              <a:ea typeface="Calibri"/>
              <a:cs typeface="Calibri"/>
              <a:sym typeface="Calibri"/>
            </a:endParaRPr>
          </a:p>
        </p:txBody>
      </p:sp>
      <p:sp>
        <p:nvSpPr>
          <p:cNvPr id="33" name="Google Shape;33;p3"/>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a:solidFill>
                  <a:srgbClr val="5A5A5A"/>
                </a:solidFill>
                <a:latin typeface="Arial"/>
                <a:ea typeface="Arial"/>
                <a:cs typeface="Arial"/>
                <a:sym typeface="Arial"/>
              </a:rPr>
              <a:t>Inclusion rules · INCL_ scripts</a:t>
            </a:r>
            <a:endParaRPr sz="900">
              <a:solidFill>
                <a:schemeClr val="dk1"/>
              </a:solidFill>
              <a:latin typeface="Calibri"/>
              <a:ea typeface="Calibri"/>
              <a:cs typeface="Calibri"/>
              <a:sym typeface="Calibri"/>
            </a:endParaRPr>
          </a:p>
        </p:txBody>
      </p:sp>
      <p:sp>
        <p:nvSpPr>
          <p:cNvPr id="34" name="Google Shape;34;p3"/>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a:solidFill>
                  <a:srgbClr val="5A5A5A"/>
                </a:solidFill>
                <a:latin typeface="Arial"/>
                <a:ea typeface="Arial"/>
                <a:cs typeface="Arial"/>
                <a:sym typeface="Arial"/>
              </a:rPr>
              <a:t>3</a:t>
            </a:r>
            <a:endParaRPr sz="900">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20000"/>
            <a:ext cx="7295587" cy="430887"/>
          </a:xfrm>
          <a:prstGeom prst="rect">
            <a:avLst/>
          </a:prstGeom>
          <a:noFill/>
        </p:spPr>
        <p:txBody>
          <a:bodyPr wrap="none">
            <a:spAutoFit/>
          </a:bodyPr>
          <a:lstStyle/>
          <a:p>
            <a:r>
              <a:rPr lang="en-US" sz="2200" b="1" dirty="0"/>
              <a:t>Finding rules: </a:t>
            </a:r>
            <a:r>
              <a:rPr sz="2200" b="1" dirty="0" err="1"/>
              <a:t>xgboost</a:t>
            </a:r>
            <a:r>
              <a:rPr sz="2200" b="1" dirty="0"/>
              <a:t> + </a:t>
            </a:r>
            <a:r>
              <a:rPr lang="en-US" sz="2200" b="1" dirty="0"/>
              <a:t>constrained random forests</a:t>
            </a:r>
          </a:p>
        </p:txBody>
      </p:sp>
      <p:sp>
        <p:nvSpPr>
          <p:cNvPr id="4" name="TextBox 3"/>
          <p:cNvSpPr txBox="1"/>
          <p:nvPr/>
        </p:nvSpPr>
        <p:spPr>
          <a:xfrm>
            <a:off x="400000" y="900000"/>
            <a:ext cx="3273434" cy="3046988"/>
          </a:xfrm>
          <a:prstGeom prst="rect">
            <a:avLst/>
          </a:prstGeom>
          <a:noFill/>
        </p:spPr>
        <p:txBody>
          <a:bodyPr wrap="square">
            <a:spAutoFit/>
          </a:bodyPr>
          <a:lstStyle/>
          <a:p>
            <a:pPr>
              <a:spcAft>
                <a:spcPts val="600"/>
              </a:spcAft>
            </a:pPr>
            <a:r>
              <a:rPr sz="1300" dirty="0"/>
              <a:t>- Head-to-head with everything else identical (same screens, </a:t>
            </a:r>
            <a:r>
              <a:rPr sz="1300" dirty="0" err="1"/>
              <a:t>dedup</a:t>
            </a:r>
            <a:r>
              <a:rPr sz="1300" dirty="0"/>
              <a:t>, filter): </a:t>
            </a:r>
            <a:r>
              <a:rPr sz="1300" dirty="0" err="1"/>
              <a:t>xgboost</a:t>
            </a:r>
            <a:r>
              <a:rPr sz="1300" dirty="0"/>
              <a:t> + ranger catches 55% of error dollars at the 0.20 filter floor vs 47% for bagged CART ({pre}'s rule generator), at slightly better precision at matched recall (+1.2pp).</a:t>
            </a:r>
          </a:p>
          <a:p>
            <a:pPr>
              <a:spcAft>
                <a:spcPts val="600"/>
              </a:spcAft>
            </a:pPr>
            <a:r>
              <a:rPr sz="1300" dirty="0"/>
              <a:t>- The </a:t>
            </a:r>
            <a:r>
              <a:rPr lang="en-US" sz="1300" dirty="0"/>
              <a:t>pair </a:t>
            </a:r>
            <a:r>
              <a:rPr sz="1300" dirty="0"/>
              <a:t>beats either engine alone - </a:t>
            </a:r>
            <a:r>
              <a:rPr lang="en-US" sz="1300" dirty="0"/>
              <a:t>they</a:t>
            </a:r>
            <a:r>
              <a:rPr sz="1300" dirty="0"/>
              <a:t> find complementary rules (engine pairs beat singles in every test).</a:t>
            </a:r>
            <a:endParaRPr lang="en-US" sz="1300" dirty="0"/>
          </a:p>
          <a:p>
            <a:pPr>
              <a:spcAft>
                <a:spcPts val="600"/>
              </a:spcAft>
            </a:pPr>
            <a:r>
              <a:rPr lang="en-US" sz="1300" dirty="0"/>
              <a:t>- Random forests can only choose between two variables in each split, forces coverage of key demographic variations such as elderly or disabled. </a:t>
            </a:r>
            <a:endParaRPr sz="1300" dirty="0"/>
          </a:p>
        </p:txBody>
      </p:sp>
      <p:pic>
        <p:nvPicPr>
          <p:cNvPr id="5" name="Picture 4" descr="combo_sweeps.png"/>
          <p:cNvPicPr>
            <a:picLocks noChangeAspect="1"/>
          </p:cNvPicPr>
          <p:nvPr/>
        </p:nvPicPr>
        <p:blipFill>
          <a:blip r:embed="rId3"/>
          <a:stretch>
            <a:fillRect/>
          </a:stretch>
        </p:blipFill>
        <p:spPr>
          <a:xfrm>
            <a:off x="3994343" y="1696755"/>
            <a:ext cx="4900000" cy="2994444"/>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31;p3">
            <a:extLst>
              <a:ext uri="{FF2B5EF4-FFF2-40B4-BE49-F238E27FC236}">
                <a16:creationId xmlns:a16="http://schemas.microsoft.com/office/drawing/2014/main" id="{CF57E5D1-2C0A-A226-8EB3-7F70B6F1DB5C}"/>
              </a:ext>
            </a:extLst>
          </p:cNvPr>
          <p:cNvSpPr/>
          <p:nvPr/>
        </p:nvSpPr>
        <p:spPr>
          <a:xfrm>
            <a:off x="302221" y="181132"/>
            <a:ext cx="822960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2000" b="1" dirty="0">
                <a:latin typeface="Cambria"/>
                <a:ea typeface="Cambria"/>
                <a:cs typeface="Cambria"/>
                <a:sym typeface="Cambria"/>
              </a:rPr>
              <a:t>Finding rules: M</a:t>
            </a:r>
            <a:r>
              <a:rPr lang="en-US" sz="2000" b="1" dirty="0">
                <a:solidFill>
                  <a:srgbClr val="000000"/>
                </a:solidFill>
                <a:latin typeface="Cambria"/>
                <a:ea typeface="Cambria"/>
                <a:cs typeface="Cambria"/>
                <a:sym typeface="Cambria"/>
              </a:rPr>
              <a:t>odeling by household size helps </a:t>
            </a:r>
          </a:p>
        </p:txBody>
      </p:sp>
      <p:sp>
        <p:nvSpPr>
          <p:cNvPr id="5" name="Google Shape;71;p5">
            <a:extLst>
              <a:ext uri="{FF2B5EF4-FFF2-40B4-BE49-F238E27FC236}">
                <a16:creationId xmlns:a16="http://schemas.microsoft.com/office/drawing/2014/main" id="{372C75CB-DB81-ECB1-23DE-0515E0699FDE}"/>
              </a:ext>
            </a:extLst>
          </p:cNvPr>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Inclusion rules · INCL_ scripts</a:t>
            </a:r>
            <a:endParaRPr sz="900" dirty="0">
              <a:solidFill>
                <a:schemeClr val="dk1"/>
              </a:solidFill>
              <a:latin typeface="Calibri"/>
              <a:ea typeface="Calibri"/>
              <a:cs typeface="Calibri"/>
              <a:sym typeface="Calibri"/>
            </a:endParaRPr>
          </a:p>
        </p:txBody>
      </p:sp>
      <p:sp>
        <p:nvSpPr>
          <p:cNvPr id="2" name="Google Shape;34;p3">
            <a:extLst>
              <a:ext uri="{FF2B5EF4-FFF2-40B4-BE49-F238E27FC236}">
                <a16:creationId xmlns:a16="http://schemas.microsoft.com/office/drawing/2014/main" id="{9E147437-BD2A-6D0F-095C-298C1672722B}"/>
              </a:ext>
            </a:extLst>
          </p:cNvPr>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4</a:t>
            </a:r>
            <a:endParaRPr sz="900" dirty="0">
              <a:solidFill>
                <a:schemeClr val="dk1"/>
              </a:solidFill>
              <a:latin typeface="Calibri"/>
              <a:ea typeface="Calibri"/>
              <a:cs typeface="Calibri"/>
              <a:sym typeface="Calibri"/>
            </a:endParaRPr>
          </a:p>
        </p:txBody>
      </p:sp>
      <p:pic>
        <p:nvPicPr>
          <p:cNvPr id="7" name="Picture 6">
            <a:extLst>
              <a:ext uri="{FF2B5EF4-FFF2-40B4-BE49-F238E27FC236}">
                <a16:creationId xmlns:a16="http://schemas.microsoft.com/office/drawing/2014/main" id="{4F524269-74D9-2AC1-0B21-BA4281EE36E8}"/>
              </a:ext>
            </a:extLst>
          </p:cNvPr>
          <p:cNvPicPr>
            <a:picLocks noChangeAspect="1"/>
          </p:cNvPicPr>
          <p:nvPr/>
        </p:nvPicPr>
        <p:blipFill>
          <a:blip r:embed="rId2"/>
          <a:stretch>
            <a:fillRect/>
          </a:stretch>
        </p:blipFill>
        <p:spPr>
          <a:xfrm>
            <a:off x="1274729" y="897425"/>
            <a:ext cx="6145086" cy="3840678"/>
          </a:xfrm>
          <a:prstGeom prst="rect">
            <a:avLst/>
          </a:prstGeom>
        </p:spPr>
      </p:pic>
    </p:spTree>
    <p:extLst>
      <p:ext uri="{BB962C8B-B14F-4D97-AF65-F5344CB8AC3E}">
        <p14:creationId xmlns:p14="http://schemas.microsoft.com/office/powerpoint/2010/main" val="287899233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31;p3">
            <a:extLst>
              <a:ext uri="{FF2B5EF4-FFF2-40B4-BE49-F238E27FC236}">
                <a16:creationId xmlns:a16="http://schemas.microsoft.com/office/drawing/2014/main" id="{CF57E5D1-2C0A-A226-8EB3-7F70B6F1DB5C}"/>
              </a:ext>
            </a:extLst>
          </p:cNvPr>
          <p:cNvSpPr/>
          <p:nvPr/>
        </p:nvSpPr>
        <p:spPr>
          <a:xfrm>
            <a:off x="302221" y="181132"/>
            <a:ext cx="822960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2000" b="1" dirty="0">
                <a:latin typeface="Cambria"/>
                <a:ea typeface="Cambria"/>
                <a:cs typeface="Cambria"/>
                <a:sym typeface="Cambria"/>
              </a:rPr>
              <a:t>But less so after we introduce constrained random forests (</a:t>
            </a:r>
            <a:r>
              <a:rPr lang="en-US" sz="2000" b="1" dirty="0" err="1">
                <a:latin typeface="Cambria"/>
                <a:ea typeface="Cambria"/>
                <a:cs typeface="Cambria"/>
                <a:sym typeface="Cambria"/>
              </a:rPr>
              <a:t>mtry</a:t>
            </a:r>
            <a:r>
              <a:rPr lang="en-US" sz="2000" b="1" dirty="0">
                <a:latin typeface="Cambria"/>
                <a:ea typeface="Cambria"/>
                <a:cs typeface="Cambria"/>
                <a:sym typeface="Cambria"/>
              </a:rPr>
              <a:t>=2)</a:t>
            </a:r>
            <a:endParaRPr lang="en-US" sz="2000" b="1" dirty="0">
              <a:solidFill>
                <a:srgbClr val="000000"/>
              </a:solidFill>
              <a:latin typeface="Cambria"/>
              <a:ea typeface="Cambria"/>
              <a:cs typeface="Cambria"/>
              <a:sym typeface="Cambria"/>
            </a:endParaRPr>
          </a:p>
        </p:txBody>
      </p:sp>
      <p:sp>
        <p:nvSpPr>
          <p:cNvPr id="5" name="Google Shape;71;p5">
            <a:extLst>
              <a:ext uri="{FF2B5EF4-FFF2-40B4-BE49-F238E27FC236}">
                <a16:creationId xmlns:a16="http://schemas.microsoft.com/office/drawing/2014/main" id="{372C75CB-DB81-ECB1-23DE-0515E0699FDE}"/>
              </a:ext>
            </a:extLst>
          </p:cNvPr>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Inclusion rules · INCL_ scripts</a:t>
            </a:r>
            <a:endParaRPr sz="900" dirty="0">
              <a:solidFill>
                <a:schemeClr val="dk1"/>
              </a:solidFill>
              <a:latin typeface="Calibri"/>
              <a:ea typeface="Calibri"/>
              <a:cs typeface="Calibri"/>
              <a:sym typeface="Calibri"/>
            </a:endParaRPr>
          </a:p>
        </p:txBody>
      </p:sp>
      <p:sp>
        <p:nvSpPr>
          <p:cNvPr id="2" name="Google Shape;34;p3">
            <a:extLst>
              <a:ext uri="{FF2B5EF4-FFF2-40B4-BE49-F238E27FC236}">
                <a16:creationId xmlns:a16="http://schemas.microsoft.com/office/drawing/2014/main" id="{9E147437-BD2A-6D0F-095C-298C1672722B}"/>
              </a:ext>
            </a:extLst>
          </p:cNvPr>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4</a:t>
            </a:r>
            <a:endParaRPr sz="900" dirty="0">
              <a:solidFill>
                <a:schemeClr val="dk1"/>
              </a:solidFill>
              <a:latin typeface="Calibri"/>
              <a:ea typeface="Calibri"/>
              <a:cs typeface="Calibri"/>
              <a:sym typeface="Calibri"/>
            </a:endParaRPr>
          </a:p>
        </p:txBody>
      </p:sp>
      <p:pic>
        <p:nvPicPr>
          <p:cNvPr id="6" name="Picture 5" descr="strata_sweeps.png"/>
          <p:cNvPicPr>
            <a:picLocks noChangeAspect="1"/>
          </p:cNvPicPr>
          <p:nvPr/>
        </p:nvPicPr>
        <p:blipFill>
          <a:blip r:embed="rId2"/>
          <a:stretch>
            <a:fillRect/>
          </a:stretch>
        </p:blipFill>
        <p:spPr>
          <a:xfrm>
            <a:off x="1317357" y="982787"/>
            <a:ext cx="6199328" cy="3788478"/>
          </a:xfrm>
          <a:prstGeom prst="rect">
            <a:avLst/>
          </a:prstGeom>
        </p:spPr>
      </p:pic>
    </p:spTree>
    <p:extLst>
      <p:ext uri="{BB962C8B-B14F-4D97-AF65-F5344CB8AC3E}">
        <p14:creationId xmlns:p14="http://schemas.microsoft.com/office/powerpoint/2010/main" val="33955495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9"/>
        <p:cNvGrpSpPr/>
        <p:nvPr/>
      </p:nvGrpSpPr>
      <p:grpSpPr>
        <a:xfrm>
          <a:off x="0" y="0"/>
          <a:ext cx="0" cy="0"/>
          <a:chOff x="0" y="0"/>
          <a:chExt cx="0" cy="0"/>
        </a:xfrm>
      </p:grpSpPr>
      <p:sp>
        <p:nvSpPr>
          <p:cNvPr id="40" name="Google Shape;40;p4"/>
          <p:cNvSpPr/>
          <p:nvPr/>
        </p:nvSpPr>
        <p:spPr>
          <a:xfrm>
            <a:off x="457200" y="310896"/>
            <a:ext cx="8229600" cy="640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2800" b="1">
                <a:latin typeface="Cambria"/>
                <a:ea typeface="Cambria"/>
                <a:cs typeface="Cambria"/>
                <a:sym typeface="Cambria"/>
              </a:rPr>
              <a:t>How to use the scripts</a:t>
            </a:r>
            <a:endParaRPr sz="2800">
              <a:solidFill>
                <a:schemeClr val="dk1"/>
              </a:solidFill>
              <a:latin typeface="Calibri"/>
              <a:ea typeface="Calibri"/>
              <a:cs typeface="Calibri"/>
              <a:sym typeface="Calibri"/>
            </a:endParaRPr>
          </a:p>
        </p:txBody>
      </p:sp>
      <p:sp>
        <p:nvSpPr>
          <p:cNvPr id="41" name="Google Shape;41;p4"/>
          <p:cNvSpPr/>
          <p:nvPr/>
        </p:nvSpPr>
        <p:spPr>
          <a:xfrm>
            <a:off x="309966" y="2286000"/>
            <a:ext cx="1500534" cy="1428900"/>
          </a:xfrm>
          <a:prstGeom prst="roundRect">
            <a:avLst>
              <a:gd name="adj" fmla="val 4053"/>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42" name="Google Shape;42;p4"/>
          <p:cNvSpPr/>
          <p:nvPr/>
        </p:nvSpPr>
        <p:spPr>
          <a:xfrm>
            <a:off x="421316" y="2381250"/>
            <a:ext cx="1297624" cy="1238400"/>
          </a:xfrm>
          <a:prstGeom prst="rect">
            <a:avLst/>
          </a:prstGeom>
          <a:solidFill>
            <a:srgbClr val="000000">
              <a:alpha val="0"/>
            </a:srgbClr>
          </a:solidFill>
          <a:ln>
            <a:noFill/>
          </a:ln>
        </p:spPr>
        <p:txBody>
          <a:bodyPr spcFirstLastPara="1" wrap="square" lIns="0" tIns="0" rIns="0" bIns="0" anchor="ctr" anchorCtr="0">
            <a:noAutofit/>
          </a:bodyPr>
          <a:lstStyle/>
          <a:p>
            <a:pPr marL="0" lvl="0" indent="0" algn="ctr" rtl="0">
              <a:spcBef>
                <a:spcPts val="0"/>
              </a:spcBef>
              <a:spcAft>
                <a:spcPts val="0"/>
              </a:spcAft>
              <a:buNone/>
            </a:pPr>
            <a:r>
              <a:rPr lang="en-US" sz="1000" b="1">
                <a:solidFill>
                  <a:srgbClr val="5A5A5A"/>
                </a:solidFill>
                <a:latin typeface="Arial"/>
                <a:ea typeface="Arial"/>
                <a:cs typeface="Arial"/>
                <a:sym typeface="Arial"/>
              </a:rPr>
              <a:t>INPUT</a:t>
            </a:r>
            <a:endParaRPr sz="1000" b="1">
              <a:solidFill>
                <a:srgbClr val="5A5A5A"/>
              </a:solidFill>
              <a:latin typeface="Arial"/>
              <a:ea typeface="Arial"/>
              <a:cs typeface="Arial"/>
              <a:sym typeface="Arial"/>
            </a:endParaRPr>
          </a:p>
          <a:p>
            <a:pPr marL="0" lvl="0" indent="0" algn="ctr" rtl="0">
              <a:spcBef>
                <a:spcPts val="375"/>
              </a:spcBef>
              <a:spcAft>
                <a:spcPts val="0"/>
              </a:spcAft>
              <a:buNone/>
            </a:pPr>
            <a:r>
              <a:rPr lang="en-US" sz="1100" b="1">
                <a:solidFill>
                  <a:srgbClr val="000000"/>
                </a:solidFill>
                <a:latin typeface="Arial"/>
                <a:ea typeface="Arial"/>
                <a:cs typeface="Arial"/>
                <a:sym typeface="Arial"/>
              </a:rPr>
              <a:t>Labelled cases (errors + clean)</a:t>
            </a:r>
            <a:endParaRPr sz="1000" b="1">
              <a:solidFill>
                <a:srgbClr val="5A5A5A"/>
              </a:solidFill>
              <a:latin typeface="Arial"/>
              <a:ea typeface="Arial"/>
              <a:cs typeface="Arial"/>
              <a:sym typeface="Arial"/>
            </a:endParaRPr>
          </a:p>
        </p:txBody>
      </p:sp>
      <p:cxnSp>
        <p:nvCxnSpPr>
          <p:cNvPr id="43" name="Google Shape;43;p4"/>
          <p:cNvCxnSpPr>
            <a:cxnSpLocks/>
            <a:stCxn id="41" idx="3"/>
            <a:endCxn id="44" idx="1"/>
          </p:cNvCxnSpPr>
          <p:nvPr/>
        </p:nvCxnSpPr>
        <p:spPr>
          <a:xfrm>
            <a:off x="1810500" y="3000450"/>
            <a:ext cx="218538" cy="0"/>
          </a:xfrm>
          <a:prstGeom prst="straightConnector1">
            <a:avLst/>
          </a:prstGeom>
          <a:solidFill>
            <a:srgbClr val="FFFFFF"/>
          </a:solidFill>
          <a:ln w="22225" cap="flat" cmpd="sng">
            <a:solidFill>
              <a:srgbClr val="000000"/>
            </a:solidFill>
            <a:prstDash val="solid"/>
            <a:round/>
            <a:headEnd type="none" w="sm" len="sm"/>
            <a:tailEnd type="triangle" w="med" len="med"/>
          </a:ln>
        </p:spPr>
      </p:cxnSp>
      <p:sp>
        <p:nvSpPr>
          <p:cNvPr id="44" name="Google Shape;44;p4"/>
          <p:cNvSpPr/>
          <p:nvPr/>
        </p:nvSpPr>
        <p:spPr>
          <a:xfrm>
            <a:off x="2029038" y="2286000"/>
            <a:ext cx="1500534" cy="1428900"/>
          </a:xfrm>
          <a:prstGeom prst="roundRect">
            <a:avLst>
              <a:gd name="adj" fmla="val 4053"/>
            </a:avLst>
          </a:prstGeom>
          <a:solidFill>
            <a:srgbClr val="F2F2F2"/>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45" name="Google Shape;45;p4"/>
          <p:cNvSpPr/>
          <p:nvPr/>
        </p:nvSpPr>
        <p:spPr>
          <a:xfrm>
            <a:off x="2140388" y="2381250"/>
            <a:ext cx="1297624" cy="1238400"/>
          </a:xfrm>
          <a:prstGeom prst="rect">
            <a:avLst/>
          </a:prstGeom>
          <a:solidFill>
            <a:srgbClr val="000000">
              <a:alpha val="0"/>
            </a:srgbClr>
          </a:solid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1300"/>
              <a:buFont typeface="Arial"/>
              <a:buNone/>
            </a:pPr>
            <a:r>
              <a:rPr lang="en-US" sz="1000" i="1" dirty="0">
                <a:solidFill>
                  <a:srgbClr val="5A5A5A"/>
                </a:solidFill>
                <a:latin typeface="Arial"/>
                <a:ea typeface="Arial"/>
                <a:cs typeface="Arial"/>
                <a:sym typeface="Arial"/>
              </a:rPr>
              <a:t>INCL_find_inclusion_rules_by_hh_size_v2.</a:t>
            </a:r>
          </a:p>
          <a:p>
            <a:pPr marL="0" lvl="0" indent="0" algn="ctr" rtl="0">
              <a:spcBef>
                <a:spcPts val="375"/>
              </a:spcBef>
              <a:spcAft>
                <a:spcPts val="0"/>
              </a:spcAft>
              <a:buNone/>
            </a:pPr>
            <a:r>
              <a:rPr lang="en-US" sz="1100" b="1" dirty="0">
                <a:solidFill>
                  <a:srgbClr val="000000"/>
                </a:solidFill>
                <a:latin typeface="Arial"/>
                <a:ea typeface="Arial"/>
                <a:cs typeface="Arial"/>
                <a:sym typeface="Arial"/>
              </a:rPr>
              <a:t>Find candidate rules; keep reliably accurate rules</a:t>
            </a:r>
            <a:endParaRPr sz="1000" b="1" dirty="0">
              <a:solidFill>
                <a:srgbClr val="5A5A5A"/>
              </a:solidFill>
              <a:latin typeface="Arial"/>
              <a:ea typeface="Arial"/>
              <a:cs typeface="Arial"/>
              <a:sym typeface="Arial"/>
            </a:endParaRPr>
          </a:p>
        </p:txBody>
      </p:sp>
      <p:cxnSp>
        <p:nvCxnSpPr>
          <p:cNvPr id="46" name="Google Shape;46;p4"/>
          <p:cNvCxnSpPr>
            <a:cxnSpLocks/>
            <a:stCxn id="44" idx="3"/>
            <a:endCxn id="47" idx="1"/>
          </p:cNvCxnSpPr>
          <p:nvPr/>
        </p:nvCxnSpPr>
        <p:spPr>
          <a:xfrm flipV="1">
            <a:off x="3529572" y="2143200"/>
            <a:ext cx="853556" cy="857250"/>
          </a:xfrm>
          <a:prstGeom prst="bentConnector3">
            <a:avLst>
              <a:gd name="adj1" fmla="val 50000"/>
            </a:avLst>
          </a:prstGeom>
          <a:solidFill>
            <a:srgbClr val="FFFFFF"/>
          </a:solidFill>
          <a:ln w="22225" cap="flat" cmpd="sng">
            <a:solidFill>
              <a:srgbClr val="000000"/>
            </a:solidFill>
            <a:prstDash val="solid"/>
            <a:round/>
            <a:headEnd type="none" w="sm" len="sm"/>
            <a:tailEnd type="triangle" w="med" len="med"/>
          </a:ln>
        </p:spPr>
      </p:cxnSp>
      <p:sp>
        <p:nvSpPr>
          <p:cNvPr id="47" name="Google Shape;47;p4"/>
          <p:cNvSpPr/>
          <p:nvPr/>
        </p:nvSpPr>
        <p:spPr>
          <a:xfrm>
            <a:off x="4383128" y="1428750"/>
            <a:ext cx="1546213" cy="1428900"/>
          </a:xfrm>
          <a:prstGeom prst="roundRect">
            <a:avLst>
              <a:gd name="adj" fmla="val 4053"/>
            </a:avLst>
          </a:prstGeom>
          <a:solidFill>
            <a:srgbClr val="EFEFE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48" name="Google Shape;48;p4"/>
          <p:cNvSpPr/>
          <p:nvPr/>
        </p:nvSpPr>
        <p:spPr>
          <a:xfrm>
            <a:off x="4474569" y="1524000"/>
            <a:ext cx="1337126" cy="1238400"/>
          </a:xfrm>
          <a:prstGeom prst="rect">
            <a:avLst/>
          </a:prstGeom>
          <a:solidFill>
            <a:srgbClr val="EFEFEF"/>
          </a:solidFill>
          <a:ln>
            <a:noFill/>
          </a:ln>
        </p:spPr>
        <p:txBody>
          <a:bodyPr spcFirstLastPara="1" wrap="square" lIns="0" tIns="0" rIns="0" bIns="0" anchor="ctr" anchorCtr="0">
            <a:noAutofit/>
          </a:bodyPr>
          <a:lstStyle/>
          <a:p>
            <a:pPr marL="0" lvl="0" indent="0" algn="ctr" rtl="0">
              <a:spcBef>
                <a:spcPts val="0"/>
              </a:spcBef>
              <a:spcAft>
                <a:spcPts val="0"/>
              </a:spcAft>
              <a:buNone/>
            </a:pPr>
            <a:r>
              <a:rPr lang="en-US" sz="1000" b="1" dirty="0" err="1">
                <a:solidFill>
                  <a:srgbClr val="5A5A5A"/>
                </a:solidFill>
                <a:latin typeface="Arial"/>
                <a:ea typeface="Arial"/>
                <a:cs typeface="Arial"/>
                <a:sym typeface="Arial"/>
              </a:rPr>
              <a:t>state_threshold_ gridsearch_v2</a:t>
            </a:r>
            <a:endParaRPr sz="1000" b="1" dirty="0">
              <a:solidFill>
                <a:srgbClr val="5A5A5A"/>
              </a:solidFill>
              <a:latin typeface="Arial"/>
              <a:ea typeface="Arial"/>
              <a:cs typeface="Arial"/>
              <a:sym typeface="Arial"/>
            </a:endParaRPr>
          </a:p>
          <a:p>
            <a:pPr marL="0" lvl="0" indent="0" algn="ctr" rtl="0">
              <a:spcBef>
                <a:spcPts val="375"/>
              </a:spcBef>
              <a:spcAft>
                <a:spcPts val="0"/>
              </a:spcAft>
              <a:buNone/>
            </a:pPr>
            <a:r>
              <a:rPr lang="en-US" sz="1100" b="1" dirty="0">
                <a:solidFill>
                  <a:srgbClr val="000000"/>
                </a:solidFill>
                <a:latin typeface="Arial"/>
                <a:ea typeface="Arial"/>
                <a:cs typeface="Arial"/>
                <a:sym typeface="Arial"/>
              </a:rPr>
              <a:t>Adjust rule cutoffs to your state's data</a:t>
            </a:r>
            <a:endParaRPr sz="1000" b="1" dirty="0">
              <a:solidFill>
                <a:srgbClr val="5A5A5A"/>
              </a:solidFill>
              <a:latin typeface="Arial"/>
              <a:ea typeface="Arial"/>
              <a:cs typeface="Arial"/>
              <a:sym typeface="Arial"/>
            </a:endParaRPr>
          </a:p>
        </p:txBody>
      </p:sp>
      <p:cxnSp>
        <p:nvCxnSpPr>
          <p:cNvPr id="49" name="Google Shape;49;p4"/>
          <p:cNvCxnSpPr>
            <a:cxnSpLocks/>
            <a:stCxn id="44" idx="3"/>
            <a:endCxn id="50" idx="1"/>
          </p:cNvCxnSpPr>
          <p:nvPr/>
        </p:nvCxnSpPr>
        <p:spPr>
          <a:xfrm>
            <a:off x="3529572" y="3000450"/>
            <a:ext cx="871831" cy="835538"/>
          </a:xfrm>
          <a:prstGeom prst="bentConnector3">
            <a:avLst>
              <a:gd name="adj1" fmla="val 48667"/>
            </a:avLst>
          </a:prstGeom>
          <a:solidFill>
            <a:srgbClr val="FFFFFF"/>
          </a:solidFill>
          <a:ln w="22225" cap="flat" cmpd="sng">
            <a:solidFill>
              <a:srgbClr val="000000"/>
            </a:solidFill>
            <a:prstDash val="solid"/>
            <a:round/>
            <a:headEnd type="none" w="sm" len="sm"/>
            <a:tailEnd type="triangle" w="med" len="med"/>
          </a:ln>
        </p:spPr>
      </p:cxnSp>
      <p:sp>
        <p:nvSpPr>
          <p:cNvPr id="50" name="Google Shape;50;p4"/>
          <p:cNvSpPr/>
          <p:nvPr/>
        </p:nvSpPr>
        <p:spPr>
          <a:xfrm>
            <a:off x="4401403" y="3121538"/>
            <a:ext cx="1546213" cy="1428900"/>
          </a:xfrm>
          <a:prstGeom prst="roundRect">
            <a:avLst>
              <a:gd name="adj" fmla="val 4053"/>
            </a:avLst>
          </a:prstGeom>
          <a:solidFill>
            <a:srgbClr val="F2F2F2"/>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51" name="Google Shape;51;p4"/>
          <p:cNvSpPr/>
          <p:nvPr/>
        </p:nvSpPr>
        <p:spPr>
          <a:xfrm>
            <a:off x="4474569" y="3238500"/>
            <a:ext cx="1337126" cy="1238400"/>
          </a:xfrm>
          <a:prstGeom prst="rect">
            <a:avLst/>
          </a:prstGeom>
          <a:solidFill>
            <a:srgbClr val="000000">
              <a:alpha val="0"/>
            </a:srgbClr>
          </a:solidFill>
          <a:ln>
            <a:noFill/>
          </a:ln>
        </p:spPr>
        <p:txBody>
          <a:bodyPr spcFirstLastPara="1" wrap="square" lIns="0" tIns="0" rIns="0" bIns="0" anchor="ctr" anchorCtr="0">
            <a:noAutofit/>
          </a:bodyPr>
          <a:lstStyle/>
          <a:p>
            <a:pPr marL="0" lvl="0" indent="0" algn="ctr" rtl="0">
              <a:spcBef>
                <a:spcPts val="0"/>
              </a:spcBef>
              <a:spcAft>
                <a:spcPts val="0"/>
              </a:spcAft>
              <a:buNone/>
            </a:pPr>
            <a:r>
              <a:rPr lang="en-US" sz="1000" b="1">
                <a:solidFill>
                  <a:srgbClr val="5A5A5A"/>
                </a:solidFill>
                <a:latin typeface="Arial"/>
                <a:ea typeface="Arial"/>
                <a:cs typeface="Arial"/>
                <a:sym typeface="Arial"/>
              </a:rPr>
              <a:t>Choose how many rules to use</a:t>
            </a:r>
            <a:endParaRPr sz="1000" b="1">
              <a:solidFill>
                <a:srgbClr val="5A5A5A"/>
              </a:solidFill>
              <a:latin typeface="Arial"/>
              <a:ea typeface="Arial"/>
              <a:cs typeface="Arial"/>
              <a:sym typeface="Arial"/>
            </a:endParaRPr>
          </a:p>
          <a:p>
            <a:pPr marL="0" lvl="0" indent="0" algn="ctr" rtl="0">
              <a:spcBef>
                <a:spcPts val="375"/>
              </a:spcBef>
              <a:spcAft>
                <a:spcPts val="0"/>
              </a:spcAft>
              <a:buNone/>
            </a:pPr>
            <a:r>
              <a:rPr lang="en-US" sz="1100" b="1">
                <a:solidFill>
                  <a:srgbClr val="000000"/>
                </a:solidFill>
                <a:latin typeface="Arial"/>
                <a:ea typeface="Arial"/>
                <a:cs typeface="Arial"/>
                <a:sym typeface="Arial"/>
              </a:rPr>
              <a:t>Pick the precision floor that matches your review capacity</a:t>
            </a:r>
            <a:endParaRPr sz="1000" b="1">
              <a:solidFill>
                <a:srgbClr val="5A5A5A"/>
              </a:solidFill>
              <a:latin typeface="Arial"/>
              <a:ea typeface="Arial"/>
              <a:cs typeface="Arial"/>
              <a:sym typeface="Arial"/>
            </a:endParaRPr>
          </a:p>
        </p:txBody>
      </p:sp>
      <p:cxnSp>
        <p:nvCxnSpPr>
          <p:cNvPr id="52" name="Google Shape;52;p4"/>
          <p:cNvCxnSpPr>
            <a:cxnSpLocks/>
            <a:stCxn id="50" idx="3"/>
            <a:endCxn id="53" idx="1"/>
          </p:cNvCxnSpPr>
          <p:nvPr/>
        </p:nvCxnSpPr>
        <p:spPr>
          <a:xfrm>
            <a:off x="5947616" y="3835988"/>
            <a:ext cx="383134" cy="12"/>
          </a:xfrm>
          <a:prstGeom prst="straightConnector1">
            <a:avLst/>
          </a:prstGeom>
          <a:solidFill>
            <a:srgbClr val="FFFFFF"/>
          </a:solidFill>
          <a:ln w="22225" cap="flat" cmpd="sng">
            <a:solidFill>
              <a:srgbClr val="000000"/>
            </a:solidFill>
            <a:prstDash val="solid"/>
            <a:round/>
            <a:headEnd type="none" w="sm" len="sm"/>
            <a:tailEnd type="triangle" w="med" len="med"/>
          </a:ln>
        </p:spPr>
      </p:cxnSp>
      <p:sp>
        <p:nvSpPr>
          <p:cNvPr id="53" name="Google Shape;53;p4"/>
          <p:cNvSpPr/>
          <p:nvPr/>
        </p:nvSpPr>
        <p:spPr>
          <a:xfrm>
            <a:off x="6330750" y="3121550"/>
            <a:ext cx="1546213" cy="1428900"/>
          </a:xfrm>
          <a:prstGeom prst="roundRect">
            <a:avLst>
              <a:gd name="adj" fmla="val 4053"/>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54" name="Google Shape;54;p4"/>
          <p:cNvSpPr/>
          <p:nvPr/>
        </p:nvSpPr>
        <p:spPr>
          <a:xfrm>
            <a:off x="6422241" y="3238500"/>
            <a:ext cx="1337126" cy="1238400"/>
          </a:xfrm>
          <a:prstGeom prst="rect">
            <a:avLst/>
          </a:prstGeom>
          <a:solidFill>
            <a:srgbClr val="000000">
              <a:alpha val="0"/>
            </a:srgbClr>
          </a:solidFill>
          <a:ln>
            <a:noFill/>
          </a:ln>
        </p:spPr>
        <p:txBody>
          <a:bodyPr spcFirstLastPara="1" wrap="square" lIns="0" tIns="0" rIns="0" bIns="0" anchor="ctr" anchorCtr="0">
            <a:noAutofit/>
          </a:bodyPr>
          <a:lstStyle/>
          <a:p>
            <a:pPr marL="0" lvl="0" indent="0" algn="ctr" rtl="0">
              <a:spcBef>
                <a:spcPts val="0"/>
              </a:spcBef>
              <a:spcAft>
                <a:spcPts val="0"/>
              </a:spcAft>
              <a:buNone/>
            </a:pPr>
            <a:r>
              <a:rPr lang="en-US" sz="1000" b="1">
                <a:solidFill>
                  <a:srgbClr val="5A5A5A"/>
                </a:solidFill>
                <a:latin typeface="Arial"/>
                <a:ea typeface="Arial"/>
                <a:cs typeface="Arial"/>
                <a:sym typeface="Arial"/>
              </a:rPr>
              <a:t>OUTPUT</a:t>
            </a:r>
            <a:endParaRPr sz="1000" b="1">
              <a:solidFill>
                <a:srgbClr val="5A5A5A"/>
              </a:solidFill>
              <a:latin typeface="Arial"/>
              <a:ea typeface="Arial"/>
              <a:cs typeface="Arial"/>
              <a:sym typeface="Arial"/>
            </a:endParaRPr>
          </a:p>
          <a:p>
            <a:pPr marL="0" lvl="0" indent="0" algn="ctr" rtl="0">
              <a:spcBef>
                <a:spcPts val="375"/>
              </a:spcBef>
              <a:spcAft>
                <a:spcPts val="0"/>
              </a:spcAft>
              <a:buNone/>
            </a:pPr>
            <a:r>
              <a:rPr lang="en-US" sz="1100" b="1">
                <a:solidFill>
                  <a:srgbClr val="000000"/>
                </a:solidFill>
                <a:latin typeface="Arial"/>
                <a:ea typeface="Arial"/>
                <a:cs typeface="Arial"/>
                <a:sym typeface="Arial"/>
              </a:rPr>
              <a:t>State rule set for testing on FY2025 and FY2026 data</a:t>
            </a:r>
            <a:endParaRPr sz="1100" b="1">
              <a:solidFill>
                <a:srgbClr val="000000"/>
              </a:solidFill>
              <a:latin typeface="Arial"/>
              <a:ea typeface="Arial"/>
              <a:cs typeface="Arial"/>
              <a:sym typeface="Arial"/>
            </a:endParaRPr>
          </a:p>
        </p:txBody>
      </p:sp>
      <p:sp>
        <p:nvSpPr>
          <p:cNvPr id="55" name="Google Shape;55;p4"/>
          <p:cNvSpPr/>
          <p:nvPr/>
        </p:nvSpPr>
        <p:spPr>
          <a:xfrm>
            <a:off x="421316" y="3862651"/>
            <a:ext cx="3913322" cy="12384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1300"/>
              <a:buFont typeface="Arial"/>
              <a:buNone/>
            </a:pPr>
            <a:r>
              <a:rPr lang="en-US" sz="1100" i="1" dirty="0">
                <a:solidFill>
                  <a:srgbClr val="5A5A5A"/>
                </a:solidFill>
                <a:latin typeface="Arial"/>
                <a:ea typeface="Arial"/>
                <a:cs typeface="Arial"/>
                <a:sym typeface="Arial"/>
              </a:rPr>
              <a:t>States with smaller samples and where national </a:t>
            </a:r>
            <a:r>
              <a:rPr lang="en-US" sz="1100" i="1" dirty="0">
                <a:solidFill>
                  <a:srgbClr val="5A5A5A"/>
                </a:solidFill>
              </a:rPr>
              <a:t>rules don’t perform well </a:t>
            </a:r>
            <a:r>
              <a:rPr lang="en-US" sz="1100" i="1" dirty="0">
                <a:solidFill>
                  <a:srgbClr val="5A5A5A"/>
                </a:solidFill>
                <a:latin typeface="Arial"/>
                <a:ea typeface="Arial"/>
                <a:cs typeface="Arial"/>
                <a:sym typeface="Arial"/>
              </a:rPr>
              <a:t>should use rules derived from similar states and test on their data.</a:t>
            </a:r>
            <a:endParaRPr sz="1100" dirty="0">
              <a:solidFill>
                <a:schemeClr val="dk1"/>
              </a:solidFill>
              <a:latin typeface="Calibri"/>
              <a:ea typeface="Calibri"/>
              <a:cs typeface="Calibri"/>
              <a:sym typeface="Calibri"/>
            </a:endParaRPr>
          </a:p>
        </p:txBody>
      </p:sp>
      <p:sp>
        <p:nvSpPr>
          <p:cNvPr id="56" name="Google Shape;56;p4"/>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a:solidFill>
                  <a:srgbClr val="5A5A5A"/>
                </a:solidFill>
                <a:latin typeface="Arial"/>
                <a:ea typeface="Arial"/>
                <a:cs typeface="Arial"/>
                <a:sym typeface="Arial"/>
              </a:rPr>
              <a:t>Inclusion rules · INCL_ scripts</a:t>
            </a:r>
            <a:endParaRPr sz="900">
              <a:solidFill>
                <a:schemeClr val="dk1"/>
              </a:solidFill>
              <a:latin typeface="Calibri"/>
              <a:ea typeface="Calibri"/>
              <a:cs typeface="Calibri"/>
              <a:sym typeface="Calibri"/>
            </a:endParaRPr>
          </a:p>
        </p:txBody>
      </p:sp>
      <p:sp>
        <p:nvSpPr>
          <p:cNvPr id="57" name="Google Shape;57;p4"/>
          <p:cNvSpPr/>
          <p:nvPr/>
        </p:nvSpPr>
        <p:spPr>
          <a:xfrm>
            <a:off x="8138160" y="4814316"/>
            <a:ext cx="54870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5</a:t>
            </a:r>
            <a:endParaRPr sz="900" dirty="0">
              <a:solidFill>
                <a:schemeClr val="dk1"/>
              </a:solidFill>
              <a:latin typeface="Calibri"/>
              <a:ea typeface="Calibri"/>
              <a:cs typeface="Calibri"/>
              <a:sym typeface="Calibri"/>
            </a:endParaRPr>
          </a:p>
        </p:txBody>
      </p:sp>
      <p:sp>
        <p:nvSpPr>
          <p:cNvPr id="58" name="Google Shape;58;p4"/>
          <p:cNvSpPr/>
          <p:nvPr/>
        </p:nvSpPr>
        <p:spPr>
          <a:xfrm>
            <a:off x="6330800" y="1428750"/>
            <a:ext cx="1546213" cy="1428900"/>
          </a:xfrm>
          <a:prstGeom prst="roundRect">
            <a:avLst>
              <a:gd name="adj" fmla="val 4053"/>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59" name="Google Shape;59;p4"/>
          <p:cNvSpPr/>
          <p:nvPr/>
        </p:nvSpPr>
        <p:spPr>
          <a:xfrm>
            <a:off x="6422241" y="1524000"/>
            <a:ext cx="1337126" cy="1238400"/>
          </a:xfrm>
          <a:prstGeom prst="rect">
            <a:avLst/>
          </a:prstGeom>
          <a:solidFill>
            <a:srgbClr val="000000">
              <a:alpha val="0"/>
            </a:srgbClr>
          </a:solidFill>
          <a:ln>
            <a:noFill/>
          </a:ln>
        </p:spPr>
        <p:txBody>
          <a:bodyPr spcFirstLastPara="1" wrap="square" lIns="0" tIns="0" rIns="0" bIns="0" anchor="ctr" anchorCtr="0">
            <a:noAutofit/>
          </a:bodyPr>
          <a:lstStyle/>
          <a:p>
            <a:pPr marL="0" lvl="0" indent="0" algn="ctr" rtl="0">
              <a:spcBef>
                <a:spcPts val="0"/>
              </a:spcBef>
              <a:spcAft>
                <a:spcPts val="0"/>
              </a:spcAft>
              <a:buNone/>
            </a:pPr>
            <a:r>
              <a:rPr lang="en-US" sz="1000" b="1" dirty="0">
                <a:solidFill>
                  <a:srgbClr val="5A5A5A"/>
                </a:solidFill>
                <a:latin typeface="Arial"/>
                <a:ea typeface="Arial"/>
                <a:cs typeface="Arial"/>
                <a:sym typeface="Arial"/>
              </a:rPr>
              <a:t>Add to existing curated rule set</a:t>
            </a:r>
            <a:endParaRPr sz="1000" b="1" dirty="0">
              <a:solidFill>
                <a:srgbClr val="5A5A5A"/>
              </a:solidFill>
              <a:latin typeface="Arial"/>
              <a:ea typeface="Arial"/>
              <a:cs typeface="Arial"/>
              <a:sym typeface="Arial"/>
            </a:endParaRPr>
          </a:p>
          <a:p>
            <a:pPr marL="0" lvl="0" indent="0" algn="ctr" rtl="0">
              <a:spcBef>
                <a:spcPts val="375"/>
              </a:spcBef>
              <a:spcAft>
                <a:spcPts val="0"/>
              </a:spcAft>
              <a:buNone/>
            </a:pPr>
            <a:r>
              <a:rPr lang="en-US" sz="1100" b="1" dirty="0">
                <a:solidFill>
                  <a:srgbClr val="000000"/>
                </a:solidFill>
                <a:latin typeface="Arial"/>
                <a:ea typeface="Arial"/>
                <a:cs typeface="Arial"/>
                <a:sym typeface="Arial"/>
              </a:rPr>
              <a:t>Test on hold-out (either FY25/26 or a predefined random sample)</a:t>
            </a:r>
            <a:endParaRPr sz="1100" b="1" dirty="0">
              <a:solidFill>
                <a:srgbClr val="000000"/>
              </a:solidFill>
              <a:latin typeface="Arial"/>
              <a:ea typeface="Arial"/>
              <a:cs typeface="Arial"/>
              <a:sym typeface="Arial"/>
            </a:endParaRPr>
          </a:p>
        </p:txBody>
      </p:sp>
      <p:cxnSp>
        <p:nvCxnSpPr>
          <p:cNvPr id="60" name="Google Shape;60;p4"/>
          <p:cNvCxnSpPr>
            <a:cxnSpLocks/>
            <a:stCxn id="47" idx="3"/>
          </p:cNvCxnSpPr>
          <p:nvPr/>
        </p:nvCxnSpPr>
        <p:spPr>
          <a:xfrm flipV="1">
            <a:off x="5929341" y="2143188"/>
            <a:ext cx="392275" cy="12"/>
          </a:xfrm>
          <a:prstGeom prst="straightConnector1">
            <a:avLst/>
          </a:prstGeom>
          <a:solidFill>
            <a:srgbClr val="FFFFFF"/>
          </a:solidFill>
          <a:ln w="22225" cap="flat" cmpd="sng">
            <a:solidFill>
              <a:srgbClr val="000000"/>
            </a:solidFill>
            <a:prstDash val="solid"/>
            <a:round/>
            <a:headEnd type="none" w="sm" len="sm"/>
            <a:tailEnd type="triangle" w="med" len="med"/>
          </a:ln>
        </p:spPr>
      </p:cxnSp>
      <p:sp>
        <p:nvSpPr>
          <p:cNvPr id="5" name="Google Shape;41;p4">
            <a:extLst>
              <a:ext uri="{FF2B5EF4-FFF2-40B4-BE49-F238E27FC236}">
                <a16:creationId xmlns:a16="http://schemas.microsoft.com/office/drawing/2014/main" id="{49ED0841-3C2D-56C1-B372-A1BF4250BC98}"/>
              </a:ext>
            </a:extLst>
          </p:cNvPr>
          <p:cNvSpPr/>
          <p:nvPr/>
        </p:nvSpPr>
        <p:spPr>
          <a:xfrm>
            <a:off x="2006199" y="906602"/>
            <a:ext cx="1546212" cy="1108499"/>
          </a:xfrm>
          <a:prstGeom prst="roundRect">
            <a:avLst>
              <a:gd name="adj" fmla="val 4053"/>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r>
              <a:rPr lang="en-US" sz="1200" b="1" dirty="0"/>
              <a:t>Input data for finding rules</a:t>
            </a:r>
          </a:p>
          <a:p>
            <a:pPr marL="285750" lvl="0" indent="-285750" algn="l" rtl="0">
              <a:spcBef>
                <a:spcPts val="0"/>
              </a:spcBef>
              <a:spcAft>
                <a:spcPts val="0"/>
              </a:spcAft>
              <a:buFont typeface="Arial" panose="020B0604020202020204" pitchFamily="34" charset="0"/>
              <a:buChar char="•"/>
            </a:pPr>
            <a:r>
              <a:rPr lang="en-US" sz="1200" dirty="0"/>
              <a:t>national OR  </a:t>
            </a:r>
          </a:p>
          <a:p>
            <a:pPr marL="285750" lvl="0" indent="-285750" algn="l" rtl="0">
              <a:spcBef>
                <a:spcPts val="0"/>
              </a:spcBef>
              <a:spcAft>
                <a:spcPts val="0"/>
              </a:spcAft>
              <a:buFont typeface="Arial" panose="020B0604020202020204" pitchFamily="34" charset="0"/>
              <a:buChar char="•"/>
            </a:pPr>
            <a:r>
              <a:rPr lang="en-US" sz="1200" dirty="0"/>
              <a:t>similar states OR </a:t>
            </a:r>
          </a:p>
          <a:p>
            <a:pPr marL="285750" lvl="0" indent="-285750" algn="l" rtl="0">
              <a:spcBef>
                <a:spcPts val="0"/>
              </a:spcBef>
              <a:spcAft>
                <a:spcPts val="0"/>
              </a:spcAft>
              <a:buFont typeface="Arial" panose="020B0604020202020204" pitchFamily="34" charset="0"/>
              <a:buChar char="•"/>
            </a:pPr>
            <a:r>
              <a:rPr lang="en-US" sz="1200" dirty="0"/>
              <a:t>your state</a:t>
            </a:r>
            <a:endParaRPr sz="1200" dirty="0"/>
          </a:p>
        </p:txBody>
      </p:sp>
      <p:cxnSp>
        <p:nvCxnSpPr>
          <p:cNvPr id="7" name="Straight Arrow Connector 6">
            <a:extLst>
              <a:ext uri="{FF2B5EF4-FFF2-40B4-BE49-F238E27FC236}">
                <a16:creationId xmlns:a16="http://schemas.microsoft.com/office/drawing/2014/main" id="{AE719576-0002-C02D-D44A-394556490E41}"/>
              </a:ext>
            </a:extLst>
          </p:cNvPr>
          <p:cNvCxnSpPr>
            <a:stCxn id="5" idx="2"/>
            <a:endCxn id="44" idx="0"/>
          </p:cNvCxnSpPr>
          <p:nvPr/>
        </p:nvCxnSpPr>
        <p:spPr>
          <a:xfrm>
            <a:off x="2779305" y="2015101"/>
            <a:ext cx="0" cy="270899"/>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65"/>
        <p:cNvGrpSpPr/>
        <p:nvPr/>
      </p:nvGrpSpPr>
      <p:grpSpPr>
        <a:xfrm>
          <a:off x="0" y="0"/>
          <a:ext cx="0" cy="0"/>
          <a:chOff x="0" y="0"/>
          <a:chExt cx="0" cy="0"/>
        </a:xfrm>
      </p:grpSpPr>
      <p:sp>
        <p:nvSpPr>
          <p:cNvPr id="66" name="Google Shape;66;p5"/>
          <p:cNvSpPr/>
          <p:nvPr/>
        </p:nvSpPr>
        <p:spPr>
          <a:xfrm>
            <a:off x="457200" y="310896"/>
            <a:ext cx="8229600" cy="640080"/>
          </a:xfrm>
          <a:prstGeom prst="rect">
            <a:avLst/>
          </a:prstGeom>
          <a:noFill/>
          <a:ln>
            <a:noFill/>
          </a:ln>
        </p:spPr>
        <p:txBody>
          <a:bodyPr spcFirstLastPara="1" wrap="square" lIns="0" tIns="0" rIns="0" bIns="0" anchor="ctr" anchorCtr="0">
            <a:noAutofit/>
          </a:bodyPr>
          <a:lstStyle/>
          <a:p>
            <a:pPr>
              <a:buSzPts val="2800"/>
            </a:pPr>
            <a:r>
              <a:rPr lang="en-US" sz="1800" b="1" dirty="0">
                <a:solidFill>
                  <a:srgbClr val="000000"/>
                </a:solidFill>
                <a:latin typeface="Cambria"/>
                <a:ea typeface="Cambria"/>
                <a:cs typeface="Cambria"/>
                <a:sym typeface="Cambria"/>
              </a:rPr>
              <a:t>Find and combine inclusion rules:</a:t>
            </a:r>
            <a:endParaRPr lang="en-US" sz="1800" dirty="0">
              <a:solidFill>
                <a:schemeClr val="dk1"/>
              </a:solidFill>
              <a:latin typeface="Calibri"/>
              <a:ea typeface="Calibri"/>
              <a:cs typeface="Calibri"/>
              <a:sym typeface="Calibri"/>
            </a:endParaRPr>
          </a:p>
          <a:p>
            <a:pPr marL="0" marR="0" lvl="0" indent="0" algn="l" rtl="0">
              <a:spcBef>
                <a:spcPts val="0"/>
              </a:spcBef>
              <a:spcAft>
                <a:spcPts val="0"/>
              </a:spcAft>
              <a:buClr>
                <a:srgbClr val="000000"/>
              </a:buClr>
              <a:buSzPts val="2800"/>
              <a:buFont typeface="Cambria"/>
              <a:buNone/>
            </a:pPr>
            <a:r>
              <a:rPr lang="en-US" sz="1800" b="1" dirty="0" err="1">
                <a:solidFill>
                  <a:srgbClr val="000000"/>
                </a:solidFill>
                <a:latin typeface="Cambria"/>
                <a:ea typeface="Cambria"/>
                <a:cs typeface="Cambria"/>
                <a:sym typeface="Cambria"/>
              </a:rPr>
              <a:t>INCL_find_inclusion_rules_by_hh_size_v2.R</a:t>
            </a:r>
            <a:endParaRPr lang="en-US" sz="1800" b="1" dirty="0">
              <a:solidFill>
                <a:srgbClr val="000000"/>
              </a:solidFill>
              <a:latin typeface="Cambria"/>
              <a:ea typeface="Cambria"/>
              <a:cs typeface="Cambria"/>
              <a:sym typeface="Cambria"/>
            </a:endParaRPr>
          </a:p>
        </p:txBody>
      </p:sp>
      <p:sp>
        <p:nvSpPr>
          <p:cNvPr id="67" name="Google Shape;67;p5"/>
          <p:cNvSpPr/>
          <p:nvPr/>
        </p:nvSpPr>
        <p:spPr>
          <a:xfrm>
            <a:off x="457200" y="1234440"/>
            <a:ext cx="5212080" cy="3291840"/>
          </a:xfrm>
          <a:prstGeom prst="rect">
            <a:avLst/>
          </a:prstGeom>
          <a:noFill/>
          <a:ln>
            <a:noFill/>
          </a:ln>
        </p:spPr>
        <p:txBody>
          <a:bodyPr spcFirstLastPara="1" wrap="square" lIns="91425" tIns="45700" rIns="91425" bIns="45700" anchor="t" anchorCtr="0">
            <a:noAutofit/>
          </a:bodyPr>
          <a:lstStyle/>
          <a:p>
            <a:pPr marR="0" lvl="0" algn="l" rtl="0">
              <a:spcBef>
                <a:spcPts val="0"/>
              </a:spcBef>
              <a:spcAft>
                <a:spcPts val="0"/>
              </a:spcAft>
              <a:buClr>
                <a:srgbClr val="000000"/>
              </a:buClr>
              <a:buSzPts val="1500"/>
            </a:pPr>
            <a:r>
              <a:rPr lang="en-US" sz="1200" b="1" dirty="0">
                <a:solidFill>
                  <a:srgbClr val="000000"/>
                </a:solidFill>
                <a:latin typeface="Arial"/>
                <a:ea typeface="Arial"/>
                <a:cs typeface="Arial"/>
                <a:sym typeface="Arial"/>
              </a:rPr>
              <a:t>Creating rules</a:t>
            </a:r>
            <a:r>
              <a:rPr lang="en-US" sz="1200" dirty="0">
                <a:solidFill>
                  <a:srgbClr val="000000"/>
                </a:solidFill>
                <a:latin typeface="Arial"/>
                <a:ea typeface="Arial"/>
                <a:cs typeface="Arial"/>
                <a:sym typeface="Arial"/>
              </a:rPr>
              <a:t>: For each error type (earned income, unearned income, underpayment, other) plus an all-errors category, and each household size, the two tree-growing methods propose rules that combine 1-4 variables.</a:t>
            </a:r>
            <a:endParaRPr sz="1200" dirty="0">
              <a:solidFill>
                <a:schemeClr val="dk1"/>
              </a:solidFill>
              <a:latin typeface="Calibri"/>
              <a:ea typeface="Calibri"/>
              <a:cs typeface="Calibri"/>
              <a:sym typeface="Calibri"/>
            </a:endParaRPr>
          </a:p>
          <a:p>
            <a:pPr marR="0" lvl="0" algn="l" rtl="0">
              <a:spcBef>
                <a:spcPts val="1000"/>
              </a:spcBef>
              <a:spcAft>
                <a:spcPts val="0"/>
              </a:spcAft>
              <a:buClr>
                <a:srgbClr val="000000"/>
              </a:buClr>
              <a:buSzPts val="1500"/>
            </a:pPr>
            <a:r>
              <a:rPr lang="en-US" sz="1200" b="1" dirty="0">
                <a:solidFill>
                  <a:srgbClr val="000000"/>
                </a:solidFill>
                <a:latin typeface="Arial"/>
                <a:ea typeface="Arial"/>
                <a:cs typeface="Arial"/>
                <a:sym typeface="Arial"/>
              </a:rPr>
              <a:t>Scoring rules: </a:t>
            </a:r>
            <a:r>
              <a:rPr lang="en-US" sz="1200" dirty="0">
                <a:solidFill>
                  <a:srgbClr val="000000"/>
                </a:solidFill>
                <a:latin typeface="Arial"/>
                <a:ea typeface="Arial"/>
                <a:cs typeface="Arial"/>
                <a:sym typeface="Arial"/>
              </a:rPr>
              <a:t>Every rule is scored three ways: on the data used to build it, on a year of data it never saw, and counting every kind of error it catches.</a:t>
            </a:r>
            <a:endParaRPr sz="1200" dirty="0">
              <a:solidFill>
                <a:schemeClr val="dk1"/>
              </a:solidFill>
              <a:latin typeface="Calibri"/>
              <a:ea typeface="Calibri"/>
              <a:cs typeface="Calibri"/>
              <a:sym typeface="Calibri"/>
            </a:endParaRPr>
          </a:p>
          <a:p>
            <a:pPr marR="0" lvl="0" algn="l" rtl="0">
              <a:spcBef>
                <a:spcPts val="1000"/>
              </a:spcBef>
              <a:spcAft>
                <a:spcPts val="0"/>
              </a:spcAft>
              <a:buClr>
                <a:srgbClr val="000000"/>
              </a:buClr>
              <a:buSzPts val="1500"/>
            </a:pPr>
            <a:r>
              <a:rPr lang="en-US" sz="1200" b="1" dirty="0">
                <a:solidFill>
                  <a:srgbClr val="000000"/>
                </a:solidFill>
                <a:latin typeface="Arial"/>
                <a:ea typeface="Arial"/>
                <a:cs typeface="Arial"/>
                <a:sym typeface="Arial"/>
              </a:rPr>
              <a:t>Selecting rules:</a:t>
            </a:r>
            <a:r>
              <a:rPr lang="en-US" sz="1200" dirty="0">
                <a:solidFill>
                  <a:srgbClr val="000000"/>
                </a:solidFill>
                <a:latin typeface="Arial"/>
                <a:ea typeface="Arial"/>
                <a:cs typeface="Arial"/>
                <a:sym typeface="Arial"/>
              </a:rPr>
              <a:t> A rule is kept only when we can be statistically confident its precision clears the bar (default: confident at the 99% level that at least 1 in 5 flagged cases has an error). Near-duplicate rules are removed.</a:t>
            </a:r>
            <a:endParaRPr sz="1200" dirty="0">
              <a:solidFill>
                <a:schemeClr val="dk1"/>
              </a:solidFill>
              <a:latin typeface="Calibri"/>
              <a:ea typeface="Calibri"/>
              <a:cs typeface="Calibri"/>
              <a:sym typeface="Calibri"/>
            </a:endParaRPr>
          </a:p>
          <a:p>
            <a:pPr marR="0" lvl="0" algn="l" rtl="0">
              <a:spcBef>
                <a:spcPts val="1000"/>
              </a:spcBef>
              <a:spcAft>
                <a:spcPts val="0"/>
              </a:spcAft>
              <a:buClr>
                <a:srgbClr val="000000"/>
              </a:buClr>
              <a:buSzPts val="1500"/>
            </a:pPr>
            <a:r>
              <a:rPr lang="en-US" sz="1200" b="1" dirty="0"/>
              <a:t>Measure overall potential</a:t>
            </a:r>
            <a:r>
              <a:rPr lang="en-US" sz="1200" dirty="0"/>
              <a:t>: Track, for each level of precision, what ALL the selected rules achieve together - how many cases they flag and what share of errors and error dollars they catch (a case flagged by several rules counts once).</a:t>
            </a:r>
            <a:endParaRPr sz="1200" dirty="0"/>
          </a:p>
        </p:txBody>
      </p:sp>
      <p:sp>
        <p:nvSpPr>
          <p:cNvPr id="68" name="Google Shape;68;p5"/>
          <p:cNvSpPr/>
          <p:nvPr/>
        </p:nvSpPr>
        <p:spPr>
          <a:xfrm>
            <a:off x="5989320" y="1280160"/>
            <a:ext cx="2697480" cy="3108960"/>
          </a:xfrm>
          <a:prstGeom prst="roundRect">
            <a:avLst>
              <a:gd name="adj" fmla="val 2034"/>
            </a:avLst>
          </a:prstGeom>
          <a:solidFill>
            <a:srgbClr val="F2F2F2"/>
          </a:solidFill>
          <a:ln w="12700" cap="flat" cmpd="sng">
            <a:solidFill>
              <a:srgbClr val="80808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Google Shape;69;p5"/>
          <p:cNvSpPr/>
          <p:nvPr/>
        </p:nvSpPr>
        <p:spPr>
          <a:xfrm>
            <a:off x="6172200" y="1463040"/>
            <a:ext cx="2331720" cy="365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1300"/>
              <a:buFont typeface="Arial"/>
              <a:buNone/>
            </a:pPr>
            <a:r>
              <a:rPr lang="en-US" sz="1300" b="1" dirty="0">
                <a:solidFill>
                  <a:srgbClr val="000000"/>
                </a:solidFill>
                <a:latin typeface="Arial"/>
                <a:ea typeface="Arial"/>
                <a:cs typeface="Arial"/>
                <a:sym typeface="Arial"/>
              </a:rPr>
              <a:t>Output tables and charts</a:t>
            </a:r>
            <a:endParaRPr sz="1300" dirty="0">
              <a:solidFill>
                <a:schemeClr val="dk1"/>
              </a:solidFill>
              <a:latin typeface="Calibri"/>
              <a:ea typeface="Calibri"/>
              <a:cs typeface="Calibri"/>
              <a:sym typeface="Calibri"/>
            </a:endParaRPr>
          </a:p>
        </p:txBody>
      </p:sp>
      <p:sp>
        <p:nvSpPr>
          <p:cNvPr id="70" name="Google Shape;70;p5"/>
          <p:cNvSpPr/>
          <p:nvPr/>
        </p:nvSpPr>
        <p:spPr>
          <a:xfrm>
            <a:off x="6172200" y="1874520"/>
            <a:ext cx="2331720" cy="2423160"/>
          </a:xfrm>
          <a:prstGeom prst="rect">
            <a:avLst/>
          </a:prstGeom>
          <a:noFill/>
          <a:ln>
            <a:noFill/>
          </a:ln>
        </p:spPr>
        <p:txBody>
          <a:bodyPr spcFirstLastPara="1" wrap="square" lIns="91425" tIns="45700" rIns="91425" bIns="45700" anchor="t" anchorCtr="0">
            <a:noAutofit/>
          </a:bodyPr>
          <a:lstStyle/>
          <a:p>
            <a:pPr marL="152400" marR="0" lvl="0" indent="-152400" algn="l" rtl="0">
              <a:spcBef>
                <a:spcPts val="0"/>
              </a:spcBef>
              <a:spcAft>
                <a:spcPts val="0"/>
              </a:spcAft>
              <a:buClr>
                <a:srgbClr val="000000"/>
              </a:buClr>
              <a:buSzPts val="1200"/>
              <a:buFont typeface="Arial"/>
              <a:buChar char="•"/>
            </a:pPr>
            <a:r>
              <a:rPr lang="en-US" sz="1200" dirty="0">
                <a:solidFill>
                  <a:srgbClr val="000000"/>
                </a:solidFill>
                <a:latin typeface="Arial"/>
                <a:ea typeface="Arial"/>
                <a:cs typeface="Arial"/>
                <a:sym typeface="Arial"/>
              </a:rPr>
              <a:t>Full rule table (scores on build data, on a new year, and against all error types)</a:t>
            </a:r>
            <a:endParaRPr sz="1200" dirty="0">
              <a:solidFill>
                <a:schemeClr val="dk1"/>
              </a:solidFill>
              <a:latin typeface="Calibri"/>
              <a:ea typeface="Calibri"/>
              <a:cs typeface="Calibri"/>
              <a:sym typeface="Calibri"/>
            </a:endParaRPr>
          </a:p>
          <a:p>
            <a:pPr marL="152400" marR="0" lvl="0" indent="-152400" algn="l" rtl="0">
              <a:spcBef>
                <a:spcPts val="700"/>
              </a:spcBef>
              <a:spcAft>
                <a:spcPts val="0"/>
              </a:spcAft>
              <a:buClr>
                <a:srgbClr val="000000"/>
              </a:buClr>
              <a:buSzPts val="1200"/>
              <a:buFont typeface="Arial"/>
              <a:buChar char="•"/>
            </a:pPr>
            <a:r>
              <a:rPr lang="en-US" sz="1200" dirty="0">
                <a:solidFill>
                  <a:srgbClr val="000000"/>
                </a:solidFill>
                <a:latin typeface="Arial"/>
                <a:ea typeface="Arial"/>
                <a:cs typeface="Arial"/>
                <a:sym typeface="Arial"/>
              </a:rPr>
              <a:t>Shortlist of high-confidence rules (near-duplicates removed)</a:t>
            </a:r>
            <a:endParaRPr sz="1200" dirty="0">
              <a:solidFill>
                <a:schemeClr val="dk1"/>
              </a:solidFill>
              <a:latin typeface="Calibri"/>
              <a:ea typeface="Calibri"/>
              <a:cs typeface="Calibri"/>
              <a:sym typeface="Calibri"/>
            </a:endParaRPr>
          </a:p>
          <a:p>
            <a:pPr marL="152400" marR="0" lvl="0" indent="-152400" algn="l" rtl="0">
              <a:spcBef>
                <a:spcPts val="700"/>
              </a:spcBef>
              <a:spcAft>
                <a:spcPts val="0"/>
              </a:spcAft>
              <a:buClr>
                <a:srgbClr val="000000"/>
              </a:buClr>
              <a:buSzPts val="1200"/>
              <a:buFont typeface="Arial"/>
              <a:buChar char="•"/>
            </a:pPr>
            <a:r>
              <a:rPr lang="en-US" sz="1200" dirty="0">
                <a:solidFill>
                  <a:srgbClr val="000000"/>
                </a:solidFill>
                <a:latin typeface="Arial"/>
                <a:ea typeface="Arial"/>
                <a:cs typeface="Arial"/>
                <a:sym typeface="Arial"/>
              </a:rPr>
              <a:t>Summary table + chart: results at each precision floor</a:t>
            </a:r>
            <a:endParaRPr sz="1200" dirty="0">
              <a:solidFill>
                <a:schemeClr val="dk1"/>
              </a:solidFill>
              <a:latin typeface="Calibri"/>
              <a:ea typeface="Calibri"/>
              <a:cs typeface="Calibri"/>
              <a:sym typeface="Calibri"/>
            </a:endParaRPr>
          </a:p>
        </p:txBody>
      </p:sp>
      <p:sp>
        <p:nvSpPr>
          <p:cNvPr id="71" name="Google Shape;71;p5"/>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Inclusion rules · INCL_ scripts</a:t>
            </a:r>
            <a:endParaRPr sz="900" dirty="0">
              <a:solidFill>
                <a:schemeClr val="dk1"/>
              </a:solidFill>
              <a:latin typeface="Calibri"/>
              <a:ea typeface="Calibri"/>
              <a:cs typeface="Calibri"/>
              <a:sym typeface="Calibri"/>
            </a:endParaRPr>
          </a:p>
        </p:txBody>
      </p:sp>
      <p:sp>
        <p:nvSpPr>
          <p:cNvPr id="72" name="Google Shape;72;p5"/>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6</a:t>
            </a:r>
            <a:endParaRPr sz="900" dirty="0">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77"/>
        <p:cNvGrpSpPr/>
        <p:nvPr/>
      </p:nvGrpSpPr>
      <p:grpSpPr>
        <a:xfrm>
          <a:off x="0" y="0"/>
          <a:ext cx="0" cy="0"/>
          <a:chOff x="0" y="0"/>
          <a:chExt cx="0" cy="0"/>
        </a:xfrm>
      </p:grpSpPr>
      <p:sp>
        <p:nvSpPr>
          <p:cNvPr id="78" name="Google Shape;78;p6"/>
          <p:cNvSpPr/>
          <p:nvPr/>
        </p:nvSpPr>
        <p:spPr>
          <a:xfrm>
            <a:off x="457200" y="310896"/>
            <a:ext cx="8392332"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1600" b="1" dirty="0">
                <a:solidFill>
                  <a:srgbClr val="000000"/>
                </a:solidFill>
                <a:latin typeface="Cambria"/>
                <a:ea typeface="Cambria"/>
                <a:cs typeface="Cambria"/>
                <a:sym typeface="Cambria"/>
              </a:rPr>
              <a:t>Example outputs from </a:t>
            </a:r>
            <a:r>
              <a:rPr lang="en-US" sz="1600" b="1" dirty="0" err="1">
                <a:solidFill>
                  <a:srgbClr val="000000"/>
                </a:solidFill>
                <a:latin typeface="Cambria"/>
                <a:ea typeface="Cambria"/>
                <a:cs typeface="Cambria"/>
                <a:sym typeface="Cambria"/>
              </a:rPr>
              <a:t>INCL_find</a:t>
            </a:r>
            <a:r>
              <a:rPr lang="en-US" sz="1600" b="1" dirty="0">
                <a:solidFill>
                  <a:srgbClr val="000000"/>
                </a:solidFill>
                <a:latin typeface="Cambria"/>
                <a:ea typeface="Cambria"/>
                <a:cs typeface="Cambria"/>
                <a:sym typeface="Cambria"/>
              </a:rPr>
              <a:t>_..._v2 output: filtered inclusion rules</a:t>
            </a:r>
          </a:p>
          <a:p>
            <a:pPr marL="0" marR="0" lvl="0" indent="0" algn="l" rtl="0">
              <a:spcBef>
                <a:spcPts val="0"/>
              </a:spcBef>
              <a:spcAft>
                <a:spcPts val="0"/>
              </a:spcAft>
              <a:buClr>
                <a:srgbClr val="000000"/>
              </a:buClr>
              <a:buSzPts val="2800"/>
              <a:buFont typeface="Cambria"/>
              <a:buNone/>
            </a:pPr>
            <a:r>
              <a:rPr lang="en-US" sz="1600" b="1" i="1" dirty="0">
                <a:solidFill>
                  <a:srgbClr val="000000"/>
                </a:solidFill>
                <a:latin typeface="Cambria"/>
                <a:ea typeface="Cambria"/>
                <a:cs typeface="Cambria"/>
                <a:sym typeface="Cambria"/>
              </a:rPr>
              <a:t>file: /inclusion_rules_by_hh_size_v2/final_rules_highprecision_all_frames.csv</a:t>
            </a:r>
          </a:p>
        </p:txBody>
      </p:sp>
      <p:graphicFrame>
        <p:nvGraphicFramePr>
          <p:cNvPr id="79" name="Google Shape;79;p6"/>
          <p:cNvGraphicFramePr/>
          <p:nvPr>
            <p:extLst>
              <p:ext uri="{D42A27DB-BD31-4B8C-83A1-F6EECF244321}">
                <p14:modId xmlns:p14="http://schemas.microsoft.com/office/powerpoint/2010/main" val="1963913017"/>
              </p:ext>
            </p:extLst>
          </p:nvPr>
        </p:nvGraphicFramePr>
        <p:xfrm>
          <a:off x="379086" y="1063986"/>
          <a:ext cx="8229600" cy="3978930"/>
        </p:xfrm>
        <a:graphic>
          <a:graphicData uri="http://schemas.openxmlformats.org/drawingml/2006/table">
            <a:tbl>
              <a:tblPr>
                <a:noFill/>
                <a:tableStyleId>{B5048AC8-0E75-455B-AB4F-AEF2A2D202BD}</a:tableStyleId>
              </a:tblPr>
              <a:tblGrid>
                <a:gridCol w="512899">
                  <a:extLst>
                    <a:ext uri="{9D8B030D-6E8A-4147-A177-3AD203B41FA5}">
                      <a16:colId xmlns:a16="http://schemas.microsoft.com/office/drawing/2014/main" val="20000"/>
                    </a:ext>
                  </a:extLst>
                </a:gridCol>
                <a:gridCol w="3267704">
                  <a:extLst>
                    <a:ext uri="{9D8B030D-6E8A-4147-A177-3AD203B41FA5}">
                      <a16:colId xmlns:a16="http://schemas.microsoft.com/office/drawing/2014/main" val="20001"/>
                    </a:ext>
                  </a:extLst>
                </a:gridCol>
                <a:gridCol w="612694">
                  <a:extLst>
                    <a:ext uri="{9D8B030D-6E8A-4147-A177-3AD203B41FA5}">
                      <a16:colId xmlns:a16="http://schemas.microsoft.com/office/drawing/2014/main" val="20002"/>
                    </a:ext>
                  </a:extLst>
                </a:gridCol>
                <a:gridCol w="1093103">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457200">
                <a:tc>
                  <a:txBody>
                    <a:bodyPr/>
                    <a:lstStyle/>
                    <a:p>
                      <a:pPr marL="0" marR="0" lvl="0" indent="0" algn="l" rtl="0">
                        <a:spcBef>
                          <a:spcPts val="0"/>
                        </a:spcBef>
                        <a:spcAft>
                          <a:spcPts val="0"/>
                        </a:spcAft>
                        <a:buClr>
                          <a:srgbClr val="000000"/>
                        </a:buClr>
                        <a:buSzPts val="1200"/>
                        <a:buFont typeface="Arial"/>
                        <a:buNone/>
                      </a:pPr>
                      <a:r>
                        <a:rPr lang="en-US" sz="1100" b="1" u="none" strike="noStrike" cap="none" dirty="0">
                          <a:solidFill>
                            <a:schemeClr val="dk1"/>
                          </a:solidFill>
                          <a:latin typeface="Arial"/>
                          <a:ea typeface="Arial"/>
                          <a:cs typeface="Arial"/>
                          <a:sym typeface="Arial"/>
                        </a:rPr>
                        <a:t>HH size</a:t>
                      </a:r>
                      <a:endParaRPr sz="1100" u="none" strike="noStrike" cap="none" dirty="0">
                        <a:solidFill>
                          <a:schemeClr val="dk1"/>
                        </a:solidFill>
                        <a:latin typeface="Arial"/>
                        <a:ea typeface="Arial"/>
                        <a:cs typeface="Arial"/>
                        <a:sym typeface="Arial"/>
                      </a:endParaRPr>
                    </a:p>
                  </a:txBody>
                  <a:tcPr marL="91450" marR="91450" marT="45725" marB="45725" anchor="ctr">
                    <a:lnL w="12700" cap="flat" cmpd="sng">
                      <a:solidFill>
                        <a:srgbClr val="808080"/>
                      </a:solidFill>
                      <a:prstDash val="solid"/>
                      <a:round/>
                      <a:headEnd type="none" w="sm" len="sm"/>
                      <a:tailEnd type="none" w="sm" len="sm"/>
                    </a:lnL>
                    <a:lnR w="12700" cap="flat" cmpd="sng">
                      <a:solidFill>
                        <a:srgbClr val="808080"/>
                      </a:solidFill>
                      <a:prstDash val="solid"/>
                      <a:round/>
                      <a:headEnd type="none" w="sm" len="sm"/>
                      <a:tailEnd type="none" w="sm" len="sm"/>
                    </a:lnR>
                    <a:lnT w="12700"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solidFill>
                      <a:srgbClr val="E6E6E6"/>
                    </a:solidFill>
                  </a:tcPr>
                </a:tc>
                <a:tc>
                  <a:txBody>
                    <a:bodyPr/>
                    <a:lstStyle/>
                    <a:p>
                      <a:pPr marL="0" marR="0" lvl="0" indent="0" algn="l" rtl="0">
                        <a:spcBef>
                          <a:spcPts val="0"/>
                        </a:spcBef>
                        <a:spcAft>
                          <a:spcPts val="0"/>
                        </a:spcAft>
                        <a:buClr>
                          <a:srgbClr val="000000"/>
                        </a:buClr>
                        <a:buSzPts val="1200"/>
                        <a:buFont typeface="Arial"/>
                        <a:buNone/>
                      </a:pPr>
                      <a:r>
                        <a:rPr lang="en-US" sz="1100" b="1" u="none" strike="noStrike" cap="none" dirty="0">
                          <a:solidFill>
                            <a:schemeClr val="dk1"/>
                          </a:solidFill>
                          <a:latin typeface="Arial"/>
                          <a:ea typeface="Arial"/>
                          <a:cs typeface="Arial"/>
                          <a:sym typeface="Arial"/>
                        </a:rPr>
                        <a:t>rule</a:t>
                      </a:r>
                      <a:endParaRPr sz="1100" u="none" strike="noStrike" cap="none" dirty="0">
                        <a:solidFill>
                          <a:schemeClr val="dk1"/>
                        </a:solidFill>
                        <a:latin typeface="Arial"/>
                        <a:ea typeface="Arial"/>
                        <a:cs typeface="Arial"/>
                        <a:sym typeface="Arial"/>
                      </a:endParaRPr>
                    </a:p>
                  </a:txBody>
                  <a:tcPr marL="91450" marR="91450" marT="45725" marB="45725" anchor="ctr">
                    <a:lnL w="12700" cap="flat" cmpd="sng">
                      <a:solidFill>
                        <a:srgbClr val="808080"/>
                      </a:solidFill>
                      <a:prstDash val="solid"/>
                      <a:round/>
                      <a:headEnd type="none" w="sm" len="sm"/>
                      <a:tailEnd type="none" w="sm" len="sm"/>
                    </a:lnL>
                    <a:lnR w="12700" cap="flat" cmpd="sng">
                      <a:solidFill>
                        <a:srgbClr val="808080"/>
                      </a:solidFill>
                      <a:prstDash val="solid"/>
                      <a:round/>
                      <a:headEnd type="none" w="sm" len="sm"/>
                      <a:tailEnd type="none" w="sm" len="sm"/>
                    </a:lnR>
                    <a:lnT w="12700" cap="flat" cmpd="sng">
                      <a:solidFill>
                        <a:srgbClr val="808080"/>
                      </a:solidFill>
                      <a:prstDash val="solid"/>
                      <a:round/>
                      <a:headEnd type="none" w="sm" len="sm"/>
                      <a:tailEnd type="none" w="sm" len="sm"/>
                    </a:lnT>
                    <a:lnB w="9525" cap="flat" cmpd="sng">
                      <a:solidFill>
                        <a:srgbClr val="000000"/>
                      </a:solidFill>
                      <a:prstDash val="solid"/>
                      <a:round/>
                      <a:headEnd type="none" w="sm" len="sm"/>
                      <a:tailEnd type="none" w="sm" len="sm"/>
                    </a:lnB>
                    <a:solidFill>
                      <a:srgbClr val="E6E6E6"/>
                    </a:solidFill>
                  </a:tcPr>
                </a:tc>
                <a:tc>
                  <a:txBody>
                    <a:bodyPr/>
                    <a:lstStyle/>
                    <a:p>
                      <a:pPr marL="0" marR="0" lvl="0" indent="0" algn="l" rtl="0">
                        <a:spcBef>
                          <a:spcPts val="0"/>
                        </a:spcBef>
                        <a:spcAft>
                          <a:spcPts val="0"/>
                        </a:spcAft>
                        <a:buClr>
                          <a:srgbClr val="000000"/>
                        </a:buClr>
                        <a:buSzPts val="1200"/>
                        <a:buFont typeface="Arial"/>
                        <a:buNone/>
                      </a:pPr>
                      <a:r>
                        <a:rPr lang="en-US" sz="1100" b="1" u="none" strike="noStrike" cap="none">
                          <a:solidFill>
                            <a:schemeClr val="dk1"/>
                          </a:solidFill>
                          <a:latin typeface="Arial"/>
                          <a:ea typeface="Arial"/>
                          <a:cs typeface="Arial"/>
                          <a:sym typeface="Arial"/>
                        </a:rPr>
                        <a:t>error type targeted</a:t>
                      </a:r>
                      <a:endParaRPr sz="1100" u="none" strike="noStrike" cap="none">
                        <a:solidFill>
                          <a:schemeClr val="dk1"/>
                        </a:solidFill>
                        <a:latin typeface="Arial"/>
                        <a:ea typeface="Arial"/>
                        <a:cs typeface="Arial"/>
                        <a:sym typeface="Arial"/>
                      </a:endParaRPr>
                    </a:p>
                  </a:txBody>
                  <a:tcPr marL="91450" marR="91450" marT="45725" marB="45725" anchor="ctr">
                    <a:lnL w="12700" cap="flat" cmpd="sng">
                      <a:solidFill>
                        <a:srgbClr val="808080"/>
                      </a:solidFill>
                      <a:prstDash val="solid"/>
                      <a:round/>
                      <a:headEnd type="none" w="sm" len="sm"/>
                      <a:tailEnd type="none" w="sm" len="sm"/>
                    </a:lnL>
                    <a:lnR w="12700" cap="flat" cmpd="sng">
                      <a:solidFill>
                        <a:srgbClr val="808080"/>
                      </a:solidFill>
                      <a:prstDash val="solid"/>
                      <a:round/>
                      <a:headEnd type="none" w="sm" len="sm"/>
                      <a:tailEnd type="none" w="sm" len="sm"/>
                    </a:lnR>
                    <a:lnT w="12700"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solidFill>
                      <a:srgbClr val="E6E6E6"/>
                    </a:solidFill>
                  </a:tcPr>
                </a:tc>
                <a:tc>
                  <a:txBody>
                    <a:bodyPr/>
                    <a:lstStyle/>
                    <a:p>
                      <a:pPr marL="0" marR="0" lvl="0" indent="0" algn="l" rtl="0">
                        <a:spcBef>
                          <a:spcPts val="0"/>
                        </a:spcBef>
                        <a:spcAft>
                          <a:spcPts val="0"/>
                        </a:spcAft>
                        <a:buClr>
                          <a:srgbClr val="000000"/>
                        </a:buClr>
                        <a:buSzPts val="1200"/>
                        <a:buFont typeface="Arial"/>
                        <a:buNone/>
                      </a:pPr>
                      <a:r>
                        <a:rPr lang="en-US" sz="1100" b="1" u="none" strike="noStrike" cap="none" dirty="0">
                          <a:solidFill>
                            <a:schemeClr val="dk1"/>
                          </a:solidFill>
                          <a:latin typeface="Arial"/>
                          <a:ea typeface="Arial"/>
                          <a:cs typeface="Arial"/>
                          <a:sym typeface="Arial"/>
                        </a:rPr>
                        <a:t>precision floor met in training (lower confidence bound)</a:t>
                      </a:r>
                      <a:endParaRPr sz="1100" u="none" strike="noStrike" cap="none" dirty="0">
                        <a:solidFill>
                          <a:schemeClr val="dk1"/>
                        </a:solidFill>
                        <a:latin typeface="Arial"/>
                        <a:ea typeface="Arial"/>
                        <a:cs typeface="Arial"/>
                        <a:sym typeface="Arial"/>
                      </a:endParaRPr>
                    </a:p>
                  </a:txBody>
                  <a:tcPr marL="91450" marR="91450" marT="45725" marB="45725" anchor="ctr">
                    <a:lnL w="12700" cap="flat" cmpd="sng">
                      <a:solidFill>
                        <a:srgbClr val="808080"/>
                      </a:solidFill>
                      <a:prstDash val="solid"/>
                      <a:round/>
                      <a:headEnd type="none" w="sm" len="sm"/>
                      <a:tailEnd type="none" w="sm" len="sm"/>
                    </a:lnL>
                    <a:lnR w="12700" cap="flat" cmpd="sng">
                      <a:solidFill>
                        <a:srgbClr val="808080"/>
                      </a:solidFill>
                      <a:prstDash val="solid"/>
                      <a:round/>
                      <a:headEnd type="none" w="sm" len="sm"/>
                      <a:tailEnd type="none" w="sm" len="sm"/>
                    </a:lnR>
                    <a:lnT w="12700"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solidFill>
                      <a:srgbClr val="E6E6E6"/>
                    </a:solidFill>
                  </a:tcPr>
                </a:tc>
                <a:tc>
                  <a:txBody>
                    <a:bodyPr/>
                    <a:lstStyle/>
                    <a:p>
                      <a:pPr marL="0" marR="0" lvl="0" indent="0" algn="l" rtl="0">
                        <a:spcBef>
                          <a:spcPts val="0"/>
                        </a:spcBef>
                        <a:spcAft>
                          <a:spcPts val="0"/>
                        </a:spcAft>
                        <a:buClr>
                          <a:srgbClr val="000000"/>
                        </a:buClr>
                        <a:buSzPts val="1200"/>
                        <a:buFont typeface="Arial"/>
                        <a:buNone/>
                      </a:pPr>
                      <a:r>
                        <a:rPr lang="en-US" sz="1100" b="1" u="none" strike="noStrike" cap="none" dirty="0">
                          <a:solidFill>
                            <a:schemeClr val="dk1"/>
                          </a:solidFill>
                          <a:latin typeface="Arial"/>
                          <a:ea typeface="Arial"/>
                          <a:cs typeface="Arial"/>
                          <a:sym typeface="Arial"/>
                        </a:rPr>
                        <a:t>precision, new year (same error type)</a:t>
                      </a:r>
                      <a:endParaRPr sz="1100" u="none" strike="noStrike" cap="none" dirty="0">
                        <a:solidFill>
                          <a:schemeClr val="dk1"/>
                        </a:solidFill>
                        <a:latin typeface="Arial"/>
                        <a:ea typeface="Arial"/>
                        <a:cs typeface="Arial"/>
                        <a:sym typeface="Arial"/>
                      </a:endParaRPr>
                    </a:p>
                  </a:txBody>
                  <a:tcPr marL="91450" marR="91450" marT="45725" marB="45725" anchor="ctr">
                    <a:lnL w="12700" cap="flat" cmpd="sng">
                      <a:solidFill>
                        <a:srgbClr val="808080"/>
                      </a:solidFill>
                      <a:prstDash val="solid"/>
                      <a:round/>
                      <a:headEnd type="none" w="sm" len="sm"/>
                      <a:tailEnd type="none" w="sm" len="sm"/>
                    </a:lnL>
                    <a:lnR w="12700" cap="flat" cmpd="sng">
                      <a:solidFill>
                        <a:srgbClr val="808080"/>
                      </a:solidFill>
                      <a:prstDash val="solid"/>
                      <a:round/>
                      <a:headEnd type="none" w="sm" len="sm"/>
                      <a:tailEnd type="none" w="sm" len="sm"/>
                    </a:lnR>
                    <a:lnT w="12700"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solidFill>
                      <a:srgbClr val="E6E6E6"/>
                    </a:solidFill>
                  </a:tcPr>
                </a:tc>
                <a:tc>
                  <a:txBody>
                    <a:bodyPr/>
                    <a:lstStyle/>
                    <a:p>
                      <a:pPr marL="0" marR="0" lvl="0" indent="0" algn="l" rtl="0">
                        <a:spcBef>
                          <a:spcPts val="0"/>
                        </a:spcBef>
                        <a:spcAft>
                          <a:spcPts val="0"/>
                        </a:spcAft>
                        <a:buClr>
                          <a:srgbClr val="000000"/>
                        </a:buClr>
                        <a:buSzPts val="1200"/>
                        <a:buFont typeface="Arial"/>
                        <a:buNone/>
                      </a:pPr>
                      <a:r>
                        <a:rPr lang="en-US" sz="1100" b="1" u="none" strike="noStrike" cap="none" dirty="0">
                          <a:solidFill>
                            <a:schemeClr val="dk1"/>
                          </a:solidFill>
                          <a:latin typeface="Arial"/>
                          <a:ea typeface="Arial"/>
                          <a:cs typeface="Arial"/>
                          <a:sym typeface="Arial"/>
                        </a:rPr>
                        <a:t>precision, new year (any error)</a:t>
                      </a:r>
                      <a:endParaRPr sz="1100" u="none" strike="noStrike" cap="none" dirty="0">
                        <a:solidFill>
                          <a:schemeClr val="dk1"/>
                        </a:solidFill>
                        <a:latin typeface="Arial"/>
                        <a:ea typeface="Arial"/>
                        <a:cs typeface="Arial"/>
                        <a:sym typeface="Arial"/>
                      </a:endParaRPr>
                    </a:p>
                  </a:txBody>
                  <a:tcPr marL="91450" marR="91450" marT="45725" marB="45725" anchor="ctr">
                    <a:lnL w="12700" cap="flat" cmpd="sng">
                      <a:solidFill>
                        <a:srgbClr val="808080"/>
                      </a:solidFill>
                      <a:prstDash val="solid"/>
                      <a:round/>
                      <a:headEnd type="none" w="sm" len="sm"/>
                      <a:tailEnd type="none" w="sm" len="sm"/>
                    </a:lnL>
                    <a:lnR w="12700" cap="flat" cmpd="sng">
                      <a:solidFill>
                        <a:srgbClr val="808080"/>
                      </a:solidFill>
                      <a:prstDash val="solid"/>
                      <a:round/>
                      <a:headEnd type="none" w="sm" len="sm"/>
                      <a:tailEnd type="none" w="sm" len="sm"/>
                    </a:lnR>
                    <a:lnT w="12700"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solidFill>
                      <a:srgbClr val="E6E6E6"/>
                    </a:solidFill>
                  </a:tcPr>
                </a:tc>
                <a:extLst>
                  <a:ext uri="{0D108BD9-81ED-4DB2-BD59-A6C34878D82A}">
                    <a16:rowId xmlns:a16="http://schemas.microsoft.com/office/drawing/2014/main" val="10000"/>
                  </a:ext>
                </a:extLst>
              </a:tr>
              <a:tr h="854700">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1</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months_since_cert_n &gt; 5.50 &amp; unc_rawben_rel_max &gt; 1.82 &amp; utilities &lt;= 340</a:t>
                      </a:r>
                      <a:endParaRPr sz="1100">
                        <a:solidFill>
                          <a:schemeClr val="dk1"/>
                        </a:solidFil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Earned income</a:t>
                      </a:r>
                      <a:endParaRPr sz="1100" dirty="0">
                        <a:solidFill>
                          <a:schemeClr val="dk1"/>
                        </a:solidFil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0.23</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0.26</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0.43</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extLst>
                  <a:ext uri="{0D108BD9-81ED-4DB2-BD59-A6C34878D82A}">
                    <a16:rowId xmlns:a16="http://schemas.microsoft.com/office/drawing/2014/main" val="10001"/>
                  </a:ext>
                </a:extLst>
              </a:tr>
              <a:tr h="457200">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2-3</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months_since_cert_n &gt; 1.50 &amp; months_since_cert_n &lt;= 15.50 &amp; unc_rawben_rel_max &gt; 1.69</a:t>
                      </a:r>
                      <a:endParaRPr sz="1100">
                        <a:solidFill>
                          <a:schemeClr val="dk1"/>
                        </a:solidFill>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Unearned income</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00000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0.21</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0.28</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0.46</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extLst>
                  <a:ext uri="{0D108BD9-81ED-4DB2-BD59-A6C34878D82A}">
                    <a16:rowId xmlns:a16="http://schemas.microsoft.com/office/drawing/2014/main" val="10002"/>
                  </a:ext>
                </a:extLst>
              </a:tr>
              <a:tr h="457200">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1</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lvl="0" indent="0" algn="l" rtl="0">
                        <a:spcBef>
                          <a:spcPts val="0"/>
                        </a:spcBef>
                        <a:spcAft>
                          <a:spcPts val="0"/>
                        </a:spcAft>
                        <a:buNone/>
                      </a:pPr>
                      <a:r>
                        <a:rPr lang="en-US" sz="1100">
                          <a:solidFill>
                            <a:schemeClr val="dk1"/>
                          </a:solidFill>
                        </a:rPr>
                        <a:t>shelter_expenses_by_hh_size &gt; 882 &amp; total_deductions_by_hh_size &gt; 714 &amp; utilities &lt;= 8</a:t>
                      </a:r>
                      <a:endParaRPr sz="1100">
                        <a:solidFill>
                          <a:schemeClr val="dk1"/>
                        </a:solidFill>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Other (deductions, shelter, HH composition)</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00000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0.25</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0.24</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0.38</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80" name="Google Shape;80;p6"/>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7</a:t>
            </a:r>
            <a:endParaRPr sz="900" dirty="0">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85"/>
        <p:cNvGrpSpPr/>
        <p:nvPr/>
      </p:nvGrpSpPr>
      <p:grpSpPr>
        <a:xfrm>
          <a:off x="0" y="0"/>
          <a:ext cx="0" cy="0"/>
          <a:chOff x="0" y="0"/>
          <a:chExt cx="0" cy="0"/>
        </a:xfrm>
      </p:grpSpPr>
      <p:sp>
        <p:nvSpPr>
          <p:cNvPr id="86" name="Google Shape;86;p7"/>
          <p:cNvSpPr/>
          <p:nvPr/>
        </p:nvSpPr>
        <p:spPr>
          <a:xfrm>
            <a:off x="457200" y="310896"/>
            <a:ext cx="822960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1800" b="1" dirty="0" err="1">
                <a:solidFill>
                  <a:srgbClr val="000000"/>
                </a:solidFill>
                <a:latin typeface="Cambria"/>
                <a:ea typeface="Cambria"/>
                <a:cs typeface="Cambria"/>
                <a:sym typeface="Cambria"/>
              </a:rPr>
              <a:t>Output: what the kept rules achieve together, at each precision floor</a:t>
            </a:r>
            <a:endParaRPr sz="1800" dirty="0">
              <a:solidFill>
                <a:schemeClr val="dk1"/>
              </a:solidFill>
              <a:latin typeface="Calibri"/>
              <a:ea typeface="Calibri"/>
              <a:cs typeface="Calibri"/>
              <a:sym typeface="Calibri"/>
            </a:endParaRPr>
          </a:p>
        </p:txBody>
      </p:sp>
      <p:graphicFrame>
        <p:nvGraphicFramePr>
          <p:cNvPr id="88" name="Google Shape;88;p7"/>
          <p:cNvGraphicFramePr/>
          <p:nvPr>
            <p:extLst>
              <p:ext uri="{D42A27DB-BD31-4B8C-83A1-F6EECF244321}">
                <p14:modId xmlns:p14="http://schemas.microsoft.com/office/powerpoint/2010/main" val="1604718696"/>
              </p:ext>
            </p:extLst>
          </p:nvPr>
        </p:nvGraphicFramePr>
        <p:xfrm>
          <a:off x="585433" y="888358"/>
          <a:ext cx="7469560" cy="3941723"/>
        </p:xfrm>
        <a:graphic>
          <a:graphicData uri="http://schemas.openxmlformats.org/drawingml/2006/table">
            <a:tbl>
              <a:tblPr>
                <a:noFill/>
                <a:tableStyleId>{B5048AC8-0E75-455B-AB4F-AEF2A2D202BD}</a:tableStyleId>
              </a:tblPr>
              <a:tblGrid>
                <a:gridCol w="1067080">
                  <a:extLst>
                    <a:ext uri="{9D8B030D-6E8A-4147-A177-3AD203B41FA5}">
                      <a16:colId xmlns:a16="http://schemas.microsoft.com/office/drawing/2014/main" val="20000"/>
                    </a:ext>
                  </a:extLst>
                </a:gridCol>
                <a:gridCol w="1067080">
                  <a:extLst>
                    <a:ext uri="{9D8B030D-6E8A-4147-A177-3AD203B41FA5}">
                      <a16:colId xmlns:a16="http://schemas.microsoft.com/office/drawing/2014/main" val="1465495465"/>
                    </a:ext>
                  </a:extLst>
                </a:gridCol>
                <a:gridCol w="1067080">
                  <a:extLst>
                    <a:ext uri="{9D8B030D-6E8A-4147-A177-3AD203B41FA5}">
                      <a16:colId xmlns:a16="http://schemas.microsoft.com/office/drawing/2014/main" val="1336201734"/>
                    </a:ext>
                  </a:extLst>
                </a:gridCol>
                <a:gridCol w="1067080">
                  <a:extLst>
                    <a:ext uri="{9D8B030D-6E8A-4147-A177-3AD203B41FA5}">
                      <a16:colId xmlns:a16="http://schemas.microsoft.com/office/drawing/2014/main" val="3010606503"/>
                    </a:ext>
                  </a:extLst>
                </a:gridCol>
                <a:gridCol w="1067080">
                  <a:extLst>
                    <a:ext uri="{9D8B030D-6E8A-4147-A177-3AD203B41FA5}">
                      <a16:colId xmlns:a16="http://schemas.microsoft.com/office/drawing/2014/main" val="20001"/>
                    </a:ext>
                  </a:extLst>
                </a:gridCol>
                <a:gridCol w="1067080">
                  <a:extLst>
                    <a:ext uri="{9D8B030D-6E8A-4147-A177-3AD203B41FA5}">
                      <a16:colId xmlns:a16="http://schemas.microsoft.com/office/drawing/2014/main" val="20004"/>
                    </a:ext>
                  </a:extLst>
                </a:gridCol>
                <a:gridCol w="1067080">
                  <a:extLst>
                    <a:ext uri="{9D8B030D-6E8A-4147-A177-3AD203B41FA5}">
                      <a16:colId xmlns:a16="http://schemas.microsoft.com/office/drawing/2014/main" val="20005"/>
                    </a:ext>
                  </a:extLst>
                </a:gridCol>
              </a:tblGrid>
              <a:tr h="509950">
                <a:tc>
                  <a:txBody>
                    <a:bodyPr/>
                    <a:lstStyle/>
                    <a:p>
                      <a:pPr marL="0" lvl="0" indent="0" algn="ctr" rtl="0">
                        <a:lnSpc>
                          <a:spcPct val="115000"/>
                        </a:lnSpc>
                        <a:spcBef>
                          <a:spcPts val="0"/>
                        </a:spcBef>
                        <a:spcAft>
                          <a:spcPts val="0"/>
                        </a:spcAft>
                        <a:buNone/>
                      </a:pPr>
                      <a:r>
                        <a:rPr lang="en-US" sz="1000" b="1" dirty="0"/>
                        <a:t>precision floor</a:t>
                      </a:r>
                      <a:endParaRPr sz="1000" b="1" dirty="0"/>
                    </a:p>
                  </a:txBody>
                  <a:tcPr marL="91425" marR="91425" marT="91425" marB="91425">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sz="1000" b="1" dirty="0"/>
                        <a:t>% of error $ caught</a:t>
                      </a:r>
                      <a:endParaRPr sz="1000" b="1" dirty="0"/>
                    </a:p>
                  </a:txBody>
                  <a:tcPr marL="91425" marR="91425" marT="91425" marB="91425">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sz="1000" b="1" dirty="0"/>
                        <a:t>% of caseload</a:t>
                      </a:r>
                      <a:endParaRPr sz="1000" b="1" dirty="0"/>
                    </a:p>
                  </a:txBody>
                  <a:tcPr marL="91425" marR="91425" marT="91425" marB="91425">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sz="1000" b="1" dirty="0"/>
                        <a:t>cases flagged</a:t>
                      </a:r>
                      <a:endParaRPr sz="1000" b="1" dirty="0"/>
                    </a:p>
                  </a:txBody>
                  <a:tcPr marL="91425" marR="91425" marT="91425" marB="91425">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sz="1000" b="1" dirty="0"/>
                        <a:t>rules kept</a:t>
                      </a:r>
                      <a:endParaRPr sz="1000" b="1" dirty="0"/>
                    </a:p>
                  </a:txBody>
                  <a:tcPr marL="91425" marR="91425" marT="91425" marB="91425">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sz="1000" b="1" dirty="0"/>
                        <a:t>Precision on held-out data</a:t>
                      </a:r>
                      <a:endParaRPr sz="1000" b="1" dirty="0">
                        <a:solidFill>
                          <a:schemeClr val="dk1"/>
                        </a:solidFill>
                      </a:endParaRPr>
                    </a:p>
                  </a:txBody>
                  <a:tcPr marL="91425" marR="91425" marT="91425" marB="91425">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sz="1000" b="1"/>
                        <a:t>% of errors caught</a:t>
                      </a:r>
                      <a:endParaRPr sz="1000" b="1">
                        <a:solidFill>
                          <a:schemeClr val="dk1"/>
                        </a:solidFill>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1212075">
                <a:tc>
                  <a:txBody>
                    <a:bodyPr/>
                    <a:lstStyle/>
                    <a:p>
                      <a:pPr marL="0" lvl="0" indent="0" algn="l" rtl="0">
                        <a:spcBef>
                          <a:spcPts val="0"/>
                        </a:spcBef>
                        <a:spcAft>
                          <a:spcPts val="0"/>
                        </a:spcAft>
                        <a:buNone/>
                      </a:pPr>
                      <a:r>
                        <a:rPr lang="en-US" sz="1400" b="1" dirty="0"/>
                        <a:t>0.20</a:t>
                      </a:r>
                      <a:endParaRPr sz="1400" b="1" dirty="0"/>
                    </a:p>
                  </a:txBody>
                  <a:tcPr marL="91425" marR="91425" marT="91425" marB="91425"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83%</a:t>
                      </a:r>
                      <a:endParaRPr sz="1400" dirty="0"/>
                    </a:p>
                  </a:txBody>
                  <a:tcPr marL="91425" marR="91425" marT="91425" marB="91425"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51.6%</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b="0" dirty="0"/>
                        <a:t>20,668</a:t>
                      </a:r>
                      <a:endParaRPr sz="1400" b="0" dirty="0"/>
                    </a:p>
                  </a:txBody>
                  <a:tcPr marL="91425" marR="91425" marT="91425" marB="91425"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15,335</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Clr>
                          <a:schemeClr val="dk1"/>
                        </a:buClr>
                        <a:buSzPts val="1100"/>
                        <a:buFont typeface="Arial"/>
                        <a:buNone/>
                      </a:pPr>
                      <a:r>
                        <a:rPr lang="en-US" sz="1400" dirty="0">
                          <a:solidFill>
                            <a:schemeClr val="dk1"/>
                          </a:solidFill>
                        </a:rPr>
                        <a:t>0.173</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Clr>
                          <a:schemeClr val="dk1"/>
                        </a:buClr>
                        <a:buSzPts val="1100"/>
                        <a:buFont typeface="Arial"/>
                        <a:buNone/>
                      </a:pPr>
                      <a:r>
                        <a:rPr lang="en-US" dirty="0"/>
                        <a:t>80%</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1212075">
                <a:tc>
                  <a:txBody>
                    <a:bodyPr/>
                    <a:lstStyle/>
                    <a:p>
                      <a:pPr marL="0" lvl="0" indent="0" algn="l" rtl="0">
                        <a:spcBef>
                          <a:spcPts val="0"/>
                        </a:spcBef>
                        <a:spcAft>
                          <a:spcPts val="0"/>
                        </a:spcAft>
                        <a:buNone/>
                      </a:pPr>
                      <a:r>
                        <a:rPr lang="en-US" sz="1400" b="1" dirty="0"/>
                        <a:t>0.30</a:t>
                      </a:r>
                      <a:endParaRPr sz="1400" b="1" dirty="0"/>
                    </a:p>
                  </a:txBody>
                  <a:tcPr marL="91425" marR="91425" marT="91425" marB="91425"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32%</a:t>
                      </a:r>
                      <a:endParaRPr sz="1400" dirty="0"/>
                    </a:p>
                  </a:txBody>
                  <a:tcPr marL="91425" marR="91425" marT="91425" marB="91425"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12.5%</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b="0" dirty="0"/>
                        <a:t>5,017</a:t>
                      </a:r>
                      <a:endParaRPr sz="1400" b="0" dirty="0"/>
                    </a:p>
                  </a:txBody>
                  <a:tcPr marL="91425" marR="91425" marT="91425" marB="91425"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a:t>1,832</a:t>
                      </a:r>
                      <a:endParaRPr sz="1400"/>
                    </a:p>
                  </a:txBody>
                  <a:tcPr marL="91425" marR="91425" marT="91425" marB="91425"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0.256</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dirty="0"/>
                        <a:t>29%</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999125">
                <a:tc>
                  <a:txBody>
                    <a:bodyPr/>
                    <a:lstStyle/>
                    <a:p>
                      <a:pPr marL="0" lvl="0" indent="0" algn="l" rtl="0">
                        <a:spcBef>
                          <a:spcPts val="0"/>
                        </a:spcBef>
                        <a:spcAft>
                          <a:spcPts val="0"/>
                        </a:spcAft>
                        <a:buNone/>
                      </a:pPr>
                      <a:r>
                        <a:rPr lang="en-US" sz="1400" b="1" dirty="0"/>
                        <a:t>0.40</a:t>
                      </a:r>
                      <a:endParaRPr sz="1400" b="1" dirty="0"/>
                    </a:p>
                  </a:txBody>
                  <a:tcPr marL="91425" marR="91425" marT="91425" marB="91425"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7%</a:t>
                      </a:r>
                      <a:endParaRPr sz="1400" dirty="0"/>
                    </a:p>
                  </a:txBody>
                  <a:tcPr marL="91425" marR="91425" marT="91425" marB="91425"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2.4%</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b="0" dirty="0"/>
                        <a:t>944</a:t>
                      </a:r>
                      <a:endParaRPr sz="1400" b="0" dirty="0"/>
                    </a:p>
                  </a:txBody>
                  <a:tcPr marL="91425" marR="91425" marT="91425" marB="91425"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a:t>299</a:t>
                      </a:r>
                      <a:endParaRPr sz="1400"/>
                    </a:p>
                  </a:txBody>
                  <a:tcPr marL="91425" marR="91425" marT="91425" marB="91425"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0.339</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dirty="0"/>
                        <a:t>7%</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89" name="Google Shape;89;p7"/>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8</a:t>
            </a:r>
            <a:endParaRPr sz="900" dirty="0">
              <a:solidFill>
                <a:schemeClr val="dk1"/>
              </a:solidFill>
              <a:latin typeface="Calibri"/>
              <a:ea typeface="Calibri"/>
              <a:cs typeface="Calibri"/>
              <a:sym typeface="Calibri"/>
            </a:endParaRPr>
          </a:p>
        </p:txBody>
      </p:sp>
      <p:cxnSp>
        <p:nvCxnSpPr>
          <p:cNvPr id="90" name="Google Shape;90;p7"/>
          <p:cNvCxnSpPr/>
          <p:nvPr/>
        </p:nvCxnSpPr>
        <p:spPr>
          <a:xfrm flipH="1">
            <a:off x="319875" y="1740050"/>
            <a:ext cx="4200" cy="2982300"/>
          </a:xfrm>
          <a:prstGeom prst="straightConnector1">
            <a:avLst/>
          </a:prstGeom>
          <a:noFill/>
          <a:ln w="38100" cap="flat" cmpd="sng">
            <a:solidFill>
              <a:schemeClr val="dk2"/>
            </a:solidFill>
            <a:prstDash val="solid"/>
            <a:round/>
            <a:headEnd type="none" w="med" len="med"/>
            <a:tailEnd type="triangle" w="med" len="med"/>
          </a:ln>
        </p:spPr>
      </p:cxn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94"/>
        <p:cNvGrpSpPr/>
        <p:nvPr/>
      </p:nvGrpSpPr>
      <p:grpSpPr>
        <a:xfrm>
          <a:off x="0" y="0"/>
          <a:ext cx="0" cy="0"/>
          <a:chOff x="0" y="0"/>
          <a:chExt cx="0" cy="0"/>
        </a:xfrm>
      </p:grpSpPr>
      <p:sp>
        <p:nvSpPr>
          <p:cNvPr id="95" name="Google Shape;95;g3eae636d67f_0_57"/>
          <p:cNvSpPr txBox="1"/>
          <p:nvPr/>
        </p:nvSpPr>
        <p:spPr>
          <a:xfrm>
            <a:off x="457200" y="1050000"/>
            <a:ext cx="8229600" cy="3077735"/>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1800" b="1" dirty="0" err="1"/>
              <a:t>state_threshold_gridsearch_v2.R</a:t>
            </a:r>
            <a:endParaRPr sz="2400" dirty="0"/>
          </a:p>
          <a:p>
            <a:r>
              <a:rPr sz="1400" b="0" dirty="0"/>
              <a:t>Takes the national rule list and, for one state at a time: tries a range of cutoff values for every rule on the state's training years, keeps rules that meet the quality bar on the state's own data, and picks the version of each rule that captures the most error dollars.</a:t>
            </a:r>
          </a:p>
          <a:p>
            <a:endParaRPr sz="1400" b="0" dirty="0"/>
          </a:p>
          <a:p>
            <a:r>
              <a:rPr sz="1800" b="1" dirty="0" err="1"/>
              <a:t>Built-in honesty checks</a:t>
            </a:r>
            <a:endParaRPr sz="1800" b="1" dirty="0"/>
          </a:p>
          <a:p>
            <a:r>
              <a:rPr sz="1400" b="0" dirty="0"/>
              <a:t>Every rule is then tested on a year of data that was never used for tuning - under both its adjusted cutoffs and the original national ones - and the whole exercise is compared against simply using the national rules unchanged. In seven-state testing, tuning helped when roughly 30+ rules met the bar (Connecticut: 43% of errors and 49% of error dollars caught, with about 1 in 5 flagged cases having an error) and hurt below that - with little data, tuning just rewards lucky cutoffs. Smaller states: use the national rules as-is.</a:t>
            </a:r>
          </a:p>
          <a:p>
            <a:endParaRPr sz="1400" b="0" dirty="0"/>
          </a:p>
          <a:p>
            <a:r>
              <a:rPr sz="1200" b="0" dirty="0"/>
              <a:t>Writes per-state rule CSVs (national + tuned thresholds side by side) to state_rules_v2/</a:t>
            </a:r>
          </a:p>
        </p:txBody>
      </p:sp>
      <p:sp>
        <p:nvSpPr>
          <p:cNvPr id="66" name="Google Shape;66;p5"/>
          <p:cNvSpPr/>
          <p:nvPr/>
        </p:nvSpPr>
        <p:spPr>
          <a:xfrm>
            <a:off x="457200" y="310896"/>
            <a:ext cx="822960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1600" b="1" dirty="0">
                <a:solidFill>
                  <a:srgbClr val="000000"/>
                </a:solidFill>
                <a:latin typeface="Cambria"/>
                <a:ea typeface="Cambria"/>
                <a:cs typeface="Cambria"/>
                <a:sym typeface="Cambria"/>
              </a:rPr>
              <a:t>Tuning rules for a specific state:</a:t>
            </a:r>
          </a:p>
          <a:p>
            <a:pPr marL="0" marR="0" lvl="0" indent="0" algn="l" rtl="0">
              <a:spcBef>
                <a:spcPts val="0"/>
              </a:spcBef>
              <a:spcAft>
                <a:spcPts val="0"/>
              </a:spcAft>
              <a:buClr>
                <a:srgbClr val="000000"/>
              </a:buClr>
              <a:buSzPts val="2800"/>
              <a:buFont typeface="Cambria"/>
              <a:buNone/>
            </a:pPr>
            <a:r>
              <a:rPr lang="en-US" sz="1600" b="1" dirty="0" err="1">
                <a:solidFill>
                  <a:srgbClr val="000000"/>
                </a:solidFill>
                <a:latin typeface="Cambria"/>
                <a:ea typeface="Cambria"/>
                <a:cs typeface="Cambria"/>
                <a:sym typeface="Cambria"/>
              </a:rPr>
              <a:t>state_threshold_gridsearch_v2.R</a:t>
            </a:r>
            <a:endParaRPr sz="1600" dirty="0">
              <a:solidFill>
                <a:schemeClr val="dk1"/>
              </a:solidFill>
              <a:latin typeface="Calibri"/>
              <a:ea typeface="Calibri"/>
              <a:cs typeface="Calibri"/>
              <a:sym typeface="Calibri"/>
            </a:endParaRPr>
          </a:p>
        </p:txBody>
      </p:sp>
      <p:sp>
        <p:nvSpPr>
          <p:cNvPr id="2" name="Google Shape;71;p5">
            <a:extLst>
              <a:ext uri="{FF2B5EF4-FFF2-40B4-BE49-F238E27FC236}">
                <a16:creationId xmlns:a16="http://schemas.microsoft.com/office/drawing/2014/main" id="{B0D642F2-6701-2B92-8D1B-5371BA2BAFB4}"/>
              </a:ext>
            </a:extLst>
          </p:cNvPr>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Inclusion rules · INCL_ scripts</a:t>
            </a:r>
            <a:endParaRPr sz="900" dirty="0">
              <a:solidFill>
                <a:schemeClr val="dk1"/>
              </a:solidFill>
              <a:latin typeface="Calibri"/>
              <a:ea typeface="Calibri"/>
              <a:cs typeface="Calibri"/>
              <a:sym typeface="Calibri"/>
            </a:endParaRPr>
          </a:p>
        </p:txBody>
      </p:sp>
      <p:sp>
        <p:nvSpPr>
          <p:cNvPr id="3" name="Google Shape;72;p5">
            <a:extLst>
              <a:ext uri="{FF2B5EF4-FFF2-40B4-BE49-F238E27FC236}">
                <a16:creationId xmlns:a16="http://schemas.microsoft.com/office/drawing/2014/main" id="{E3CAAEA4-E2AC-8019-F176-869DED338969}"/>
              </a:ext>
            </a:extLst>
          </p:cNvPr>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9</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20000"/>
            <a:ext cx="8344000" cy="650000"/>
          </a:xfrm>
          <a:prstGeom prst="rect">
            <a:avLst/>
          </a:prstGeom>
          <a:noFill/>
        </p:spPr>
        <p:txBody>
          <a:bodyPr wrap="none">
            <a:spAutoFit/>
          </a:bodyPr>
          <a:lstStyle/>
          <a:p>
            <a:r>
              <a:rPr sz="2200" b="1"/>
              <a:t>Appendix: why we're cautious about a rule's measured accuracy</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950000"/>
            <a:ext cx="8344000" cy="3743500"/>
          </a:xfrm>
          <a:prstGeom prst="rect">
            <a:avLst/>
          </a:prstGeom>
          <a:noFill/>
        </p:spPr>
        <p:txBody>
          <a:bodyPr wrap="square">
            <a:spAutoFit/>
          </a:bodyPr>
          <a:lstStyle/>
          <a:p>
            <a:pPr>
              <a:spcAft>
                <a:spcPts val="600"/>
              </a:spcAft>
            </a:pPr>
            <a:r>
              <a:rPr sz="1400" dirty="0"/>
              <a:t>- The trap: generate 100,000 candidate rules and keep the ones with the best measured accuracy, and you mostly keep rules that got lucky. We measured it: a list promising 20% precision delivered about 10% on a year of new data.</a:t>
            </a:r>
          </a:p>
          <a:p>
            <a:pPr>
              <a:spcAft>
                <a:spcPts val="600"/>
              </a:spcAft>
            </a:pPr>
            <a:r>
              <a:rPr sz="1400" dirty="0"/>
              <a:t>- The fix, by example: a rule that flagged 20 cases and was right 4 times and a rule that flagged 200 and was right 40 both measure 20% - but only the second has real evidence behind it. We adjust each rule's score for how much evidence it has, and keep a rule only when the adjusted score clears the bar.</a:t>
            </a:r>
          </a:p>
          <a:p>
            <a:pPr>
              <a:spcAft>
                <a:spcPts val="600"/>
              </a:spcAft>
            </a:pPr>
            <a:r>
              <a:rPr sz="1400" dirty="0"/>
              <a:t>- Result: kept rules deliver roughly what they promise on new data, and at the same delivered accuracy - about 1 in 5 flagged cases having an error - we catch 12.8% of all errors instead of 8.2%.</a:t>
            </a:r>
          </a:p>
          <a:p>
            <a:pPr>
              <a:spcAft>
                <a:spcPts val="600"/>
              </a:spcAft>
            </a:pPr>
            <a:r>
              <a:rPr sz="1400" dirty="0"/>
              <a:t>- Caution for single states: with only a few hundred errors to learn from, the adjustment alone is not enough - also require each rule to have flagged at least ~30 cases, or rules will still disappoint on new data.</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20000"/>
            <a:ext cx="8344000" cy="650000"/>
          </a:xfrm>
          <a:prstGeom prst="rect">
            <a:avLst/>
          </a:prstGeom>
          <a:noFill/>
        </p:spPr>
        <p:txBody>
          <a:bodyPr wrap="none">
            <a:spAutoFit/>
          </a:bodyPr>
          <a:lstStyle/>
          <a:p>
            <a:r>
              <a:rPr sz="2200" b="1"/>
              <a:t>Appendix: settings that matter (and settings that don't)</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900000"/>
            <a:ext cx="3200000" cy="3847207"/>
          </a:xfrm>
          <a:prstGeom prst="rect">
            <a:avLst/>
          </a:prstGeom>
          <a:noFill/>
        </p:spPr>
        <p:txBody>
          <a:bodyPr wrap="square">
            <a:spAutoFit/>
          </a:bodyPr>
          <a:lstStyle/>
          <a:p>
            <a:pPr>
              <a:spcAft>
                <a:spcPts val="600"/>
              </a:spcAft>
            </a:pPr>
            <a:r>
              <a:rPr sz="1300" dirty="0"/>
              <a:t>- We varied one setting at a time and judged each version on a year of unseen data. What helped: letting each tree split consider two variables instead of one; learning slowly; and showing each tree a small random slice of the data (15-30%) rather than most of it.</a:t>
            </a:r>
          </a:p>
          <a:p>
            <a:pPr>
              <a:spcAft>
                <a:spcPts val="600"/>
              </a:spcAft>
            </a:pPr>
            <a:r>
              <a:rPr sz="1300" dirty="0"/>
              <a:t>- Growing more trees does not make the kept rules more accurate - the two curves below sit on top of each other. It makes the MENU bigger: several times more rules pass any precision floor, so states have alternatives when their experts want to drop a rule.</a:t>
            </a:r>
          </a:p>
          <a:p>
            <a:pPr>
              <a:spcAft>
                <a:spcPts val="600"/>
              </a:spcAft>
            </a:pPr>
            <a:r>
              <a:rPr sz="1300" dirty="0"/>
              <a:t>- Final settings: 1,000 rounds/trees for each method, with the 99%-confidence quality bar.</a:t>
            </a:r>
          </a:p>
        </p:txBody>
      </p:sp>
      <p:pic>
        <p:nvPicPr>
          <p:cNvPr id="5" name="Picture 4" descr="mine_big_filter_stringently.png"/>
          <p:cNvPicPr>
            <a:picLocks noChangeAspect="1"/>
          </p:cNvPicPr>
          <p:nvPr/>
        </p:nvPicPr>
        <p:blipFill>
          <a:blip r:embed="rId2"/>
          <a:stretch>
            <a:fillRect/>
          </a:stretch>
        </p:blipFill>
        <p:spPr>
          <a:xfrm>
            <a:off x="3663618" y="1122545"/>
            <a:ext cx="5381374" cy="334841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344000" cy="600000"/>
          </a:xfrm>
          <a:prstGeom prst="rect">
            <a:avLst/>
          </a:prstGeom>
          <a:noFill/>
        </p:spPr>
        <p:txBody>
          <a:bodyPr wrap="none">
            <a:spAutoFit/>
          </a:bodyPr>
          <a:lstStyle/>
          <a:p>
            <a:r>
              <a:rPr sz="2200" b="1"/>
              <a:t>Appendix: tuning detail - the boosted-tree method (xgboost)</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80000"/>
            <a:ext cx="8344000" cy="760000"/>
          </a:xfrm>
          <a:prstGeom prst="rect">
            <a:avLst/>
          </a:prstGeom>
          <a:noFill/>
        </p:spPr>
        <p:txBody>
          <a:bodyPr wrap="square">
            <a:spAutoFit/>
          </a:bodyPr>
          <a:lstStyle/>
          <a:p>
            <a:pPr>
              <a:spcAft>
                <a:spcPts val="400"/>
              </a:spcAft>
            </a:pPr>
            <a:r>
              <a:rPr sz="1200"/>
              <a:t>- Each panel varies one setting around our final choice; curves show accuracy vs share of error dollars caught, on a year of unseen data.</a:t>
            </a:r>
          </a:p>
          <a:p>
            <a:pPr>
              <a:spcAft>
                <a:spcPts val="400"/>
              </a:spcAft>
            </a:pPr>
            <a:r>
              <a:rPr sz="1200"/>
              <a:t>- Learning slowly beats learning fast; trees 4-5 questions deep beat shallower ones; more rounds mainly add rules (see previous slide).</a:t>
            </a:r>
          </a:p>
        </p:txBody>
      </p:sp>
      <p:pic>
        <p:nvPicPr>
          <p:cNvPr id="5" name="Picture 4" descr="v2_tuning_xgboost.png"/>
          <p:cNvPicPr>
            <a:picLocks noChangeAspect="1"/>
          </p:cNvPicPr>
          <p:nvPr/>
        </p:nvPicPr>
        <p:blipFill>
          <a:blip r:embed="rId2"/>
          <a:stretch>
            <a:fillRect/>
          </a:stretch>
        </p:blipFill>
        <p:spPr>
          <a:xfrm>
            <a:off x="2583321" y="1580000"/>
            <a:ext cx="3977357" cy="30935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344000" cy="600000"/>
          </a:xfrm>
          <a:prstGeom prst="rect">
            <a:avLst/>
          </a:prstGeom>
          <a:noFill/>
        </p:spPr>
        <p:txBody>
          <a:bodyPr wrap="none">
            <a:spAutoFit/>
          </a:bodyPr>
          <a:lstStyle/>
          <a:p>
            <a:r>
              <a:rPr sz="2200" b="1"/>
              <a:t>Appendix: tuning detail - the random-forest method (ranger)</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80000"/>
            <a:ext cx="8344000" cy="760000"/>
          </a:xfrm>
          <a:prstGeom prst="rect">
            <a:avLst/>
          </a:prstGeom>
          <a:noFill/>
        </p:spPr>
        <p:txBody>
          <a:bodyPr wrap="square">
            <a:spAutoFit/>
          </a:bodyPr>
          <a:lstStyle/>
          <a:p>
            <a:pPr>
              <a:spcAft>
                <a:spcPts val="400"/>
              </a:spcAft>
            </a:pPr>
            <a:r>
              <a:rPr sz="1200"/>
              <a:t>- Letting each split choose between two variables beats forcing a single random variable - a little guidance beats pure randomness.</a:t>
            </a:r>
          </a:p>
          <a:p>
            <a:pPr>
              <a:spcAft>
                <a:spcPts val="400"/>
              </a:spcAft>
            </a:pPr>
            <a:r>
              <a:rPr sz="1200"/>
              <a:t>- Beyond ~500 trees, more trees neither help nor hurt accuracy; other settings barely matter.</a:t>
            </a:r>
          </a:p>
        </p:txBody>
      </p:sp>
      <p:pic>
        <p:nvPicPr>
          <p:cNvPr id="5" name="Picture 4" descr="v2_tuning_ranger.png"/>
          <p:cNvPicPr>
            <a:picLocks noChangeAspect="1"/>
          </p:cNvPicPr>
          <p:nvPr/>
        </p:nvPicPr>
        <p:blipFill>
          <a:blip r:embed="rId2"/>
          <a:stretch>
            <a:fillRect/>
          </a:stretch>
        </p:blipFill>
        <p:spPr>
          <a:xfrm>
            <a:off x="2583321" y="1580000"/>
            <a:ext cx="3977357" cy="30935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344000" cy="600000"/>
          </a:xfrm>
          <a:prstGeom prst="rect">
            <a:avLst/>
          </a:prstGeom>
          <a:noFill/>
        </p:spPr>
        <p:txBody>
          <a:bodyPr wrap="none">
            <a:spAutoFit/>
          </a:bodyPr>
          <a:lstStyle/>
          <a:p>
            <a:r>
              <a:rPr sz="2200" b="1"/>
              <a:t>Appendix: tuning detail - how much data each tree sees</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80000"/>
            <a:ext cx="8344000" cy="760000"/>
          </a:xfrm>
          <a:prstGeom prst="rect">
            <a:avLst/>
          </a:prstGeom>
          <a:noFill/>
        </p:spPr>
        <p:txBody>
          <a:bodyPr wrap="square">
            <a:spAutoFit/>
          </a:bodyPr>
          <a:lstStyle/>
          <a:p>
            <a:pPr>
              <a:spcAft>
                <a:spcPts val="400"/>
              </a:spcAft>
            </a:pPr>
            <a:r>
              <a:rPr sz="1200"/>
              <a:t>- Showing each tree a small random slice of the data (15-30%) works better than showing it most of the data (60-80%) - small slices make the trees more varied, and varied trees find sharper rules.</a:t>
            </a:r>
          </a:p>
          <a:p>
            <a:pPr>
              <a:spcAft>
                <a:spcPts val="400"/>
              </a:spcAft>
            </a:pPr>
            <a:r>
              <a:rPr sz="1200"/>
              <a:t>- Anywhere in the 15-30% range performs the same; we use 20%.</a:t>
            </a:r>
          </a:p>
        </p:txBody>
      </p:sp>
      <p:pic>
        <p:nvPicPr>
          <p:cNvPr id="5" name="Picture 4" descr="v2_subsample_fine.png"/>
          <p:cNvPicPr>
            <a:picLocks noChangeAspect="1"/>
          </p:cNvPicPr>
          <p:nvPr/>
        </p:nvPicPr>
        <p:blipFill>
          <a:blip r:embed="rId2"/>
          <a:stretch>
            <a:fillRect/>
          </a:stretch>
        </p:blipFill>
        <p:spPr>
          <a:xfrm>
            <a:off x="2081864" y="1620000"/>
            <a:ext cx="4980272" cy="30435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344000" cy="600000"/>
          </a:xfrm>
          <a:prstGeom prst="rect">
            <a:avLst/>
          </a:prstGeom>
          <a:noFill/>
        </p:spPr>
        <p:txBody>
          <a:bodyPr wrap="none">
            <a:spAutoFit/>
          </a:bodyPr>
          <a:lstStyle/>
          <a:p>
            <a:r>
              <a:rPr sz="2200" b="1"/>
              <a:t>Appendix: lucky rules, measured</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Same candidate rules, chosen two ways, then scored on a year of data they never saw. Choosing by raw measured accuracy over-promises; choosing by the evidence-adjusted score keeps its promises.</a:t>
            </a:r>
          </a:p>
        </p:txBody>
      </p:sp>
      <p:pic>
        <p:nvPicPr>
          <p:cNvPr id="5" name="Picture 4" descr="winners_curse_raw_vs_lcb.png"/>
          <p:cNvPicPr>
            <a:picLocks noChangeAspect="1"/>
          </p:cNvPicPr>
          <p:nvPr/>
        </p:nvPicPr>
        <p:blipFill>
          <a:blip r:embed="rId2"/>
          <a:stretch>
            <a:fillRect/>
          </a:stretch>
        </p:blipFill>
        <p:spPr>
          <a:xfrm>
            <a:off x="2748971" y="1230000"/>
            <a:ext cx="3646058" cy="3646058"/>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344000" cy="600000"/>
          </a:xfrm>
          <a:prstGeom prst="rect">
            <a:avLst/>
          </a:prstGeom>
          <a:noFill/>
        </p:spPr>
        <p:txBody>
          <a:bodyPr wrap="none">
            <a:spAutoFit/>
          </a:bodyPr>
          <a:lstStyle/>
          <a:p>
            <a:r>
              <a:rPr sz="2200" b="1"/>
              <a:t>Appendix: build rules per error type AND for all errors together</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60000"/>
            <a:ext cx="8344000" cy="500000"/>
          </a:xfrm>
          <a:prstGeom prst="rect">
            <a:avLst/>
          </a:prstGeom>
          <a:noFill/>
        </p:spPr>
        <p:txBody>
          <a:bodyPr wrap="square">
            <a:spAutoFit/>
          </a:bodyPr>
          <a:lstStyle/>
          <a:p>
            <a:pPr>
              <a:spcAft>
                <a:spcPts val="400"/>
              </a:spcAft>
            </a:pPr>
            <a:r>
              <a:rPr sz="1200"/>
              <a:t>- Rules built for specific error types and rules built on all errors together find different things - combining both catches 3-6 percentage points more errors at any precision floor, for a small accuracy cost. If you need just one simple model, the all-errors version gets you ~95% of the way.</a:t>
            </a:r>
          </a:p>
        </p:txBody>
      </p:sp>
      <p:pic>
        <p:nvPicPr>
          <p:cNvPr id="5" name="Picture 4" descr="anyerror_vs_typed_sweep.png"/>
          <p:cNvPicPr>
            <a:picLocks noChangeAspect="1"/>
          </p:cNvPicPr>
          <p:nvPr/>
        </p:nvPicPr>
        <p:blipFill>
          <a:blip r:embed="rId2"/>
          <a:stretch>
            <a:fillRect/>
          </a:stretch>
        </p:blipFill>
        <p:spPr>
          <a:xfrm>
            <a:off x="1746428" y="1462732"/>
            <a:ext cx="5503909" cy="33635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344000" cy="600000"/>
          </a:xfrm>
          <a:prstGeom prst="rect">
            <a:avLst/>
          </a:prstGeom>
          <a:noFill/>
        </p:spPr>
        <p:txBody>
          <a:bodyPr wrap="none">
            <a:spAutoFit/>
          </a:bodyPr>
          <a:lstStyle/>
          <a:p>
            <a:r>
              <a:rPr sz="2200" b="1"/>
              <a:t>Appendix: count every error a rule catches, not just the intended kind</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60000"/>
            <a:ext cx="8344000" cy="500000"/>
          </a:xfrm>
          <a:prstGeom prst="rect">
            <a:avLst/>
          </a:prstGeom>
          <a:noFill/>
        </p:spPr>
        <p:txBody>
          <a:bodyPr wrap="square">
            <a:spAutoFit/>
          </a:bodyPr>
          <a:lstStyle/>
          <a:p>
            <a:pPr>
              <a:spcAft>
                <a:spcPts val="400"/>
              </a:spcAft>
            </a:pPr>
            <a:r>
              <a:rPr sz="1200"/>
              <a:t>- A rule built to find earned-income errors also flags cases with other kinds of errors - and those reviews succeed too. Counting only the intended error type, these rules score 8%; counting every error they actually catch, 19%. Report the second number - it is what reviewers will experience (dashed vs solid lines below).</a:t>
            </a:r>
          </a:p>
        </p:txBody>
      </p:sp>
      <p:pic>
        <p:nvPicPr>
          <p:cNvPr id="5" name="Picture 4" descr="earned_income_lcb_sweep.png"/>
          <p:cNvPicPr>
            <a:picLocks noChangeAspect="1"/>
          </p:cNvPicPr>
          <p:nvPr/>
        </p:nvPicPr>
        <p:blipFill>
          <a:blip r:embed="rId4"/>
          <a:stretch>
            <a:fillRect/>
          </a:stretch>
        </p:blipFill>
        <p:spPr>
          <a:xfrm>
            <a:off x="1881200" y="1300000"/>
            <a:ext cx="5381600" cy="33635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344000" cy="600000"/>
          </a:xfrm>
          <a:prstGeom prst="rect">
            <a:avLst/>
          </a:prstGeom>
          <a:noFill/>
        </p:spPr>
        <p:txBody>
          <a:bodyPr wrap="none">
            <a:spAutoFit/>
          </a:bodyPr>
          <a:lstStyle/>
          <a:p>
            <a:r>
              <a:rPr sz="2200" b="1"/>
              <a:t>Appendix: the biggest error category was going unmodeled</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60000"/>
            <a:ext cx="8344000" cy="500000"/>
          </a:xfrm>
          <a:prstGeom prst="rect">
            <a:avLst/>
          </a:prstGeom>
          <a:noFill/>
        </p:spPr>
        <p:txBody>
          <a:bodyPr wrap="square">
            <a:spAutoFit/>
          </a:bodyPr>
          <a:lstStyle/>
          <a:p>
            <a:pPr>
              <a:spcAft>
                <a:spcPts val="400"/>
              </a:spcAft>
            </a:pPr>
            <a:r>
              <a:rPr sz="1200"/>
              <a:t>- Errors in deductions, shelter costs, and household composition ('other') are the LARGEST error category - 2,007 of 4,460 errors in 2023 - and the old pipeline never modeled them. They turn out to be learnable: this category now contributes the largest block of high-confidence rules (1,700 rules, about 1 in 5 flagged cases having an error on new data).</a:t>
            </a:r>
          </a:p>
        </p:txBody>
      </p:sp>
      <p:pic>
        <p:nvPicPr>
          <p:cNvPr id="5" name="Picture 4" descr="other_error_lcb_sweep.png"/>
          <p:cNvPicPr>
            <a:picLocks noChangeAspect="1"/>
          </p:cNvPicPr>
          <p:nvPr/>
        </p:nvPicPr>
        <p:blipFill>
          <a:blip r:embed="rId4"/>
          <a:stretch>
            <a:fillRect/>
          </a:stretch>
        </p:blipFill>
        <p:spPr>
          <a:xfrm>
            <a:off x="1881200" y="1300000"/>
            <a:ext cx="5381600" cy="33635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9990235" cy="430887"/>
          </a:xfrm>
          <a:prstGeom prst="rect">
            <a:avLst/>
          </a:prstGeom>
          <a:noFill/>
        </p:spPr>
        <p:txBody>
          <a:bodyPr wrap="none">
            <a:spAutoFit/>
          </a:bodyPr>
          <a:lstStyle/>
          <a:p>
            <a:r>
              <a:rPr sz="2200" b="1" dirty="0"/>
              <a:t>Appendix: elderly/disabled households - one model works for everyone</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pic>
        <p:nvPicPr>
          <p:cNvPr id="4" name="Picture 3" descr="esap_error_mix.png"/>
          <p:cNvPicPr>
            <a:picLocks noChangeAspect="1"/>
          </p:cNvPicPr>
          <p:nvPr/>
        </p:nvPicPr>
        <p:blipFill>
          <a:blip r:embed="rId2"/>
          <a:stretch>
            <a:fillRect/>
          </a:stretch>
        </p:blipFill>
        <p:spPr>
          <a:xfrm>
            <a:off x="1139850" y="850000"/>
            <a:ext cx="6864300" cy="38135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124</TotalTime>
  <Words>2219</Words>
  <Application>Microsoft Office PowerPoint</Application>
  <PresentationFormat>On-screen Show (16:9)</PresentationFormat>
  <Paragraphs>179</Paragraphs>
  <Slides>21</Slides>
  <Notes>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21</vt:i4>
      </vt:variant>
    </vt:vector>
  </HeadingPairs>
  <TitlesOfParts>
    <vt:vector size="25"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Better Government Lab</dc:creator>
  <cp:lastModifiedBy>Eric Giannella</cp:lastModifiedBy>
  <cp:revision>16</cp:revision>
  <dcterms:created xsi:type="dcterms:W3CDTF">2026-06-09T21:09:16Z</dcterms:created>
  <dcterms:modified xsi:type="dcterms:W3CDTF">2026-07-07T18:03:31Z</dcterms:modified>
</cp:coreProperties>
</file>